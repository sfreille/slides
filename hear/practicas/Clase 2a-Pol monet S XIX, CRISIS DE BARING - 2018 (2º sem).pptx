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31.xml" ContentType="application/vnd.openxmlformats-officedocument.presentationml.notesSlide+xml"/>
  <Override PartName="/ppt/charts/chart2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rts/chart6.xml" ContentType="application/vnd.openxmlformats-officedocument.drawingml.chart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2">
  <p:sldMasterIdLst>
    <p:sldMasterId id="2147483659" r:id="rId1"/>
  </p:sldMasterIdLst>
  <p:notesMasterIdLst>
    <p:notesMasterId r:id="rId50"/>
  </p:notesMasterIdLst>
  <p:handoutMasterIdLst>
    <p:handoutMasterId r:id="rId51"/>
  </p:handoutMasterIdLst>
  <p:sldIdLst>
    <p:sldId id="280" r:id="rId2"/>
    <p:sldId id="304" r:id="rId3"/>
    <p:sldId id="337" r:id="rId4"/>
    <p:sldId id="332" r:id="rId5"/>
    <p:sldId id="269" r:id="rId6"/>
    <p:sldId id="272" r:id="rId7"/>
    <p:sldId id="348" r:id="rId8"/>
    <p:sldId id="349" r:id="rId9"/>
    <p:sldId id="351" r:id="rId10"/>
    <p:sldId id="350" r:id="rId11"/>
    <p:sldId id="339" r:id="rId12"/>
    <p:sldId id="309" r:id="rId13"/>
    <p:sldId id="346" r:id="rId14"/>
    <p:sldId id="273" r:id="rId15"/>
    <p:sldId id="341" r:id="rId16"/>
    <p:sldId id="342" r:id="rId17"/>
    <p:sldId id="340" r:id="rId18"/>
    <p:sldId id="343" r:id="rId19"/>
    <p:sldId id="344" r:id="rId20"/>
    <p:sldId id="274" r:id="rId21"/>
    <p:sldId id="311" r:id="rId22"/>
    <p:sldId id="275" r:id="rId23"/>
    <p:sldId id="312" r:id="rId24"/>
    <p:sldId id="347" r:id="rId25"/>
    <p:sldId id="333" r:id="rId26"/>
    <p:sldId id="277" r:id="rId27"/>
    <p:sldId id="345" r:id="rId28"/>
    <p:sldId id="278" r:id="rId29"/>
    <p:sldId id="313" r:id="rId30"/>
    <p:sldId id="334" r:id="rId31"/>
    <p:sldId id="315" r:id="rId32"/>
    <p:sldId id="316" r:id="rId33"/>
    <p:sldId id="317" r:id="rId34"/>
    <p:sldId id="318" r:id="rId35"/>
    <p:sldId id="335" r:id="rId36"/>
    <p:sldId id="320" r:id="rId37"/>
    <p:sldId id="336" r:id="rId38"/>
    <p:sldId id="330" r:id="rId39"/>
    <p:sldId id="329" r:id="rId40"/>
    <p:sldId id="322" r:id="rId41"/>
    <p:sldId id="328" r:id="rId42"/>
    <p:sldId id="338" r:id="rId43"/>
    <p:sldId id="326" r:id="rId44"/>
    <p:sldId id="321" r:id="rId45"/>
    <p:sldId id="327" r:id="rId46"/>
    <p:sldId id="323" r:id="rId47"/>
    <p:sldId id="325" r:id="rId48"/>
    <p:sldId id="324" r:id="rId49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0F185E-3B7C-4D0E-9B3F-31DC8501DE46}" v="102" dt="2019-08-22T17:32:32.4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1" autoAdjust="0"/>
    <p:restoredTop sz="95560" autoAdjust="0"/>
  </p:normalViewPr>
  <p:slideViewPr>
    <p:cSldViewPr>
      <p:cViewPr>
        <p:scale>
          <a:sx n="75" d="100"/>
          <a:sy n="75" d="100"/>
        </p:scale>
        <p:origin x="1038" y="-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1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iguel%20y%20Flor\Dropbox\graficos%20filminas%20LCB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s\Dropbox\HEAnuevo\C&#225;tedra\datos%20crecimiento%20s%20XiX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cat\Dropbox\HEAnuevo\C&#225;tedra\Presentaciones%20-%202do%20Sem%20-%202012\datos%20crecimiento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iguel%20y%20Flor\Desktop\grafico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Hoja1!$E$3</c:f>
              <c:strCache>
                <c:ptCount val="1"/>
                <c:pt idx="0">
                  <c:v>Ingresos</c:v>
                </c:pt>
              </c:strCache>
            </c:strRef>
          </c:tx>
          <c:spPr>
            <a:solidFill>
              <a:srgbClr val="4472C4">
                <a:lumMod val="50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Hoja1!$D$6:$D$12</c:f>
              <c:numCache>
                <c:formatCode>General</c:formatCode>
                <c:ptCount val="7"/>
                <c:pt idx="0">
                  <c:v>1885</c:v>
                </c:pt>
                <c:pt idx="1">
                  <c:v>1886</c:v>
                </c:pt>
                <c:pt idx="2">
                  <c:v>1887</c:v>
                </c:pt>
                <c:pt idx="3">
                  <c:v>1888</c:v>
                </c:pt>
                <c:pt idx="4">
                  <c:v>1889</c:v>
                </c:pt>
                <c:pt idx="5">
                  <c:v>1890</c:v>
                </c:pt>
                <c:pt idx="6">
                  <c:v>1891</c:v>
                </c:pt>
              </c:numCache>
            </c:numRef>
          </c:cat>
          <c:val>
            <c:numRef>
              <c:f>Hoja1!$E$6:$E$12</c:f>
              <c:numCache>
                <c:formatCode>General</c:formatCode>
                <c:ptCount val="7"/>
                <c:pt idx="0">
                  <c:v>36</c:v>
                </c:pt>
                <c:pt idx="1">
                  <c:v>42</c:v>
                </c:pt>
                <c:pt idx="2">
                  <c:v>52</c:v>
                </c:pt>
                <c:pt idx="3">
                  <c:v>52</c:v>
                </c:pt>
                <c:pt idx="4">
                  <c:v>73</c:v>
                </c:pt>
                <c:pt idx="5">
                  <c:v>73</c:v>
                </c:pt>
                <c:pt idx="6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B5-442B-B4DB-17A713322259}"/>
            </c:ext>
          </c:extLst>
        </c:ser>
        <c:ser>
          <c:idx val="1"/>
          <c:order val="1"/>
          <c:tx>
            <c:strRef>
              <c:f>Hoja1!$F$3</c:f>
              <c:strCache>
                <c:ptCount val="1"/>
                <c:pt idx="0">
                  <c:v>Gastos Corregidos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Hoja1!$D$6:$D$12</c:f>
              <c:numCache>
                <c:formatCode>General</c:formatCode>
                <c:ptCount val="7"/>
                <c:pt idx="0">
                  <c:v>1885</c:v>
                </c:pt>
                <c:pt idx="1">
                  <c:v>1886</c:v>
                </c:pt>
                <c:pt idx="2">
                  <c:v>1887</c:v>
                </c:pt>
                <c:pt idx="3">
                  <c:v>1888</c:v>
                </c:pt>
                <c:pt idx="4">
                  <c:v>1889</c:v>
                </c:pt>
                <c:pt idx="5">
                  <c:v>1890</c:v>
                </c:pt>
                <c:pt idx="6">
                  <c:v>1891</c:v>
                </c:pt>
              </c:numCache>
            </c:numRef>
          </c:cat>
          <c:val>
            <c:numRef>
              <c:f>Hoja1!$F$6:$F$12</c:f>
              <c:numCache>
                <c:formatCode>General</c:formatCode>
                <c:ptCount val="7"/>
                <c:pt idx="0">
                  <c:v>56</c:v>
                </c:pt>
                <c:pt idx="1">
                  <c:v>58</c:v>
                </c:pt>
                <c:pt idx="2">
                  <c:v>68</c:v>
                </c:pt>
                <c:pt idx="3">
                  <c:v>86</c:v>
                </c:pt>
                <c:pt idx="4">
                  <c:v>121</c:v>
                </c:pt>
                <c:pt idx="5">
                  <c:v>115</c:v>
                </c:pt>
                <c:pt idx="6">
                  <c:v>128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DB5-442B-B4DB-17A713322259}"/>
            </c:ext>
          </c:extLst>
        </c:ser>
        <c:ser>
          <c:idx val="2"/>
          <c:order val="2"/>
          <c:tx>
            <c:strRef>
              <c:f>Hoja1!$G$3</c:f>
              <c:strCache>
                <c:ptCount val="1"/>
                <c:pt idx="0">
                  <c:v>Déficit Presupuestarios Corregido</c:v>
                </c:pt>
              </c:strCache>
            </c:strRef>
          </c:tx>
          <c:spPr>
            <a:solidFill>
              <a:srgbClr val="4472C4">
                <a:lumMod val="7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Hoja1!$D$6:$D$12</c:f>
              <c:numCache>
                <c:formatCode>General</c:formatCode>
                <c:ptCount val="7"/>
                <c:pt idx="0">
                  <c:v>1885</c:v>
                </c:pt>
                <c:pt idx="1">
                  <c:v>1886</c:v>
                </c:pt>
                <c:pt idx="2">
                  <c:v>1887</c:v>
                </c:pt>
                <c:pt idx="3">
                  <c:v>1888</c:v>
                </c:pt>
                <c:pt idx="4">
                  <c:v>1889</c:v>
                </c:pt>
                <c:pt idx="5">
                  <c:v>1890</c:v>
                </c:pt>
                <c:pt idx="6">
                  <c:v>1891</c:v>
                </c:pt>
              </c:numCache>
            </c:numRef>
          </c:cat>
          <c:val>
            <c:numRef>
              <c:f>Hoja1!$H$6:$H$12</c:f>
              <c:numCache>
                <c:formatCode>General</c:formatCode>
                <c:ptCount val="7"/>
                <c:pt idx="0">
                  <c:v>-20</c:v>
                </c:pt>
                <c:pt idx="1">
                  <c:v>-16</c:v>
                </c:pt>
                <c:pt idx="2">
                  <c:v>-16</c:v>
                </c:pt>
                <c:pt idx="3">
                  <c:v>-34</c:v>
                </c:pt>
                <c:pt idx="4">
                  <c:v>-48</c:v>
                </c:pt>
                <c:pt idx="5">
                  <c:v>-42</c:v>
                </c:pt>
                <c:pt idx="6">
                  <c:v>-52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DB5-442B-B4DB-17A7133222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24420480"/>
        <c:axId val="124422016"/>
      </c:barChart>
      <c:catAx>
        <c:axId val="124420480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high"/>
        <c:spPr>
          <a:noFill/>
          <a:ln w="6350">
            <a:solidFill>
              <a:srgbClr val="5B9BD5">
                <a:lumMod val="50000"/>
              </a:srgbClr>
            </a:solidFill>
          </a:ln>
        </c:spPr>
        <c:crossAx val="124422016"/>
        <c:crosses val="autoZero"/>
        <c:auto val="1"/>
        <c:lblAlgn val="ctr"/>
        <c:lblOffset val="0"/>
        <c:noMultiLvlLbl val="0"/>
      </c:catAx>
      <c:valAx>
        <c:axId val="124422016"/>
        <c:scaling>
          <c:orientation val="minMax"/>
          <c:min val="-60"/>
        </c:scaling>
        <c:delete val="1"/>
        <c:axPos val="l"/>
        <c:numFmt formatCode="General" sourceLinked="1"/>
        <c:majorTickMark val="none"/>
        <c:minorTickMark val="none"/>
        <c:tickLblPos val="none"/>
        <c:crossAx val="124420480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spPr>
    <a:effectLst/>
  </c:spPr>
  <c:txPr>
    <a:bodyPr/>
    <a:lstStyle/>
    <a:p>
      <a:pPr>
        <a:defRPr sz="1400">
          <a:solidFill>
            <a:schemeClr val="accent5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854221347331581E-2"/>
          <c:y val="5.1061601088885959E-2"/>
          <c:w val="0.90957633420822392"/>
          <c:h val="0.79809633128226354"/>
        </c:manualLayout>
      </c:layout>
      <c:areaChart>
        <c:grouping val="standard"/>
        <c:varyColors val="0"/>
        <c:ser>
          <c:idx val="2"/>
          <c:order val="2"/>
          <c:tx>
            <c:strRef>
              <c:f>Hoja2!$D$2</c:f>
              <c:strCache>
                <c:ptCount val="1"/>
                <c:pt idx="0">
                  <c:v>Déficit Presupuestario Coregido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</c:spPr>
          <c:cat>
            <c:numRef>
              <c:f>Hoja2!$C$3:$C$9</c:f>
              <c:numCache>
                <c:formatCode>General</c:formatCode>
                <c:ptCount val="7"/>
                <c:pt idx="0">
                  <c:v>1885</c:v>
                </c:pt>
                <c:pt idx="1">
                  <c:v>1886</c:v>
                </c:pt>
                <c:pt idx="2">
                  <c:v>1887</c:v>
                </c:pt>
                <c:pt idx="3">
                  <c:v>1888</c:v>
                </c:pt>
                <c:pt idx="4">
                  <c:v>1889</c:v>
                </c:pt>
                <c:pt idx="5">
                  <c:v>1890</c:v>
                </c:pt>
                <c:pt idx="6">
                  <c:v>1891</c:v>
                </c:pt>
              </c:numCache>
            </c:numRef>
          </c:cat>
          <c:val>
            <c:numRef>
              <c:f>Hoja2!$D$3:$D$9</c:f>
              <c:numCache>
                <c:formatCode>General</c:formatCode>
                <c:ptCount val="7"/>
                <c:pt idx="0">
                  <c:v>20.100000000000001</c:v>
                </c:pt>
                <c:pt idx="1">
                  <c:v>15.9</c:v>
                </c:pt>
                <c:pt idx="2">
                  <c:v>16.3</c:v>
                </c:pt>
                <c:pt idx="3">
                  <c:v>34.200000000000003</c:v>
                </c:pt>
                <c:pt idx="4">
                  <c:v>48.1</c:v>
                </c:pt>
                <c:pt idx="5">
                  <c:v>42.2</c:v>
                </c:pt>
                <c:pt idx="6">
                  <c:v>52.2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C6-4C47-B80F-2DF7D01424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643648"/>
        <c:axId val="67682304"/>
      </c:areaChart>
      <c:lineChart>
        <c:grouping val="standard"/>
        <c:varyColors val="0"/>
        <c:ser>
          <c:idx val="0"/>
          <c:order val="0"/>
          <c:tx>
            <c:strRef>
              <c:f>Hoja2!$F$2</c:f>
              <c:strCache>
                <c:ptCount val="1"/>
                <c:pt idx="0">
                  <c:v>Tasa de Inflación</c:v>
                </c:pt>
              </c:strCache>
            </c:strRef>
          </c:tx>
          <c:spPr>
            <a:ln w="34925" cap="flat" cmpd="sng" algn="ctr">
              <a:solidFill>
                <a:schemeClr val="accent1">
                  <a:lumMod val="50000"/>
                </a:schemeClr>
              </a:solidFill>
              <a:prstDash val="solid"/>
            </a:ln>
            <a:effectLst/>
          </c:spPr>
          <c:marker>
            <c:symbol val="none"/>
          </c:marker>
          <c:cat>
            <c:numRef>
              <c:f>Hoja2!$C$3:$C$9</c:f>
              <c:numCache>
                <c:formatCode>General</c:formatCode>
                <c:ptCount val="7"/>
                <c:pt idx="0">
                  <c:v>1885</c:v>
                </c:pt>
                <c:pt idx="1">
                  <c:v>1886</c:v>
                </c:pt>
                <c:pt idx="2">
                  <c:v>1887</c:v>
                </c:pt>
                <c:pt idx="3">
                  <c:v>1888</c:v>
                </c:pt>
                <c:pt idx="4">
                  <c:v>1889</c:v>
                </c:pt>
                <c:pt idx="5">
                  <c:v>1890</c:v>
                </c:pt>
                <c:pt idx="6">
                  <c:v>1891</c:v>
                </c:pt>
              </c:numCache>
            </c:numRef>
          </c:cat>
          <c:val>
            <c:numRef>
              <c:f>Hoja2!$F$3:$F$9</c:f>
              <c:numCache>
                <c:formatCode>General</c:formatCode>
                <c:ptCount val="7"/>
                <c:pt idx="0">
                  <c:v>22.8</c:v>
                </c:pt>
                <c:pt idx="1">
                  <c:v>3.1</c:v>
                </c:pt>
                <c:pt idx="2">
                  <c:v>-4</c:v>
                </c:pt>
                <c:pt idx="3">
                  <c:v>0</c:v>
                </c:pt>
                <c:pt idx="4">
                  <c:v>19.8</c:v>
                </c:pt>
                <c:pt idx="5">
                  <c:v>40.9</c:v>
                </c:pt>
                <c:pt idx="6">
                  <c:v>56.2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8C6-4C47-B80F-2DF7D01424C0}"/>
            </c:ext>
          </c:extLst>
        </c:ser>
        <c:ser>
          <c:idx val="1"/>
          <c:order val="1"/>
          <c:tx>
            <c:strRef>
              <c:f>Hoja2!$G$2</c:f>
              <c:strCache>
                <c:ptCount val="1"/>
                <c:pt idx="0">
                  <c:v>Tasa de inflación contra-factual </c:v>
                </c:pt>
              </c:strCache>
            </c:strRef>
          </c:tx>
          <c:spPr>
            <a:ln w="57150">
              <a:solidFill>
                <a:schemeClr val="accent1">
                  <a:lumMod val="50000"/>
                </a:schemeClr>
              </a:solidFill>
              <a:prstDash val="sysDot"/>
            </a:ln>
          </c:spPr>
          <c:marker>
            <c:symbol val="none"/>
          </c:marker>
          <c:cat>
            <c:numRef>
              <c:f>Hoja2!$C$3:$C$9</c:f>
              <c:numCache>
                <c:formatCode>General</c:formatCode>
                <c:ptCount val="7"/>
                <c:pt idx="0">
                  <c:v>1885</c:v>
                </c:pt>
                <c:pt idx="1">
                  <c:v>1886</c:v>
                </c:pt>
                <c:pt idx="2">
                  <c:v>1887</c:v>
                </c:pt>
                <c:pt idx="3">
                  <c:v>1888</c:v>
                </c:pt>
                <c:pt idx="4">
                  <c:v>1889</c:v>
                </c:pt>
                <c:pt idx="5">
                  <c:v>1890</c:v>
                </c:pt>
                <c:pt idx="6">
                  <c:v>1891</c:v>
                </c:pt>
              </c:numCache>
            </c:numRef>
          </c:cat>
          <c:val>
            <c:numRef>
              <c:f>Hoja2!$G$3:$G$9</c:f>
              <c:numCache>
                <c:formatCode>General</c:formatCode>
                <c:ptCount val="7"/>
                <c:pt idx="0">
                  <c:v>24.1</c:v>
                </c:pt>
                <c:pt idx="1">
                  <c:v>8.8000000000000007</c:v>
                </c:pt>
                <c:pt idx="2">
                  <c:v>3.3</c:v>
                </c:pt>
                <c:pt idx="3">
                  <c:v>7.9</c:v>
                </c:pt>
                <c:pt idx="4">
                  <c:v>31.2</c:v>
                </c:pt>
                <c:pt idx="5">
                  <c:v>19.7</c:v>
                </c:pt>
                <c:pt idx="6">
                  <c:v>62.3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8C6-4C47-B80F-2DF7D01424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7643648"/>
        <c:axId val="67682304"/>
      </c:lineChart>
      <c:lineChart>
        <c:grouping val="standard"/>
        <c:varyColors val="0"/>
        <c:ser>
          <c:idx val="3"/>
          <c:order val="3"/>
          <c:tx>
            <c:strRef>
              <c:f>Hoja2!$E$2</c:f>
              <c:strCache>
                <c:ptCount val="1"/>
                <c:pt idx="0">
                  <c:v>Spread sobre el Consol británico</c:v>
                </c:pt>
              </c:strCache>
            </c:strRef>
          </c:tx>
          <c:spPr>
            <a:ln w="28575" cap="flat" cmpd="sng" algn="ctr">
              <a:solidFill>
                <a:schemeClr val="accent1">
                  <a:lumMod val="75000"/>
                </a:schemeClr>
              </a:solidFill>
              <a:prstDash val="sysDash"/>
            </a:ln>
            <a:effectLst/>
          </c:spPr>
          <c:marker>
            <c:symbol val="none"/>
          </c:marker>
          <c:val>
            <c:numRef>
              <c:f>Hoja2!$E$3:$E$9</c:f>
              <c:numCache>
                <c:formatCode>General</c:formatCode>
                <c:ptCount val="7"/>
                <c:pt idx="0">
                  <c:v>3.1</c:v>
                </c:pt>
                <c:pt idx="1">
                  <c:v>2.9299999999999997</c:v>
                </c:pt>
                <c:pt idx="2">
                  <c:v>2.48</c:v>
                </c:pt>
                <c:pt idx="3">
                  <c:v>2.1800000000000002</c:v>
                </c:pt>
                <c:pt idx="4">
                  <c:v>2.3699999999999997</c:v>
                </c:pt>
                <c:pt idx="5">
                  <c:v>2.9299999999999997</c:v>
                </c:pt>
                <c:pt idx="6">
                  <c:v>4.67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8C6-4C47-B80F-2DF7D01424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7685376"/>
        <c:axId val="67683840"/>
      </c:lineChart>
      <c:catAx>
        <c:axId val="67643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67682304"/>
        <c:crosses val="autoZero"/>
        <c:auto val="1"/>
        <c:lblAlgn val="ctr"/>
        <c:lblOffset val="100"/>
        <c:noMultiLvlLbl val="0"/>
      </c:catAx>
      <c:valAx>
        <c:axId val="67682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67643648"/>
        <c:crosses val="autoZero"/>
        <c:crossBetween val="between"/>
      </c:valAx>
      <c:valAx>
        <c:axId val="6768384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67685376"/>
        <c:crosses val="max"/>
        <c:crossBetween val="between"/>
      </c:valAx>
      <c:catAx>
        <c:axId val="67685376"/>
        <c:scaling>
          <c:orientation val="minMax"/>
        </c:scaling>
        <c:delete val="1"/>
        <c:axPos val="b"/>
        <c:majorTickMark val="out"/>
        <c:minorTickMark val="none"/>
        <c:tickLblPos val="none"/>
        <c:crossAx val="67683840"/>
        <c:crosses val="autoZero"/>
        <c:auto val="1"/>
        <c:lblAlgn val="ctr"/>
        <c:lblOffset val="100"/>
        <c:noMultiLvlLbl val="0"/>
      </c:catAx>
    </c:plotArea>
    <c:legend>
      <c:legendPos val="b"/>
      <c:layout>
        <c:manualLayout>
          <c:xMode val="edge"/>
          <c:yMode val="edge"/>
          <c:x val="0"/>
          <c:y val="0.86670116478181491"/>
          <c:w val="1"/>
          <c:h val="0.13329883521818492"/>
        </c:manualLayout>
      </c:layout>
      <c:overlay val="0"/>
      <c:txPr>
        <a:bodyPr/>
        <a:lstStyle/>
        <a:p>
          <a:pPr>
            <a:defRPr sz="1200"/>
          </a:pPr>
          <a:endParaRPr lang="es-AR"/>
        </a:p>
      </c:txPr>
    </c:legend>
    <c:plotVisOnly val="1"/>
    <c:dispBlanksAs val="gap"/>
    <c:showDLblsOverMax val="0"/>
  </c:chart>
  <c:spPr>
    <a:effectLst/>
  </c:spPr>
  <c:txPr>
    <a:bodyPr/>
    <a:lstStyle/>
    <a:p>
      <a:pPr>
        <a:defRPr sz="14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762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Hoja13!$A$6:$A$40</c:f>
              <c:numCache>
                <c:formatCode>General</c:formatCode>
                <c:ptCount val="35"/>
                <c:pt idx="0">
                  <c:v>1879.99999999993</c:v>
                </c:pt>
                <c:pt idx="1">
                  <c:v>1880.99999999993</c:v>
                </c:pt>
                <c:pt idx="2">
                  <c:v>1881.99999999993</c:v>
                </c:pt>
                <c:pt idx="3">
                  <c:v>1882.99999999993</c:v>
                </c:pt>
                <c:pt idx="4">
                  <c:v>1883.99999999992</c:v>
                </c:pt>
                <c:pt idx="5">
                  <c:v>1884.99999999992</c:v>
                </c:pt>
                <c:pt idx="6">
                  <c:v>1885.99999999992</c:v>
                </c:pt>
                <c:pt idx="7">
                  <c:v>1886.99999999992</c:v>
                </c:pt>
                <c:pt idx="8">
                  <c:v>1887.99999999992</c:v>
                </c:pt>
                <c:pt idx="9">
                  <c:v>1888.99999999992</c:v>
                </c:pt>
                <c:pt idx="10">
                  <c:v>1889.99999999992</c:v>
                </c:pt>
                <c:pt idx="11">
                  <c:v>1890.99999999992</c:v>
                </c:pt>
                <c:pt idx="12">
                  <c:v>1891.99999999992</c:v>
                </c:pt>
                <c:pt idx="13">
                  <c:v>1892.99999999992</c:v>
                </c:pt>
                <c:pt idx="14">
                  <c:v>1893.99999999992</c:v>
                </c:pt>
                <c:pt idx="15">
                  <c:v>1894.99999999991</c:v>
                </c:pt>
                <c:pt idx="16">
                  <c:v>1895.99999999991</c:v>
                </c:pt>
                <c:pt idx="17">
                  <c:v>1896.99999999991</c:v>
                </c:pt>
                <c:pt idx="18">
                  <c:v>1897.99999999991</c:v>
                </c:pt>
                <c:pt idx="19">
                  <c:v>1898.99999999991</c:v>
                </c:pt>
                <c:pt idx="20">
                  <c:v>1900</c:v>
                </c:pt>
                <c:pt idx="21">
                  <c:v>1901</c:v>
                </c:pt>
                <c:pt idx="22">
                  <c:v>1902</c:v>
                </c:pt>
                <c:pt idx="23">
                  <c:v>1903</c:v>
                </c:pt>
                <c:pt idx="24">
                  <c:v>1904</c:v>
                </c:pt>
                <c:pt idx="25">
                  <c:v>1905</c:v>
                </c:pt>
                <c:pt idx="26">
                  <c:v>1906</c:v>
                </c:pt>
                <c:pt idx="27">
                  <c:v>1907</c:v>
                </c:pt>
                <c:pt idx="28">
                  <c:v>1908</c:v>
                </c:pt>
                <c:pt idx="29">
                  <c:v>1909</c:v>
                </c:pt>
                <c:pt idx="30">
                  <c:v>1910</c:v>
                </c:pt>
                <c:pt idx="31">
                  <c:v>1911</c:v>
                </c:pt>
                <c:pt idx="32">
                  <c:v>1912</c:v>
                </c:pt>
                <c:pt idx="33">
                  <c:v>1913</c:v>
                </c:pt>
                <c:pt idx="34">
                  <c:v>1914</c:v>
                </c:pt>
              </c:numCache>
            </c:numRef>
          </c:cat>
          <c:val>
            <c:numRef>
              <c:f>Hoja13!$F$6:$F$40</c:f>
              <c:numCache>
                <c:formatCode>_ * #,##0.00_ ;_ * \-#,##0.00_ ;_ * "-"_ ;_ @_ </c:formatCode>
                <c:ptCount val="35"/>
                <c:pt idx="0">
                  <c:v>25.87340950197428</c:v>
                </c:pt>
                <c:pt idx="1">
                  <c:v>29.148260680273211</c:v>
                </c:pt>
                <c:pt idx="2">
                  <c:v>25.873464152099487</c:v>
                </c:pt>
                <c:pt idx="3">
                  <c:v>24.914747050608597</c:v>
                </c:pt>
                <c:pt idx="4">
                  <c:v>21.908299232838718</c:v>
                </c:pt>
                <c:pt idx="5">
                  <c:v>23.319365701962205</c:v>
                </c:pt>
                <c:pt idx="6">
                  <c:v>23.976050787985123</c:v>
                </c:pt>
                <c:pt idx="7">
                  <c:v>21.166863096196614</c:v>
                </c:pt>
                <c:pt idx="8">
                  <c:v>38.67581521073059</c:v>
                </c:pt>
                <c:pt idx="9">
                  <c:v>47.822446470196411</c:v>
                </c:pt>
                <c:pt idx="10">
                  <c:v>72.135022041821699</c:v>
                </c:pt>
                <c:pt idx="11">
                  <c:v>117.72201606500285</c:v>
                </c:pt>
                <c:pt idx="12">
                  <c:v>93.726115247230169</c:v>
                </c:pt>
                <c:pt idx="13">
                  <c:v>83.813557406536404</c:v>
                </c:pt>
                <c:pt idx="14">
                  <c:v>71.194479698844816</c:v>
                </c:pt>
                <c:pt idx="15">
                  <c:v>61.166639839671134</c:v>
                </c:pt>
                <c:pt idx="16">
                  <c:v>48.338603829929149</c:v>
                </c:pt>
                <c:pt idx="17">
                  <c:v>66.401269517789117</c:v>
                </c:pt>
                <c:pt idx="18">
                  <c:v>61.81987714465015</c:v>
                </c:pt>
                <c:pt idx="19">
                  <c:v>61.472006305775928</c:v>
                </c:pt>
                <c:pt idx="20">
                  <c:v>53.971040764939836</c:v>
                </c:pt>
                <c:pt idx="21">
                  <c:v>50.952909969853572</c:v>
                </c:pt>
                <c:pt idx="22">
                  <c:v>48.175514599899742</c:v>
                </c:pt>
                <c:pt idx="23">
                  <c:v>40.808290202727065</c:v>
                </c:pt>
                <c:pt idx="24">
                  <c:v>37.344194804487664</c:v>
                </c:pt>
                <c:pt idx="25">
                  <c:v>27.721887353327002</c:v>
                </c:pt>
                <c:pt idx="26">
                  <c:v>25.485454136242659</c:v>
                </c:pt>
                <c:pt idx="27">
                  <c:v>27.232325634244614</c:v>
                </c:pt>
                <c:pt idx="28">
                  <c:v>23.003015029898226</c:v>
                </c:pt>
                <c:pt idx="29">
                  <c:v>24.520509723457039</c:v>
                </c:pt>
                <c:pt idx="30">
                  <c:v>22.453539195097981</c:v>
                </c:pt>
                <c:pt idx="31">
                  <c:v>26.076966010955353</c:v>
                </c:pt>
                <c:pt idx="32">
                  <c:v>22.994441275769859</c:v>
                </c:pt>
                <c:pt idx="33">
                  <c:v>22.742574922890938</c:v>
                </c:pt>
                <c:pt idx="34">
                  <c:v>24.649888915824448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AB-4981-92DE-72309AC4BD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68866640"/>
        <c:axId val="668866968"/>
      </c:lineChart>
      <c:catAx>
        <c:axId val="668866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68866968"/>
        <c:crosses val="autoZero"/>
        <c:auto val="1"/>
        <c:lblAlgn val="ctr"/>
        <c:lblOffset val="100"/>
        <c:noMultiLvlLbl val="0"/>
      </c:catAx>
      <c:valAx>
        <c:axId val="668866968"/>
        <c:scaling>
          <c:orientation val="minMax"/>
        </c:scaling>
        <c:delete val="0"/>
        <c:axPos val="l"/>
        <c:numFmt formatCode="_ * #,##0.00_ ;_ * \-#,##0.00_ ;_ * &quot;-&quot;_ ;_ @_ " sourceLinked="1"/>
        <c:majorTickMark val="none"/>
        <c:minorTickMark val="none"/>
        <c:tickLblPos val="nextTo"/>
        <c:spPr>
          <a:noFill/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68866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5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3"/>
          <c:order val="1"/>
          <c:tx>
            <c:strRef>
              <c:f>Hoja1!$E$4</c:f>
              <c:strCache>
                <c:ptCount val="1"/>
                <c:pt idx="0">
                  <c:v>Variación de Reservas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9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2F1C-4D19-9505-90D8EB510D86}"/>
              </c:ext>
            </c:extLst>
          </c:dPt>
          <c:dPt>
            <c:idx val="21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B98-4FDE-9436-4E288A031C48}"/>
              </c:ext>
            </c:extLst>
          </c:dPt>
          <c:dPt>
            <c:idx val="22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B98-4FDE-9436-4E288A031C48}"/>
              </c:ext>
            </c:extLst>
          </c:dPt>
          <c:dPt>
            <c:idx val="23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B98-4FDE-9436-4E288A031C48}"/>
              </c:ext>
            </c:extLst>
          </c:dPt>
          <c:dPt>
            <c:idx val="24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B98-4FDE-9436-4E288A031C48}"/>
              </c:ext>
            </c:extLst>
          </c:dPt>
          <c:dPt>
            <c:idx val="25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B98-4FDE-9436-4E288A031C48}"/>
              </c:ext>
            </c:extLst>
          </c:dPt>
          <c:dPt>
            <c:idx val="26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B98-4FDE-9436-4E288A031C48}"/>
              </c:ext>
            </c:extLst>
          </c:dPt>
          <c:dPt>
            <c:idx val="27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B98-4FDE-9436-4E288A031C48}"/>
              </c:ext>
            </c:extLst>
          </c:dPt>
          <c:dPt>
            <c:idx val="28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B98-4FDE-9436-4E288A031C48}"/>
              </c:ext>
            </c:extLst>
          </c:dPt>
          <c:dPt>
            <c:idx val="29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B98-4FDE-9436-4E288A031C48}"/>
              </c:ext>
            </c:extLst>
          </c:dPt>
          <c:dPt>
            <c:idx val="30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2B98-4FDE-9436-4E288A031C48}"/>
              </c:ext>
            </c:extLst>
          </c:dPt>
          <c:dPt>
            <c:idx val="31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2B98-4FDE-9436-4E288A031C48}"/>
              </c:ext>
            </c:extLst>
          </c:dPt>
          <c:dPt>
            <c:idx val="32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2B98-4FDE-9436-4E288A031C48}"/>
              </c:ext>
            </c:extLst>
          </c:dPt>
          <c:val>
            <c:numRef>
              <c:f>Hoja1!$E$5:$E$38</c:f>
              <c:numCache>
                <c:formatCode>#,##0.00\ \ </c:formatCode>
                <c:ptCount val="34"/>
                <c:pt idx="0">
                  <c:v>4.1485769416304876</c:v>
                </c:pt>
                <c:pt idx="1">
                  <c:v>8.4901109503135537</c:v>
                </c:pt>
                <c:pt idx="2">
                  <c:v>7.4288470815243599</c:v>
                </c:pt>
                <c:pt idx="3">
                  <c:v>-13.410516160154366</c:v>
                </c:pt>
                <c:pt idx="4">
                  <c:v>7.5253256150506518</c:v>
                </c:pt>
                <c:pt idx="5">
                  <c:v>14.664737095996138</c:v>
                </c:pt>
                <c:pt idx="6">
                  <c:v>80.366618427399914</c:v>
                </c:pt>
                <c:pt idx="7">
                  <c:v>164.01350699469367</c:v>
                </c:pt>
                <c:pt idx="8">
                  <c:v>18.716835504100331</c:v>
                </c:pt>
                <c:pt idx="9">
                  <c:v>-54.220935841775209</c:v>
                </c:pt>
                <c:pt idx="10">
                  <c:v>12.252773757838881</c:v>
                </c:pt>
                <c:pt idx="11">
                  <c:v>5.7887120115774229</c:v>
                </c:pt>
                <c:pt idx="12">
                  <c:v>-21.418234442836471</c:v>
                </c:pt>
                <c:pt idx="13">
                  <c:v>-20.93584177520502</c:v>
                </c:pt>
                <c:pt idx="14">
                  <c:v>3.859141341051616</c:v>
                </c:pt>
                <c:pt idx="15">
                  <c:v>1.7366136034732271</c:v>
                </c:pt>
                <c:pt idx="16">
                  <c:v>-2.7013989387361317</c:v>
                </c:pt>
                <c:pt idx="17">
                  <c:v>21.22527737578389</c:v>
                </c:pt>
                <c:pt idx="18">
                  <c:v>36.951278340569225</c:v>
                </c:pt>
                <c:pt idx="19">
                  <c:v>9.8503262121018285</c:v>
                </c:pt>
                <c:pt idx="20" formatCode="#,##0.00000\ \ ">
                  <c:v>6.753497346840328E-3</c:v>
                </c:pt>
                <c:pt idx="21">
                  <c:v>5.6295224312590451</c:v>
                </c:pt>
                <c:pt idx="22">
                  <c:v>24.013506994693682</c:v>
                </c:pt>
                <c:pt idx="23">
                  <c:v>22.493005306319343</c:v>
                </c:pt>
                <c:pt idx="24">
                  <c:v>30.668624696718169</c:v>
                </c:pt>
                <c:pt idx="25">
                  <c:v>16.109521167634007</c:v>
                </c:pt>
                <c:pt idx="26">
                  <c:v>19.284947399060254</c:v>
                </c:pt>
                <c:pt idx="27">
                  <c:v>27.697056066802997</c:v>
                </c:pt>
                <c:pt idx="28">
                  <c:v>64.029435071574639</c:v>
                </c:pt>
                <c:pt idx="29">
                  <c:v>34.106429269536392</c:v>
                </c:pt>
                <c:pt idx="30">
                  <c:v>9.3935018663047174</c:v>
                </c:pt>
                <c:pt idx="31">
                  <c:v>34.263349493918518</c:v>
                </c:pt>
                <c:pt idx="32">
                  <c:v>3.392337052260717</c:v>
                </c:pt>
                <c:pt idx="33">
                  <c:v>-12.572234500574053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2B98-4FDE-9436-4E288A031C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08868528"/>
        <c:axId val="608864264"/>
      </c:barChart>
      <c:lineChart>
        <c:grouping val="standard"/>
        <c:varyColors val="0"/>
        <c:ser>
          <c:idx val="2"/>
          <c:order val="0"/>
          <c:tx>
            <c:strRef>
              <c:f>Hoja1!$D$4</c:f>
              <c:strCache>
                <c:ptCount val="1"/>
                <c:pt idx="0">
                  <c:v>Cuenta capital</c:v>
                </c:pt>
              </c:strCache>
            </c:strRef>
          </c:tx>
          <c:spPr>
            <a:ln w="38100" cap="rnd">
              <a:solidFill>
                <a:schemeClr val="accent5">
                  <a:lumMod val="5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Hoja1!$A$5:$A$38</c:f>
              <c:numCache>
                <c:formatCode>General</c:formatCode>
                <c:ptCount val="34"/>
                <c:pt idx="0">
                  <c:v>1881</c:v>
                </c:pt>
                <c:pt idx="1">
                  <c:v>1882</c:v>
                </c:pt>
                <c:pt idx="2">
                  <c:v>1883</c:v>
                </c:pt>
                <c:pt idx="3">
                  <c:v>1884</c:v>
                </c:pt>
                <c:pt idx="4">
                  <c:v>1885</c:v>
                </c:pt>
                <c:pt idx="5">
                  <c:v>1886</c:v>
                </c:pt>
                <c:pt idx="6">
                  <c:v>1887</c:v>
                </c:pt>
                <c:pt idx="7">
                  <c:v>1888</c:v>
                </c:pt>
                <c:pt idx="8">
                  <c:v>1889</c:v>
                </c:pt>
                <c:pt idx="9">
                  <c:v>1890</c:v>
                </c:pt>
                <c:pt idx="10">
                  <c:v>1891</c:v>
                </c:pt>
                <c:pt idx="11">
                  <c:v>1892</c:v>
                </c:pt>
                <c:pt idx="12">
                  <c:v>1893</c:v>
                </c:pt>
                <c:pt idx="13">
                  <c:v>1894</c:v>
                </c:pt>
                <c:pt idx="14">
                  <c:v>1895</c:v>
                </c:pt>
                <c:pt idx="15">
                  <c:v>1896</c:v>
                </c:pt>
                <c:pt idx="16">
                  <c:v>1897</c:v>
                </c:pt>
                <c:pt idx="17">
                  <c:v>1898</c:v>
                </c:pt>
                <c:pt idx="18">
                  <c:v>1899</c:v>
                </c:pt>
                <c:pt idx="19">
                  <c:v>1900</c:v>
                </c:pt>
                <c:pt idx="20">
                  <c:v>1901</c:v>
                </c:pt>
                <c:pt idx="21">
                  <c:v>1902</c:v>
                </c:pt>
                <c:pt idx="22">
                  <c:v>1903</c:v>
                </c:pt>
                <c:pt idx="23">
                  <c:v>1904</c:v>
                </c:pt>
                <c:pt idx="24">
                  <c:v>1905</c:v>
                </c:pt>
                <c:pt idx="25">
                  <c:v>1906</c:v>
                </c:pt>
                <c:pt idx="26">
                  <c:v>1907</c:v>
                </c:pt>
                <c:pt idx="27">
                  <c:v>1908</c:v>
                </c:pt>
                <c:pt idx="28">
                  <c:v>1909</c:v>
                </c:pt>
                <c:pt idx="29">
                  <c:v>1910</c:v>
                </c:pt>
                <c:pt idx="30">
                  <c:v>1911</c:v>
                </c:pt>
                <c:pt idx="31">
                  <c:v>1912</c:v>
                </c:pt>
                <c:pt idx="32">
                  <c:v>1913</c:v>
                </c:pt>
                <c:pt idx="33">
                  <c:v>1914</c:v>
                </c:pt>
              </c:numCache>
            </c:numRef>
          </c:cat>
          <c:val>
            <c:numRef>
              <c:f>Hoja1!$D$5:$D$38</c:f>
              <c:numCache>
                <c:formatCode>#,##0.00\ \ </c:formatCode>
                <c:ptCount val="34"/>
                <c:pt idx="0">
                  <c:v>2.0260492040520983</c:v>
                </c:pt>
                <c:pt idx="1">
                  <c:v>9.261939218523878</c:v>
                </c:pt>
                <c:pt idx="2">
                  <c:v>26.917510853835022</c:v>
                </c:pt>
                <c:pt idx="3">
                  <c:v>11.673902556681139</c:v>
                </c:pt>
                <c:pt idx="4">
                  <c:v>15.533043897732757</c:v>
                </c:pt>
                <c:pt idx="5">
                  <c:v>39.363241678726482</c:v>
                </c:pt>
                <c:pt idx="6">
                  <c:v>112.10805595754945</c:v>
                </c:pt>
                <c:pt idx="7">
                  <c:v>191.31693198263389</c:v>
                </c:pt>
                <c:pt idx="8">
                  <c:v>90.4968644476604</c:v>
                </c:pt>
                <c:pt idx="9">
                  <c:v>-14.278822961890981</c:v>
                </c:pt>
                <c:pt idx="10">
                  <c:v>-22.479498311625665</c:v>
                </c:pt>
                <c:pt idx="11">
                  <c:v>-15.340086830680175</c:v>
                </c:pt>
                <c:pt idx="12">
                  <c:v>-19.392185238784371</c:v>
                </c:pt>
                <c:pt idx="13">
                  <c:v>-29.522431259044865</c:v>
                </c:pt>
                <c:pt idx="14">
                  <c:v>-20.260492040520983</c:v>
                </c:pt>
                <c:pt idx="15">
                  <c:v>-2.7013989387361312</c:v>
                </c:pt>
                <c:pt idx="16">
                  <c:v>-5.4992764109985535</c:v>
                </c:pt>
                <c:pt idx="17">
                  <c:v>-4.2450554751567777</c:v>
                </c:pt>
                <c:pt idx="18">
                  <c:v>-28.654124457308249</c:v>
                </c:pt>
                <c:pt idx="19">
                  <c:v>-30.634514519636689</c:v>
                </c:pt>
                <c:pt idx="20">
                  <c:v>115.77424023154849</c:v>
                </c:pt>
                <c:pt idx="21">
                  <c:v>115.77424023154849</c:v>
                </c:pt>
                <c:pt idx="22">
                  <c:v>115.77424023154849</c:v>
                </c:pt>
                <c:pt idx="23">
                  <c:v>115.77424023154849</c:v>
                </c:pt>
                <c:pt idx="24">
                  <c:v>115.94943174562636</c:v>
                </c:pt>
                <c:pt idx="25">
                  <c:v>116.25128030044384</c:v>
                </c:pt>
                <c:pt idx="26">
                  <c:v>113.26874298307622</c:v>
                </c:pt>
                <c:pt idx="27">
                  <c:v>116.05316973415133</c:v>
                </c:pt>
                <c:pt idx="28">
                  <c:v>116.05316973415133</c:v>
                </c:pt>
                <c:pt idx="29">
                  <c:v>241.15072451451155</c:v>
                </c:pt>
                <c:pt idx="30">
                  <c:v>240.71089243298269</c:v>
                </c:pt>
                <c:pt idx="31">
                  <c:v>241.34558135578806</c:v>
                </c:pt>
                <c:pt idx="32">
                  <c:v>238.02533344518079</c:v>
                </c:pt>
                <c:pt idx="33">
                  <c:v>124.44956536001311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B-2B98-4FDE-9436-4E288A031C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8860656"/>
        <c:axId val="608863608"/>
      </c:lineChart>
      <c:catAx>
        <c:axId val="608860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08863608"/>
        <c:crosses val="autoZero"/>
        <c:auto val="1"/>
        <c:lblAlgn val="ctr"/>
        <c:lblOffset val="100"/>
        <c:noMultiLvlLbl val="0"/>
      </c:catAx>
      <c:valAx>
        <c:axId val="608863608"/>
        <c:scaling>
          <c:orientation val="minMax"/>
        </c:scaling>
        <c:delete val="0"/>
        <c:axPos val="l"/>
        <c:numFmt formatCode="#,##0.00\ \ " sourceLinked="1"/>
        <c:majorTickMark val="none"/>
        <c:minorTickMark val="none"/>
        <c:tickLblPos val="nextTo"/>
        <c:spPr>
          <a:noFill/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08860656"/>
        <c:crosses val="autoZero"/>
        <c:crossBetween val="between"/>
      </c:valAx>
      <c:valAx>
        <c:axId val="608864264"/>
        <c:scaling>
          <c:orientation val="minMax"/>
        </c:scaling>
        <c:delete val="0"/>
        <c:axPos val="r"/>
        <c:numFmt formatCode="#,##0.00\ \ " sourceLinked="1"/>
        <c:majorTickMark val="out"/>
        <c:minorTickMark val="none"/>
        <c:tickLblPos val="nextTo"/>
        <c:spPr>
          <a:noFill/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608868528"/>
        <c:crosses val="max"/>
        <c:crossBetween val="between"/>
      </c:valAx>
      <c:catAx>
        <c:axId val="608868528"/>
        <c:scaling>
          <c:orientation val="minMax"/>
        </c:scaling>
        <c:delete val="1"/>
        <c:axPos val="b"/>
        <c:majorTickMark val="out"/>
        <c:minorTickMark val="none"/>
        <c:tickLblPos val="nextTo"/>
        <c:crossAx val="6088642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1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762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Hoja2!$A$2:$A$56</c:f>
              <c:numCache>
                <c:formatCode>General</c:formatCode>
                <c:ptCount val="55"/>
                <c:pt idx="0">
                  <c:v>1859.99999999995</c:v>
                </c:pt>
                <c:pt idx="1">
                  <c:v>1860.99999999995</c:v>
                </c:pt>
                <c:pt idx="2">
                  <c:v>1861.99999999994</c:v>
                </c:pt>
                <c:pt idx="3">
                  <c:v>1862.99999999994</c:v>
                </c:pt>
                <c:pt idx="4">
                  <c:v>1863.99999999994</c:v>
                </c:pt>
                <c:pt idx="5">
                  <c:v>1864.99999999994</c:v>
                </c:pt>
                <c:pt idx="6">
                  <c:v>1865.99999999994</c:v>
                </c:pt>
                <c:pt idx="7">
                  <c:v>1866.99999999994</c:v>
                </c:pt>
                <c:pt idx="8">
                  <c:v>1867.99999999994</c:v>
                </c:pt>
                <c:pt idx="9">
                  <c:v>1868.99999999994</c:v>
                </c:pt>
                <c:pt idx="10">
                  <c:v>1869.99999999994</c:v>
                </c:pt>
                <c:pt idx="11">
                  <c:v>1870.99999999994</c:v>
                </c:pt>
                <c:pt idx="12">
                  <c:v>1871.99999999994</c:v>
                </c:pt>
                <c:pt idx="13">
                  <c:v>1872.99999999993</c:v>
                </c:pt>
                <c:pt idx="14">
                  <c:v>1873.99999999993</c:v>
                </c:pt>
                <c:pt idx="15">
                  <c:v>1874.99999999993</c:v>
                </c:pt>
                <c:pt idx="16">
                  <c:v>1875.99999999993</c:v>
                </c:pt>
                <c:pt idx="17">
                  <c:v>1876.99999999993</c:v>
                </c:pt>
                <c:pt idx="18">
                  <c:v>1877.99999999993</c:v>
                </c:pt>
                <c:pt idx="19">
                  <c:v>1878.99999999993</c:v>
                </c:pt>
                <c:pt idx="20">
                  <c:v>1879.99999999993</c:v>
                </c:pt>
                <c:pt idx="21">
                  <c:v>1880.99999999993</c:v>
                </c:pt>
                <c:pt idx="22">
                  <c:v>1881.99999999993</c:v>
                </c:pt>
                <c:pt idx="23">
                  <c:v>1882.99999999993</c:v>
                </c:pt>
                <c:pt idx="24">
                  <c:v>1883.99999999992</c:v>
                </c:pt>
                <c:pt idx="25">
                  <c:v>1884.99999999992</c:v>
                </c:pt>
                <c:pt idx="26">
                  <c:v>1885.99999999992</c:v>
                </c:pt>
                <c:pt idx="27">
                  <c:v>1886.99999999992</c:v>
                </c:pt>
                <c:pt idx="28">
                  <c:v>1887.99999999992</c:v>
                </c:pt>
                <c:pt idx="29">
                  <c:v>1888.99999999992</c:v>
                </c:pt>
                <c:pt idx="30">
                  <c:v>1889.99999999992</c:v>
                </c:pt>
                <c:pt idx="31">
                  <c:v>1890.99999999992</c:v>
                </c:pt>
                <c:pt idx="32">
                  <c:v>1891.99999999992</c:v>
                </c:pt>
                <c:pt idx="33">
                  <c:v>1892.99999999992</c:v>
                </c:pt>
                <c:pt idx="34">
                  <c:v>1893.99999999992</c:v>
                </c:pt>
                <c:pt idx="35">
                  <c:v>1894.99999999991</c:v>
                </c:pt>
                <c:pt idx="36">
                  <c:v>1895.99999999991</c:v>
                </c:pt>
                <c:pt idx="37">
                  <c:v>1896.99999999991</c:v>
                </c:pt>
                <c:pt idx="38">
                  <c:v>1897.99999999991</c:v>
                </c:pt>
                <c:pt idx="39">
                  <c:v>1898.99999999991</c:v>
                </c:pt>
                <c:pt idx="40">
                  <c:v>1900</c:v>
                </c:pt>
                <c:pt idx="41">
                  <c:v>1901</c:v>
                </c:pt>
                <c:pt idx="42">
                  <c:v>1902</c:v>
                </c:pt>
                <c:pt idx="43">
                  <c:v>1903</c:v>
                </c:pt>
                <c:pt idx="44">
                  <c:v>1904</c:v>
                </c:pt>
                <c:pt idx="45">
                  <c:v>1905</c:v>
                </c:pt>
                <c:pt idx="46">
                  <c:v>1906</c:v>
                </c:pt>
                <c:pt idx="47">
                  <c:v>1907</c:v>
                </c:pt>
                <c:pt idx="48">
                  <c:v>1908</c:v>
                </c:pt>
                <c:pt idx="49">
                  <c:v>1909</c:v>
                </c:pt>
                <c:pt idx="50">
                  <c:v>1910</c:v>
                </c:pt>
                <c:pt idx="51">
                  <c:v>1911</c:v>
                </c:pt>
                <c:pt idx="52">
                  <c:v>1912</c:v>
                </c:pt>
                <c:pt idx="53">
                  <c:v>1913</c:v>
                </c:pt>
                <c:pt idx="54">
                  <c:v>1914</c:v>
                </c:pt>
              </c:numCache>
            </c:numRef>
          </c:cat>
          <c:val>
            <c:numRef>
              <c:f>Hoja2!$C$2:$C$56</c:f>
              <c:numCache>
                <c:formatCode>0.00</c:formatCode>
                <c:ptCount val="55"/>
                <c:pt idx="0">
                  <c:v>8.6120000000000002E-2</c:v>
                </c:pt>
                <c:pt idx="1">
                  <c:v>0.99319999999999986</c:v>
                </c:pt>
                <c:pt idx="2">
                  <c:v>1.0224</c:v>
                </c:pt>
                <c:pt idx="3">
                  <c:v>0.90760000000000007</c:v>
                </c:pt>
                <c:pt idx="4">
                  <c:v>1.1536</c:v>
                </c:pt>
                <c:pt idx="5">
                  <c:v>1.0788</c:v>
                </c:pt>
                <c:pt idx="6">
                  <c:v>1.0024</c:v>
                </c:pt>
                <c:pt idx="7">
                  <c:v>0.99760000000000004</c:v>
                </c:pt>
                <c:pt idx="8">
                  <c:v>0.99999999999999989</c:v>
                </c:pt>
                <c:pt idx="9">
                  <c:v>0.99999999999999989</c:v>
                </c:pt>
                <c:pt idx="10">
                  <c:v>0.99999999999999989</c:v>
                </c:pt>
                <c:pt idx="11">
                  <c:v>0.99999999999999989</c:v>
                </c:pt>
                <c:pt idx="12">
                  <c:v>0.99999999999999989</c:v>
                </c:pt>
                <c:pt idx="13">
                  <c:v>0.99999999999999989</c:v>
                </c:pt>
                <c:pt idx="14">
                  <c:v>0.99999999999999989</c:v>
                </c:pt>
                <c:pt idx="15">
                  <c:v>0.99999999999999989</c:v>
                </c:pt>
                <c:pt idx="16">
                  <c:v>1.1372</c:v>
                </c:pt>
                <c:pt idx="17">
                  <c:v>1.1864000000000001</c:v>
                </c:pt>
                <c:pt idx="18">
                  <c:v>1.2747999999999999</c:v>
                </c:pt>
                <c:pt idx="19">
                  <c:v>1.2880000000000003</c:v>
                </c:pt>
                <c:pt idx="20">
                  <c:v>1.222</c:v>
                </c:pt>
                <c:pt idx="21">
                  <c:v>1.0824</c:v>
                </c:pt>
                <c:pt idx="22">
                  <c:v>1.002</c:v>
                </c:pt>
                <c:pt idx="23">
                  <c:v>1</c:v>
                </c:pt>
                <c:pt idx="24">
                  <c:v>1</c:v>
                </c:pt>
                <c:pt idx="25">
                  <c:v>1.3700000000000003</c:v>
                </c:pt>
                <c:pt idx="26">
                  <c:v>1.39</c:v>
                </c:pt>
                <c:pt idx="27">
                  <c:v>1.35</c:v>
                </c:pt>
                <c:pt idx="28">
                  <c:v>1.48</c:v>
                </c:pt>
                <c:pt idx="29">
                  <c:v>1.91</c:v>
                </c:pt>
                <c:pt idx="30">
                  <c:v>2.5099999999999998</c:v>
                </c:pt>
                <c:pt idx="31">
                  <c:v>3.87</c:v>
                </c:pt>
                <c:pt idx="32">
                  <c:v>3.32</c:v>
                </c:pt>
                <c:pt idx="33">
                  <c:v>3.24</c:v>
                </c:pt>
                <c:pt idx="34">
                  <c:v>3.57</c:v>
                </c:pt>
                <c:pt idx="35">
                  <c:v>3.44</c:v>
                </c:pt>
                <c:pt idx="36">
                  <c:v>2.96</c:v>
                </c:pt>
                <c:pt idx="37">
                  <c:v>2.91</c:v>
                </c:pt>
                <c:pt idx="38">
                  <c:v>2.58</c:v>
                </c:pt>
                <c:pt idx="39">
                  <c:v>2.25</c:v>
                </c:pt>
                <c:pt idx="40">
                  <c:v>2.31</c:v>
                </c:pt>
                <c:pt idx="41">
                  <c:v>2.3399999999999994</c:v>
                </c:pt>
                <c:pt idx="42">
                  <c:v>2.3231999999999999</c:v>
                </c:pt>
                <c:pt idx="43">
                  <c:v>2.2726999999999999</c:v>
                </c:pt>
                <c:pt idx="44">
                  <c:v>2.2726999999999999</c:v>
                </c:pt>
                <c:pt idx="45">
                  <c:v>2.2726999999999999</c:v>
                </c:pt>
                <c:pt idx="46">
                  <c:v>2.2726999999999999</c:v>
                </c:pt>
                <c:pt idx="47">
                  <c:v>2.2726999999999999</c:v>
                </c:pt>
                <c:pt idx="48">
                  <c:v>2.2726999999999999</c:v>
                </c:pt>
                <c:pt idx="49">
                  <c:v>2.2726999999999999</c:v>
                </c:pt>
                <c:pt idx="50">
                  <c:v>2.2726999999999999</c:v>
                </c:pt>
                <c:pt idx="51">
                  <c:v>2.2726999999999999</c:v>
                </c:pt>
                <c:pt idx="52">
                  <c:v>2.2726999999999999</c:v>
                </c:pt>
                <c:pt idx="53">
                  <c:v>2.2726999999999999</c:v>
                </c:pt>
                <c:pt idx="54">
                  <c:v>2.2993000000000001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E6-4464-9A9D-9A8B7C7841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17809184"/>
        <c:axId val="96641792"/>
      </c:lineChart>
      <c:catAx>
        <c:axId val="717809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96641792"/>
        <c:crosses val="autoZero"/>
        <c:auto val="1"/>
        <c:lblAlgn val="ctr"/>
        <c:lblOffset val="100"/>
        <c:noMultiLvlLbl val="0"/>
      </c:catAx>
      <c:valAx>
        <c:axId val="96641792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solidFill>
              <a:schemeClr val="accent5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s-AR"/>
          </a:p>
        </c:txPr>
        <c:crossAx val="717809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accent5">
              <a:lumMod val="50000"/>
            </a:schemeClr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s-A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Hoja2!$F$2</c:f>
              <c:strCache>
                <c:ptCount val="1"/>
                <c:pt idx="0">
                  <c:v>Tasa de Inflación</c:v>
                </c:pt>
              </c:strCache>
            </c:strRef>
          </c:tx>
          <c:spPr>
            <a:ln w="38100">
              <a:solidFill>
                <a:schemeClr val="accent5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Hoja2!$C$3:$C$9</c:f>
              <c:numCache>
                <c:formatCode>General</c:formatCode>
                <c:ptCount val="7"/>
                <c:pt idx="0">
                  <c:v>1885</c:v>
                </c:pt>
                <c:pt idx="1">
                  <c:v>1886</c:v>
                </c:pt>
                <c:pt idx="2">
                  <c:v>1887</c:v>
                </c:pt>
                <c:pt idx="3">
                  <c:v>1888</c:v>
                </c:pt>
                <c:pt idx="4">
                  <c:v>1889</c:v>
                </c:pt>
                <c:pt idx="5">
                  <c:v>1890</c:v>
                </c:pt>
                <c:pt idx="6">
                  <c:v>1891</c:v>
                </c:pt>
              </c:numCache>
            </c:numRef>
          </c:cat>
          <c:val>
            <c:numRef>
              <c:f>Hoja2!$F$3:$F$9</c:f>
              <c:numCache>
                <c:formatCode>General</c:formatCode>
                <c:ptCount val="7"/>
                <c:pt idx="0">
                  <c:v>22.8</c:v>
                </c:pt>
                <c:pt idx="1">
                  <c:v>3.1</c:v>
                </c:pt>
                <c:pt idx="2">
                  <c:v>-4</c:v>
                </c:pt>
                <c:pt idx="3">
                  <c:v>0</c:v>
                </c:pt>
                <c:pt idx="4">
                  <c:v>19.8</c:v>
                </c:pt>
                <c:pt idx="5">
                  <c:v>40.9</c:v>
                </c:pt>
                <c:pt idx="6">
                  <c:v>56.2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D7-4A29-B0B4-97FF8FB49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2591616"/>
        <c:axId val="72601600"/>
      </c:lineChart>
      <c:lineChart>
        <c:grouping val="standard"/>
        <c:varyColors val="0"/>
        <c:ser>
          <c:idx val="1"/>
          <c:order val="1"/>
          <c:tx>
            <c:strRef>
              <c:f>Hoja2!$H$2</c:f>
              <c:strCache>
                <c:ptCount val="1"/>
                <c:pt idx="0">
                  <c:v>Tipo de Cambio</c:v>
                </c:pt>
              </c:strCache>
            </c:strRef>
          </c:tx>
          <c:spPr>
            <a:ln w="38100">
              <a:solidFill>
                <a:schemeClr val="accent5">
                  <a:lumMod val="75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Hoja2!$C$3:$C$9</c:f>
              <c:numCache>
                <c:formatCode>General</c:formatCode>
                <c:ptCount val="7"/>
                <c:pt idx="0">
                  <c:v>1885</c:v>
                </c:pt>
                <c:pt idx="1">
                  <c:v>1886</c:v>
                </c:pt>
                <c:pt idx="2">
                  <c:v>1887</c:v>
                </c:pt>
                <c:pt idx="3">
                  <c:v>1888</c:v>
                </c:pt>
                <c:pt idx="4">
                  <c:v>1889</c:v>
                </c:pt>
                <c:pt idx="5">
                  <c:v>1890</c:v>
                </c:pt>
                <c:pt idx="6">
                  <c:v>1891</c:v>
                </c:pt>
              </c:numCache>
            </c:numRef>
          </c:cat>
          <c:val>
            <c:numRef>
              <c:f>Hoja2!$H$3:$H$9</c:f>
              <c:numCache>
                <c:formatCode>General</c:formatCode>
                <c:ptCount val="7"/>
                <c:pt idx="0">
                  <c:v>1.37</c:v>
                </c:pt>
                <c:pt idx="1">
                  <c:v>1.3900000000000001</c:v>
                </c:pt>
                <c:pt idx="2">
                  <c:v>1.35</c:v>
                </c:pt>
                <c:pt idx="3">
                  <c:v>1.48</c:v>
                </c:pt>
                <c:pt idx="4">
                  <c:v>1.8</c:v>
                </c:pt>
                <c:pt idx="5">
                  <c:v>2.58</c:v>
                </c:pt>
                <c:pt idx="6">
                  <c:v>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D7-4A29-B0B4-97FF8FB49D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2604672"/>
        <c:axId val="72603136"/>
      </c:lineChart>
      <c:catAx>
        <c:axId val="72591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>
            <a:solidFill>
              <a:schemeClr val="accent5">
                <a:lumMod val="50000"/>
              </a:schemeClr>
            </a:solidFill>
          </a:ln>
        </c:spPr>
        <c:crossAx val="72601600"/>
        <c:crosses val="autoZero"/>
        <c:auto val="1"/>
        <c:lblAlgn val="ctr"/>
        <c:lblOffset val="100"/>
        <c:noMultiLvlLbl val="0"/>
      </c:catAx>
      <c:valAx>
        <c:axId val="726016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crossAx val="72591616"/>
        <c:crosses val="autoZero"/>
        <c:crossBetween val="between"/>
      </c:valAx>
      <c:valAx>
        <c:axId val="7260313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72604672"/>
        <c:crosses val="max"/>
        <c:crossBetween val="between"/>
      </c:valAx>
      <c:catAx>
        <c:axId val="726046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72603136"/>
        <c:crosses val="autoZero"/>
        <c:auto val="1"/>
        <c:lblAlgn val="ctr"/>
        <c:lblOffset val="100"/>
        <c:noMultiLvlLbl val="0"/>
      </c:catAx>
      <c:spPr>
        <a:effectLst/>
      </c:spPr>
    </c:plotArea>
    <c:legend>
      <c:legendPos val="b"/>
      <c:overlay val="0"/>
    </c:legend>
    <c:plotVisOnly val="1"/>
    <c:dispBlanksAs val="gap"/>
    <c:showDLblsOverMax val="0"/>
  </c:chart>
  <c:spPr>
    <a:effectLst/>
  </c:spPr>
  <c:txPr>
    <a:bodyPr/>
    <a:lstStyle/>
    <a:p>
      <a:pPr>
        <a:defRPr sz="1400">
          <a:solidFill>
            <a:schemeClr val="accent5">
              <a:lumMod val="50000"/>
            </a:schemeClr>
          </a:solidFill>
          <a:latin typeface="Arial" pitchFamily="34" charset="0"/>
          <a:cs typeface="Arial" pitchFamily="34" charset="0"/>
        </a:defRPr>
      </a:pPr>
      <a:endParaRPr lang="es-A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67FDA2-683E-4FC2-A588-D73E4BC4FBD6}" type="doc">
      <dgm:prSet loTypeId="urn:microsoft.com/office/officeart/2005/8/layout/venn1" loCatId="relationship" qsTypeId="urn:microsoft.com/office/officeart/2005/8/quickstyle/simple4" qsCatId="simple" csTypeId="urn:microsoft.com/office/officeart/2005/8/colors/colorful3" csCatId="colorful" phldr="1"/>
      <dgm:spPr/>
    </dgm:pt>
    <dgm:pt modelId="{3A1C323B-AB63-43E6-AC5A-2416A02EC464}">
      <dgm:prSet phldrT="[Texto]"/>
      <dgm:spPr>
        <a:solidFill>
          <a:schemeClr val="accent5">
            <a:lumMod val="50000"/>
            <a:alpha val="7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s-AR" dirty="0">
              <a:solidFill>
                <a:schemeClr val="accent5">
                  <a:lumMod val="20000"/>
                  <a:lumOff val="80000"/>
                </a:schemeClr>
              </a:solidFill>
            </a:rPr>
            <a:t>Paridad Cambiaria</a:t>
          </a:r>
        </a:p>
      </dgm:t>
    </dgm:pt>
    <dgm:pt modelId="{B5D15C3A-5D16-4FB1-82DF-CA523A665A3E}" type="parTrans" cxnId="{3C18E6CB-9A68-4AF1-8F93-D72436326B66}">
      <dgm:prSet/>
      <dgm:spPr/>
      <dgm:t>
        <a:bodyPr/>
        <a:lstStyle/>
        <a:p>
          <a:endParaRPr lang="es-AR"/>
        </a:p>
      </dgm:t>
    </dgm:pt>
    <dgm:pt modelId="{58169DD7-E46D-486D-9EDA-99AA876839BA}" type="sibTrans" cxnId="{3C18E6CB-9A68-4AF1-8F93-D72436326B66}">
      <dgm:prSet/>
      <dgm:spPr/>
      <dgm:t>
        <a:bodyPr/>
        <a:lstStyle/>
        <a:p>
          <a:endParaRPr lang="es-AR"/>
        </a:p>
      </dgm:t>
    </dgm:pt>
    <dgm:pt modelId="{4460EBDF-733A-4FEF-8DBF-3AC8972B0245}">
      <dgm:prSet phldrT="[Texto]"/>
      <dgm:spPr>
        <a:solidFill>
          <a:schemeClr val="accent5">
            <a:lumMod val="50000"/>
            <a:alpha val="70000"/>
          </a:schemeClr>
        </a:solidFill>
        <a:ln>
          <a:solidFill>
            <a:schemeClr val="tx1"/>
          </a:solidFill>
        </a:ln>
      </dgm:spPr>
      <dgm:t>
        <a:bodyPr/>
        <a:lstStyle/>
        <a:p>
          <a:pPr algn="r"/>
          <a:r>
            <a:rPr lang="es-AR" dirty="0" err="1">
              <a:solidFill>
                <a:schemeClr val="accent5">
                  <a:lumMod val="20000"/>
                  <a:lumOff val="80000"/>
                </a:schemeClr>
              </a:solidFill>
            </a:rPr>
            <a:t>Mcdo</a:t>
          </a:r>
          <a:r>
            <a:rPr lang="es-AR" dirty="0">
              <a:solidFill>
                <a:schemeClr val="accent5">
                  <a:lumMod val="20000"/>
                  <a:lumOff val="80000"/>
                </a:schemeClr>
              </a:solidFill>
            </a:rPr>
            <a:t>. de Capitales abierto</a:t>
          </a:r>
        </a:p>
      </dgm:t>
    </dgm:pt>
    <dgm:pt modelId="{49A6CB20-43FE-40D0-91A6-36FAEFF16A52}" type="parTrans" cxnId="{2DF1ACD5-5FB3-47A5-B86D-6A215A83FEA5}">
      <dgm:prSet/>
      <dgm:spPr/>
      <dgm:t>
        <a:bodyPr/>
        <a:lstStyle/>
        <a:p>
          <a:endParaRPr lang="es-AR"/>
        </a:p>
      </dgm:t>
    </dgm:pt>
    <dgm:pt modelId="{4E8CB113-0326-4B95-9745-BCE1B35473EF}" type="sibTrans" cxnId="{2DF1ACD5-5FB3-47A5-B86D-6A215A83FEA5}">
      <dgm:prSet/>
      <dgm:spPr/>
      <dgm:t>
        <a:bodyPr/>
        <a:lstStyle/>
        <a:p>
          <a:endParaRPr lang="es-AR"/>
        </a:p>
      </dgm:t>
    </dgm:pt>
    <dgm:pt modelId="{835FA0A8-FAA9-48AE-9FB1-C138F5C098D8}">
      <dgm:prSet phldrT="[Texto]"/>
      <dgm:spPr>
        <a:solidFill>
          <a:schemeClr val="accent5">
            <a:lumMod val="50000"/>
            <a:alpha val="70000"/>
          </a:schemeClr>
        </a:solidFill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pPr algn="l"/>
          <a:r>
            <a:rPr lang="es-AR" dirty="0">
              <a:solidFill>
                <a:schemeClr val="accent5">
                  <a:lumMod val="20000"/>
                  <a:lumOff val="80000"/>
                </a:schemeClr>
              </a:solidFill>
            </a:rPr>
            <a:t>Política Monetaria Activa</a:t>
          </a:r>
        </a:p>
      </dgm:t>
    </dgm:pt>
    <dgm:pt modelId="{25AAA5AB-1CBF-4587-B2DC-4E1926EEAC7C}" type="parTrans" cxnId="{A352BAC4-32F8-4648-8524-0FFD05144B86}">
      <dgm:prSet/>
      <dgm:spPr/>
      <dgm:t>
        <a:bodyPr/>
        <a:lstStyle/>
        <a:p>
          <a:endParaRPr lang="es-AR"/>
        </a:p>
      </dgm:t>
    </dgm:pt>
    <dgm:pt modelId="{8D379BEE-F9E3-4968-B154-683E60FD5317}" type="sibTrans" cxnId="{A352BAC4-32F8-4648-8524-0FFD05144B86}">
      <dgm:prSet/>
      <dgm:spPr/>
      <dgm:t>
        <a:bodyPr/>
        <a:lstStyle/>
        <a:p>
          <a:endParaRPr lang="es-AR"/>
        </a:p>
      </dgm:t>
    </dgm:pt>
    <dgm:pt modelId="{D87E179A-CFFB-4176-B75F-DD3FE53B8CB7}" type="pres">
      <dgm:prSet presAssocID="{6667FDA2-683E-4FC2-A588-D73E4BC4FBD6}" presName="compositeShape" presStyleCnt="0">
        <dgm:presLayoutVars>
          <dgm:chMax val="7"/>
          <dgm:dir/>
          <dgm:resizeHandles val="exact"/>
        </dgm:presLayoutVars>
      </dgm:prSet>
      <dgm:spPr/>
    </dgm:pt>
    <dgm:pt modelId="{16791836-3961-4378-839E-95F7D7B9114B}" type="pres">
      <dgm:prSet presAssocID="{3A1C323B-AB63-43E6-AC5A-2416A02EC464}" presName="circ1" presStyleLbl="vennNode1" presStyleIdx="0" presStyleCnt="3" custLinFactNeighborX="1173"/>
      <dgm:spPr/>
    </dgm:pt>
    <dgm:pt modelId="{598A0B2A-6D93-4CD0-ADAB-9168DD3EF48C}" type="pres">
      <dgm:prSet presAssocID="{3A1C323B-AB63-43E6-AC5A-2416A02EC464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7867064-CC3B-4840-A326-892E49950480}" type="pres">
      <dgm:prSet presAssocID="{4460EBDF-733A-4FEF-8DBF-3AC8972B0245}" presName="circ2" presStyleLbl="vennNode1" presStyleIdx="1" presStyleCnt="3"/>
      <dgm:spPr/>
    </dgm:pt>
    <dgm:pt modelId="{0B4FA27A-1B71-446D-8651-A109439A6BF3}" type="pres">
      <dgm:prSet presAssocID="{4460EBDF-733A-4FEF-8DBF-3AC8972B0245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F8B9D55-8322-4EA7-B577-309DC05C2AF6}" type="pres">
      <dgm:prSet presAssocID="{835FA0A8-FAA9-48AE-9FB1-C138F5C098D8}" presName="circ3" presStyleLbl="vennNode1" presStyleIdx="2" presStyleCnt="3"/>
      <dgm:spPr/>
    </dgm:pt>
    <dgm:pt modelId="{49B8DC51-9557-48C8-973D-502FB15D76E7}" type="pres">
      <dgm:prSet presAssocID="{835FA0A8-FAA9-48AE-9FB1-C138F5C098D8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B20A7A07-1E44-4A95-A273-0D2E3F72C72E}" type="presOf" srcId="{6667FDA2-683E-4FC2-A588-D73E4BC4FBD6}" destId="{D87E179A-CFFB-4176-B75F-DD3FE53B8CB7}" srcOrd="0" destOrd="0" presId="urn:microsoft.com/office/officeart/2005/8/layout/venn1"/>
    <dgm:cxn modelId="{F4A64715-DF62-4CA2-84A5-2A0DDF4EA826}" type="presOf" srcId="{835FA0A8-FAA9-48AE-9FB1-C138F5C098D8}" destId="{BF8B9D55-8322-4EA7-B577-309DC05C2AF6}" srcOrd="0" destOrd="0" presId="urn:microsoft.com/office/officeart/2005/8/layout/venn1"/>
    <dgm:cxn modelId="{DA151E2E-E2FE-49F7-BEBC-135AD96079CC}" type="presOf" srcId="{3A1C323B-AB63-43E6-AC5A-2416A02EC464}" destId="{598A0B2A-6D93-4CD0-ADAB-9168DD3EF48C}" srcOrd="1" destOrd="0" presId="urn:microsoft.com/office/officeart/2005/8/layout/venn1"/>
    <dgm:cxn modelId="{0D4DB43B-B789-410F-B5E0-ACAD38FF962B}" type="presOf" srcId="{3A1C323B-AB63-43E6-AC5A-2416A02EC464}" destId="{16791836-3961-4378-839E-95F7D7B9114B}" srcOrd="0" destOrd="0" presId="urn:microsoft.com/office/officeart/2005/8/layout/venn1"/>
    <dgm:cxn modelId="{9BE44E3C-454E-486B-83CB-2D7ACFD8DA4C}" type="presOf" srcId="{835FA0A8-FAA9-48AE-9FB1-C138F5C098D8}" destId="{49B8DC51-9557-48C8-973D-502FB15D76E7}" srcOrd="1" destOrd="0" presId="urn:microsoft.com/office/officeart/2005/8/layout/venn1"/>
    <dgm:cxn modelId="{8739696F-EFFA-4B30-9D75-3DA902AE606A}" type="presOf" srcId="{4460EBDF-733A-4FEF-8DBF-3AC8972B0245}" destId="{27867064-CC3B-4840-A326-892E49950480}" srcOrd="0" destOrd="0" presId="urn:microsoft.com/office/officeart/2005/8/layout/venn1"/>
    <dgm:cxn modelId="{AADCACAE-1050-4D6E-A731-652E4A166DAF}" type="presOf" srcId="{4460EBDF-733A-4FEF-8DBF-3AC8972B0245}" destId="{0B4FA27A-1B71-446D-8651-A109439A6BF3}" srcOrd="1" destOrd="0" presId="urn:microsoft.com/office/officeart/2005/8/layout/venn1"/>
    <dgm:cxn modelId="{A352BAC4-32F8-4648-8524-0FFD05144B86}" srcId="{6667FDA2-683E-4FC2-A588-D73E4BC4FBD6}" destId="{835FA0A8-FAA9-48AE-9FB1-C138F5C098D8}" srcOrd="2" destOrd="0" parTransId="{25AAA5AB-1CBF-4587-B2DC-4E1926EEAC7C}" sibTransId="{8D379BEE-F9E3-4968-B154-683E60FD5317}"/>
    <dgm:cxn modelId="{3C18E6CB-9A68-4AF1-8F93-D72436326B66}" srcId="{6667FDA2-683E-4FC2-A588-D73E4BC4FBD6}" destId="{3A1C323B-AB63-43E6-AC5A-2416A02EC464}" srcOrd="0" destOrd="0" parTransId="{B5D15C3A-5D16-4FB1-82DF-CA523A665A3E}" sibTransId="{58169DD7-E46D-486D-9EDA-99AA876839BA}"/>
    <dgm:cxn modelId="{2DF1ACD5-5FB3-47A5-B86D-6A215A83FEA5}" srcId="{6667FDA2-683E-4FC2-A588-D73E4BC4FBD6}" destId="{4460EBDF-733A-4FEF-8DBF-3AC8972B0245}" srcOrd="1" destOrd="0" parTransId="{49A6CB20-43FE-40D0-91A6-36FAEFF16A52}" sibTransId="{4E8CB113-0326-4B95-9745-BCE1B35473EF}"/>
    <dgm:cxn modelId="{B45AC0BE-44A9-4C9D-892A-11882713687D}" type="presParOf" srcId="{D87E179A-CFFB-4176-B75F-DD3FE53B8CB7}" destId="{16791836-3961-4378-839E-95F7D7B9114B}" srcOrd="0" destOrd="0" presId="urn:microsoft.com/office/officeart/2005/8/layout/venn1"/>
    <dgm:cxn modelId="{D343D66F-5769-4ED6-80AE-1DC04B921EB0}" type="presParOf" srcId="{D87E179A-CFFB-4176-B75F-DD3FE53B8CB7}" destId="{598A0B2A-6D93-4CD0-ADAB-9168DD3EF48C}" srcOrd="1" destOrd="0" presId="urn:microsoft.com/office/officeart/2005/8/layout/venn1"/>
    <dgm:cxn modelId="{58BCF7F0-A1E6-4CF5-AA45-FA3648EEA0DB}" type="presParOf" srcId="{D87E179A-CFFB-4176-B75F-DD3FE53B8CB7}" destId="{27867064-CC3B-4840-A326-892E49950480}" srcOrd="2" destOrd="0" presId="urn:microsoft.com/office/officeart/2005/8/layout/venn1"/>
    <dgm:cxn modelId="{EF8B4FDF-4437-4F36-AEDB-D93472B17AF9}" type="presParOf" srcId="{D87E179A-CFFB-4176-B75F-DD3FE53B8CB7}" destId="{0B4FA27A-1B71-446D-8651-A109439A6BF3}" srcOrd="3" destOrd="0" presId="urn:microsoft.com/office/officeart/2005/8/layout/venn1"/>
    <dgm:cxn modelId="{3E8B3975-759F-42BB-B4E6-84191973B449}" type="presParOf" srcId="{D87E179A-CFFB-4176-B75F-DD3FE53B8CB7}" destId="{BF8B9D55-8322-4EA7-B577-309DC05C2AF6}" srcOrd="4" destOrd="0" presId="urn:microsoft.com/office/officeart/2005/8/layout/venn1"/>
    <dgm:cxn modelId="{CB105C97-722A-4229-8CB7-1C2CC42E1445}" type="presParOf" srcId="{D87E179A-CFFB-4176-B75F-DD3FE53B8CB7}" destId="{49B8DC51-9557-48C8-973D-502FB15D76E7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791836-3961-4378-839E-95F7D7B9114B}">
      <dsp:nvSpPr>
        <dsp:cNvPr id="0" name=""/>
        <dsp:cNvSpPr/>
      </dsp:nvSpPr>
      <dsp:spPr>
        <a:xfrm>
          <a:off x="1857402" y="50799"/>
          <a:ext cx="2438400" cy="2438400"/>
        </a:xfrm>
        <a:prstGeom prst="ellipse">
          <a:avLst/>
        </a:prstGeom>
        <a:solidFill>
          <a:schemeClr val="accent5">
            <a:lumMod val="50000"/>
            <a:alpha val="7000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700" kern="1200" dirty="0">
              <a:solidFill>
                <a:schemeClr val="accent5">
                  <a:lumMod val="20000"/>
                  <a:lumOff val="80000"/>
                </a:schemeClr>
              </a:solidFill>
            </a:rPr>
            <a:t>Paridad Cambiaria</a:t>
          </a:r>
        </a:p>
      </dsp:txBody>
      <dsp:txXfrm>
        <a:off x="2182522" y="477519"/>
        <a:ext cx="1788160" cy="1097280"/>
      </dsp:txXfrm>
    </dsp:sp>
    <dsp:sp modelId="{27867064-CC3B-4840-A326-892E49950480}">
      <dsp:nvSpPr>
        <dsp:cNvPr id="0" name=""/>
        <dsp:cNvSpPr/>
      </dsp:nvSpPr>
      <dsp:spPr>
        <a:xfrm>
          <a:off x="2708656" y="1574800"/>
          <a:ext cx="2438400" cy="2438400"/>
        </a:xfrm>
        <a:prstGeom prst="ellipse">
          <a:avLst/>
        </a:prstGeom>
        <a:solidFill>
          <a:schemeClr val="accent5">
            <a:lumMod val="50000"/>
            <a:alpha val="70000"/>
          </a:schemeClr>
        </a:solidFill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700" kern="1200" dirty="0" err="1">
              <a:solidFill>
                <a:schemeClr val="accent5">
                  <a:lumMod val="20000"/>
                  <a:lumOff val="80000"/>
                </a:schemeClr>
              </a:solidFill>
            </a:rPr>
            <a:t>Mcdo</a:t>
          </a:r>
          <a:r>
            <a:rPr lang="es-AR" sz="2700" kern="1200" dirty="0">
              <a:solidFill>
                <a:schemeClr val="accent5">
                  <a:lumMod val="20000"/>
                  <a:lumOff val="80000"/>
                </a:schemeClr>
              </a:solidFill>
            </a:rPr>
            <a:t>. de Capitales abierto</a:t>
          </a:r>
        </a:p>
      </dsp:txBody>
      <dsp:txXfrm>
        <a:off x="3454400" y="2204720"/>
        <a:ext cx="1463040" cy="1341120"/>
      </dsp:txXfrm>
    </dsp:sp>
    <dsp:sp modelId="{BF8B9D55-8322-4EA7-B577-309DC05C2AF6}">
      <dsp:nvSpPr>
        <dsp:cNvPr id="0" name=""/>
        <dsp:cNvSpPr/>
      </dsp:nvSpPr>
      <dsp:spPr>
        <a:xfrm>
          <a:off x="948943" y="1574800"/>
          <a:ext cx="2438400" cy="2438400"/>
        </a:xfrm>
        <a:prstGeom prst="ellipse">
          <a:avLst/>
        </a:prstGeom>
        <a:solidFill>
          <a:schemeClr val="accent5">
            <a:lumMod val="50000"/>
            <a:alpha val="70000"/>
          </a:schemeClr>
        </a:solidFill>
        <a:ln>
          <a:solidFill>
            <a:schemeClr val="accent6">
              <a:lumMod val="5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2700" kern="1200" dirty="0">
              <a:solidFill>
                <a:schemeClr val="accent5">
                  <a:lumMod val="20000"/>
                  <a:lumOff val="80000"/>
                </a:schemeClr>
              </a:solidFill>
            </a:rPr>
            <a:t>Política Monetaria Activa</a:t>
          </a:r>
        </a:p>
      </dsp:txBody>
      <dsp:txXfrm>
        <a:off x="1178560" y="2204720"/>
        <a:ext cx="1463040" cy="1341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0.35062</cdr:x>
      <cdr:y>0.5</cdr:y>
    </cdr:from>
    <cdr:to>
      <cdr:x>0.48285</cdr:x>
      <cdr:y>0.67808</cdr:y>
    </cdr:to>
    <cdr:sp macro="" textlink="">
      <cdr:nvSpPr>
        <cdr:cNvPr id="2" name="Flecha: hacia la izquierda 1">
          <a:extLst xmlns:a="http://schemas.openxmlformats.org/drawingml/2006/main">
            <a:ext uri="{FF2B5EF4-FFF2-40B4-BE49-F238E27FC236}">
              <a16:creationId xmlns:a16="http://schemas.microsoft.com/office/drawing/2014/main" id="{7C1BC53C-7D7B-49EB-8491-87BDED6E7BD4}"/>
            </a:ext>
          </a:extLst>
        </cdr:cNvPr>
        <cdr:cNvSpPr/>
      </cdr:nvSpPr>
      <cdr:spPr>
        <a:xfrm xmlns:a="http://schemas.openxmlformats.org/drawingml/2006/main">
          <a:off x="3168352" y="2733832"/>
          <a:ext cx="1194908" cy="973682"/>
        </a:xfrm>
        <a:prstGeom xmlns:a="http://schemas.openxmlformats.org/drawingml/2006/main" prst="leftArrow">
          <a:avLst/>
        </a:prstGeom>
        <a:solidFill xmlns:a="http://schemas.openxmlformats.org/drawingml/2006/main">
          <a:schemeClr val="accent5">
            <a:lumMod val="50000"/>
          </a:schemeClr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anchor="ctr"/>
        <a:lstStyle xmlns:a="http://schemas.openxmlformats.org/drawingml/2006/main"/>
        <a:p xmlns:a="http://schemas.openxmlformats.org/drawingml/2006/main">
          <a:pPr algn="ctr"/>
          <a:r>
            <a:rPr lang="es-AR" sz="20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Techo</a:t>
          </a:r>
          <a:endParaRPr lang="es-ES" sz="2000" b="1" dirty="0">
            <a:solidFill>
              <a:schemeClr val="accent5">
                <a:lumMod val="20000"/>
                <a:lumOff val="80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06AD9-5572-4D77-A0C7-38EA8EA3812C}" type="datetimeFigureOut">
              <a:rPr lang="es-ES" smtClean="0"/>
              <a:pPr/>
              <a:t>22/08/2019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FB8BF-DC25-4471-AA2A-AD42B140C6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094368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es-ES" sz="1200"/>
            </a:lvl1pPr>
            <a:extLst/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es-ES" sz="1200"/>
            </a:lvl1pPr>
            <a:extLst/>
          </a:lstStyle>
          <a:p>
            <a:fld id="{A8ADFD5B-A66C-449C-B6E8-FB716D07777D}" type="datetimeFigureOut">
              <a:rPr lang="es-ES"/>
              <a:pPr/>
              <a:t>22/08/2019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es-ES" sz="1200"/>
            </a:lvl1pPr>
            <a:extLst/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es-ES" sz="1200"/>
            </a:lvl1pPr>
            <a:extLst/>
          </a:lstStyle>
          <a:p>
            <a:fld id="{CA5D3BF3-D352-46FC-8343-31F56E6730EA}" type="slidenum">
              <a:rPr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910508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es-ES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0976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150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69966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58390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32533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10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9596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11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251612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12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6979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14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15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65739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16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59736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17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722890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18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70995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19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18713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20</a:t>
            </a:fld>
            <a:endParaRPr lang="es-E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21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22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23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24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0994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25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2547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26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27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982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28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29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30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3180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31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32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33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34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es-ES" smtClean="0"/>
              <a:pPr/>
              <a:t>35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88321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36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40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41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42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7583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43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44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45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46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47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smtClean="0">
                <a:solidFill>
                  <a:prstClr val="black"/>
                </a:solidFill>
              </a:rPr>
              <a:pPr/>
              <a:t>48</a:t>
            </a:fld>
            <a:endParaRPr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FE17FA-6F3D-4A57-9221-4F686AE5A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A0B919-E025-40A2-85D9-4DF9B9666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678B43-F65E-44BB-BE26-B3EB19A13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kumimoji="0" lang="es-ES">
                <a:solidFill>
                  <a:srgbClr val="FFFFFF"/>
                </a:solidFill>
              </a:rPr>
              <a:t>30/6/2006</a:t>
            </a:r>
            <a:endParaRPr kumimoji="0" lang="es-ES" sz="2000">
              <a:solidFill>
                <a:srgbClr val="FFFFFF"/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9D26F1-49B2-45C6-A4FE-DE8FA9B0A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2A8DE0-3F44-40A3-B602-20AB7BFCB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kumimoji="0" lang="es-ES" smtClean="0">
                <a:solidFill>
                  <a:schemeClr val="tx2"/>
                </a:solidFill>
              </a:rPr>
              <a:pPr/>
              <a:t>‹Nº›</a:t>
            </a:fld>
            <a:endParaRPr kumimoji="0" lang="es-E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344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77253-04C3-4764-AD83-432A2E73A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B72F11-3F63-4B82-BE21-6708BFFA5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FB5232-EFED-4BE0-848C-C80D7C213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934A04-1FD5-45AC-B987-186C044C8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FB1106-A8A5-4C04-920B-682DF4A1E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826352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8916B-AAB1-420F-AC2E-3E6F2EA5E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B96067-BAE2-4207-B868-128DF23D9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70DC4D-0640-426E-B4B2-0DA42BC30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AAAEDE-DA18-44F0-98CB-F19B0F4C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s-ES"/>
              <a:t>La Crisis de Baring - Cátedra HEA - FCE - UNC                                                        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17731C-958F-4B19-9DDE-F1A966139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2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77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EAD7A-AF39-48CF-8C11-3A49D92E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5432AE-E72A-41F1-BC79-4E67A91D0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A4237B3-4767-4E24-BDC3-E4B69D076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5D4280-37AC-4297-91D8-FA1AE66F5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920DF0-CC66-4883-9742-41C351CAD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4FEC29-01C8-4160-8409-2C35F6D88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125713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2AD9F-3A28-42B9-8D6A-2D6FF6534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C80C2F-25AA-493C-BB3E-A3CC0D9BF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343066-9C59-43A7-8AD5-B1C7F8B74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3CE153E-8902-450B-8ED6-953077BA3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A348A52-569A-4E8E-ABD9-10801CF07E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E33E548-F743-4940-BC34-F73E74DD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5C26CA6-DD16-4C0E-8927-1F3408E8E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E04B531-EB6E-434F-900C-199E81A6D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711427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D35C5-8E73-49EA-842D-14392ED78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3DB2CC9-0A59-4A9E-87AF-F895C154A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8E92B1-1A52-4557-96A4-5A3529F2F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BDAF3E4-C95B-47E5-8C64-C5B72533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864255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6975058-0DE6-4ACA-835B-913C6E4D2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C582F8-946B-4179-94F1-7178A72F2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s-ES"/>
              <a:t>La Crisis de Baring - Cátedra HEA - FCE - UNC                                                                     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54F367-C9ED-468D-90C0-256C6F50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kumimoji="0" lang="es-ES" smtClean="0">
                <a:solidFill>
                  <a:schemeClr val="tx2"/>
                </a:solidFill>
              </a:rPr>
              <a:pPr/>
              <a:t>‹Nº›</a:t>
            </a:fld>
            <a:endParaRPr kumimoji="0" lang="es-E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505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58E187-B5BD-4750-BE6D-C2B7B4F9D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09DAF5-3C00-427B-B070-66951B9BA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0EA29D-A68C-4286-AA6E-450B3764E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044714-4CA8-4DC2-80D7-0AB06744C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C8EDDA-D2CB-493D-A5EF-170A02161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8FBE5B-D2FF-45A4-BA32-0204BDD83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631471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172F8-2456-478C-A9B0-702FC930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9941A7-BEA5-4E7E-B666-B2CBE95F32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627AB2-31D1-4F21-8BB7-1ADCDECCA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8CB3CB-C8CA-4ADC-BE74-C33B4F1D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0BD8CC-40E4-4AEE-BA11-E31FCB33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s-ES"/>
              <a:t>La Crisis de Baring - Cátedra HEA - FCE - UNC                                                                      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F7624B-6479-44E3-82EC-01C12B663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28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2800"/>
          </a:p>
        </p:txBody>
      </p:sp>
    </p:spTree>
    <p:extLst>
      <p:ext uri="{BB962C8B-B14F-4D97-AF65-F5344CB8AC3E}">
        <p14:creationId xmlns:p14="http://schemas.microsoft.com/office/powerpoint/2010/main" val="1589179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BC815-3ECA-442D-AB0F-FDA380D54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6DD94D-D1DC-4E86-8536-327C6759A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72C205-C993-4246-8522-2C43F6C26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64A59D-4E10-4398-ACD5-1E5B21369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D3FD62-0B1E-47D9-94F9-F57A8CFC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510426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3914EF-5256-45E8-BC4A-39E43E42C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6ED381-EEF8-4488-B405-0636DE422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2CFD98-EBDA-4506-93C6-F978DA134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327AD6-9746-40C1-B2A5-5A97EFAE9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75962A-372E-4481-B654-1EDDFDF2C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191318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803402"/>
            <a:ext cx="3886200" cy="4358165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803399"/>
            <a:ext cx="3886200" cy="4358167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es-ES"/>
              <a:t>30/6/2006</a:t>
            </a:r>
            <a:endParaRPr kumimoji="0" lang="es-E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es-ES" sz="1400" b="1">
                <a:solidFill>
                  <a:srgbClr val="FFFFFF"/>
                </a:solidFill>
              </a:rPr>
              <a:pPr algn="ctr"/>
              <a:t>‹Nº›</a:t>
            </a:fld>
            <a:endParaRPr kumimoji="0" lang="es-E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kumimoji="0" lang="es-ES"/>
              <a:t>La Crisis de Baring - Cátedra HEA - FCE - UNC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82376432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6E8BE3-D6EC-49ED-983A-87CDF60B7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46C31A-F680-453F-B6FC-09BB90D05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50EFFC-88AB-41BB-9C13-66588346F9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30/6/2006</a:t>
            </a:r>
            <a:endParaRPr kumimoji="0" lang="es-ES" sz="1400">
              <a:solidFill>
                <a:schemeClr val="tx2"/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F33D4A-9215-4787-87EF-ED73E7AE1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kumimoji="0" lang="es-ES" sz="1400">
                <a:solidFill>
                  <a:schemeClr val="tx2"/>
                </a:solidFill>
              </a:rPr>
              <a:t>La Crisis de Baring - Cátedra HEA - FCE - UNC                                                        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F1341-BBEB-4ACA-B94B-B30AEDF28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8F82E0A0-C266-4798-8C8F-B9F91E9DA37E}" type="slidenum">
              <a:rPr kumimoji="0" lang="es-ES" sz="1400" b="1" smtClean="0">
                <a:solidFill>
                  <a:srgbClr val="FFFFFF"/>
                </a:solidFill>
              </a:rPr>
              <a:pPr algn="ctr"/>
              <a:t>‹Nº›</a:t>
            </a:fld>
            <a:endParaRPr kumimoji="0" lang="es-E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263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jpe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jpeg"/><Relationship Id="rId5" Type="http://schemas.openxmlformats.org/officeDocument/2006/relationships/image" Target="../media/image22.jpe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11" Type="http://schemas.openxmlformats.org/officeDocument/2006/relationships/image" Target="../media/image18.png"/><Relationship Id="rId5" Type="http://schemas.openxmlformats.org/officeDocument/2006/relationships/image" Target="../media/image34.png"/><Relationship Id="rId10" Type="http://schemas.openxmlformats.org/officeDocument/2006/relationships/image" Target="../media/image37.svg"/><Relationship Id="rId4" Type="http://schemas.openxmlformats.org/officeDocument/2006/relationships/image" Target="../media/image13.svg"/><Relationship Id="rId9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5.png"/><Relationship Id="rId3" Type="http://schemas.openxmlformats.org/officeDocument/2006/relationships/image" Target="../media/image14.png"/><Relationship Id="rId7" Type="http://schemas.openxmlformats.org/officeDocument/2006/relationships/image" Target="../media/image41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4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47.png"/><Relationship Id="rId10" Type="http://schemas.openxmlformats.org/officeDocument/2006/relationships/image" Target="../media/image44.svg"/><Relationship Id="rId4" Type="http://schemas.openxmlformats.org/officeDocument/2006/relationships/image" Target="../media/image15.svg"/><Relationship Id="rId9" Type="http://schemas.openxmlformats.org/officeDocument/2006/relationships/image" Target="../media/image43.png"/><Relationship Id="rId14" Type="http://schemas.openxmlformats.org/officeDocument/2006/relationships/image" Target="../media/image4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5" name="4 Rectángulo redondeado"/>
          <p:cNvSpPr/>
          <p:nvPr/>
        </p:nvSpPr>
        <p:spPr>
          <a:xfrm>
            <a:off x="0" y="0"/>
            <a:ext cx="9144000" cy="692696"/>
          </a:xfrm>
          <a:prstGeom prst="roundRect">
            <a:avLst>
              <a:gd name="adj" fmla="val 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 ECONÓMICA ARGENTINA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60121C-229F-42DF-BBAD-BF2E003FA26A}"/>
              </a:ext>
            </a:extLst>
          </p:cNvPr>
          <p:cNvSpPr txBox="1"/>
          <p:nvPr/>
        </p:nvSpPr>
        <p:spPr>
          <a:xfrm>
            <a:off x="2649785" y="1798372"/>
            <a:ext cx="116891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3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B68376-3601-4F72-98F3-FDAD011EED1E}"/>
              </a:ext>
            </a:extLst>
          </p:cNvPr>
          <p:cNvSpPr txBox="1"/>
          <p:nvPr/>
        </p:nvSpPr>
        <p:spPr>
          <a:xfrm>
            <a:off x="3858185" y="3068960"/>
            <a:ext cx="294606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</a:t>
            </a:r>
          </a:p>
          <a:p>
            <a:r>
              <a:rPr lang="es-AR" sz="3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MONETARIA</a:t>
            </a:r>
          </a:p>
          <a:p>
            <a:r>
              <a:rPr lang="es-AR" sz="3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SIGLO</a:t>
            </a:r>
          </a:p>
          <a:p>
            <a:r>
              <a:rPr lang="es-AR" sz="3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XIX 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901B6B2D-81F1-4DBD-A9F9-E9C7F8AF5674}"/>
              </a:ext>
            </a:extLst>
          </p:cNvPr>
          <p:cNvCxnSpPr>
            <a:cxnSpLocks/>
          </p:cNvCxnSpPr>
          <p:nvPr/>
        </p:nvCxnSpPr>
        <p:spPr>
          <a:xfrm flipV="1">
            <a:off x="3813713" y="2298052"/>
            <a:ext cx="0" cy="2931148"/>
          </a:xfrm>
          <a:prstGeom prst="line">
            <a:avLst/>
          </a:prstGeom>
          <a:ln w="571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226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323528" y="883452"/>
            <a:ext cx="8496944" cy="5857916"/>
          </a:xfrm>
          <a:prstGeom prst="roundRect">
            <a:avLst>
              <a:gd name="adj" fmla="val 962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Evolución del modelo monetario</a:t>
            </a:r>
          </a:p>
          <a:p>
            <a:pPr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Anarquía</a:t>
            </a:r>
          </a:p>
          <a:p>
            <a:pPr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1881</a:t>
            </a:r>
          </a:p>
          <a:p>
            <a:pPr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1885</a:t>
            </a:r>
          </a:p>
          <a:p>
            <a:pPr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de Bancos Nacionales Garantidos</a:t>
            </a:r>
          </a:p>
          <a:p>
            <a:pPr algn="ctr"/>
            <a:endParaRPr lang="es-AR" sz="240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Política Fiscal</a:t>
            </a:r>
          </a:p>
          <a:p>
            <a:pPr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Financiamiento del déficit</a:t>
            </a:r>
          </a:p>
          <a:p>
            <a:pPr algn="ctr"/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 de </a:t>
            </a:r>
            <a:r>
              <a:rPr lang="es-AR" sz="24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Baring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Inconsistencia de políticas</a:t>
            </a:r>
          </a:p>
          <a:p>
            <a:pPr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Dinámica</a:t>
            </a:r>
          </a:p>
          <a:p>
            <a:pPr algn="ctr"/>
            <a:r>
              <a:rPr lang="es-AR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medidas</a:t>
            </a:r>
          </a:p>
        </p:txBody>
      </p:sp>
      <p:sp>
        <p:nvSpPr>
          <p:cNvPr id="6" name="5 Rectángulo redondeado"/>
          <p:cNvSpPr/>
          <p:nvPr/>
        </p:nvSpPr>
        <p:spPr>
          <a:xfrm>
            <a:off x="323528" y="883452"/>
            <a:ext cx="8496944" cy="50405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Contenido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8" name="4 Rectángulo redondeado">
            <a:extLst>
              <a:ext uri="{FF2B5EF4-FFF2-40B4-BE49-F238E27FC236}">
                <a16:creationId xmlns:a16="http://schemas.microsoft.com/office/drawing/2014/main" id="{053C0D34-BF43-4A8D-B3DE-DEB1F654E621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oundRect">
            <a:avLst>
              <a:gd name="adj" fmla="val 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DEL SIGLO XIX</a:t>
            </a:r>
          </a:p>
        </p:txBody>
      </p:sp>
    </p:spTree>
    <p:extLst>
      <p:ext uri="{BB962C8B-B14F-4D97-AF65-F5344CB8AC3E}">
        <p14:creationId xmlns:p14="http://schemas.microsoft.com/office/powerpoint/2010/main" val="633995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85317E83-E6B4-41F9-845A-9555A859BD48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 REAL Y LO MONETARIO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B45ECBD-CBBD-4F4E-AA9A-7A2E5BD703F1}"/>
              </a:ext>
            </a:extLst>
          </p:cNvPr>
          <p:cNvCxnSpPr>
            <a:cxnSpLocks/>
          </p:cNvCxnSpPr>
          <p:nvPr/>
        </p:nvCxnSpPr>
        <p:spPr>
          <a:xfrm>
            <a:off x="1955164" y="1628800"/>
            <a:ext cx="5975118" cy="0"/>
          </a:xfrm>
          <a:prstGeom prst="line">
            <a:avLst/>
          </a:prstGeom>
          <a:ln w="762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46AC84C-FCC5-499E-B2D6-16F26DCF8216}"/>
              </a:ext>
            </a:extLst>
          </p:cNvPr>
          <p:cNvCxnSpPr/>
          <p:nvPr/>
        </p:nvCxnSpPr>
        <p:spPr>
          <a:xfrm>
            <a:off x="1971764" y="1412776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DF26C85-8B87-4F43-B1E2-08BED6DC4347}"/>
              </a:ext>
            </a:extLst>
          </p:cNvPr>
          <p:cNvSpPr txBox="1"/>
          <p:nvPr/>
        </p:nvSpPr>
        <p:spPr>
          <a:xfrm>
            <a:off x="1681006" y="1876182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1860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5424ADB-090F-4843-83A3-AD5A2ACBDE39}"/>
              </a:ext>
            </a:extLst>
          </p:cNvPr>
          <p:cNvCxnSpPr/>
          <p:nvPr/>
        </p:nvCxnSpPr>
        <p:spPr>
          <a:xfrm>
            <a:off x="4186607" y="1412776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A87BAA2-F659-4881-B476-CF5D640C2031}"/>
              </a:ext>
            </a:extLst>
          </p:cNvPr>
          <p:cNvSpPr txBox="1"/>
          <p:nvPr/>
        </p:nvSpPr>
        <p:spPr>
          <a:xfrm>
            <a:off x="3835768" y="1884580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1880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EE609F7-CAFB-40C9-B07B-3E908093A7D2}"/>
              </a:ext>
            </a:extLst>
          </p:cNvPr>
          <p:cNvCxnSpPr/>
          <p:nvPr/>
        </p:nvCxnSpPr>
        <p:spPr>
          <a:xfrm>
            <a:off x="6318648" y="1412776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9322376-9D83-4C47-9482-9DD4E100FAA1}"/>
              </a:ext>
            </a:extLst>
          </p:cNvPr>
          <p:cNvSpPr txBox="1"/>
          <p:nvPr/>
        </p:nvSpPr>
        <p:spPr>
          <a:xfrm>
            <a:off x="5969835" y="1879726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1900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FFE4FF74-362C-4105-B944-77455BC89D6D}"/>
              </a:ext>
            </a:extLst>
          </p:cNvPr>
          <p:cNvCxnSpPr/>
          <p:nvPr/>
        </p:nvCxnSpPr>
        <p:spPr>
          <a:xfrm>
            <a:off x="7903651" y="1412776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A68FFA5-896B-4CC4-B4E1-7D447FCC7391}"/>
              </a:ext>
            </a:extLst>
          </p:cNvPr>
          <p:cNvSpPr txBox="1"/>
          <p:nvPr/>
        </p:nvSpPr>
        <p:spPr>
          <a:xfrm>
            <a:off x="7554838" y="1879726"/>
            <a:ext cx="697627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1914</a:t>
            </a:r>
          </a:p>
        </p:txBody>
      </p:sp>
      <p:sp>
        <p:nvSpPr>
          <p:cNvPr id="30" name="Text Box 9">
            <a:extLst>
              <a:ext uri="{FF2B5EF4-FFF2-40B4-BE49-F238E27FC236}">
                <a16:creationId xmlns:a16="http://schemas.microsoft.com/office/drawing/2014/main" id="{FD70B0F2-BF86-4334-82BC-D7F27C2C3D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164" y="2453141"/>
            <a:ext cx="4337943" cy="762931"/>
          </a:xfrm>
          <a:prstGeom prst="rect">
            <a:avLst/>
          </a:prstGeom>
          <a:solidFill>
            <a:schemeClr val="accent5">
              <a:lumMod val="75000"/>
            </a:schemeClr>
          </a:solidFill>
          <a:ln w="571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>
            <a:defPPr>
              <a:defRPr lang="es-AR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AR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“PREPARACIÓN” BPE</a:t>
            </a:r>
          </a:p>
        </p:txBody>
      </p:sp>
      <p:sp>
        <p:nvSpPr>
          <p:cNvPr id="31" name="Text Box 9">
            <a:extLst>
              <a:ext uri="{FF2B5EF4-FFF2-40B4-BE49-F238E27FC236}">
                <a16:creationId xmlns:a16="http://schemas.microsoft.com/office/drawing/2014/main" id="{890FC1C5-7FC6-4EB4-A20F-61F44EBB1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6650" y="2453141"/>
            <a:ext cx="1593632" cy="76312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571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>
            <a:defPPr>
              <a:defRPr lang="es-AR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AR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FRUTOS BPE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CAABEE6-B7AF-4BE4-A148-CF0693263081}"/>
              </a:ext>
            </a:extLst>
          </p:cNvPr>
          <p:cNvSpPr txBox="1"/>
          <p:nvPr/>
        </p:nvSpPr>
        <p:spPr>
          <a:xfrm>
            <a:off x="670583" y="2577195"/>
            <a:ext cx="11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</a:t>
            </a:r>
          </a:p>
        </p:txBody>
      </p:sp>
      <p:sp>
        <p:nvSpPr>
          <p:cNvPr id="37" name="Text Box 9">
            <a:extLst>
              <a:ext uri="{FF2B5EF4-FFF2-40B4-BE49-F238E27FC236}">
                <a16:creationId xmlns:a16="http://schemas.microsoft.com/office/drawing/2014/main" id="{F0FE2CCC-DF68-4C06-9A4C-1AA7ADC33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3616764"/>
            <a:ext cx="4337943" cy="76293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571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>
            <a:defPPr>
              <a:defRPr lang="es-AR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AR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POLÍTICA MONETARIA S. XIX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3947702-1766-4F36-866B-9DBC60CF683F}"/>
              </a:ext>
            </a:extLst>
          </p:cNvPr>
          <p:cNvSpPr txBox="1"/>
          <p:nvPr/>
        </p:nvSpPr>
        <p:spPr>
          <a:xfrm>
            <a:off x="292018" y="3736619"/>
            <a:ext cx="1541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MONET.</a:t>
            </a:r>
          </a:p>
        </p:txBody>
      </p:sp>
      <p:sp>
        <p:nvSpPr>
          <p:cNvPr id="39" name="Text Box 9">
            <a:extLst>
              <a:ext uri="{FF2B5EF4-FFF2-40B4-BE49-F238E27FC236}">
                <a16:creationId xmlns:a16="http://schemas.microsoft.com/office/drawing/2014/main" id="{4590011B-0F81-4ADF-AE87-2DE8E557E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7676" y="3613068"/>
            <a:ext cx="1560096" cy="75715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57150">
            <a:noFill/>
            <a:miter lim="800000"/>
            <a:headEnd/>
            <a:tailEnd/>
          </a:ln>
        </p:spPr>
        <p:txBody>
          <a:bodyPr vert="horz" wrap="square" lIns="91440" tIns="18000" rIns="91440" bIns="18000" numCol="1" anchor="ctr" anchorCtr="0" compatLnSpc="1">
            <a:prstTxWarp prst="textNoShape">
              <a:avLst/>
            </a:prstTxWarp>
          </a:bodyPr>
          <a:lstStyle>
            <a:defPPr>
              <a:defRPr lang="es-AR"/>
            </a:defPPr>
            <a:lvl1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AR" sz="20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CAJA Y BNA</a:t>
            </a:r>
          </a:p>
        </p:txBody>
      </p:sp>
      <p:sp>
        <p:nvSpPr>
          <p:cNvPr id="3" name="Triángulo isósceles 2">
            <a:extLst>
              <a:ext uri="{FF2B5EF4-FFF2-40B4-BE49-F238E27FC236}">
                <a16:creationId xmlns:a16="http://schemas.microsoft.com/office/drawing/2014/main" id="{EE84E40C-C040-40DD-B9C1-F677D6949374}"/>
              </a:ext>
            </a:extLst>
          </p:cNvPr>
          <p:cNvSpPr/>
          <p:nvPr/>
        </p:nvSpPr>
        <p:spPr>
          <a:xfrm>
            <a:off x="2029819" y="4653136"/>
            <a:ext cx="4284321" cy="792088"/>
          </a:xfrm>
          <a:prstGeom prst="triangle">
            <a:avLst>
              <a:gd name="adj" fmla="val 49222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AHORA</a:t>
            </a:r>
          </a:p>
        </p:txBody>
      </p:sp>
    </p:spTree>
    <p:extLst>
      <p:ext uri="{BB962C8B-B14F-4D97-AF65-F5344CB8AC3E}">
        <p14:creationId xmlns:p14="http://schemas.microsoft.com/office/powerpoint/2010/main" val="3692687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85317E83-E6B4-41F9-845A-9555A859BD48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MODELO MONETARIO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B7850FB4-B90D-4424-B661-1009895C272C}"/>
              </a:ext>
            </a:extLst>
          </p:cNvPr>
          <p:cNvSpPr/>
          <p:nvPr/>
        </p:nvSpPr>
        <p:spPr>
          <a:xfrm>
            <a:off x="935596" y="2834934"/>
            <a:ext cx="7272808" cy="118813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PASÓ DURANTE EL PERÍODO “PREPARATORIO” DEL BPE?</a:t>
            </a:r>
          </a:p>
        </p:txBody>
      </p:sp>
    </p:spTree>
    <p:extLst>
      <p:ext uri="{BB962C8B-B14F-4D97-AF65-F5344CB8AC3E}">
        <p14:creationId xmlns:p14="http://schemas.microsoft.com/office/powerpoint/2010/main" val="4028901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BFCEB08A-7C6E-4353-A29A-8F704E7D8956}"/>
              </a:ext>
            </a:extLst>
          </p:cNvPr>
          <p:cNvSpPr/>
          <p:nvPr/>
        </p:nvSpPr>
        <p:spPr>
          <a:xfrm>
            <a:off x="1069828" y="1967630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Anarquía monetaria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1943708" y="1024712"/>
            <a:ext cx="5256584" cy="64294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EVOLUCIÓN </a:t>
            </a:r>
            <a:endParaRPr lang="es-ES" sz="28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13 Conector recto"/>
          <p:cNvCxnSpPr>
            <a:cxnSpLocks/>
            <a:endCxn id="16" idx="0"/>
          </p:cNvCxnSpPr>
          <p:nvPr/>
        </p:nvCxnSpPr>
        <p:spPr>
          <a:xfrm>
            <a:off x="2987968" y="3656931"/>
            <a:ext cx="2129" cy="1471935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9 Rectángulo redondeado"/>
          <p:cNvSpPr/>
          <p:nvPr/>
        </p:nvSpPr>
        <p:spPr>
          <a:xfrm>
            <a:off x="5958306" y="3875732"/>
            <a:ext cx="2646142" cy="10343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la </a:t>
            </a:r>
            <a:r>
              <a:rPr lang="es-AR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Caja de Conversión ya creada, comienza el período </a:t>
            </a:r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AR"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crecimiento </a:t>
            </a:r>
          </a:p>
          <a:p>
            <a:pPr algn="ctr"/>
            <a:r>
              <a:rPr sz="1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(1900-1914)</a:t>
            </a:r>
            <a:endParaRPr lang="es-ES" sz="14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15 Elipse"/>
          <p:cNvSpPr/>
          <p:nvPr/>
        </p:nvSpPr>
        <p:spPr>
          <a:xfrm>
            <a:off x="2219850" y="5128866"/>
            <a:ext cx="1540494" cy="1540494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Crisis de </a:t>
            </a:r>
            <a:r>
              <a:rPr lang="es-AR" sz="24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Baring</a:t>
            </a:r>
            <a:endParaRPr lang="es-AR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477BE3C-9F4A-404E-AD81-44286A2F0E36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MODELO MONETARIO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A4B6AEC-8E5D-4DFA-A2E7-0C7ACD10727A}"/>
              </a:ext>
            </a:extLst>
          </p:cNvPr>
          <p:cNvSpPr/>
          <p:nvPr/>
        </p:nvSpPr>
        <p:spPr>
          <a:xfrm>
            <a:off x="251520" y="2171461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 1880</a:t>
            </a: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32723728-B567-467A-BE36-5A9399FBFBF0}"/>
              </a:ext>
            </a:extLst>
          </p:cNvPr>
          <p:cNvSpPr/>
          <p:nvPr/>
        </p:nvSpPr>
        <p:spPr>
          <a:xfrm>
            <a:off x="3862437" y="1964567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 unidad monetaria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5037BDA0-E86E-4D85-A264-53FAE50B38F5}"/>
              </a:ext>
            </a:extLst>
          </p:cNvPr>
          <p:cNvSpPr/>
          <p:nvPr/>
        </p:nvSpPr>
        <p:spPr>
          <a:xfrm>
            <a:off x="3044129" y="2168398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1881</a:t>
            </a:r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83A12382-C44E-45F4-92BD-8ABA79100E0E}"/>
              </a:ext>
            </a:extLst>
          </p:cNvPr>
          <p:cNvSpPr/>
          <p:nvPr/>
        </p:nvSpPr>
        <p:spPr>
          <a:xfrm>
            <a:off x="6686452" y="1961101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Susp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Converti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  <a:p>
            <a:pPr algn="ctr"/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bilidad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7622E0E7-029C-4EE8-B72A-F626FAD9CE43}"/>
              </a:ext>
            </a:extLst>
          </p:cNvPr>
          <p:cNvSpPr/>
          <p:nvPr/>
        </p:nvSpPr>
        <p:spPr>
          <a:xfrm>
            <a:off x="5868144" y="2164932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1885</a:t>
            </a:r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8107D155-0782-4E2C-BC02-1F5E733C4FCA}"/>
              </a:ext>
            </a:extLst>
          </p:cNvPr>
          <p:cNvSpPr/>
          <p:nvPr/>
        </p:nvSpPr>
        <p:spPr>
          <a:xfrm>
            <a:off x="1069828" y="3640800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de </a:t>
            </a:r>
          </a:p>
          <a:p>
            <a:pPr algn="ctr"/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Bcos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Garant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F7717D17-5BC0-458E-BAA4-2F9DEF9E47EC}"/>
              </a:ext>
            </a:extLst>
          </p:cNvPr>
          <p:cNvSpPr/>
          <p:nvPr/>
        </p:nvSpPr>
        <p:spPr>
          <a:xfrm>
            <a:off x="251520" y="3844631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1887</a:t>
            </a:r>
          </a:p>
        </p:txBody>
      </p:sp>
      <p:sp>
        <p:nvSpPr>
          <p:cNvPr id="28" name="Flecha: a la derecha 27">
            <a:extLst>
              <a:ext uri="{FF2B5EF4-FFF2-40B4-BE49-F238E27FC236}">
                <a16:creationId xmlns:a16="http://schemas.microsoft.com/office/drawing/2014/main" id="{16383521-269E-4E0A-91A5-A05DF799F145}"/>
              </a:ext>
            </a:extLst>
          </p:cNvPr>
          <p:cNvSpPr/>
          <p:nvPr/>
        </p:nvSpPr>
        <p:spPr>
          <a:xfrm>
            <a:off x="3862437" y="3637737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Caja de 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6FF88735-4EC1-4E55-BE4D-E357AF9E79B7}"/>
              </a:ext>
            </a:extLst>
          </p:cNvPr>
          <p:cNvSpPr/>
          <p:nvPr/>
        </p:nvSpPr>
        <p:spPr>
          <a:xfrm>
            <a:off x="3044129" y="3841568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1891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/>
          <p:nvPr/>
        </p:nvSpPr>
        <p:spPr>
          <a:xfrm>
            <a:off x="6165485" y="3896368"/>
            <a:ext cx="2723619" cy="1743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Banco de la prov de Bs As (1869)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18 Rectángulo"/>
          <p:cNvSpPr/>
          <p:nvPr/>
        </p:nvSpPr>
        <p:spPr>
          <a:xfrm>
            <a:off x="3220259" y="3910681"/>
            <a:ext cx="2771739" cy="172768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Casa de </a:t>
            </a:r>
            <a:r>
              <a:rPr sz="14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Moneda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 Prov de Buenos Ayres (1844)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270636" y="3894885"/>
            <a:ext cx="2776136" cy="198881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Banco de Bs As (1827)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182" y="4365883"/>
            <a:ext cx="2723619" cy="1125381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382749" y="1473569"/>
            <a:ext cx="2689185" cy="1336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8 Rectángulo redondeado"/>
          <p:cNvSpPr/>
          <p:nvPr/>
        </p:nvSpPr>
        <p:spPr>
          <a:xfrm>
            <a:off x="240277" y="1052736"/>
            <a:ext cx="4974665" cy="36638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Monedas metálicas extranjeras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240276" y="3045902"/>
            <a:ext cx="8652203" cy="36638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Billetes de banco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12 Imagen" descr="billete 1869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332" y="4365883"/>
            <a:ext cx="2074116" cy="117317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</p:pic>
      <p:sp>
        <p:nvSpPr>
          <p:cNvPr id="16" name="15 Rectángulo"/>
          <p:cNvSpPr/>
          <p:nvPr/>
        </p:nvSpPr>
        <p:spPr>
          <a:xfrm>
            <a:off x="0" y="6221692"/>
            <a:ext cx="32392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http://www.billetesargentinos.com.ar/billetes/moneda_corriente.htm#1827</a:t>
            </a:r>
            <a:endParaRPr lang="es-ES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17 Imagen" descr="billete 184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768" y="4357469"/>
            <a:ext cx="2723619" cy="117233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</p:pic>
      <p:sp>
        <p:nvSpPr>
          <p:cNvPr id="20" name="19 Rectángulo"/>
          <p:cNvSpPr/>
          <p:nvPr/>
        </p:nvSpPr>
        <p:spPr>
          <a:xfrm>
            <a:off x="3220259" y="5638365"/>
            <a:ext cx="2771738" cy="2453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Durante Rosas</a:t>
            </a:r>
            <a:endParaRPr lang="es-ES" sz="12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20 Rectángulo"/>
          <p:cNvSpPr/>
          <p:nvPr/>
        </p:nvSpPr>
        <p:spPr>
          <a:xfrm>
            <a:off x="6165485" y="5638365"/>
            <a:ext cx="2723619" cy="2453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Sarmiento (post </a:t>
            </a:r>
            <a:r>
              <a:rPr sz="12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unificación</a:t>
            </a:r>
            <a:r>
              <a:rPr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12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C1E9E0B-754A-4DED-8274-BD940C752C41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0DCCB5B9-517B-4454-A432-276447FED28C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Anarquía monetaria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41A555EB-C88C-4899-8174-DD6979789357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 1880</a:t>
            </a:r>
          </a:p>
        </p:txBody>
      </p:sp>
      <p:sp>
        <p:nvSpPr>
          <p:cNvPr id="26" name="6 Rectángulo redondeado">
            <a:extLst>
              <a:ext uri="{FF2B5EF4-FFF2-40B4-BE49-F238E27FC236}">
                <a16:creationId xmlns:a16="http://schemas.microsoft.com/office/drawing/2014/main" id="{247A26EA-44D1-4B1D-B93C-A1AA4BE9B75E}"/>
              </a:ext>
            </a:extLst>
          </p:cNvPr>
          <p:cNvSpPr/>
          <p:nvPr/>
        </p:nvSpPr>
        <p:spPr>
          <a:xfrm>
            <a:off x="5600260" y="1618648"/>
            <a:ext cx="3063703" cy="1034332"/>
          </a:xfrm>
          <a:prstGeom prst="roundRect">
            <a:avLst>
              <a:gd name="adj" fmla="val 9867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existía una unidad monetaria nacional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7C1E9E0B-754A-4DED-8274-BD940C752C41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0DCCB5B9-517B-4454-A432-276447FED28C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Anarquía monetaria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41A555EB-C88C-4899-8174-DD6979789357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 1880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EB5BE38-AE9E-45EB-AC08-3FD606F71A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838" t="6579" r="9051" b="13583"/>
          <a:stretch/>
        </p:blipFill>
        <p:spPr>
          <a:xfrm>
            <a:off x="22880" y="936274"/>
            <a:ext cx="6349320" cy="351370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AF2B4D3-0256-4652-B799-026D20CF56B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051" t="35192" r="34650" b="7980"/>
          <a:stretch/>
        </p:blipFill>
        <p:spPr>
          <a:xfrm>
            <a:off x="3995936" y="3818689"/>
            <a:ext cx="5148064" cy="2921481"/>
          </a:xfrm>
          <a:prstGeom prst="rect">
            <a:avLst/>
          </a:prstGeom>
        </p:spPr>
      </p:pic>
      <p:sp>
        <p:nvSpPr>
          <p:cNvPr id="23" name="8 Rectángulo redondeado">
            <a:extLst>
              <a:ext uri="{FF2B5EF4-FFF2-40B4-BE49-F238E27FC236}">
                <a16:creationId xmlns:a16="http://schemas.microsoft.com/office/drawing/2014/main" id="{51F6E12C-717B-42C8-AE6E-0F388CD797D2}"/>
              </a:ext>
            </a:extLst>
          </p:cNvPr>
          <p:cNvSpPr/>
          <p:nvPr/>
        </p:nvSpPr>
        <p:spPr>
          <a:xfrm>
            <a:off x="283829" y="5417670"/>
            <a:ext cx="2880320" cy="100811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Monedas</a:t>
            </a:r>
            <a:r>
              <a:rPr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metálicas</a:t>
            </a:r>
            <a:r>
              <a:rPr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acuñadas en Prov. Unid.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8 Rectángulo redondeado">
            <a:extLst>
              <a:ext uri="{FF2B5EF4-FFF2-40B4-BE49-F238E27FC236}">
                <a16:creationId xmlns:a16="http://schemas.microsoft.com/office/drawing/2014/main" id="{CBDFEDF6-3423-49CB-BA04-1A2E322AF3F0}"/>
              </a:ext>
            </a:extLst>
          </p:cNvPr>
          <p:cNvSpPr/>
          <p:nvPr/>
        </p:nvSpPr>
        <p:spPr>
          <a:xfrm>
            <a:off x="251520" y="4449976"/>
            <a:ext cx="1728192" cy="45131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Potosí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8 Rectángulo redondeado">
            <a:extLst>
              <a:ext uri="{FF2B5EF4-FFF2-40B4-BE49-F238E27FC236}">
                <a16:creationId xmlns:a16="http://schemas.microsoft.com/office/drawing/2014/main" id="{DB4A8AC5-C3CC-4CB3-8A87-374B8A25CD86}"/>
              </a:ext>
            </a:extLst>
          </p:cNvPr>
          <p:cNvSpPr/>
          <p:nvPr/>
        </p:nvSpPr>
        <p:spPr>
          <a:xfrm>
            <a:off x="4624438" y="3425614"/>
            <a:ext cx="1728192" cy="45131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Rioja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42602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Rectángulo"/>
          <p:cNvSpPr/>
          <p:nvPr/>
        </p:nvSpPr>
        <p:spPr>
          <a:xfrm>
            <a:off x="335423" y="1338909"/>
            <a:ext cx="2776136" cy="198881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Banco de Bs As (1827)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423" y="1675241"/>
            <a:ext cx="4794095" cy="1980888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sp>
        <p:nvSpPr>
          <p:cNvPr id="12" name="11 Rectángulo redondeado"/>
          <p:cNvSpPr/>
          <p:nvPr/>
        </p:nvSpPr>
        <p:spPr>
          <a:xfrm>
            <a:off x="115129" y="810981"/>
            <a:ext cx="5176951" cy="39303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la independencia a la guerra civil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3220259" y="6532046"/>
            <a:ext cx="73803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http://www.billetesargentinos.com.ar/billetes/moneda_corriente.htm#1827</a:t>
            </a:r>
            <a:endParaRPr lang="es-ES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C1E9E0B-754A-4DED-8274-BD940C752C41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0DCCB5B9-517B-4454-A432-276447FED28C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Anarquía monetaria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41A555EB-C88C-4899-8174-DD6979789357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 1880</a:t>
            </a:r>
          </a:p>
        </p:txBody>
      </p:sp>
      <p:sp>
        <p:nvSpPr>
          <p:cNvPr id="27" name="13 Rectángulo">
            <a:extLst>
              <a:ext uri="{FF2B5EF4-FFF2-40B4-BE49-F238E27FC236}">
                <a16:creationId xmlns:a16="http://schemas.microsoft.com/office/drawing/2014/main" id="{2C4C425D-2198-462D-AFE7-E16B109CBB8D}"/>
              </a:ext>
            </a:extLst>
          </p:cNvPr>
          <p:cNvSpPr/>
          <p:nvPr/>
        </p:nvSpPr>
        <p:spPr>
          <a:xfrm>
            <a:off x="4283968" y="3800594"/>
            <a:ext cx="3744416" cy="198881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Banco </a:t>
            </a:r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Nacional de las Provincias unidas del Río de la Plata 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(18</a:t>
            </a:r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C69FDB52-BB9A-453B-9A01-619D8E7FF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4358917"/>
            <a:ext cx="4600887" cy="2131744"/>
          </a:xfrm>
          <a:prstGeom prst="rect">
            <a:avLst/>
          </a:prstGeom>
        </p:spPr>
      </p:pic>
      <p:sp>
        <p:nvSpPr>
          <p:cNvPr id="29" name="19 Rectángulo">
            <a:extLst>
              <a:ext uri="{FF2B5EF4-FFF2-40B4-BE49-F238E27FC236}">
                <a16:creationId xmlns:a16="http://schemas.microsoft.com/office/drawing/2014/main" id="{EEBE1570-033C-4EAA-BC21-96746FE7D8D2}"/>
              </a:ext>
            </a:extLst>
          </p:cNvPr>
          <p:cNvSpPr/>
          <p:nvPr/>
        </p:nvSpPr>
        <p:spPr>
          <a:xfrm>
            <a:off x="3095990" y="1386458"/>
            <a:ext cx="1667754" cy="3077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Rivadavia</a:t>
            </a:r>
            <a:endParaRPr lang="es-ES" sz="12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19 Rectángulo">
            <a:extLst>
              <a:ext uri="{FF2B5EF4-FFF2-40B4-BE49-F238E27FC236}">
                <a16:creationId xmlns:a16="http://schemas.microsoft.com/office/drawing/2014/main" id="{4CAB1702-075D-4D5B-8F7C-0D3A68FE0DDE}"/>
              </a:ext>
            </a:extLst>
          </p:cNvPr>
          <p:cNvSpPr/>
          <p:nvPr/>
        </p:nvSpPr>
        <p:spPr>
          <a:xfrm>
            <a:off x="2732470" y="4140105"/>
            <a:ext cx="1667754" cy="3822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Viamonte, preludio del poder rosista</a:t>
            </a:r>
            <a:endParaRPr lang="es-ES" sz="12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32027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"/>
          <p:cNvSpPr/>
          <p:nvPr/>
        </p:nvSpPr>
        <p:spPr>
          <a:xfrm>
            <a:off x="110441" y="1301794"/>
            <a:ext cx="2771739" cy="172768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Casa de </a:t>
            </a:r>
            <a:r>
              <a:rPr sz="14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Moneda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 Prov de Buenos Ayres (1844)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3220259" y="6532046"/>
            <a:ext cx="73803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http://www.billetesargentinos.com.ar/billetes/moneda_corriente.htm#1827</a:t>
            </a:r>
            <a:endParaRPr lang="es-ES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19 Rectángulo"/>
          <p:cNvSpPr/>
          <p:nvPr/>
        </p:nvSpPr>
        <p:spPr>
          <a:xfrm>
            <a:off x="2882180" y="1340562"/>
            <a:ext cx="1919434" cy="43044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Durante Rosas</a:t>
            </a:r>
            <a:endParaRPr lang="es-ES" sz="12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C1E9E0B-754A-4DED-8274-BD940C752C41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0DCCB5B9-517B-4454-A432-276447FED28C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Anarquía monetaria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41A555EB-C88C-4899-8174-DD6979789357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 1880</a:t>
            </a:r>
          </a:p>
        </p:txBody>
      </p:sp>
      <p:sp>
        <p:nvSpPr>
          <p:cNvPr id="23" name="18 Rectángulo">
            <a:extLst>
              <a:ext uri="{FF2B5EF4-FFF2-40B4-BE49-F238E27FC236}">
                <a16:creationId xmlns:a16="http://schemas.microsoft.com/office/drawing/2014/main" id="{F46E3D34-7740-4E89-9B2C-89E6C588DCA2}"/>
              </a:ext>
            </a:extLst>
          </p:cNvPr>
          <p:cNvSpPr/>
          <p:nvPr/>
        </p:nvSpPr>
        <p:spPr>
          <a:xfrm>
            <a:off x="5086118" y="1669545"/>
            <a:ext cx="3585553" cy="62828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AR" sz="14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¡Viva la Confederación Argentina, Mueran los Salvajes Unitarios!</a:t>
            </a:r>
            <a:endParaRPr lang="es-ES" sz="1400" b="1" i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DF6E4EF-00CE-4337-AA78-CF46B4C43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79" y="1750852"/>
            <a:ext cx="4588815" cy="215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2932DB4-C9CD-4250-8A3A-5994D5B78503}"/>
              </a:ext>
            </a:extLst>
          </p:cNvPr>
          <p:cNvSpPr/>
          <p:nvPr/>
        </p:nvSpPr>
        <p:spPr>
          <a:xfrm>
            <a:off x="1237566" y="1822799"/>
            <a:ext cx="2952328" cy="321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E4C3F056-FD0A-4931-B663-C242B243A17E}"/>
              </a:ext>
            </a:extLst>
          </p:cNvPr>
          <p:cNvCxnSpPr>
            <a:cxnSpLocks/>
            <a:stCxn id="4" idx="3"/>
            <a:endCxn id="23" idx="1"/>
          </p:cNvCxnSpPr>
          <p:nvPr/>
        </p:nvCxnSpPr>
        <p:spPr>
          <a:xfrm flipV="1">
            <a:off x="4189894" y="1983686"/>
            <a:ext cx="896224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8 Rectángulo">
            <a:extLst>
              <a:ext uri="{FF2B5EF4-FFF2-40B4-BE49-F238E27FC236}">
                <a16:creationId xmlns:a16="http://schemas.microsoft.com/office/drawing/2014/main" id="{053B7506-E5C0-4933-9E8F-3FE45930CAC5}"/>
              </a:ext>
            </a:extLst>
          </p:cNvPr>
          <p:cNvSpPr/>
          <p:nvPr/>
        </p:nvSpPr>
        <p:spPr>
          <a:xfrm>
            <a:off x="5307904" y="3460771"/>
            <a:ext cx="2771739" cy="172768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Estado de Buenos Aires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(18</a:t>
            </a:r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56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15D6E3F5-17CF-439B-A510-648F1886F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123784"/>
            <a:ext cx="4983864" cy="229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19 Rectángulo">
            <a:extLst>
              <a:ext uri="{FF2B5EF4-FFF2-40B4-BE49-F238E27FC236}">
                <a16:creationId xmlns:a16="http://schemas.microsoft.com/office/drawing/2014/main" id="{1E0B687E-2FFB-4F3E-B706-37717838D25A}"/>
              </a:ext>
            </a:extLst>
          </p:cNvPr>
          <p:cNvSpPr/>
          <p:nvPr/>
        </p:nvSpPr>
        <p:spPr>
          <a:xfrm>
            <a:off x="1237566" y="4570608"/>
            <a:ext cx="1919434" cy="94683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Urquiza como presidente de la Confederación y Bs As independiente </a:t>
            </a:r>
            <a:endParaRPr lang="es-ES" sz="12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11 Rectángulo redondeado">
            <a:extLst>
              <a:ext uri="{FF2B5EF4-FFF2-40B4-BE49-F238E27FC236}">
                <a16:creationId xmlns:a16="http://schemas.microsoft.com/office/drawing/2014/main" id="{78AFD931-42D0-4EF0-952C-043805188FB2}"/>
              </a:ext>
            </a:extLst>
          </p:cNvPr>
          <p:cNvSpPr/>
          <p:nvPr/>
        </p:nvSpPr>
        <p:spPr>
          <a:xfrm>
            <a:off x="115129" y="810981"/>
            <a:ext cx="5176951" cy="39303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Rosas y Urquiza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47808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16 Rectángulo">
            <a:extLst>
              <a:ext uri="{FF2B5EF4-FFF2-40B4-BE49-F238E27FC236}">
                <a16:creationId xmlns:a16="http://schemas.microsoft.com/office/drawing/2014/main" id="{6A1B6FD3-7253-4830-A1B7-A1682CE53372}"/>
              </a:ext>
            </a:extLst>
          </p:cNvPr>
          <p:cNvSpPr/>
          <p:nvPr/>
        </p:nvSpPr>
        <p:spPr>
          <a:xfrm>
            <a:off x="4498372" y="1555556"/>
            <a:ext cx="3783361" cy="1743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Banco y Casa de Buenos Aires 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(186</a:t>
            </a:r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16 Rectángulo"/>
          <p:cNvSpPr/>
          <p:nvPr/>
        </p:nvSpPr>
        <p:spPr>
          <a:xfrm>
            <a:off x="115129" y="1394308"/>
            <a:ext cx="2723619" cy="1743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Argentina 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(186</a:t>
            </a:r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3220259" y="6532046"/>
            <a:ext cx="73803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http://www.billetesargentinos.com.ar/billetes/moneda_corriente.htm#1827</a:t>
            </a:r>
            <a:endParaRPr lang="es-ES" sz="14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C1E9E0B-754A-4DED-8274-BD940C752C41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0DCCB5B9-517B-4454-A432-276447FED28C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Anarquía monetaria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41A555EB-C88C-4899-8174-DD6979789357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 1880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B84D923-D55F-4C61-9DC3-DDB429F17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27" y="1746837"/>
            <a:ext cx="3783361" cy="2017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16 Rectángulo">
            <a:extLst>
              <a:ext uri="{FF2B5EF4-FFF2-40B4-BE49-F238E27FC236}">
                <a16:creationId xmlns:a16="http://schemas.microsoft.com/office/drawing/2014/main" id="{75A0248E-188D-4CEF-9104-B3347C172D2A}"/>
              </a:ext>
            </a:extLst>
          </p:cNvPr>
          <p:cNvSpPr/>
          <p:nvPr/>
        </p:nvSpPr>
        <p:spPr>
          <a:xfrm>
            <a:off x="323528" y="3899191"/>
            <a:ext cx="3222890" cy="1743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Banco de la prov de Bs As (1869)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12 Imagen" descr="billete 1869_n.jpg">
            <a:extLst>
              <a:ext uri="{FF2B5EF4-FFF2-40B4-BE49-F238E27FC236}">
                <a16:creationId xmlns:a16="http://schemas.microsoft.com/office/drawing/2014/main" id="{AC3959BE-3412-4AFC-ADF5-E5F7C30E5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9" y="4180777"/>
            <a:ext cx="3855434" cy="218072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</p:pic>
      <p:sp>
        <p:nvSpPr>
          <p:cNvPr id="28" name="20 Rectángulo">
            <a:extLst>
              <a:ext uri="{FF2B5EF4-FFF2-40B4-BE49-F238E27FC236}">
                <a16:creationId xmlns:a16="http://schemas.microsoft.com/office/drawing/2014/main" id="{E79440CC-5FB1-4CD6-B718-3B98EC92DA34}"/>
              </a:ext>
            </a:extLst>
          </p:cNvPr>
          <p:cNvSpPr/>
          <p:nvPr/>
        </p:nvSpPr>
        <p:spPr>
          <a:xfrm>
            <a:off x="323528" y="6352015"/>
            <a:ext cx="2723619" cy="2453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Sarmiento</a:t>
            </a:r>
            <a:endParaRPr lang="es-ES" sz="12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20 Rectángulo">
            <a:extLst>
              <a:ext uri="{FF2B5EF4-FFF2-40B4-BE49-F238E27FC236}">
                <a16:creationId xmlns:a16="http://schemas.microsoft.com/office/drawing/2014/main" id="{B74F549B-C7D0-46B2-BBCF-89EA54E3B61B}"/>
              </a:ext>
            </a:extLst>
          </p:cNvPr>
          <p:cNvSpPr/>
          <p:nvPr/>
        </p:nvSpPr>
        <p:spPr>
          <a:xfrm>
            <a:off x="2813788" y="1543979"/>
            <a:ext cx="1034333" cy="21626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Derqui</a:t>
            </a:r>
            <a:endParaRPr lang="es-ES" sz="12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F8B9F9B0-1186-4C57-A499-4964BDC48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408" y="1851026"/>
            <a:ext cx="3591984" cy="2298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11 Rectángulo redondeado">
            <a:extLst>
              <a:ext uri="{FF2B5EF4-FFF2-40B4-BE49-F238E27FC236}">
                <a16:creationId xmlns:a16="http://schemas.microsoft.com/office/drawing/2014/main" id="{16BF3608-F385-417C-BF0A-BDADDD734D7A}"/>
              </a:ext>
            </a:extLst>
          </p:cNvPr>
          <p:cNvSpPr/>
          <p:nvPr/>
        </p:nvSpPr>
        <p:spPr>
          <a:xfrm>
            <a:off x="115129" y="810981"/>
            <a:ext cx="5176951" cy="39303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 Unificación</a:t>
            </a:r>
            <a:endParaRPr lang="es-ES" sz="20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72958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60B09061-FB1E-4DE8-B615-D46FF64637BA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0A1F5777-EC52-4AD0-AE71-15576946CDFD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Anarquía monetaria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E9E59F2-ABC2-4A31-A034-1E41A93741C6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 1880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4E668A-414E-4C4E-8408-F9D9D3B799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870" t="13086" r="18565" b="13086"/>
          <a:stretch/>
        </p:blipFill>
        <p:spPr>
          <a:xfrm>
            <a:off x="203712" y="828755"/>
            <a:ext cx="4061657" cy="5804952"/>
          </a:xfrm>
          <a:prstGeom prst="rect">
            <a:avLst/>
          </a:prstGeom>
          <a:ln w="38100">
            <a:noFill/>
          </a:ln>
        </p:spPr>
      </p:pic>
      <p:sp>
        <p:nvSpPr>
          <p:cNvPr id="7" name="Marco 6">
            <a:extLst>
              <a:ext uri="{FF2B5EF4-FFF2-40B4-BE49-F238E27FC236}">
                <a16:creationId xmlns:a16="http://schemas.microsoft.com/office/drawing/2014/main" id="{DD93D4C3-12B1-4EFA-9455-0D2F1E534294}"/>
              </a:ext>
            </a:extLst>
          </p:cNvPr>
          <p:cNvSpPr/>
          <p:nvPr/>
        </p:nvSpPr>
        <p:spPr>
          <a:xfrm>
            <a:off x="107504" y="692696"/>
            <a:ext cx="4279490" cy="6048672"/>
          </a:xfrm>
          <a:prstGeom prst="frame">
            <a:avLst>
              <a:gd name="adj1" fmla="val 4337"/>
            </a:avLst>
          </a:prstGeom>
          <a:solidFill>
            <a:schemeClr val="accent5">
              <a:lumMod val="5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CAD6235-1DD5-40DA-996A-EAFEEAD7578F}"/>
              </a:ext>
            </a:extLst>
          </p:cNvPr>
          <p:cNvSpPr/>
          <p:nvPr/>
        </p:nvSpPr>
        <p:spPr>
          <a:xfrm>
            <a:off x="271879" y="5894980"/>
            <a:ext cx="3970283" cy="70237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s-ES" b="1" dirty="0">
                <a:solidFill>
                  <a:srgbClr val="DEEB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ARGENTINA, 1869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endParaRPr lang="es-ES" b="1" dirty="0">
              <a:solidFill>
                <a:srgbClr val="DEEBF7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04B6B0B-BAD5-49F2-9635-4730CAB95A3F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2915123" y="4848845"/>
            <a:ext cx="2985200" cy="234671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947C909-0DDB-4F19-AE30-39F50439D6E9}"/>
              </a:ext>
            </a:extLst>
          </p:cNvPr>
          <p:cNvSpPr/>
          <p:nvPr/>
        </p:nvSpPr>
        <p:spPr>
          <a:xfrm>
            <a:off x="5900323" y="3499340"/>
            <a:ext cx="3352197" cy="2699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Billetes de la </a:t>
            </a:r>
            <a:r>
              <a:rPr lang="es-ES" sz="12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de Cambios de Buenos Aires:</a:t>
            </a:r>
            <a:r>
              <a:rPr lang="es-ES" sz="1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15000"/>
              </a:lnSpc>
            </a:pPr>
            <a:r>
              <a:rPr lang="es-ES" sz="11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Inconvertibles. Curso legal sólo Provincia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1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Valor fijado: 25 $/$ fuerte (</a:t>
            </a:r>
            <a:r>
              <a:rPr lang="es-ES" sz="1100" b="1" i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prov. Ene 67)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Notas metálicas del Banco de la Provincia:</a:t>
            </a:r>
            <a:endParaRPr lang="es-ES" sz="11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1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ES" sz="11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urso legal en toda la República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100" b="1" i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</a:t>
            </a:r>
            <a:r>
              <a:rPr lang="es-ES" sz="1100" b="1" i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</a:t>
            </a:r>
            <a:r>
              <a:rPr lang="es-ES" sz="1100" b="1" i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25/9/1876</a:t>
            </a:r>
            <a:endParaRPr lang="es-ES" sz="11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Billetes inconvertibles del Banco Nacional</a:t>
            </a:r>
            <a:r>
              <a:rPr lang="es-ES" sz="1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1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Garantidos por la Nación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100" b="1" i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</a:t>
            </a:r>
            <a:r>
              <a:rPr lang="es-ES" sz="1100" b="1" i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29/5/1876</a:t>
            </a:r>
            <a:r>
              <a:rPr lang="es-ES" sz="11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Billetes convertibles del Banco Nacional</a:t>
            </a:r>
            <a:r>
              <a:rPr lang="es-ES" sz="1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1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Garantidos con reservas metálicas en cada sucursal</a:t>
            </a:r>
            <a:endParaRPr lang="es-AR" sz="110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67C222A-CCEE-43B8-B827-E1B5212F0358}"/>
              </a:ext>
            </a:extLst>
          </p:cNvPr>
          <p:cNvCxnSpPr>
            <a:cxnSpLocks/>
          </p:cNvCxnSpPr>
          <p:nvPr/>
        </p:nvCxnSpPr>
        <p:spPr>
          <a:xfrm>
            <a:off x="5930129" y="3499340"/>
            <a:ext cx="0" cy="263816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9324E17-918C-4800-B05E-FB190CF2FD35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2483768" y="2862152"/>
            <a:ext cx="2985200" cy="1199184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3DA3526-33BE-4E2D-B6A6-69FAF4C6D4FC}"/>
              </a:ext>
            </a:extLst>
          </p:cNvPr>
          <p:cNvSpPr/>
          <p:nvPr/>
        </p:nvSpPr>
        <p:spPr>
          <a:xfrm>
            <a:off x="5468968" y="2311039"/>
            <a:ext cx="2894240" cy="1102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1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Emisión a bolivianos de </a:t>
            </a: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billetes inconvertibles del Banco Provincial de Santa Fe</a:t>
            </a:r>
            <a:r>
              <a:rPr lang="es-ES" sz="1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11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1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Notas metálicas y moneda corriente de Buenos Aires y billetes del Banco Nacional</a:t>
            </a:r>
            <a:endParaRPr lang="es-ES" sz="11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ECDDF1C-D177-4945-A256-8B7E6F17C1EA}"/>
              </a:ext>
            </a:extLst>
          </p:cNvPr>
          <p:cNvCxnSpPr>
            <a:cxnSpLocks/>
          </p:cNvCxnSpPr>
          <p:nvPr/>
        </p:nvCxnSpPr>
        <p:spPr>
          <a:xfrm>
            <a:off x="5471191" y="2398958"/>
            <a:ext cx="0" cy="934392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85D57194-D5B5-4A42-B4DF-89EA71167335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1921827" y="1794546"/>
            <a:ext cx="3544073" cy="2072520"/>
          </a:xfrm>
          <a:prstGeom prst="straightConnector1">
            <a:avLst/>
          </a:prstGeom>
          <a:ln w="571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30D1FA8-3116-4FBF-A586-2A39C3B1C58E}"/>
              </a:ext>
            </a:extLst>
          </p:cNvPr>
          <p:cNvSpPr/>
          <p:nvPr/>
        </p:nvSpPr>
        <p:spPr>
          <a:xfrm>
            <a:off x="5465900" y="1340768"/>
            <a:ext cx="2894240" cy="907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1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Emisión a bolivianos de </a:t>
            </a:r>
            <a:r>
              <a:rPr lang="es-ES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billetes inconvertibles del Banco Provincial de Córdoba y del Banco Otero y Cía</a:t>
            </a:r>
            <a:r>
              <a:rPr lang="es-ES" sz="11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1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Billetes del Banco Nacional.</a:t>
            </a: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4034B534-2A08-495F-862B-2DA2A3AC3521}"/>
              </a:ext>
            </a:extLst>
          </p:cNvPr>
          <p:cNvCxnSpPr>
            <a:cxnSpLocks/>
          </p:cNvCxnSpPr>
          <p:nvPr/>
        </p:nvCxnSpPr>
        <p:spPr>
          <a:xfrm>
            <a:off x="5468123" y="1400551"/>
            <a:ext cx="0" cy="819637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45CCEB0-A522-4131-9268-0609683D0D71}"/>
              </a:ext>
            </a:extLst>
          </p:cNvPr>
          <p:cNvSpPr/>
          <p:nvPr/>
        </p:nvSpPr>
        <p:spPr>
          <a:xfrm rot="21269268">
            <a:off x="4373803" y="4604794"/>
            <a:ext cx="1338929" cy="318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s-E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Buenos Aires</a:t>
            </a:r>
            <a:endParaRPr lang="es-ES" sz="1400" b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3DC4938-723B-4236-974C-B90911660F2B}"/>
              </a:ext>
            </a:extLst>
          </p:cNvPr>
          <p:cNvSpPr/>
          <p:nvPr/>
        </p:nvSpPr>
        <p:spPr>
          <a:xfrm rot="20324458">
            <a:off x="4229498" y="2818409"/>
            <a:ext cx="1184285" cy="318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s-E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Santa Fe</a:t>
            </a:r>
            <a:endParaRPr lang="es-ES" sz="1400" b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72424E5-A6CB-43CA-B4C5-71D95AA557B7}"/>
              </a:ext>
            </a:extLst>
          </p:cNvPr>
          <p:cNvSpPr/>
          <p:nvPr/>
        </p:nvSpPr>
        <p:spPr>
          <a:xfrm rot="19775737">
            <a:off x="4179803" y="1896149"/>
            <a:ext cx="1184285" cy="318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s-ES" sz="1400" b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Córdoba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2A79484-F285-481D-A48B-47DE55E0CB6A}"/>
              </a:ext>
            </a:extLst>
          </p:cNvPr>
          <p:cNvSpPr/>
          <p:nvPr/>
        </p:nvSpPr>
        <p:spPr>
          <a:xfrm>
            <a:off x="4597778" y="6212021"/>
            <a:ext cx="2534333" cy="56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 Ríos, Corrientes,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Tucumán y Mendoza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81CB79A6-7A67-4A45-942B-D30783317B1A}"/>
              </a:ext>
            </a:extLst>
          </p:cNvPr>
          <p:cNvSpPr/>
          <p:nvPr/>
        </p:nvSpPr>
        <p:spPr>
          <a:xfrm>
            <a:off x="6653273" y="6264158"/>
            <a:ext cx="1447119" cy="49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ES" sz="1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Billetes del Banco Nacional.</a:t>
            </a:r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4FD39546-3DBB-4BF4-8AEB-379079FE64F3}"/>
              </a:ext>
            </a:extLst>
          </p:cNvPr>
          <p:cNvCxnSpPr>
            <a:cxnSpLocks/>
          </p:cNvCxnSpPr>
          <p:nvPr/>
        </p:nvCxnSpPr>
        <p:spPr>
          <a:xfrm>
            <a:off x="6653273" y="6321132"/>
            <a:ext cx="0" cy="370065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12443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Rectángulo redondeado"/>
          <p:cNvSpPr/>
          <p:nvPr/>
        </p:nvSpPr>
        <p:spPr>
          <a:xfrm>
            <a:off x="2034812" y="4775018"/>
            <a:ext cx="5074376" cy="36159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Reglamentación</a:t>
            </a:r>
          </a:p>
        </p:txBody>
      </p:sp>
      <p:sp>
        <p:nvSpPr>
          <p:cNvPr id="24" name="23 Rectángulo redondeado"/>
          <p:cNvSpPr/>
          <p:nvPr/>
        </p:nvSpPr>
        <p:spPr>
          <a:xfrm>
            <a:off x="1428728" y="1844824"/>
            <a:ext cx="6429420" cy="42888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Patrón Bimetálico (de curso legal en todo el país)</a:t>
            </a:r>
          </a:p>
        </p:txBody>
      </p:sp>
      <p:sp>
        <p:nvSpPr>
          <p:cNvPr id="25" name="24 Rectángulo redondeado"/>
          <p:cNvSpPr/>
          <p:nvPr/>
        </p:nvSpPr>
        <p:spPr>
          <a:xfrm>
            <a:off x="1428728" y="2570526"/>
            <a:ext cx="6429420" cy="43653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Billetes Convertibles: 5 Bancos de Emisión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AEA68C1-9C3E-4E2F-BDD1-784D8F3B3EC8}"/>
              </a:ext>
            </a:extLst>
          </p:cNvPr>
          <p:cNvSpPr/>
          <p:nvPr/>
        </p:nvSpPr>
        <p:spPr>
          <a:xfrm rot="20912893">
            <a:off x="180707" y="799117"/>
            <a:ext cx="2230204" cy="809188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Ley 5 nov de 1881</a:t>
            </a:r>
            <a:endParaRPr lang="es-ES" sz="24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E0D8CA5-CCA2-49F3-B342-3846C1FFFE32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442889FB-8475-4DFC-8D85-F2BEB70A4B69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 unidad monetaria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0EBF67D-2445-4105-9301-09EF91148E19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1881</a:t>
            </a:r>
          </a:p>
        </p:txBody>
      </p:sp>
      <p:pic>
        <p:nvPicPr>
          <p:cNvPr id="19" name="Gráfico 18" descr="Tribunal">
            <a:extLst>
              <a:ext uri="{FF2B5EF4-FFF2-40B4-BE49-F238E27FC236}">
                <a16:creationId xmlns:a16="http://schemas.microsoft.com/office/drawing/2014/main" id="{1873802E-D5DD-4EA4-BF46-053061ADC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2644" y="3303314"/>
            <a:ext cx="626899" cy="626899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D55E9E4-054A-428A-A1D6-6C0B2D840742}"/>
              </a:ext>
            </a:extLst>
          </p:cNvPr>
          <p:cNvSpPr/>
          <p:nvPr/>
        </p:nvSpPr>
        <p:spPr>
          <a:xfrm>
            <a:off x="1457879" y="3848715"/>
            <a:ext cx="10390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Nacional</a:t>
            </a:r>
            <a:endParaRPr lang="es-A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0" name="Gráfico 19" descr="Tribunal">
            <a:extLst>
              <a:ext uri="{FF2B5EF4-FFF2-40B4-BE49-F238E27FC236}">
                <a16:creationId xmlns:a16="http://schemas.microsoft.com/office/drawing/2014/main" id="{FC3A28BF-FBFE-425B-AAAA-6F347E3499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208" y="3297446"/>
            <a:ext cx="626899" cy="626899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562E1630-E6B5-41CF-9FB1-7A47BB3CA407}"/>
              </a:ext>
            </a:extLst>
          </p:cNvPr>
          <p:cNvSpPr/>
          <p:nvPr/>
        </p:nvSpPr>
        <p:spPr>
          <a:xfrm>
            <a:off x="3945701" y="3867271"/>
            <a:ext cx="14979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Prov. De </a:t>
            </a:r>
          </a:p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Buenos Aires</a:t>
            </a:r>
            <a:endParaRPr lang="es-A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3" name="Gráfico 22" descr="Tribunal">
            <a:extLst>
              <a:ext uri="{FF2B5EF4-FFF2-40B4-BE49-F238E27FC236}">
                <a16:creationId xmlns:a16="http://schemas.microsoft.com/office/drawing/2014/main" id="{AA382B2E-652F-4CFD-84B7-33807E248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6254" y="3297834"/>
            <a:ext cx="626899" cy="626899"/>
          </a:xfrm>
          <a:prstGeom prst="rect">
            <a:avLst/>
          </a:prstGeom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C6E9587E-47F0-4A58-8BAA-C061DE3E756A}"/>
              </a:ext>
            </a:extLst>
          </p:cNvPr>
          <p:cNvSpPr/>
          <p:nvPr/>
        </p:nvSpPr>
        <p:spPr>
          <a:xfrm>
            <a:off x="2770169" y="3853028"/>
            <a:ext cx="10390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Prov. De</a:t>
            </a:r>
          </a:p>
          <a:p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Santa Fe</a:t>
            </a:r>
            <a:endParaRPr lang="es-A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7" name="Gráfico 26" descr="Tribunal">
            <a:extLst>
              <a:ext uri="{FF2B5EF4-FFF2-40B4-BE49-F238E27FC236}">
                <a16:creationId xmlns:a16="http://schemas.microsoft.com/office/drawing/2014/main" id="{6A10920A-A059-4874-9020-966A2D195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4665" y="3306468"/>
            <a:ext cx="626899" cy="626899"/>
          </a:xfrm>
          <a:prstGeom prst="rect">
            <a:avLst/>
          </a:prstGeom>
        </p:spPr>
      </p:pic>
      <p:sp>
        <p:nvSpPr>
          <p:cNvPr id="28" name="Rectángulo 27">
            <a:extLst>
              <a:ext uri="{FF2B5EF4-FFF2-40B4-BE49-F238E27FC236}">
                <a16:creationId xmlns:a16="http://schemas.microsoft.com/office/drawing/2014/main" id="{7DAA39D1-5E8D-40F1-A207-E3962E68898F}"/>
              </a:ext>
            </a:extLst>
          </p:cNvPr>
          <p:cNvSpPr/>
          <p:nvPr/>
        </p:nvSpPr>
        <p:spPr>
          <a:xfrm>
            <a:off x="5518578" y="3894881"/>
            <a:ext cx="10590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Prov. De </a:t>
            </a:r>
          </a:p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Córdoba</a:t>
            </a:r>
            <a:endParaRPr lang="es-A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9" name="Gráfico 28" descr="Tribunal">
            <a:extLst>
              <a:ext uri="{FF2B5EF4-FFF2-40B4-BE49-F238E27FC236}">
                <a16:creationId xmlns:a16="http://schemas.microsoft.com/office/drawing/2014/main" id="{B3670D5A-D9AB-4226-ACB9-8308A43BB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3513" y="3323019"/>
            <a:ext cx="626899" cy="626899"/>
          </a:xfrm>
          <a:prstGeom prst="rect">
            <a:avLst/>
          </a:prstGeom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FE8F495C-28AF-4B46-B9A9-4D21F779195F}"/>
              </a:ext>
            </a:extLst>
          </p:cNvPr>
          <p:cNvSpPr/>
          <p:nvPr/>
        </p:nvSpPr>
        <p:spPr>
          <a:xfrm>
            <a:off x="6617548" y="3924345"/>
            <a:ext cx="13388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Otero y Cía.</a:t>
            </a:r>
          </a:p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" sz="16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Cba</a:t>
            </a:r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  <a:endParaRPr lang="es-A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4" name="Gráfico 3" descr="Dinero">
            <a:extLst>
              <a:ext uri="{FF2B5EF4-FFF2-40B4-BE49-F238E27FC236}">
                <a16:creationId xmlns:a16="http://schemas.microsoft.com/office/drawing/2014/main" id="{7DD95112-F0B6-49F8-B0B0-2866E609B7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6315" y="5747369"/>
            <a:ext cx="914400" cy="914400"/>
          </a:xfrm>
          <a:prstGeom prst="rect">
            <a:avLst/>
          </a:prstGeom>
        </p:spPr>
      </p:pic>
      <p:pic>
        <p:nvPicPr>
          <p:cNvPr id="6" name="Gráfico 5" descr="Repetir">
            <a:extLst>
              <a:ext uri="{FF2B5EF4-FFF2-40B4-BE49-F238E27FC236}">
                <a16:creationId xmlns:a16="http://schemas.microsoft.com/office/drawing/2014/main" id="{B7CC5901-A2ED-4DC4-A641-4ADA4734A8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1832" y="5433111"/>
            <a:ext cx="583452" cy="583452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D4696B0-A62E-4597-BB40-E1FE652DFB17}"/>
              </a:ext>
            </a:extLst>
          </p:cNvPr>
          <p:cNvSpPr/>
          <p:nvPr/>
        </p:nvSpPr>
        <p:spPr>
          <a:xfrm>
            <a:off x="1096378" y="5399536"/>
            <a:ext cx="208884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Plazo de 2 años para reemplazar papales viejos inconvertibles por nuevos convertibles</a:t>
            </a:r>
          </a:p>
        </p:txBody>
      </p:sp>
      <p:pic>
        <p:nvPicPr>
          <p:cNvPr id="31" name="Gráfico 30" descr="Dinero">
            <a:extLst>
              <a:ext uri="{FF2B5EF4-FFF2-40B4-BE49-F238E27FC236}">
                <a16:creationId xmlns:a16="http://schemas.microsoft.com/office/drawing/2014/main" id="{77D0DFE0-E315-4D81-8980-0912A90C13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40651" y="5370154"/>
            <a:ext cx="705066" cy="705066"/>
          </a:xfrm>
          <a:prstGeom prst="rect">
            <a:avLst/>
          </a:prstGeom>
        </p:spPr>
      </p:pic>
      <p:pic>
        <p:nvPicPr>
          <p:cNvPr id="9" name="Gráfico 8" descr="Monedas">
            <a:extLst>
              <a:ext uri="{FF2B5EF4-FFF2-40B4-BE49-F238E27FC236}">
                <a16:creationId xmlns:a16="http://schemas.microsoft.com/office/drawing/2014/main" id="{A9BA5F95-51B3-4DA4-8BCF-BBE7C5A4B7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95451" y="5946293"/>
            <a:ext cx="705066" cy="705066"/>
          </a:xfrm>
          <a:prstGeom prst="rect">
            <a:avLst/>
          </a:prstGeom>
        </p:spPr>
      </p:pic>
      <p:sp>
        <p:nvSpPr>
          <p:cNvPr id="32" name="Rectángulo 31">
            <a:extLst>
              <a:ext uri="{FF2B5EF4-FFF2-40B4-BE49-F238E27FC236}">
                <a16:creationId xmlns:a16="http://schemas.microsoft.com/office/drawing/2014/main" id="{B34F8444-3742-497C-A773-BC6FD9EEB9CB}"/>
              </a:ext>
            </a:extLst>
          </p:cNvPr>
          <p:cNvSpPr/>
          <p:nvPr/>
        </p:nvSpPr>
        <p:spPr>
          <a:xfrm>
            <a:off x="3996459" y="5410568"/>
            <a:ext cx="1745341" cy="1183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Ley 1883: sólo podrán emitir billetes pagaderos en pesos moneda nacional oro.</a:t>
            </a:r>
          </a:p>
        </p:txBody>
      </p:sp>
      <p:pic>
        <p:nvPicPr>
          <p:cNvPr id="33" name="Gráfico 32" descr="Dinero">
            <a:extLst>
              <a:ext uri="{FF2B5EF4-FFF2-40B4-BE49-F238E27FC236}">
                <a16:creationId xmlns:a16="http://schemas.microsoft.com/office/drawing/2014/main" id="{98C0012C-6A45-4904-923C-AD9A894FBE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14153" y="5420714"/>
            <a:ext cx="705066" cy="705066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4028589C-A45C-46D5-8ECB-CE2E35D779CF}"/>
              </a:ext>
            </a:extLst>
          </p:cNvPr>
          <p:cNvSpPr/>
          <p:nvPr/>
        </p:nvSpPr>
        <p:spPr>
          <a:xfrm>
            <a:off x="5873502" y="6017335"/>
            <a:ext cx="747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???</a:t>
            </a:r>
            <a:endParaRPr lang="es-AR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F44E36F-CB74-408B-B790-0347B4F7AB0E}"/>
              </a:ext>
            </a:extLst>
          </p:cNvPr>
          <p:cNvSpPr/>
          <p:nvPr/>
        </p:nvSpPr>
        <p:spPr>
          <a:xfrm>
            <a:off x="6565815" y="5459817"/>
            <a:ext cx="24350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Sin restricciones sobre la emisión </a:t>
            </a:r>
            <a:r>
              <a:rPr lang="es-ES" sz="14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(requerimientos mínimos fijados por propios bancos)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CE0D8CA5-CCA2-49F3-B342-3846C1FFFE32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442889FB-8475-4DFC-8D85-F2BEB70A4B69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 unidad monetaria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C0EBF67D-2445-4105-9301-09EF91148E19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1881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E526EC-C7D9-4B8F-BB83-82715BD8F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6752"/>
            <a:ext cx="4506709" cy="506687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DB5151B-0C47-4848-9F4C-795CC9B52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874" y="1621962"/>
            <a:ext cx="4580126" cy="475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2035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25 Imagen" descr="1argentino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8398" y="2769573"/>
            <a:ext cx="2419772" cy="1172077"/>
          </a:xfrm>
          <a:prstGeom prst="rect">
            <a:avLst/>
          </a:prstGeom>
        </p:spPr>
      </p:pic>
      <p:sp>
        <p:nvSpPr>
          <p:cNvPr id="19" name="18 Rectángulo redondeado"/>
          <p:cNvSpPr/>
          <p:nvPr/>
        </p:nvSpPr>
        <p:spPr>
          <a:xfrm>
            <a:off x="918398" y="4020482"/>
            <a:ext cx="2419772" cy="4286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Argentino de oro (</a:t>
            </a:r>
            <a:r>
              <a:rPr lang="es-AR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1881)</a:t>
            </a:r>
            <a:endParaRPr sz="1200" b="1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12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alor: 5 pesos oro (8 gr)</a:t>
            </a:r>
          </a:p>
        </p:txBody>
      </p:sp>
      <p:sp>
        <p:nvSpPr>
          <p:cNvPr id="20" name="19 Rectángulo redondeado"/>
          <p:cNvSpPr/>
          <p:nvPr/>
        </p:nvSpPr>
        <p:spPr>
          <a:xfrm>
            <a:off x="928662" y="4558897"/>
            <a:ext cx="7215238" cy="35718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Papel moneda: </a:t>
            </a:r>
            <a:r>
              <a:rPr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Billetes convertibles</a:t>
            </a:r>
            <a:endParaRPr lang="es-ES" sz="20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20 Imagen" descr="billete_1883_convertib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24" y="5000636"/>
            <a:ext cx="3261300" cy="1500198"/>
          </a:xfrm>
          <a:prstGeom prst="rect">
            <a:avLst/>
          </a:prstGeom>
        </p:spPr>
      </p:pic>
      <p:sp>
        <p:nvSpPr>
          <p:cNvPr id="22" name="21 Rectángulo"/>
          <p:cNvSpPr/>
          <p:nvPr/>
        </p:nvSpPr>
        <p:spPr>
          <a:xfrm>
            <a:off x="941612" y="6500834"/>
            <a:ext cx="3242211" cy="2857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Banco Nacional (1883)</a:t>
            </a:r>
            <a:endParaRPr lang="es-ES" sz="12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23 Imagen" descr="1p_santafe_188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465" y="5000636"/>
            <a:ext cx="3261300" cy="1500198"/>
          </a:xfrm>
          <a:prstGeom prst="rect">
            <a:avLst/>
          </a:prstGeom>
        </p:spPr>
      </p:pic>
      <p:sp>
        <p:nvSpPr>
          <p:cNvPr id="25" name="24 Rectángulo"/>
          <p:cNvSpPr/>
          <p:nvPr/>
        </p:nvSpPr>
        <p:spPr>
          <a:xfrm>
            <a:off x="4899169" y="6500834"/>
            <a:ext cx="3244730" cy="2659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Banco de Santa Fe (1882)</a:t>
            </a:r>
            <a:endParaRPr lang="es-ES" sz="12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22 Imagen" descr="1peso.jp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05830" y="2813966"/>
            <a:ext cx="2419772" cy="1206516"/>
          </a:xfrm>
          <a:prstGeom prst="rect">
            <a:avLst/>
          </a:prstGeom>
        </p:spPr>
      </p:pic>
      <p:sp>
        <p:nvSpPr>
          <p:cNvPr id="27" name="26 Rectángulo redondeado"/>
          <p:cNvSpPr/>
          <p:nvPr/>
        </p:nvSpPr>
        <p:spPr>
          <a:xfrm>
            <a:off x="5810204" y="4020482"/>
            <a:ext cx="2338070" cy="4286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Patacon (</a:t>
            </a:r>
            <a:r>
              <a:rPr lang="es-AR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1882)</a:t>
            </a:r>
            <a:endParaRPr sz="1200" b="1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12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alor: 1 Peso plata (25 gr)</a:t>
            </a:r>
          </a:p>
        </p:txBody>
      </p:sp>
      <p:sp>
        <p:nvSpPr>
          <p:cNvPr id="18" name="17 Rectángulo redondeado"/>
          <p:cNvSpPr/>
          <p:nvPr/>
        </p:nvSpPr>
        <p:spPr>
          <a:xfrm>
            <a:off x="928662" y="2194544"/>
            <a:ext cx="1500198" cy="50006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Peso Oro</a:t>
            </a:r>
          </a:p>
          <a:p>
            <a:pPr algn="ctr"/>
            <a:r>
              <a:rPr sz="14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(1.6129 gr)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EF145B5-47D0-4222-B055-959CD9897EDB}"/>
              </a:ext>
            </a:extLst>
          </p:cNvPr>
          <p:cNvSpPr/>
          <p:nvPr/>
        </p:nvSpPr>
        <p:spPr>
          <a:xfrm rot="20912893">
            <a:off x="180707" y="799117"/>
            <a:ext cx="2230204" cy="809188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Ley 5 nov de 1881</a:t>
            </a:r>
            <a:endParaRPr lang="es-ES" sz="24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928662" y="1772816"/>
            <a:ext cx="7215238" cy="35718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Unidad monetaria: </a:t>
            </a:r>
            <a:r>
              <a:rPr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Moneda metálica</a:t>
            </a:r>
            <a:endParaRPr lang="es-ES" sz="20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21B6578-5944-487B-A810-A8315D4933B6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30DE9DDF-1641-466B-9FE0-7E5C4CA3BC32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 unidad monetaria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44F0F17A-2F85-4DB4-B50F-E168A672F58E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1881</a:t>
            </a:r>
          </a:p>
        </p:txBody>
      </p:sp>
      <p:sp>
        <p:nvSpPr>
          <p:cNvPr id="34" name="17 Rectángulo redondeado">
            <a:extLst>
              <a:ext uri="{FF2B5EF4-FFF2-40B4-BE49-F238E27FC236}">
                <a16:creationId xmlns:a16="http://schemas.microsoft.com/office/drawing/2014/main" id="{820B455F-E511-4D28-8010-22FF0676A69E}"/>
              </a:ext>
            </a:extLst>
          </p:cNvPr>
          <p:cNvSpPr/>
          <p:nvPr/>
        </p:nvSpPr>
        <p:spPr>
          <a:xfrm>
            <a:off x="6665945" y="2194544"/>
            <a:ext cx="1500198" cy="50006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Peso </a:t>
            </a:r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Plata</a:t>
            </a:r>
            <a:endParaRPr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gr)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Conector: angular 6">
            <a:extLst>
              <a:ext uri="{FF2B5EF4-FFF2-40B4-BE49-F238E27FC236}">
                <a16:creationId xmlns:a16="http://schemas.microsoft.com/office/drawing/2014/main" id="{7DC11598-56C2-4875-B612-E5FB4F71A323}"/>
              </a:ext>
            </a:extLst>
          </p:cNvPr>
          <p:cNvCxnSpPr>
            <a:stCxn id="18" idx="3"/>
            <a:endCxn id="19" idx="3"/>
          </p:cNvCxnSpPr>
          <p:nvPr/>
        </p:nvCxnSpPr>
        <p:spPr>
          <a:xfrm>
            <a:off x="2428860" y="2444577"/>
            <a:ext cx="909310" cy="1790219"/>
          </a:xfrm>
          <a:prstGeom prst="bentConnector3">
            <a:avLst>
              <a:gd name="adj1" fmla="val 125140"/>
            </a:avLst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8D2F7C3E-7E17-4231-AC4B-0DD8BC31C9EA}"/>
              </a:ext>
            </a:extLst>
          </p:cNvPr>
          <p:cNvCxnSpPr>
            <a:cxnSpLocks/>
            <a:stCxn id="34" idx="1"/>
            <a:endCxn id="27" idx="1"/>
          </p:cNvCxnSpPr>
          <p:nvPr/>
        </p:nvCxnSpPr>
        <p:spPr>
          <a:xfrm rot="10800000" flipV="1">
            <a:off x="5810205" y="2444576"/>
            <a:ext cx="855741" cy="1790219"/>
          </a:xfrm>
          <a:prstGeom prst="bentConnector3">
            <a:avLst>
              <a:gd name="adj1" fmla="val 126714"/>
            </a:avLst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921B6578-5944-487B-A810-A8315D4933B6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30DE9DDF-1641-466B-9FE0-7E5C4CA3BC32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 unidad monetaria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44F0F17A-2F85-4DB4-B50F-E168A672F58E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1881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66758CA-6C93-4D91-A76D-2C99B1FDE7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76" t="16384" r="66537" b="9380"/>
          <a:stretch/>
        </p:blipFill>
        <p:spPr>
          <a:xfrm>
            <a:off x="600117" y="1196752"/>
            <a:ext cx="2446104" cy="518574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AAC6191-E8EA-471F-A213-1CE7007380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201" t="3778" r="64175" b="6580"/>
          <a:stretch/>
        </p:blipFill>
        <p:spPr>
          <a:xfrm>
            <a:off x="3351455" y="1111523"/>
            <a:ext cx="2510718" cy="5356200"/>
          </a:xfrm>
          <a:prstGeom prst="rect">
            <a:avLst/>
          </a:prstGeom>
        </p:spPr>
      </p:pic>
      <p:pic>
        <p:nvPicPr>
          <p:cNvPr id="9" name="25 Imagen" descr="1argentino.jpg">
            <a:extLst>
              <a:ext uri="{FF2B5EF4-FFF2-40B4-BE49-F238E27FC236}">
                <a16:creationId xmlns:a16="http://schemas.microsoft.com/office/drawing/2014/main" id="{54BE74EC-3C42-402A-90EC-C5C2EFA34DD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4413" y="702745"/>
            <a:ext cx="1133322" cy="548953"/>
          </a:xfrm>
          <a:prstGeom prst="rect">
            <a:avLst/>
          </a:prstGeom>
        </p:spPr>
      </p:pic>
      <p:pic>
        <p:nvPicPr>
          <p:cNvPr id="10" name="22 Imagen" descr="1peso.jpg">
            <a:extLst>
              <a:ext uri="{FF2B5EF4-FFF2-40B4-BE49-F238E27FC236}">
                <a16:creationId xmlns:a16="http://schemas.microsoft.com/office/drawing/2014/main" id="{1B516C1E-E988-40BA-AC72-05743CDD033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15314" y="668055"/>
            <a:ext cx="1326282" cy="66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857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921B6578-5944-487B-A810-A8315D4933B6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30DE9DDF-1641-466B-9FE0-7E5C4CA3BC32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 unidad monetaria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44F0F17A-2F85-4DB4-B50F-E168A672F58E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5F26482-8C76-4077-ACB8-10484E7254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1" t="13077" r="9051" b="5179"/>
          <a:stretch/>
        </p:blipFill>
        <p:spPr>
          <a:xfrm>
            <a:off x="251520" y="1621962"/>
            <a:ext cx="8536776" cy="479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5230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921B6578-5944-487B-A810-A8315D4933B6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30DE9DDF-1641-466B-9FE0-7E5C4CA3BC32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 unidad monetaria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44F0F17A-2F85-4DB4-B50F-E168A672F58E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1881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23CCD44-4561-45EB-9ADA-F4BB26C010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00" t="14851" r="8263" b="16383"/>
          <a:stretch/>
        </p:blipFill>
        <p:spPr>
          <a:xfrm>
            <a:off x="211713" y="1858759"/>
            <a:ext cx="8720573" cy="392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4366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921B6578-5944-487B-A810-A8315D4933B6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30DE9DDF-1641-466B-9FE0-7E5C4CA3BC32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 unidad monetaria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44F0F17A-2F85-4DB4-B50F-E168A672F58E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58ED17-49AA-4974-A2C6-E2902742A2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01" t="18815" r="7476" b="10781"/>
          <a:stretch/>
        </p:blipFill>
        <p:spPr>
          <a:xfrm>
            <a:off x="93257" y="1843980"/>
            <a:ext cx="8881674" cy="405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6876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20 Imagen" descr="billete_1883_convertib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196752"/>
            <a:ext cx="5688632" cy="2616771"/>
          </a:xfrm>
          <a:prstGeom prst="rect">
            <a:avLst/>
          </a:prstGeom>
        </p:spPr>
      </p:pic>
      <p:sp>
        <p:nvSpPr>
          <p:cNvPr id="22" name="21 Rectángulo"/>
          <p:cNvSpPr/>
          <p:nvPr/>
        </p:nvSpPr>
        <p:spPr>
          <a:xfrm>
            <a:off x="539552" y="1070790"/>
            <a:ext cx="3242211" cy="2857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Banco Nacional (1883)</a:t>
            </a:r>
            <a:endParaRPr lang="es-ES" sz="12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23 Imagen" descr="1p_santafe_188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3822708"/>
            <a:ext cx="5822013" cy="2678126"/>
          </a:xfrm>
          <a:prstGeom prst="rect">
            <a:avLst/>
          </a:prstGeom>
        </p:spPr>
      </p:pic>
      <p:sp>
        <p:nvSpPr>
          <p:cNvPr id="25" name="24 Rectángulo"/>
          <p:cNvSpPr/>
          <p:nvPr/>
        </p:nvSpPr>
        <p:spPr>
          <a:xfrm>
            <a:off x="4899169" y="6500834"/>
            <a:ext cx="3244730" cy="2659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Banco de Santa Fe (1882)</a:t>
            </a:r>
            <a:endParaRPr lang="es-ES" sz="12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921B6578-5944-487B-A810-A8315D4933B6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30DE9DDF-1641-466B-9FE0-7E5C4CA3BC32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 unidad monetaria</a:t>
            </a: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44F0F17A-2F85-4DB4-B50F-E168A672F58E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1881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D46F2EC-87A9-417A-BF88-5511B7EB4B39}"/>
              </a:ext>
            </a:extLst>
          </p:cNvPr>
          <p:cNvSpPr/>
          <p:nvPr/>
        </p:nvSpPr>
        <p:spPr>
          <a:xfrm>
            <a:off x="2011888" y="3042039"/>
            <a:ext cx="1479992" cy="1709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C9BC1E9-8BAC-431A-AA73-2B66E1F6E2E1}"/>
              </a:ext>
            </a:extLst>
          </p:cNvPr>
          <p:cNvSpPr/>
          <p:nvPr/>
        </p:nvSpPr>
        <p:spPr>
          <a:xfrm>
            <a:off x="4510762" y="5805264"/>
            <a:ext cx="1479992" cy="3001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22D8035-CB69-433A-8F86-91059A57DB02}"/>
              </a:ext>
            </a:extLst>
          </p:cNvPr>
          <p:cNvSpPr txBox="1"/>
          <p:nvPr/>
        </p:nvSpPr>
        <p:spPr>
          <a:xfrm>
            <a:off x="525702" y="4982800"/>
            <a:ext cx="1285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“MONEDA </a:t>
            </a:r>
          </a:p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NACIONAL”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177A4B48-F5C1-4434-B656-26477F2FFFF1}"/>
              </a:ext>
            </a:extLst>
          </p:cNvPr>
          <p:cNvCxnSpPr>
            <a:stCxn id="2" idx="2"/>
            <a:endCxn id="4" idx="0"/>
          </p:cNvCxnSpPr>
          <p:nvPr/>
        </p:nvCxnSpPr>
        <p:spPr>
          <a:xfrm flipH="1">
            <a:off x="1168603" y="3212976"/>
            <a:ext cx="1583281" cy="1769824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9E0451EF-1262-4C14-BB1D-E48CEE9E969B}"/>
              </a:ext>
            </a:extLst>
          </p:cNvPr>
          <p:cNvCxnSpPr>
            <a:cxnSpLocks/>
            <a:stCxn id="28" idx="1"/>
            <a:endCxn id="4" idx="3"/>
          </p:cNvCxnSpPr>
          <p:nvPr/>
        </p:nvCxnSpPr>
        <p:spPr>
          <a:xfrm flipH="1" flipV="1">
            <a:off x="1811503" y="5305966"/>
            <a:ext cx="2699259" cy="649394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71180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9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947817"/>
              </p:ext>
            </p:extLst>
          </p:nvPr>
        </p:nvGraphicFramePr>
        <p:xfrm>
          <a:off x="6169248" y="3164704"/>
          <a:ext cx="2547040" cy="1758824"/>
        </p:xfrm>
        <a:graphic>
          <a:graphicData uri="http://schemas.openxmlformats.org/drawingml/2006/table">
            <a:tbl>
              <a:tblPr/>
              <a:tblGrid>
                <a:gridCol w="864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910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Activos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-Reservas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-Créditos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Pasivos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-Billetes en Circulación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-Depósitos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12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Capital Propio</a:t>
                      </a:r>
                      <a:endParaRPr lang="es-ES" sz="16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-Capital Realizado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-Fondos de Reservas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12 Rectángulo redondeado"/>
          <p:cNvSpPr/>
          <p:nvPr/>
        </p:nvSpPr>
        <p:spPr>
          <a:xfrm>
            <a:off x="1038537" y="3308863"/>
            <a:ext cx="4320480" cy="70627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r</a:t>
            </a:r>
            <a:r>
              <a:rPr sz="2800" b="1" baseline="-30000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B</a:t>
            </a:r>
            <a:r>
              <a:rPr sz="28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 = i ( B – R )  </a:t>
            </a:r>
            <a:endParaRPr sz="28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14 Flecha abajo"/>
          <p:cNvSpPr/>
          <p:nvPr/>
        </p:nvSpPr>
        <p:spPr>
          <a:xfrm>
            <a:off x="1038537" y="1890416"/>
            <a:ext cx="4325551" cy="1297610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Rendimiento de la emisión para el banco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500034" y="5245978"/>
            <a:ext cx="8067364" cy="684062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3200" b="1">
                <a:solidFill>
                  <a:schemeClr val="accent5">
                    <a:lumMod val="20000"/>
                    <a:lumOff val="80000"/>
                  </a:schemeClr>
                </a:solidFill>
              </a:rPr>
              <a:t>Régimen descentralizado</a:t>
            </a:r>
            <a:endParaRPr sz="32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16 Flecha abajo"/>
          <p:cNvSpPr/>
          <p:nvPr/>
        </p:nvSpPr>
        <p:spPr>
          <a:xfrm>
            <a:off x="6156176" y="2208630"/>
            <a:ext cx="2560112" cy="919736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 simplificado Bco. Emisión</a:t>
            </a:r>
          </a:p>
        </p:txBody>
      </p:sp>
      <p:sp>
        <p:nvSpPr>
          <p:cNvPr id="19" name="18 Rectángulo"/>
          <p:cNvSpPr/>
          <p:nvPr/>
        </p:nvSpPr>
        <p:spPr>
          <a:xfrm>
            <a:off x="500034" y="5822684"/>
            <a:ext cx="8067364" cy="85725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El control de los billetes convertibles </a:t>
            </a:r>
          </a:p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estaba en manos de los bancos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5C12757-417D-4181-B57B-E2D4DACF925A}"/>
              </a:ext>
            </a:extLst>
          </p:cNvPr>
          <p:cNvSpPr/>
          <p:nvPr/>
        </p:nvSpPr>
        <p:spPr>
          <a:xfrm rot="20912893">
            <a:off x="180707" y="799117"/>
            <a:ext cx="2230204" cy="809188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Ley 5 nov de 1881</a:t>
            </a:r>
            <a:endParaRPr lang="es-ES" sz="24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A822E7A-15CB-49E6-A9D7-D4EF0A01C559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2E96D631-76F2-498F-AD6E-1D88DD70B075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Primera unidad monetaria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A7C09F5-636E-4FAE-BBFD-B894BCDDB448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1881</a:t>
            </a:r>
          </a:p>
        </p:txBody>
      </p:sp>
      <p:sp>
        <p:nvSpPr>
          <p:cNvPr id="22" name="12 Rectángulo redondeado">
            <a:extLst>
              <a:ext uri="{FF2B5EF4-FFF2-40B4-BE49-F238E27FC236}">
                <a16:creationId xmlns:a16="http://schemas.microsoft.com/office/drawing/2014/main" id="{8D14C8CD-B4C7-4E27-B82E-B93CECC53FE1}"/>
              </a:ext>
            </a:extLst>
          </p:cNvPr>
          <p:cNvSpPr/>
          <p:nvPr/>
        </p:nvSpPr>
        <p:spPr>
          <a:xfrm>
            <a:off x="1043608" y="4083911"/>
            <a:ext cx="4320480" cy="95244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sz="1200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Siendo</a:t>
            </a:r>
            <a:r>
              <a:rPr sz="12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:</a:t>
            </a:r>
            <a:endParaRPr sz="12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sz="1200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r</a:t>
            </a:r>
            <a:r>
              <a:rPr sz="1200" baseline="-30000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B</a:t>
            </a:r>
            <a:r>
              <a:rPr sz="12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 = rendimiento de la emisión;</a:t>
            </a:r>
            <a:endParaRPr sz="12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sz="12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i = tasa de retorno de activos rentables;</a:t>
            </a:r>
            <a:endParaRPr sz="12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sz="12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B = monto de la emisión de pesos papel;</a:t>
            </a:r>
            <a:endParaRPr sz="12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sz="12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R = valor en pesos papel de las reservas metálicas.</a:t>
            </a:r>
            <a:endParaRPr sz="2000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E3731EA-2D52-41B7-8924-B6C73B7CB79C}"/>
              </a:ext>
            </a:extLst>
          </p:cNvPr>
          <p:cNvSpPr txBox="1"/>
          <p:nvPr/>
        </p:nvSpPr>
        <p:spPr>
          <a:xfrm>
            <a:off x="2411760" y="718280"/>
            <a:ext cx="3672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NEGOCIO BANCARIO </a:t>
            </a:r>
          </a:p>
          <a:p>
            <a:r>
              <a:rPr lang="es-AR" sz="2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EMISIÓN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uadroTexto"/>
          <p:cNvSpPr txBox="1"/>
          <p:nvPr/>
        </p:nvSpPr>
        <p:spPr>
          <a:xfrm>
            <a:off x="1171370" y="5520081"/>
            <a:ext cx="5171374" cy="11919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AR" sz="1400" dirty="0">
                <a:solidFill>
                  <a:schemeClr val="accent5">
                    <a:lumMod val="50000"/>
                  </a:schemeClr>
                </a:solidFill>
              </a:rPr>
              <a:t>Restricciones:</a:t>
            </a:r>
          </a:p>
          <a:p>
            <a:pPr algn="l"/>
            <a:r>
              <a:rPr lang="es-ES" sz="1400" b="0" dirty="0">
                <a:solidFill>
                  <a:schemeClr val="accent5">
                    <a:lumMod val="50000"/>
                  </a:schemeClr>
                </a:solidFill>
              </a:rPr>
              <a:t>No disminuir las reservas </a:t>
            </a:r>
          </a:p>
          <a:p>
            <a:pPr algn="l"/>
            <a:r>
              <a:rPr lang="es-ES" sz="1400" b="0" dirty="0">
                <a:solidFill>
                  <a:schemeClr val="accent5">
                    <a:lumMod val="50000"/>
                  </a:schemeClr>
                </a:solidFill>
              </a:rPr>
              <a:t>Mantener en las cajas de los bancos la mitad de las utilidades</a:t>
            </a:r>
          </a:p>
          <a:p>
            <a:pPr algn="l"/>
            <a:r>
              <a:rPr lang="es-ES" sz="1400" b="0" dirty="0">
                <a:solidFill>
                  <a:schemeClr val="accent5">
                    <a:lumMod val="50000"/>
                  </a:schemeClr>
                </a:solidFill>
              </a:rPr>
              <a:t>No aumentar el stock de billetes emitidos.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763688" y="3647874"/>
            <a:ext cx="5786478" cy="158132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billetes son de ¨curso legal¨</a:t>
            </a:r>
            <a:endParaRPr lang="es-ES" sz="28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Fiduciario)</a:t>
            </a:r>
            <a:endParaRPr sz="28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1A9EBAD-92D8-4EC0-BF0F-62BC7132C1DE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084405B-2950-48AA-B53D-9C4B5D330C4B}"/>
              </a:ext>
            </a:extLst>
          </p:cNvPr>
          <p:cNvCxnSpPr>
            <a:cxnSpLocks/>
          </p:cNvCxnSpPr>
          <p:nvPr/>
        </p:nvCxnSpPr>
        <p:spPr>
          <a:xfrm>
            <a:off x="593181" y="2731880"/>
            <a:ext cx="7920880" cy="0"/>
          </a:xfrm>
          <a:prstGeom prst="line">
            <a:avLst/>
          </a:prstGeom>
          <a:ln w="762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48D08DE0-D391-49AD-BC7E-EA5313D36988}"/>
              </a:ext>
            </a:extLst>
          </p:cNvPr>
          <p:cNvCxnSpPr/>
          <p:nvPr/>
        </p:nvCxnSpPr>
        <p:spPr>
          <a:xfrm>
            <a:off x="837099" y="2515856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D44F639-9900-4055-B216-97323E531DE7}"/>
              </a:ext>
            </a:extLst>
          </p:cNvPr>
          <p:cNvSpPr txBox="1"/>
          <p:nvPr/>
        </p:nvSpPr>
        <p:spPr>
          <a:xfrm>
            <a:off x="258435" y="2979262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 1884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D19B202-91F9-4D65-84FD-3559C24D11E4}"/>
              </a:ext>
            </a:extLst>
          </p:cNvPr>
          <p:cNvCxnSpPr/>
          <p:nvPr/>
        </p:nvCxnSpPr>
        <p:spPr>
          <a:xfrm>
            <a:off x="2749968" y="2515856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7D10F0F-40C1-47C2-B151-730AF1463D11}"/>
              </a:ext>
            </a:extLst>
          </p:cNvPr>
          <p:cNvSpPr txBox="1"/>
          <p:nvPr/>
        </p:nvSpPr>
        <p:spPr>
          <a:xfrm>
            <a:off x="2188110" y="2987660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 1884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DB13235-B96C-4C1A-BACD-62E11D2578FC}"/>
              </a:ext>
            </a:extLst>
          </p:cNvPr>
          <p:cNvCxnSpPr/>
          <p:nvPr/>
        </p:nvCxnSpPr>
        <p:spPr>
          <a:xfrm>
            <a:off x="4911037" y="2515856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55C26E2-4DBD-4528-8498-D4FA6F150241}"/>
              </a:ext>
            </a:extLst>
          </p:cNvPr>
          <p:cNvSpPr txBox="1"/>
          <p:nvPr/>
        </p:nvSpPr>
        <p:spPr>
          <a:xfrm>
            <a:off x="4067944" y="2982806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Ene-mar 1885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A123E00-EEBD-49CD-921B-DA18648B2FA3}"/>
              </a:ext>
            </a:extLst>
          </p:cNvPr>
          <p:cNvSpPr/>
          <p:nvPr/>
        </p:nvSpPr>
        <p:spPr>
          <a:xfrm>
            <a:off x="83836" y="953021"/>
            <a:ext cx="152971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Banco Provincia de Buenos Aires deja de convertir a la paridad legal</a:t>
            </a:r>
            <a:endParaRPr lang="es-A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09E36E0-9F57-441C-B503-8D57317E1E67}"/>
              </a:ext>
            </a:extLst>
          </p:cNvPr>
          <p:cNvSpPr/>
          <p:nvPr/>
        </p:nvSpPr>
        <p:spPr>
          <a:xfrm>
            <a:off x="1893636" y="952573"/>
            <a:ext cx="17183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Se agotan las reservas del Banco Nacional y solicita se lo exima de convertir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3A7FF0C-78E6-434A-9120-E915633DD56A}"/>
              </a:ext>
            </a:extLst>
          </p:cNvPr>
          <p:cNvSpPr/>
          <p:nvPr/>
        </p:nvSpPr>
        <p:spPr>
          <a:xfrm>
            <a:off x="3736040" y="1182665"/>
            <a:ext cx="23739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Se autoriza la </a:t>
            </a:r>
            <a:r>
              <a:rPr lang="es-AR" sz="20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suspensión de la convertibilidad </a:t>
            </a:r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por 2 años.</a:t>
            </a:r>
          </a:p>
        </p:txBody>
      </p: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86BDFF27-D4E6-45DD-B945-E77499534572}"/>
              </a:ext>
            </a:extLst>
          </p:cNvPr>
          <p:cNvCxnSpPr>
            <a:endCxn id="16" idx="3"/>
          </p:cNvCxnSpPr>
          <p:nvPr/>
        </p:nvCxnSpPr>
        <p:spPr>
          <a:xfrm rot="5400000">
            <a:off x="7176495" y="3082591"/>
            <a:ext cx="1729617" cy="982274"/>
          </a:xfrm>
          <a:prstGeom prst="bentConnector2">
            <a:avLst/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6 CuadroTexto">
            <a:extLst>
              <a:ext uri="{FF2B5EF4-FFF2-40B4-BE49-F238E27FC236}">
                <a16:creationId xmlns:a16="http://schemas.microsoft.com/office/drawing/2014/main" id="{FFE8FCF6-3724-44E3-87F6-5DA827FF0767}"/>
              </a:ext>
            </a:extLst>
          </p:cNvPr>
          <p:cNvSpPr txBox="1"/>
          <p:nvPr/>
        </p:nvSpPr>
        <p:spPr>
          <a:xfrm>
            <a:off x="7037274" y="5520082"/>
            <a:ext cx="1629835" cy="119191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 fontAlgn="base">
              <a:spcBef>
                <a:spcPct val="0"/>
              </a:spcBef>
              <a:spcAft>
                <a:spcPct val="0"/>
              </a:spcAft>
              <a:defRPr b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sz="1400" dirty="0">
                <a:solidFill>
                  <a:schemeClr val="accent5">
                    <a:lumMod val="50000"/>
                  </a:schemeClr>
                </a:solidFill>
              </a:rPr>
              <a:t>R</a:t>
            </a:r>
            <a:r>
              <a:rPr lang="es-ES" sz="1400" dirty="0">
                <a:solidFill>
                  <a:schemeClr val="accent5">
                    <a:lumMod val="50000"/>
                  </a:schemeClr>
                </a:solidFill>
              </a:rPr>
              <a:t>estricciones levantadas o flexibilizadas al poco tiempo</a:t>
            </a:r>
            <a:endParaRPr lang="es-AR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803DB9BE-A2F2-43EB-9BEF-B8BC79257343}"/>
              </a:ext>
            </a:extLst>
          </p:cNvPr>
          <p:cNvCxnSpPr>
            <a:cxnSpLocks/>
            <a:stCxn id="16" idx="1"/>
            <a:endCxn id="7" idx="1"/>
          </p:cNvCxnSpPr>
          <p:nvPr/>
        </p:nvCxnSpPr>
        <p:spPr>
          <a:xfrm rot="10800000" flipV="1">
            <a:off x="1171370" y="4438536"/>
            <a:ext cx="592318" cy="1677501"/>
          </a:xfrm>
          <a:prstGeom prst="bentConnector3">
            <a:avLst>
              <a:gd name="adj1" fmla="val 204755"/>
            </a:avLst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4A5F33E9-749A-4377-A1C3-D3BD111BF60A}"/>
              </a:ext>
            </a:extLst>
          </p:cNvPr>
          <p:cNvCxnSpPr>
            <a:cxnSpLocks/>
            <a:stCxn id="7" idx="3"/>
            <a:endCxn id="29" idx="1"/>
          </p:cNvCxnSpPr>
          <p:nvPr/>
        </p:nvCxnSpPr>
        <p:spPr>
          <a:xfrm>
            <a:off x="6342744" y="6116038"/>
            <a:ext cx="694530" cy="1"/>
          </a:xfrm>
          <a:prstGeom prst="straightConnector1">
            <a:avLst/>
          </a:prstGeom>
          <a:ln w="762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8AB3BAAE-76E5-4DD8-847F-0A6697DF8FA0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Susp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Converti</a:t>
            </a:r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  <a:p>
            <a:pPr algn="ctr"/>
            <a:r>
              <a:rPr lang="es-A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bilidad</a:t>
            </a:r>
            <a:endParaRPr lang="es-AR" sz="1600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E905584C-2143-4692-B4E4-D711A0C5D723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1885</a:t>
            </a:r>
          </a:p>
        </p:txBody>
      </p:sp>
    </p:spTree>
    <p:extLst>
      <p:ext uri="{BB962C8B-B14F-4D97-AF65-F5344CB8AC3E}">
        <p14:creationId xmlns:p14="http://schemas.microsoft.com/office/powerpoint/2010/main" val="397307361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 redondeado"/>
          <p:cNvSpPr/>
          <p:nvPr/>
        </p:nvSpPr>
        <p:spPr>
          <a:xfrm>
            <a:off x="857224" y="1686539"/>
            <a:ext cx="7215238" cy="74232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Regimen fiduciario</a:t>
            </a:r>
            <a:endParaRPr lang="es-ES" sz="28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11 Imagen" descr="billete-10-banco-provincia-cordoba-ley-14-oct-1885.jpg"/>
          <p:cNvPicPr>
            <a:picLocks noChangeAspect="1"/>
          </p:cNvPicPr>
          <p:nvPr/>
        </p:nvPicPr>
        <p:blipFill>
          <a:blip r:embed="rId3"/>
          <a:srcRect l="7031" t="8744" r="3906" b="3054"/>
          <a:stretch>
            <a:fillRect/>
          </a:stretch>
        </p:blipFill>
        <p:spPr>
          <a:xfrm>
            <a:off x="571472" y="3071810"/>
            <a:ext cx="5516857" cy="30003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13" name="12 Rectángulo"/>
          <p:cNvSpPr/>
          <p:nvPr/>
        </p:nvSpPr>
        <p:spPr>
          <a:xfrm>
            <a:off x="3571868" y="6000768"/>
            <a:ext cx="2714644" cy="2857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Banco provincia de Córdoba 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6444208" y="3714752"/>
            <a:ext cx="2448272" cy="11430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El </a:t>
            </a:r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Billete es de 1881, pero está sellado según la ley de 1885</a:t>
            </a:r>
          </a:p>
        </p:txBody>
      </p:sp>
      <p:cxnSp>
        <p:nvCxnSpPr>
          <p:cNvPr id="18" name="17 Conector recto de flecha"/>
          <p:cNvCxnSpPr>
            <a:cxnSpLocks/>
            <a:stCxn id="17" idx="6"/>
            <a:endCxn id="14" idx="1"/>
          </p:cNvCxnSpPr>
          <p:nvPr/>
        </p:nvCxnSpPr>
        <p:spPr>
          <a:xfrm flipV="1">
            <a:off x="3643306" y="4286256"/>
            <a:ext cx="2800902" cy="392909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Elipse"/>
          <p:cNvSpPr/>
          <p:nvPr/>
        </p:nvSpPr>
        <p:spPr>
          <a:xfrm>
            <a:off x="2143108" y="3929066"/>
            <a:ext cx="1500198" cy="1500198"/>
          </a:xfrm>
          <a:prstGeom prst="ellipse">
            <a:avLst/>
          </a:prstGeom>
          <a:noFill/>
          <a:ln w="28575">
            <a:solidFill>
              <a:schemeClr val="accent2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79EF1A2-6A9D-40AD-B4B7-5F0F3C23796E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5283DE1A-2444-466D-9DB3-BD1A0429DD01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Susp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Converti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  <a:p>
            <a:pPr algn="ctr"/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bilidad</a:t>
            </a:r>
            <a:endParaRPr lang="es-AR" sz="16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65A33248-BFE2-4658-B861-3F6333881F14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1885</a:t>
            </a:r>
          </a:p>
        </p:txBody>
      </p:sp>
      <p:sp>
        <p:nvSpPr>
          <p:cNvPr id="11" name="13 Rectángulo">
            <a:extLst>
              <a:ext uri="{FF2B5EF4-FFF2-40B4-BE49-F238E27FC236}">
                <a16:creationId xmlns:a16="http://schemas.microsoft.com/office/drawing/2014/main" id="{6B341994-A448-4EF2-B87F-92F796BB48ED}"/>
              </a:ext>
            </a:extLst>
          </p:cNvPr>
          <p:cNvSpPr/>
          <p:nvPr/>
        </p:nvSpPr>
        <p:spPr>
          <a:xfrm>
            <a:off x="6255982" y="2000240"/>
            <a:ext cx="2532313" cy="964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AR" b="1" i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Creado y prorrogado por una serie de Decretos del PE</a:t>
            </a:r>
          </a:p>
        </p:txBody>
      </p:sp>
    </p:spTree>
    <p:extLst>
      <p:ext uri="{BB962C8B-B14F-4D97-AF65-F5344CB8AC3E}">
        <p14:creationId xmlns:p14="http://schemas.microsoft.com/office/powerpoint/2010/main" val="397307361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 redondeado"/>
          <p:cNvSpPr/>
          <p:nvPr/>
        </p:nvSpPr>
        <p:spPr>
          <a:xfrm>
            <a:off x="2235741" y="5942441"/>
            <a:ext cx="4672517" cy="679638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Billetes todavía</a:t>
            </a:r>
            <a:r>
              <a:rPr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inconvertible</a:t>
            </a:r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s</a:t>
            </a:r>
            <a:endParaRPr lang="es-ES" sz="20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714348" y="2420888"/>
            <a:ext cx="7643866" cy="8572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Paso de: </a:t>
            </a:r>
          </a:p>
          <a:p>
            <a:pPr algn="ctr"/>
            <a:r>
              <a:rPr lang="es-AR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Pluralidad de bancos (5) </a:t>
            </a:r>
            <a:r>
              <a:rPr lang="es-AR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 Banca Libre</a:t>
            </a:r>
            <a:endParaRPr lang="es-AR" sz="28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F448470-B7FA-47B4-90EE-D151F698C6F8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5B4C1F1A-83F5-4246-B0D9-28B08B153AFA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de </a:t>
            </a:r>
          </a:p>
          <a:p>
            <a:pPr algn="ctr"/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Bcos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Garant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DA405E3-39BE-46AF-BC33-DC77368180EC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1887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93C88482-E2E9-4810-AABD-220283AABB17}"/>
              </a:ext>
            </a:extLst>
          </p:cNvPr>
          <p:cNvSpPr/>
          <p:nvPr/>
        </p:nvSpPr>
        <p:spPr>
          <a:xfrm rot="20912893">
            <a:off x="180707" y="799117"/>
            <a:ext cx="2230204" cy="809188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Ley 3 nov de 1887</a:t>
            </a:r>
            <a:endParaRPr lang="es-ES" sz="24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2" name="Gráfico 11" descr="Tribunal">
            <a:extLst>
              <a:ext uri="{FF2B5EF4-FFF2-40B4-BE49-F238E27FC236}">
                <a16:creationId xmlns:a16="http://schemas.microsoft.com/office/drawing/2014/main" id="{8B553656-8956-4AA4-BEA9-16FA2B5A2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64" y="3506876"/>
            <a:ext cx="626899" cy="626899"/>
          </a:xfrm>
          <a:prstGeom prst="rect">
            <a:avLst/>
          </a:prstGeom>
        </p:spPr>
      </p:pic>
      <p:pic>
        <p:nvPicPr>
          <p:cNvPr id="13" name="Gráfico 12" descr="Tribunal">
            <a:extLst>
              <a:ext uri="{FF2B5EF4-FFF2-40B4-BE49-F238E27FC236}">
                <a16:creationId xmlns:a16="http://schemas.microsoft.com/office/drawing/2014/main" id="{BFC73463-A2F6-4993-99A4-63AAF7B7B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3928" y="3501008"/>
            <a:ext cx="626899" cy="626899"/>
          </a:xfrm>
          <a:prstGeom prst="rect">
            <a:avLst/>
          </a:prstGeom>
        </p:spPr>
      </p:pic>
      <p:pic>
        <p:nvPicPr>
          <p:cNvPr id="18" name="Gráfico 17" descr="Tribunal">
            <a:extLst>
              <a:ext uri="{FF2B5EF4-FFF2-40B4-BE49-F238E27FC236}">
                <a16:creationId xmlns:a16="http://schemas.microsoft.com/office/drawing/2014/main" id="{F2D0D59F-07D1-4537-BEEA-55A84AEF2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7310" y="3501396"/>
            <a:ext cx="626899" cy="626899"/>
          </a:xfrm>
          <a:prstGeom prst="rect">
            <a:avLst/>
          </a:prstGeom>
        </p:spPr>
      </p:pic>
      <p:pic>
        <p:nvPicPr>
          <p:cNvPr id="19" name="Gráfico 18" descr="Tribunal">
            <a:extLst>
              <a:ext uri="{FF2B5EF4-FFF2-40B4-BE49-F238E27FC236}">
                <a16:creationId xmlns:a16="http://schemas.microsoft.com/office/drawing/2014/main" id="{125B5D19-850F-47F4-89AE-84E4F1B4B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7385" y="3510030"/>
            <a:ext cx="626899" cy="626899"/>
          </a:xfrm>
          <a:prstGeom prst="rect">
            <a:avLst/>
          </a:prstGeom>
        </p:spPr>
      </p:pic>
      <p:pic>
        <p:nvPicPr>
          <p:cNvPr id="20" name="Gráfico 19" descr="Tribunal">
            <a:extLst>
              <a:ext uri="{FF2B5EF4-FFF2-40B4-BE49-F238E27FC236}">
                <a16:creationId xmlns:a16="http://schemas.microsoft.com/office/drawing/2014/main" id="{BBEF782D-53F3-4113-98A2-FC21437E3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8562" y="3526581"/>
            <a:ext cx="626899" cy="626899"/>
          </a:xfrm>
          <a:prstGeom prst="rect">
            <a:avLst/>
          </a:prstGeom>
        </p:spPr>
      </p:pic>
      <p:pic>
        <p:nvPicPr>
          <p:cNvPr id="21" name="Gráfico 20" descr="Tribunal">
            <a:extLst>
              <a:ext uri="{FF2B5EF4-FFF2-40B4-BE49-F238E27FC236}">
                <a16:creationId xmlns:a16="http://schemas.microsoft.com/office/drawing/2014/main" id="{054FA87E-6125-4202-8A81-20247FB29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2263" y="3776547"/>
            <a:ext cx="626899" cy="626899"/>
          </a:xfrm>
          <a:prstGeom prst="rect">
            <a:avLst/>
          </a:prstGeom>
        </p:spPr>
      </p:pic>
      <p:pic>
        <p:nvPicPr>
          <p:cNvPr id="22" name="Gráfico 21" descr="Tribunal">
            <a:extLst>
              <a:ext uri="{FF2B5EF4-FFF2-40B4-BE49-F238E27FC236}">
                <a16:creationId xmlns:a16="http://schemas.microsoft.com/office/drawing/2014/main" id="{0E5C78EF-04B4-4B61-8786-CFFDD721C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0827" y="3770679"/>
            <a:ext cx="626899" cy="626899"/>
          </a:xfrm>
          <a:prstGeom prst="rect">
            <a:avLst/>
          </a:prstGeom>
        </p:spPr>
      </p:pic>
      <p:pic>
        <p:nvPicPr>
          <p:cNvPr id="23" name="Gráfico 22" descr="Tribunal">
            <a:extLst>
              <a:ext uri="{FF2B5EF4-FFF2-40B4-BE49-F238E27FC236}">
                <a16:creationId xmlns:a16="http://schemas.microsoft.com/office/drawing/2014/main" id="{293877E8-1849-4ED4-8F13-787327921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6545" y="3771067"/>
            <a:ext cx="626899" cy="626899"/>
          </a:xfrm>
          <a:prstGeom prst="rect">
            <a:avLst/>
          </a:prstGeom>
        </p:spPr>
      </p:pic>
      <p:pic>
        <p:nvPicPr>
          <p:cNvPr id="24" name="Gráfico 23" descr="Tribunal">
            <a:extLst>
              <a:ext uri="{FF2B5EF4-FFF2-40B4-BE49-F238E27FC236}">
                <a16:creationId xmlns:a16="http://schemas.microsoft.com/office/drawing/2014/main" id="{E5DF8D2D-1E5B-4CFA-80DA-6AC97F364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4284" y="3779701"/>
            <a:ext cx="626899" cy="626899"/>
          </a:xfrm>
          <a:prstGeom prst="rect">
            <a:avLst/>
          </a:prstGeom>
        </p:spPr>
      </p:pic>
      <p:pic>
        <p:nvPicPr>
          <p:cNvPr id="25" name="Gráfico 24" descr="Tribunal">
            <a:extLst>
              <a:ext uri="{FF2B5EF4-FFF2-40B4-BE49-F238E27FC236}">
                <a16:creationId xmlns:a16="http://schemas.microsoft.com/office/drawing/2014/main" id="{046F62EF-B25B-4520-9969-36D207CDB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5461" y="3796252"/>
            <a:ext cx="626899" cy="626899"/>
          </a:xfrm>
          <a:prstGeom prst="rect">
            <a:avLst/>
          </a:prstGeom>
        </p:spPr>
      </p:pic>
      <p:pic>
        <p:nvPicPr>
          <p:cNvPr id="26" name="Gráfico 25" descr="Tribunal">
            <a:extLst>
              <a:ext uri="{FF2B5EF4-FFF2-40B4-BE49-F238E27FC236}">
                <a16:creationId xmlns:a16="http://schemas.microsoft.com/office/drawing/2014/main" id="{31A23EA2-6CC8-45F0-BD6C-8FFE55BB6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64" y="4236295"/>
            <a:ext cx="626899" cy="626899"/>
          </a:xfrm>
          <a:prstGeom prst="rect">
            <a:avLst/>
          </a:prstGeom>
        </p:spPr>
      </p:pic>
      <p:pic>
        <p:nvPicPr>
          <p:cNvPr id="27" name="Gráfico 26" descr="Tribunal">
            <a:extLst>
              <a:ext uri="{FF2B5EF4-FFF2-40B4-BE49-F238E27FC236}">
                <a16:creationId xmlns:a16="http://schemas.microsoft.com/office/drawing/2014/main" id="{15EE0281-B42C-469D-A91D-D9FA0609D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3928" y="4230427"/>
            <a:ext cx="626899" cy="626899"/>
          </a:xfrm>
          <a:prstGeom prst="rect">
            <a:avLst/>
          </a:prstGeom>
        </p:spPr>
      </p:pic>
      <p:pic>
        <p:nvPicPr>
          <p:cNvPr id="28" name="Gráfico 27" descr="Tribunal">
            <a:extLst>
              <a:ext uri="{FF2B5EF4-FFF2-40B4-BE49-F238E27FC236}">
                <a16:creationId xmlns:a16="http://schemas.microsoft.com/office/drawing/2014/main" id="{DE5EC9D8-405B-4DAC-B6D7-4CD490D91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7310" y="4230815"/>
            <a:ext cx="626899" cy="626899"/>
          </a:xfrm>
          <a:prstGeom prst="rect">
            <a:avLst/>
          </a:prstGeom>
        </p:spPr>
      </p:pic>
      <p:pic>
        <p:nvPicPr>
          <p:cNvPr id="29" name="Gráfico 28" descr="Tribunal">
            <a:extLst>
              <a:ext uri="{FF2B5EF4-FFF2-40B4-BE49-F238E27FC236}">
                <a16:creationId xmlns:a16="http://schemas.microsoft.com/office/drawing/2014/main" id="{54D08D6C-F627-4BA3-983F-4ADE5E7B9C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7385" y="4239449"/>
            <a:ext cx="626899" cy="626899"/>
          </a:xfrm>
          <a:prstGeom prst="rect">
            <a:avLst/>
          </a:prstGeom>
        </p:spPr>
      </p:pic>
      <p:pic>
        <p:nvPicPr>
          <p:cNvPr id="30" name="Gráfico 29" descr="Tribunal">
            <a:extLst>
              <a:ext uri="{FF2B5EF4-FFF2-40B4-BE49-F238E27FC236}">
                <a16:creationId xmlns:a16="http://schemas.microsoft.com/office/drawing/2014/main" id="{4515450A-5902-4207-9DE3-11348ABDC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8562" y="4256000"/>
            <a:ext cx="626899" cy="626899"/>
          </a:xfrm>
          <a:prstGeom prst="rect">
            <a:avLst/>
          </a:prstGeom>
        </p:spPr>
      </p:pic>
      <p:pic>
        <p:nvPicPr>
          <p:cNvPr id="31" name="Gráfico 30" descr="Tribunal">
            <a:extLst>
              <a:ext uri="{FF2B5EF4-FFF2-40B4-BE49-F238E27FC236}">
                <a16:creationId xmlns:a16="http://schemas.microsoft.com/office/drawing/2014/main" id="{32E91ED9-18D8-4441-A235-568D7D724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2263" y="4505966"/>
            <a:ext cx="626899" cy="626899"/>
          </a:xfrm>
          <a:prstGeom prst="rect">
            <a:avLst/>
          </a:prstGeom>
        </p:spPr>
      </p:pic>
      <p:pic>
        <p:nvPicPr>
          <p:cNvPr id="32" name="Gráfico 31" descr="Tribunal">
            <a:extLst>
              <a:ext uri="{FF2B5EF4-FFF2-40B4-BE49-F238E27FC236}">
                <a16:creationId xmlns:a16="http://schemas.microsoft.com/office/drawing/2014/main" id="{B1D94407-5117-47CD-BB2A-FA52DBFB79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0827" y="4500098"/>
            <a:ext cx="626899" cy="626899"/>
          </a:xfrm>
          <a:prstGeom prst="rect">
            <a:avLst/>
          </a:prstGeom>
        </p:spPr>
      </p:pic>
      <p:pic>
        <p:nvPicPr>
          <p:cNvPr id="33" name="Gráfico 32" descr="Tribunal">
            <a:extLst>
              <a:ext uri="{FF2B5EF4-FFF2-40B4-BE49-F238E27FC236}">
                <a16:creationId xmlns:a16="http://schemas.microsoft.com/office/drawing/2014/main" id="{A3465AF1-5120-47D9-90C6-93F1EC4A2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6545" y="4500486"/>
            <a:ext cx="626899" cy="626899"/>
          </a:xfrm>
          <a:prstGeom prst="rect">
            <a:avLst/>
          </a:prstGeom>
        </p:spPr>
      </p:pic>
      <p:pic>
        <p:nvPicPr>
          <p:cNvPr id="34" name="Gráfico 33" descr="Tribunal">
            <a:extLst>
              <a:ext uri="{FF2B5EF4-FFF2-40B4-BE49-F238E27FC236}">
                <a16:creationId xmlns:a16="http://schemas.microsoft.com/office/drawing/2014/main" id="{FB4C0590-154D-4002-AB5E-964B5D2C7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4284" y="4509120"/>
            <a:ext cx="626899" cy="626899"/>
          </a:xfrm>
          <a:prstGeom prst="rect">
            <a:avLst/>
          </a:prstGeom>
        </p:spPr>
      </p:pic>
      <p:pic>
        <p:nvPicPr>
          <p:cNvPr id="35" name="Gráfico 34" descr="Tribunal">
            <a:extLst>
              <a:ext uri="{FF2B5EF4-FFF2-40B4-BE49-F238E27FC236}">
                <a16:creationId xmlns:a16="http://schemas.microsoft.com/office/drawing/2014/main" id="{4CC3DD90-D698-42F9-A439-5CA6C6CEC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5461" y="4525671"/>
            <a:ext cx="626899" cy="626899"/>
          </a:xfrm>
          <a:prstGeom prst="rect">
            <a:avLst/>
          </a:prstGeom>
        </p:spPr>
      </p:pic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C650BC0B-4BB5-4561-9934-FBC483544166}"/>
              </a:ext>
            </a:extLst>
          </p:cNvPr>
          <p:cNvSpPr/>
          <p:nvPr/>
        </p:nvSpPr>
        <p:spPr>
          <a:xfrm>
            <a:off x="7956376" y="3761056"/>
            <a:ext cx="401838" cy="393407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F860D295-2E23-44B2-85FF-C65ECC9029FA}"/>
              </a:ext>
            </a:extLst>
          </p:cNvPr>
          <p:cNvSpPr/>
          <p:nvPr/>
        </p:nvSpPr>
        <p:spPr>
          <a:xfrm flipH="1">
            <a:off x="7912108" y="4453385"/>
            <a:ext cx="401838" cy="393407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Flecha: a la derecha 36">
            <a:extLst>
              <a:ext uri="{FF2B5EF4-FFF2-40B4-BE49-F238E27FC236}">
                <a16:creationId xmlns:a16="http://schemas.microsoft.com/office/drawing/2014/main" id="{FCF11A89-CA94-40DB-89BD-641C81B2C0BF}"/>
              </a:ext>
            </a:extLst>
          </p:cNvPr>
          <p:cNvSpPr/>
          <p:nvPr/>
        </p:nvSpPr>
        <p:spPr>
          <a:xfrm>
            <a:off x="763652" y="3780612"/>
            <a:ext cx="401838" cy="393407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Flecha: a la derecha 37">
            <a:extLst>
              <a:ext uri="{FF2B5EF4-FFF2-40B4-BE49-F238E27FC236}">
                <a16:creationId xmlns:a16="http://schemas.microsoft.com/office/drawing/2014/main" id="{FCD36C2A-EC80-4A9E-9161-1D69DB143A28}"/>
              </a:ext>
            </a:extLst>
          </p:cNvPr>
          <p:cNvSpPr/>
          <p:nvPr/>
        </p:nvSpPr>
        <p:spPr>
          <a:xfrm flipH="1">
            <a:off x="719384" y="4472941"/>
            <a:ext cx="401838" cy="393407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8E96528-62FB-403E-A091-EB815D7A9CF3}"/>
              </a:ext>
            </a:extLst>
          </p:cNvPr>
          <p:cNvSpPr txBox="1"/>
          <p:nvPr/>
        </p:nvSpPr>
        <p:spPr>
          <a:xfrm>
            <a:off x="2411760" y="718280"/>
            <a:ext cx="3672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NUEVAS REGLAS DEL JUEGO BANCARIO</a:t>
            </a:r>
          </a:p>
        </p:txBody>
      </p:sp>
    </p:spTree>
    <p:extLst>
      <p:ext uri="{BB962C8B-B14F-4D97-AF65-F5344CB8AC3E}">
        <p14:creationId xmlns:p14="http://schemas.microsoft.com/office/powerpoint/2010/main" val="16023659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1F448470-B7FA-47B4-90EE-D151F698C6F8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5B4C1F1A-83F5-4246-B0D9-28B08B153AFA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de </a:t>
            </a:r>
          </a:p>
          <a:p>
            <a:pPr algn="ctr"/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Bcos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Garant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DA405E3-39BE-46AF-BC33-DC77368180EC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1887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B31356-8502-4949-848F-FFEED5F38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522497"/>
            <a:ext cx="3563774" cy="482326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BF310EF-A114-448C-83CC-0A2A440B0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556" y="1419524"/>
            <a:ext cx="3333358" cy="525055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2645B65-0BCC-4662-9493-EB4EEA742092}"/>
              </a:ext>
            </a:extLst>
          </p:cNvPr>
          <p:cNvSpPr txBox="1"/>
          <p:nvPr/>
        </p:nvSpPr>
        <p:spPr>
          <a:xfrm>
            <a:off x="7838865" y="5751151"/>
            <a:ext cx="7152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6000" dirty="0">
                <a:solidFill>
                  <a:schemeClr val="accent5">
                    <a:lumMod val="5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4152329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1F448470-B7FA-47B4-90EE-D151F698C6F8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5B4C1F1A-83F5-4246-B0D9-28B08B153AFA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de </a:t>
            </a:r>
          </a:p>
          <a:p>
            <a:pPr algn="ctr"/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Bcos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Garant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DA405E3-39BE-46AF-BC33-DC77368180EC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1887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93C88482-E2E9-4810-AABD-220283AABB17}"/>
              </a:ext>
            </a:extLst>
          </p:cNvPr>
          <p:cNvSpPr/>
          <p:nvPr/>
        </p:nvSpPr>
        <p:spPr>
          <a:xfrm rot="20912893">
            <a:off x="180707" y="799117"/>
            <a:ext cx="2230204" cy="809188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Ley 3 nov de 1887</a:t>
            </a:r>
            <a:endParaRPr lang="es-ES" sz="24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631B8A2-EE55-4EA3-85F1-6A39AEFFF8B1}"/>
              </a:ext>
            </a:extLst>
          </p:cNvPr>
          <p:cNvSpPr/>
          <p:nvPr/>
        </p:nvSpPr>
        <p:spPr>
          <a:xfrm>
            <a:off x="395746" y="2819212"/>
            <a:ext cx="9144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Capital mínimo </a:t>
            </a:r>
            <a:endParaRPr lang="es-A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5" name="Gráfico 4" descr="Tribunal">
            <a:extLst>
              <a:ext uri="{FF2B5EF4-FFF2-40B4-BE49-F238E27FC236}">
                <a16:creationId xmlns:a16="http://schemas.microsoft.com/office/drawing/2014/main" id="{A0C553DC-0274-4FE8-95C9-530F9174D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536" y="1984602"/>
            <a:ext cx="914400" cy="9144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0455FF7-79AB-4C2E-986C-0A7BE64C6956}"/>
              </a:ext>
            </a:extLst>
          </p:cNvPr>
          <p:cNvSpPr/>
          <p:nvPr/>
        </p:nvSpPr>
        <p:spPr>
          <a:xfrm>
            <a:off x="1278519" y="2825641"/>
            <a:ext cx="168187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Fondos públicos nacionales (respaldo de billetes)</a:t>
            </a:r>
            <a:endParaRPr lang="es-A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8" name="Gráfico 7" descr="Contrato">
            <a:extLst>
              <a:ext uri="{FF2B5EF4-FFF2-40B4-BE49-F238E27FC236}">
                <a16:creationId xmlns:a16="http://schemas.microsoft.com/office/drawing/2014/main" id="{25190E3C-0337-404D-9D70-37C34C11F6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9172" y="1995848"/>
            <a:ext cx="914400" cy="914400"/>
          </a:xfrm>
          <a:prstGeom prst="rect">
            <a:avLst/>
          </a:prstGeom>
        </p:spPr>
      </p:pic>
      <p:pic>
        <p:nvPicPr>
          <p:cNvPr id="13" name="Gráfico 12" descr="Dinero">
            <a:extLst>
              <a:ext uri="{FF2B5EF4-FFF2-40B4-BE49-F238E27FC236}">
                <a16:creationId xmlns:a16="http://schemas.microsoft.com/office/drawing/2014/main" id="{073C59CA-5F8C-4AF9-9B7E-2F6D6C785A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02529" y="1944123"/>
            <a:ext cx="914400" cy="914400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34DE6D37-4B30-4425-904E-C6EB7A9757F7}"/>
              </a:ext>
            </a:extLst>
          </p:cNvPr>
          <p:cNvSpPr/>
          <p:nvPr/>
        </p:nvSpPr>
        <p:spPr>
          <a:xfrm>
            <a:off x="2847605" y="2821690"/>
            <a:ext cx="18202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Emisión de billetes sería limitada al 90% del capital realizado </a:t>
            </a:r>
            <a:endParaRPr lang="es-AR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0" name="Gráfico 19" descr="Banco">
            <a:extLst>
              <a:ext uri="{FF2B5EF4-FFF2-40B4-BE49-F238E27FC236}">
                <a16:creationId xmlns:a16="http://schemas.microsoft.com/office/drawing/2014/main" id="{4789041D-3F97-4175-B949-66EC612ADD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6411" y="4545196"/>
            <a:ext cx="914400" cy="914400"/>
          </a:xfrm>
          <a:prstGeom prst="rect">
            <a:avLst/>
          </a:prstGeom>
        </p:spPr>
      </p:pic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A155A803-4A93-48B9-B488-0F9C84D641EC}"/>
              </a:ext>
            </a:extLst>
          </p:cNvPr>
          <p:cNvSpPr/>
          <p:nvPr/>
        </p:nvSpPr>
        <p:spPr>
          <a:xfrm>
            <a:off x="1648802" y="4848081"/>
            <a:ext cx="862043" cy="484632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2" name="Gráfico 21" descr="Dinero">
            <a:extLst>
              <a:ext uri="{FF2B5EF4-FFF2-40B4-BE49-F238E27FC236}">
                <a16:creationId xmlns:a16="http://schemas.microsoft.com/office/drawing/2014/main" id="{F6F38EA7-6A87-416A-9E3B-42F69CCA7D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48803" y="4437112"/>
            <a:ext cx="597473" cy="597473"/>
          </a:xfrm>
          <a:prstGeom prst="rect">
            <a:avLst/>
          </a:prstGeom>
        </p:spPr>
      </p:pic>
      <p:pic>
        <p:nvPicPr>
          <p:cNvPr id="23" name="Gráfico 22" descr="Tribunal">
            <a:extLst>
              <a:ext uri="{FF2B5EF4-FFF2-40B4-BE49-F238E27FC236}">
                <a16:creationId xmlns:a16="http://schemas.microsoft.com/office/drawing/2014/main" id="{33AB26A5-63E3-46C9-80EC-16F2D98A2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4481" y="4537608"/>
            <a:ext cx="914400" cy="91440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1B4C47EB-B957-4C8B-98D6-10A35C11E8C8}"/>
              </a:ext>
            </a:extLst>
          </p:cNvPr>
          <p:cNvSpPr/>
          <p:nvPr/>
        </p:nvSpPr>
        <p:spPr>
          <a:xfrm>
            <a:off x="869788" y="5454517"/>
            <a:ext cx="23464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Oficina Inspectora entregaría al banco billetes.</a:t>
            </a:r>
            <a:endParaRPr lang="es-AR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5" name="Gráfico 24" descr="Contrato">
            <a:extLst>
              <a:ext uri="{FF2B5EF4-FFF2-40B4-BE49-F238E27FC236}">
                <a16:creationId xmlns:a16="http://schemas.microsoft.com/office/drawing/2014/main" id="{5B7BB9DE-7991-4A96-9468-B5F8D35871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6809" y="4541352"/>
            <a:ext cx="914400" cy="914400"/>
          </a:xfrm>
          <a:prstGeom prst="rect">
            <a:avLst/>
          </a:prstGeom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5A8C694B-E800-4DAE-93B9-4BEDAB5ABEE2}"/>
              </a:ext>
            </a:extLst>
          </p:cNvPr>
          <p:cNvSpPr/>
          <p:nvPr/>
        </p:nvSpPr>
        <p:spPr>
          <a:xfrm>
            <a:off x="5450200" y="4263479"/>
            <a:ext cx="7076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1</a:t>
            </a:r>
            <a:endParaRPr lang="es-AR" sz="2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8" name="Gráfico 27" descr="Monedas">
            <a:extLst>
              <a:ext uri="{FF2B5EF4-FFF2-40B4-BE49-F238E27FC236}">
                <a16:creationId xmlns:a16="http://schemas.microsoft.com/office/drawing/2014/main" id="{BFC3636F-C498-47CE-ABA2-9E42D6EC06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34617" y="4583580"/>
            <a:ext cx="914400" cy="914400"/>
          </a:xfrm>
          <a:prstGeom prst="rect">
            <a:avLst/>
          </a:prstGeom>
        </p:spPr>
      </p:pic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CDA3FE02-B9FE-4B39-9737-B4297D268A07}"/>
              </a:ext>
            </a:extLst>
          </p:cNvPr>
          <p:cNvSpPr/>
          <p:nvPr/>
        </p:nvSpPr>
        <p:spPr>
          <a:xfrm>
            <a:off x="4833054" y="4798464"/>
            <a:ext cx="670515" cy="484632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0CEC173-7537-40A9-809C-E6746078FFEC}"/>
              </a:ext>
            </a:extLst>
          </p:cNvPr>
          <p:cNvSpPr/>
          <p:nvPr/>
        </p:nvSpPr>
        <p:spPr>
          <a:xfrm>
            <a:off x="3844420" y="5444758"/>
            <a:ext cx="25014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Títulos: emitidos especialmente con este propósito, pagados con oro; garantía de la emisión de billetes.</a:t>
            </a:r>
            <a:endParaRPr lang="es-AR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1" name="Gráfico 30" descr="Contrato">
            <a:extLst>
              <a:ext uri="{FF2B5EF4-FFF2-40B4-BE49-F238E27FC236}">
                <a16:creationId xmlns:a16="http://schemas.microsoft.com/office/drawing/2014/main" id="{015E1AD2-D1DB-4AF2-ADFC-87961A1402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2793" y="4541352"/>
            <a:ext cx="914400" cy="914400"/>
          </a:xfrm>
          <a:prstGeom prst="rect">
            <a:avLst/>
          </a:prstGeom>
        </p:spPr>
      </p:pic>
      <p:sp>
        <p:nvSpPr>
          <p:cNvPr id="32" name="Rectángulo 31">
            <a:extLst>
              <a:ext uri="{FF2B5EF4-FFF2-40B4-BE49-F238E27FC236}">
                <a16:creationId xmlns:a16="http://schemas.microsoft.com/office/drawing/2014/main" id="{51D2E40B-4FA2-48D0-9DD1-77318EC955A8}"/>
              </a:ext>
            </a:extLst>
          </p:cNvPr>
          <p:cNvSpPr/>
          <p:nvPr/>
        </p:nvSpPr>
        <p:spPr>
          <a:xfrm>
            <a:off x="7443330" y="4671369"/>
            <a:ext cx="7076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$</a:t>
            </a:r>
            <a:endParaRPr lang="es-AR" sz="3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CC0CC9F-E1A1-414E-984B-4452B2FFC697}"/>
              </a:ext>
            </a:extLst>
          </p:cNvPr>
          <p:cNvSpPr/>
          <p:nvPr/>
        </p:nvSpPr>
        <p:spPr>
          <a:xfrm>
            <a:off x="6631324" y="5441362"/>
            <a:ext cx="141604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títulos gozarían de un interés del 4,5% </a:t>
            </a:r>
            <a:endParaRPr lang="es-AR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4" name="Gráfico 33" descr="Monedas">
            <a:extLst>
              <a:ext uri="{FF2B5EF4-FFF2-40B4-BE49-F238E27FC236}">
                <a16:creationId xmlns:a16="http://schemas.microsoft.com/office/drawing/2014/main" id="{BF59EE0A-2D38-4FE8-892E-D8BD21E0E69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54241" y="1944123"/>
            <a:ext cx="914400" cy="914400"/>
          </a:xfrm>
          <a:prstGeom prst="rect">
            <a:avLst/>
          </a:prstGeom>
        </p:spPr>
      </p:pic>
      <p:pic>
        <p:nvPicPr>
          <p:cNvPr id="35" name="Gráfico 34" descr="Tribunal">
            <a:extLst>
              <a:ext uri="{FF2B5EF4-FFF2-40B4-BE49-F238E27FC236}">
                <a16:creationId xmlns:a16="http://schemas.microsoft.com/office/drawing/2014/main" id="{AF160E6D-E2B3-403E-9AD0-67D8AFE9C7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54883" y="1956252"/>
            <a:ext cx="914400" cy="914400"/>
          </a:xfrm>
          <a:prstGeom prst="rect">
            <a:avLst/>
          </a:prstGeom>
        </p:spPr>
      </p:pic>
      <p:sp>
        <p:nvSpPr>
          <p:cNvPr id="36" name="Rectángulo 35">
            <a:extLst>
              <a:ext uri="{FF2B5EF4-FFF2-40B4-BE49-F238E27FC236}">
                <a16:creationId xmlns:a16="http://schemas.microsoft.com/office/drawing/2014/main" id="{E83EE020-BE1F-4CF0-B92E-5A2D4D5EE688}"/>
              </a:ext>
            </a:extLst>
          </p:cNvPr>
          <p:cNvSpPr/>
          <p:nvPr/>
        </p:nvSpPr>
        <p:spPr>
          <a:xfrm>
            <a:off x="4758393" y="2808107"/>
            <a:ext cx="2291568" cy="1200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600"/>
              </a:spcAft>
            </a:pPr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Los bancos emisores deberían mantener una reserva de oro; podría ser movilizada</a:t>
            </a:r>
            <a:endParaRPr lang="es-AR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7" name="Gráfico 36" descr="Dinero">
            <a:extLst>
              <a:ext uri="{FF2B5EF4-FFF2-40B4-BE49-F238E27FC236}">
                <a16:creationId xmlns:a16="http://schemas.microsoft.com/office/drawing/2014/main" id="{C3876C74-D923-4C69-AF0D-701A242ABB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04464" y="2018542"/>
            <a:ext cx="914400" cy="914400"/>
          </a:xfrm>
          <a:prstGeom prst="rect">
            <a:avLst/>
          </a:prstGeom>
        </p:spPr>
      </p:pic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B5AF7FAE-5E1B-42E5-BE2F-1F4D545E938F}"/>
              </a:ext>
            </a:extLst>
          </p:cNvPr>
          <p:cNvCxnSpPr/>
          <p:nvPr/>
        </p:nvCxnSpPr>
        <p:spPr>
          <a:xfrm>
            <a:off x="7508086" y="1984602"/>
            <a:ext cx="921502" cy="0"/>
          </a:xfrm>
          <a:prstGeom prst="line">
            <a:avLst/>
          </a:prstGeom>
          <a:ln w="762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39EF5544-412A-4559-97E3-1397ED17CBD9}"/>
              </a:ext>
            </a:extLst>
          </p:cNvPr>
          <p:cNvSpPr/>
          <p:nvPr/>
        </p:nvSpPr>
        <p:spPr>
          <a:xfrm>
            <a:off x="7120215" y="2794036"/>
            <a:ext cx="173702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Emisión limitada a 40 millones de pesos para nuevos bancos</a:t>
            </a:r>
            <a:endParaRPr lang="es-AR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8449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 redondeado"/>
          <p:cNvSpPr/>
          <p:nvPr/>
        </p:nvSpPr>
        <p:spPr>
          <a:xfrm>
            <a:off x="928662" y="1745090"/>
            <a:ext cx="7215238" cy="68377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Banca Libre</a:t>
            </a:r>
            <a:endParaRPr lang="es-ES" sz="28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11 Imagen" descr="100p_bng banco frances 18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2" y="3571876"/>
            <a:ext cx="2928958" cy="13277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pic>
        <p:nvPicPr>
          <p:cNvPr id="13" name="12 Imagen" descr="bng 1888 bco na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050" y="2714620"/>
            <a:ext cx="3143272" cy="14354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14" name="13 Rectángulo"/>
          <p:cNvSpPr/>
          <p:nvPr/>
        </p:nvSpPr>
        <p:spPr>
          <a:xfrm>
            <a:off x="2786050" y="4150048"/>
            <a:ext cx="2793779" cy="2857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4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Banco Nacional 1888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6047167" y="4896153"/>
            <a:ext cx="2453923" cy="50234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Banco Frances del Río de la Plata 1888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7" name="16 Imagen" descr="200p_bng italia 188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364" y="4786322"/>
            <a:ext cx="3000396" cy="14301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18" name="17 Rectángulo"/>
          <p:cNvSpPr/>
          <p:nvPr/>
        </p:nvSpPr>
        <p:spPr>
          <a:xfrm>
            <a:off x="3014432" y="6216510"/>
            <a:ext cx="2986328" cy="52485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Banco de Italia  y Río de la Plata 1888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18 Rectángulo"/>
          <p:cNvSpPr/>
          <p:nvPr/>
        </p:nvSpPr>
        <p:spPr>
          <a:xfrm>
            <a:off x="428596" y="2714619"/>
            <a:ext cx="1857388" cy="402674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Podían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emitir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tanto </a:t>
            </a:r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ancos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públicos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privados, que </a:t>
            </a:r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cumplieran</a:t>
            </a:r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los </a:t>
            </a:r>
            <a:r>
              <a:rPr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requisitos</a:t>
            </a:r>
            <a:endParaRPr lang="es-ES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C3D2FA4-A7C0-48AA-B5F6-2439258E7826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1C28956-307F-4843-9A90-B99746343977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de </a:t>
            </a:r>
          </a:p>
          <a:p>
            <a:pPr algn="ctr"/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Bcos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Garant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D28AC9F4-86F5-4605-97F2-7B1E8A7693C8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1887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1B2CD35-6F56-4D26-8A98-A16F2E9C1AFF}"/>
              </a:ext>
            </a:extLst>
          </p:cNvPr>
          <p:cNvSpPr/>
          <p:nvPr/>
        </p:nvSpPr>
        <p:spPr>
          <a:xfrm rot="20912893">
            <a:off x="180707" y="799117"/>
            <a:ext cx="2230204" cy="809188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Ley 3 nov de 1887</a:t>
            </a:r>
            <a:endParaRPr lang="es-ES" sz="24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3659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12 Imagen" descr="bng 1888 bco na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61" y="2553485"/>
            <a:ext cx="7095677" cy="3240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14" name="13 Rectángulo"/>
          <p:cNvSpPr/>
          <p:nvPr/>
        </p:nvSpPr>
        <p:spPr>
          <a:xfrm>
            <a:off x="395536" y="2300024"/>
            <a:ext cx="2793779" cy="28575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400" b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Banco Nacional 1888</a:t>
            </a:r>
            <a:endParaRPr lang="es-ES" sz="14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C3D2FA4-A7C0-48AA-B5F6-2439258E7826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71C28956-307F-4843-9A90-B99746343977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de </a:t>
            </a:r>
          </a:p>
          <a:p>
            <a:pPr algn="ctr"/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Bcos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Garant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D28AC9F4-86F5-4605-97F2-7B1E8A7693C8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1887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7879E8E-DA68-4147-809A-D1982A38D22E}"/>
              </a:ext>
            </a:extLst>
          </p:cNvPr>
          <p:cNvSpPr/>
          <p:nvPr/>
        </p:nvSpPr>
        <p:spPr>
          <a:xfrm>
            <a:off x="3347864" y="4797153"/>
            <a:ext cx="2232248" cy="1856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B4422D1-3582-48E0-8625-2CD516817DF8}"/>
              </a:ext>
            </a:extLst>
          </p:cNvPr>
          <p:cNvSpPr txBox="1"/>
          <p:nvPr/>
        </p:nvSpPr>
        <p:spPr>
          <a:xfrm>
            <a:off x="6273187" y="6037604"/>
            <a:ext cx="1285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“MONEDA </a:t>
            </a:r>
          </a:p>
          <a:p>
            <a:pPr algn="ctr"/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NACIONAL”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CA17FD08-EFA1-4A57-BA93-E0834ADCB52A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4463988" y="4982801"/>
            <a:ext cx="2452100" cy="1054803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459552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Flecha abajo"/>
          <p:cNvSpPr/>
          <p:nvPr/>
        </p:nvSpPr>
        <p:spPr>
          <a:xfrm>
            <a:off x="546489" y="987930"/>
            <a:ext cx="3924530" cy="1360950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Rendimiento de la emisión para el banco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983A26A-ADF7-4166-8271-CB8F6BF2D67D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CF6447CA-9754-49CD-B084-837241BA7F2C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de </a:t>
            </a:r>
          </a:p>
          <a:p>
            <a:pPr algn="ctr"/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Bcos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Garant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A54E112-D42D-4990-8D0E-FBB9DE559DC0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1887</a:t>
            </a:r>
          </a:p>
        </p:txBody>
      </p:sp>
      <p:graphicFrame>
        <p:nvGraphicFramePr>
          <p:cNvPr id="16" name="9 Tabla">
            <a:extLst>
              <a:ext uri="{FF2B5EF4-FFF2-40B4-BE49-F238E27FC236}">
                <a16:creationId xmlns:a16="http://schemas.microsoft.com/office/drawing/2014/main" id="{F1D7B676-464D-4314-8844-EFBDFA514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877403"/>
              </p:ext>
            </p:extLst>
          </p:nvPr>
        </p:nvGraphicFramePr>
        <p:xfrm>
          <a:off x="5882612" y="2892215"/>
          <a:ext cx="2547040" cy="1758824"/>
        </p:xfrm>
        <a:graphic>
          <a:graphicData uri="http://schemas.openxmlformats.org/drawingml/2006/table">
            <a:tbl>
              <a:tblPr/>
              <a:tblGrid>
                <a:gridCol w="864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910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Activos</a:t>
                      </a:r>
                      <a:endParaRPr lang="es-ES" sz="1400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-Bonos Oro Nacional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-Reservas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-Créditos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Pasivos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-Billetes en Circulación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-Depósitos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12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Capital Propio</a:t>
                      </a:r>
                      <a:endParaRPr lang="es-ES" sz="16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-Capital Realizado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-Fondos de Reservas</a:t>
                      </a:r>
                      <a:endParaRPr lang="es-ES" sz="14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16 Flecha abajo">
            <a:extLst>
              <a:ext uri="{FF2B5EF4-FFF2-40B4-BE49-F238E27FC236}">
                <a16:creationId xmlns:a16="http://schemas.microsoft.com/office/drawing/2014/main" id="{BB24DDFE-7832-4440-B838-33D0372A19FF}"/>
              </a:ext>
            </a:extLst>
          </p:cNvPr>
          <p:cNvSpPr/>
          <p:nvPr/>
        </p:nvSpPr>
        <p:spPr>
          <a:xfrm>
            <a:off x="5869540" y="1936141"/>
            <a:ext cx="2560112" cy="919736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Balance simplificado Bco. Emisión</a:t>
            </a:r>
          </a:p>
        </p:txBody>
      </p:sp>
      <p:sp>
        <p:nvSpPr>
          <p:cNvPr id="23" name="12 Rectángulo redondeado">
            <a:extLst>
              <a:ext uri="{FF2B5EF4-FFF2-40B4-BE49-F238E27FC236}">
                <a16:creationId xmlns:a16="http://schemas.microsoft.com/office/drawing/2014/main" id="{1A4A4C08-4CC4-4A9E-85F2-AA8435ED2DEE}"/>
              </a:ext>
            </a:extLst>
          </p:cNvPr>
          <p:cNvSpPr/>
          <p:nvPr/>
        </p:nvSpPr>
        <p:spPr>
          <a:xfrm>
            <a:off x="546489" y="2396009"/>
            <a:ext cx="3924530" cy="70627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r</a:t>
            </a:r>
            <a:r>
              <a:rPr sz="2800" b="1" baseline="-30000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B</a:t>
            </a:r>
            <a:r>
              <a:rPr sz="28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 = </a:t>
            </a:r>
            <a:r>
              <a:rPr lang="es-AR" sz="28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K + </a:t>
            </a:r>
            <a:r>
              <a:rPr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i</a:t>
            </a:r>
            <a:r>
              <a:rPr lang="es-AR" sz="28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 0,90</a:t>
            </a:r>
            <a:r>
              <a:rPr sz="28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B – </a:t>
            </a:r>
            <a:r>
              <a:rPr lang="es-AR" sz="28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iT</a:t>
            </a:r>
            <a:r>
              <a:rPr sz="28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  </a:t>
            </a:r>
            <a:endParaRPr sz="28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12 Rectángulo redondeado">
            <a:extLst>
              <a:ext uri="{FF2B5EF4-FFF2-40B4-BE49-F238E27FC236}">
                <a16:creationId xmlns:a16="http://schemas.microsoft.com/office/drawing/2014/main" id="{A0CC5DB7-AF1E-4233-869B-46690E62BBB9}"/>
              </a:ext>
            </a:extLst>
          </p:cNvPr>
          <p:cNvSpPr/>
          <p:nvPr/>
        </p:nvSpPr>
        <p:spPr>
          <a:xfrm>
            <a:off x="538852" y="3201017"/>
            <a:ext cx="3924529" cy="1242233"/>
          </a:xfrm>
          <a:prstGeom prst="roundRect">
            <a:avLst>
              <a:gd name="adj" fmla="val 98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05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Siendo: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050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rB</a:t>
            </a:r>
            <a:r>
              <a:rPr lang="es-ES" sz="105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 = rendimiento de la emisión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05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K = pago anual de interés de los bonos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05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i = tasa de retorno de activos alternativos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05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B = monto de la emisión de pesos papel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05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 pitchFamily="34" charset="0"/>
                <a:cs typeface="Arial" pitchFamily="34" charset="0"/>
              </a:rPr>
              <a:t>T = valor en pesos papel de los bonos oro nacional</a:t>
            </a:r>
          </a:p>
        </p:txBody>
      </p:sp>
      <p:sp>
        <p:nvSpPr>
          <p:cNvPr id="12" name="8 Rectángulo redondeado">
            <a:extLst>
              <a:ext uri="{FF2B5EF4-FFF2-40B4-BE49-F238E27FC236}">
                <a16:creationId xmlns:a16="http://schemas.microsoft.com/office/drawing/2014/main" id="{496DB6C9-7214-4773-9EB3-D36CFE90FDD2}"/>
              </a:ext>
            </a:extLst>
          </p:cNvPr>
          <p:cNvSpPr/>
          <p:nvPr/>
        </p:nvSpPr>
        <p:spPr>
          <a:xfrm>
            <a:off x="663999" y="4671079"/>
            <a:ext cx="3674234" cy="61313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Diseño inspirado en la </a:t>
            </a:r>
            <a:r>
              <a:rPr lang="es-ES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National</a:t>
            </a:r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Currency</a:t>
            </a:r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Act</a:t>
            </a:r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(Feb 1862) de EE.UU. </a:t>
            </a:r>
          </a:p>
        </p:txBody>
      </p:sp>
      <p:sp>
        <p:nvSpPr>
          <p:cNvPr id="17" name="8 Rectángulo redondeado">
            <a:extLst>
              <a:ext uri="{FF2B5EF4-FFF2-40B4-BE49-F238E27FC236}">
                <a16:creationId xmlns:a16="http://schemas.microsoft.com/office/drawing/2014/main" id="{AA8A3911-9361-4CE5-BE48-BB31ADDA3990}"/>
              </a:ext>
            </a:extLst>
          </p:cNvPr>
          <p:cNvSpPr/>
          <p:nvPr/>
        </p:nvSpPr>
        <p:spPr>
          <a:xfrm>
            <a:off x="1029587" y="5758426"/>
            <a:ext cx="2943057" cy="47888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DOS DIFERENCIAS</a:t>
            </a:r>
          </a:p>
        </p:txBody>
      </p:sp>
      <p:cxnSp>
        <p:nvCxnSpPr>
          <p:cNvPr id="3" name="Conector: angular 2">
            <a:extLst>
              <a:ext uri="{FF2B5EF4-FFF2-40B4-BE49-F238E27FC236}">
                <a16:creationId xmlns:a16="http://schemas.microsoft.com/office/drawing/2014/main" id="{8A9FDB07-51AE-41A4-AE8C-06D6A53C119D}"/>
              </a:ext>
            </a:extLst>
          </p:cNvPr>
          <p:cNvCxnSpPr>
            <a:cxnSpLocks/>
            <a:stCxn id="12" idx="1"/>
            <a:endCxn id="17" idx="1"/>
          </p:cNvCxnSpPr>
          <p:nvPr/>
        </p:nvCxnSpPr>
        <p:spPr>
          <a:xfrm rot="10800000" flipH="1" flipV="1">
            <a:off x="663999" y="4977647"/>
            <a:ext cx="365588" cy="1020222"/>
          </a:xfrm>
          <a:prstGeom prst="bentConnector3">
            <a:avLst>
              <a:gd name="adj1" fmla="val -62529"/>
            </a:avLst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8 Rectángulo redondeado">
            <a:extLst>
              <a:ext uri="{FF2B5EF4-FFF2-40B4-BE49-F238E27FC236}">
                <a16:creationId xmlns:a16="http://schemas.microsoft.com/office/drawing/2014/main" id="{12F18D4A-6B60-4F5C-8E43-05717AD937F1}"/>
              </a:ext>
            </a:extLst>
          </p:cNvPr>
          <p:cNvSpPr/>
          <p:nvPr/>
        </p:nvSpPr>
        <p:spPr>
          <a:xfrm>
            <a:off x="4975383" y="5328592"/>
            <a:ext cx="4047045" cy="62068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Bonos especialmente creados para respaldar nuevas emisiones. </a:t>
            </a:r>
          </a:p>
        </p:txBody>
      </p:sp>
      <p:sp>
        <p:nvSpPr>
          <p:cNvPr id="20" name="8 Rectángulo redondeado">
            <a:extLst>
              <a:ext uri="{FF2B5EF4-FFF2-40B4-BE49-F238E27FC236}">
                <a16:creationId xmlns:a16="http://schemas.microsoft.com/office/drawing/2014/main" id="{EEB25369-C4A2-4205-BABE-39B00CF655ED}"/>
              </a:ext>
            </a:extLst>
          </p:cNvPr>
          <p:cNvSpPr/>
          <p:nvPr/>
        </p:nvSpPr>
        <p:spPr>
          <a:xfrm>
            <a:off x="4967673" y="6009863"/>
            <a:ext cx="4068824" cy="62068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“Patrón oro de mano única”</a:t>
            </a:r>
          </a:p>
        </p:txBody>
      </p: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20FD57CF-7D6C-4CE3-93B6-71A250545E59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3972644" y="5638936"/>
            <a:ext cx="1002739" cy="358933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F0AC556F-93EC-4D9B-9F46-06F2E1480826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3972644" y="5997869"/>
            <a:ext cx="995029" cy="322338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6B9BBCA6-44D7-4AB9-92BB-C8710191141B}"/>
              </a:ext>
            </a:extLst>
          </p:cNvPr>
          <p:cNvSpPr/>
          <p:nvPr/>
        </p:nvSpPr>
        <p:spPr>
          <a:xfrm rot="5400000">
            <a:off x="5470505" y="3386424"/>
            <a:ext cx="798069" cy="294011"/>
          </a:xfrm>
          <a:prstGeom prst="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8811152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 redondeado"/>
          <p:cNvSpPr/>
          <p:nvPr/>
        </p:nvSpPr>
        <p:spPr>
          <a:xfrm>
            <a:off x="642801" y="5733256"/>
            <a:ext cx="7757483" cy="52305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Incremento de la emisión del 73% en un año</a:t>
            </a:r>
            <a:endParaRPr sz="28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itchFamily="2" charset="2"/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3505876" y="3975028"/>
            <a:ext cx="4894409" cy="1254172"/>
          </a:xfrm>
          <a:prstGeom prst="roundRect">
            <a:avLst>
              <a:gd name="adj" fmla="val 4466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</a:rPr>
              <a:t>Bancos recibían </a:t>
            </a:r>
            <a:r>
              <a:rPr lang="es-AR" sz="1600" dirty="0">
                <a:solidFill>
                  <a:schemeClr val="accent1">
                    <a:lumMod val="50000"/>
                  </a:schemeClr>
                </a:solidFill>
              </a:rPr>
              <a:t>por bonos nacionales: i= 4,5%</a:t>
            </a:r>
          </a:p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</a:rPr>
              <a:t>Bancos pagaban </a:t>
            </a:r>
            <a:r>
              <a:rPr lang="es-AR" sz="1600" dirty="0">
                <a:solidFill>
                  <a:schemeClr val="accent1">
                    <a:lumMod val="50000"/>
                  </a:schemeClr>
                </a:solidFill>
              </a:rPr>
              <a:t>por préstamos extranjeros: i*=6%</a:t>
            </a:r>
          </a:p>
          <a:p>
            <a:r>
              <a:rPr lang="es-AR" sz="1600" dirty="0">
                <a:solidFill>
                  <a:schemeClr val="accent1">
                    <a:lumMod val="50000"/>
                  </a:schemeClr>
                </a:solidFill>
              </a:rPr>
              <a:t>Los </a:t>
            </a:r>
            <a:r>
              <a:rPr lang="es-AR" sz="1600" b="1" dirty="0">
                <a:solidFill>
                  <a:schemeClr val="accent1">
                    <a:lumMod val="50000"/>
                  </a:schemeClr>
                </a:solidFill>
              </a:rPr>
              <a:t>Bancos obtenían </a:t>
            </a:r>
            <a:r>
              <a:rPr lang="es-AR" sz="1600" dirty="0">
                <a:solidFill>
                  <a:schemeClr val="accent1">
                    <a:lumMod val="50000"/>
                  </a:schemeClr>
                </a:solidFill>
              </a:rPr>
              <a:t>interés por los créditos (en billetes)</a:t>
            </a:r>
          </a:p>
          <a:p>
            <a:r>
              <a:rPr lang="es-AR" sz="1600" b="1" dirty="0">
                <a:solidFill>
                  <a:schemeClr val="accent1">
                    <a:lumMod val="50000"/>
                  </a:schemeClr>
                </a:solidFill>
              </a:rPr>
              <a:t>No pagaban </a:t>
            </a:r>
            <a:r>
              <a:rPr lang="es-AR" sz="1600" dirty="0">
                <a:solidFill>
                  <a:schemeClr val="accent1">
                    <a:lumMod val="50000"/>
                  </a:schemeClr>
                </a:solidFill>
              </a:rPr>
              <a:t>interés por su deuda (los mismos billetes)</a:t>
            </a:r>
          </a:p>
        </p:txBody>
      </p:sp>
      <p:sp>
        <p:nvSpPr>
          <p:cNvPr id="21" name="20 Rectángulo redondeado"/>
          <p:cNvSpPr/>
          <p:nvPr/>
        </p:nvSpPr>
        <p:spPr>
          <a:xfrm>
            <a:off x="611560" y="3975027"/>
            <a:ext cx="2945078" cy="1254163"/>
          </a:xfrm>
          <a:prstGeom prst="roundRect">
            <a:avLst>
              <a:gd name="adj" fmla="val 10759"/>
            </a:avLst>
          </a:prstGeom>
          <a:solidFill>
            <a:schemeClr val="accent5">
              <a:lumMod val="5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Surgimiento de una operación de arbitraje</a:t>
            </a:r>
            <a:endParaRPr lang="es-AR" sz="20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6CCC004-8EF1-4351-8D12-552F1BEB587F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 EN EL S. XIX</a:t>
            </a: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0FA50F1F-FC54-477F-84B1-A0C06525A2E6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de </a:t>
            </a:r>
          </a:p>
          <a:p>
            <a:pPr algn="ctr"/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Bcos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6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Garant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F3714FD4-E035-4879-A62A-7EC3B200490B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1887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E939333-FD53-414E-B5EE-9935490390A3}"/>
              </a:ext>
            </a:extLst>
          </p:cNvPr>
          <p:cNvCxnSpPr>
            <a:cxnSpLocks/>
          </p:cNvCxnSpPr>
          <p:nvPr/>
        </p:nvCxnSpPr>
        <p:spPr>
          <a:xfrm>
            <a:off x="593181" y="3146238"/>
            <a:ext cx="792088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0FFF6C1A-4906-4259-B74E-1E2986B425B9}"/>
              </a:ext>
            </a:extLst>
          </p:cNvPr>
          <p:cNvCxnSpPr/>
          <p:nvPr/>
        </p:nvCxnSpPr>
        <p:spPr>
          <a:xfrm>
            <a:off x="837099" y="2930214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E73F951-F860-44A5-B7B7-885C41890509}"/>
              </a:ext>
            </a:extLst>
          </p:cNvPr>
          <p:cNvSpPr txBox="1"/>
          <p:nvPr/>
        </p:nvSpPr>
        <p:spPr>
          <a:xfrm>
            <a:off x="502870" y="333930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1887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46D0C749-D6FE-412D-89EE-1278D95790B4}"/>
              </a:ext>
            </a:extLst>
          </p:cNvPr>
          <p:cNvCxnSpPr/>
          <p:nvPr/>
        </p:nvCxnSpPr>
        <p:spPr>
          <a:xfrm>
            <a:off x="2749968" y="2930214"/>
            <a:ext cx="0" cy="432048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859114B-0373-42BF-8786-AB9812FA2325}"/>
              </a:ext>
            </a:extLst>
          </p:cNvPr>
          <p:cNvSpPr txBox="1"/>
          <p:nvPr/>
        </p:nvSpPr>
        <p:spPr>
          <a:xfrm>
            <a:off x="2404409" y="33477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1888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89F1A9F-148B-43F7-8EB5-597C42A140C6}"/>
              </a:ext>
            </a:extLst>
          </p:cNvPr>
          <p:cNvSpPr/>
          <p:nvPr/>
        </p:nvSpPr>
        <p:spPr>
          <a:xfrm>
            <a:off x="375705" y="1817240"/>
            <a:ext cx="16349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Adhesión total de los viejos bancos de emisión</a:t>
            </a:r>
            <a:endParaRPr lang="es-A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90C2F0F-D623-48D8-ABB4-C1E1BDDBB67E}"/>
              </a:ext>
            </a:extLst>
          </p:cNvPr>
          <p:cNvSpPr/>
          <p:nvPr/>
        </p:nvSpPr>
        <p:spPr>
          <a:xfrm>
            <a:off x="1965644" y="1806112"/>
            <a:ext cx="163497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nuevas autorizaciones para aumentar la emisión</a:t>
            </a:r>
            <a:endParaRPr lang="es-AR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131B3D-CF80-47AA-879E-3FE18A5F4963}"/>
              </a:ext>
            </a:extLst>
          </p:cNvPr>
          <p:cNvSpPr/>
          <p:nvPr/>
        </p:nvSpPr>
        <p:spPr>
          <a:xfrm>
            <a:off x="3173613" y="1611110"/>
            <a:ext cx="5340447" cy="12686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</a:pPr>
            <a:r>
              <a:rPr lang="es-AR" sz="16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Aparición de Bancos provinciales  (y otros preexistentes) </a:t>
            </a:r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que …</a:t>
            </a:r>
          </a:p>
          <a:p>
            <a:pPr lvl="1" algn="ctr">
              <a:lnSpc>
                <a:spcPct val="115000"/>
              </a:lnSpc>
            </a:pPr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contraían deuda pública en Londres para comprar Bonos Oro Nacionales</a:t>
            </a:r>
            <a:endParaRPr lang="es-AR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8811152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85317E83-E6B4-41F9-845A-9555A859BD48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MODELO MONETARIO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B7850FB4-B90D-4424-B661-1009895C272C}"/>
              </a:ext>
            </a:extLst>
          </p:cNvPr>
          <p:cNvSpPr/>
          <p:nvPr/>
        </p:nvSpPr>
        <p:spPr>
          <a:xfrm>
            <a:off x="935596" y="2834934"/>
            <a:ext cx="7272808" cy="118813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ROL JUGÓ LA POLÍTICA FISCAL?</a:t>
            </a:r>
          </a:p>
        </p:txBody>
      </p:sp>
    </p:spTree>
    <p:extLst>
      <p:ext uri="{BB962C8B-B14F-4D97-AF65-F5344CB8AC3E}">
        <p14:creationId xmlns:p14="http://schemas.microsoft.com/office/powerpoint/2010/main" val="252093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465911"/>
              </p:ext>
            </p:extLst>
          </p:nvPr>
        </p:nvGraphicFramePr>
        <p:xfrm>
          <a:off x="375276" y="3644428"/>
          <a:ext cx="5296535" cy="3139403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2525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8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97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Ítem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1884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1887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1887 1889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1890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1891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525"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Fuentes de INGRESOS fiscales (como % del total de ingresos </a:t>
                      </a:r>
                      <a:r>
                        <a:rPr lang="es-ES" sz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ctes</a:t>
                      </a: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21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s-ES" sz="1200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Tarifas a la importación</a:t>
                      </a:r>
                      <a:endParaRPr lang="es-AR" sz="1200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es-AR" sz="1200" b="1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69</a:t>
                      </a:r>
                      <a:endParaRPr lang="es-AR" sz="1200" b="1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es-AR" sz="1200" b="1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63</a:t>
                      </a:r>
                      <a:endParaRPr lang="es-AR" sz="1200" b="1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21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Impuestos a la exportación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s-AR" sz="12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s-AR" sz="12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21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Impuestos al consumo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0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s-AR" sz="12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21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Impuestos directos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13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21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Empresas públicas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es-AR" sz="12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6219"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GASTOS por función (como % del total de gastos)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21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s-ES" sz="1200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Interior</a:t>
                      </a:r>
                      <a:endParaRPr lang="es-AR" sz="1200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32</a:t>
                      </a:r>
                      <a:endParaRPr lang="es-AR" sz="1200" b="1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36</a:t>
                      </a:r>
                      <a:endParaRPr lang="es-AR" sz="1200" b="1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44</a:t>
                      </a:r>
                      <a:endParaRPr lang="es-AR" sz="1200" b="1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36</a:t>
                      </a:r>
                      <a:endParaRPr lang="es-AR" sz="1200" b="1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621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Defensa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es-AR" sz="12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17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17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621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Educación y Justicia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  <a:endParaRPr lang="es-AR" sz="12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es-AR" sz="12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621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Hacienda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17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18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  <a:endParaRPr lang="es-AR" sz="120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621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Servicio de la deuda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23</a:t>
                      </a:r>
                      <a:endParaRPr lang="es-AR" sz="1200" b="1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17</a:t>
                      </a:r>
                      <a:endParaRPr lang="es-AR" sz="1200" b="1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17</a:t>
                      </a:r>
                      <a:endParaRPr lang="es-AR" sz="1200" b="1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34</a:t>
                      </a:r>
                      <a:endParaRPr lang="es-AR" sz="1200" b="1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6219"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DEUDA pública (en % del total</a:t>
                      </a:r>
                      <a:r>
                        <a:rPr lang="es-ES" sz="120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de gastos</a:t>
                      </a:r>
                      <a:r>
                        <a:rPr lang="es-ES" sz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es-AR" sz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6219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s-ES" sz="1200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Deuda pública / Gastos</a:t>
                      </a:r>
                      <a:endParaRPr lang="es-AR" sz="1200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270</a:t>
                      </a:r>
                      <a:endParaRPr lang="es-AR" sz="1200" b="1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350</a:t>
                      </a:r>
                      <a:endParaRPr lang="es-AR" sz="1200" b="1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630</a:t>
                      </a:r>
                      <a:endParaRPr lang="es-AR" sz="1200" b="1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b="1" dirty="0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740</a:t>
                      </a:r>
                      <a:endParaRPr lang="es-AR" sz="1200" b="1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6 CuadroTexto"/>
          <p:cNvSpPr txBox="1"/>
          <p:nvPr/>
        </p:nvSpPr>
        <p:spPr>
          <a:xfrm>
            <a:off x="6029407" y="4214073"/>
            <a:ext cx="3024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Bs. de Consumo </a:t>
            </a:r>
          </a:p>
          <a:p>
            <a:r>
              <a:rPr lang="es-AR" sz="1400" i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(Aranceles  40/60 % ad-</a:t>
            </a:r>
            <a:r>
              <a:rPr lang="es-AR" sz="1400" i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valorem</a:t>
            </a:r>
            <a:r>
              <a:rPr lang="es-AR" sz="1400" i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6029407" y="5364951"/>
            <a:ext cx="3357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Inversión Pública Productiva (CSB)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155925" y="764704"/>
            <a:ext cx="5873482" cy="1699582"/>
          </a:xfrm>
          <a:prstGeom prst="roundRect">
            <a:avLst>
              <a:gd name="adj" fmla="val 921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ingresos corrientes provenían principalmente del Comercio Exterior: Impuestos a las Importaciones</a:t>
            </a:r>
          </a:p>
        </p:txBody>
      </p:sp>
      <p:sp>
        <p:nvSpPr>
          <p:cNvPr id="18" name="17 Flecha abajo"/>
          <p:cNvSpPr/>
          <p:nvPr/>
        </p:nvSpPr>
        <p:spPr>
          <a:xfrm>
            <a:off x="357157" y="2692364"/>
            <a:ext cx="5314653" cy="880148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Ingresos fiscales, gastos y deuda pública</a:t>
            </a:r>
            <a:r>
              <a:rPr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endParaRPr lang="es-AR" sz="16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1884-1891</a:t>
            </a:r>
            <a:endParaRPr lang="es-AR" sz="16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31 Conector recto de flecha"/>
          <p:cNvCxnSpPr/>
          <p:nvPr/>
        </p:nvCxnSpPr>
        <p:spPr>
          <a:xfrm>
            <a:off x="5600779" y="4356314"/>
            <a:ext cx="428628" cy="635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 de flecha"/>
          <p:cNvCxnSpPr/>
          <p:nvPr/>
        </p:nvCxnSpPr>
        <p:spPr>
          <a:xfrm>
            <a:off x="5600779" y="5535328"/>
            <a:ext cx="428628" cy="635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Rectángulo redondeado"/>
          <p:cNvSpPr/>
          <p:nvPr/>
        </p:nvSpPr>
        <p:spPr>
          <a:xfrm>
            <a:off x="6231950" y="2428286"/>
            <a:ext cx="2619250" cy="1129067"/>
          </a:xfrm>
          <a:prstGeom prst="roundRect">
            <a:avLst>
              <a:gd name="adj" fmla="val 9038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estructura no cambiaría demasiado durante este período</a:t>
            </a:r>
          </a:p>
        </p:txBody>
      </p:sp>
      <p:sp>
        <p:nvSpPr>
          <p:cNvPr id="36" name="35 CuadroTexto"/>
          <p:cNvSpPr txBox="1"/>
          <p:nvPr/>
        </p:nvSpPr>
        <p:spPr>
          <a:xfrm>
            <a:off x="6029407" y="6522825"/>
            <a:ext cx="33575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La Deuda Crece</a:t>
            </a:r>
          </a:p>
        </p:txBody>
      </p:sp>
      <p:cxnSp>
        <p:nvCxnSpPr>
          <p:cNvPr id="37" name="36 Conector recto de flecha"/>
          <p:cNvCxnSpPr/>
          <p:nvPr/>
        </p:nvCxnSpPr>
        <p:spPr>
          <a:xfrm>
            <a:off x="5600779" y="6699639"/>
            <a:ext cx="428628" cy="635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70E16CD-55D0-4F5F-A815-F6C49F653F18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FISCAL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3D63D0FD-DA25-4059-9282-E287CDA3A67B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 fin </a:t>
            </a:r>
          </a:p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 XIX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28EE8047-2E83-4B8D-8C98-65159ACC2CC0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83547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2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9424521"/>
              </p:ext>
            </p:extLst>
          </p:nvPr>
        </p:nvGraphicFramePr>
        <p:xfrm>
          <a:off x="785786" y="3143224"/>
          <a:ext cx="7500990" cy="3714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14 Rectángulo redondeado"/>
          <p:cNvSpPr/>
          <p:nvPr/>
        </p:nvSpPr>
        <p:spPr>
          <a:xfrm>
            <a:off x="723794" y="1628800"/>
            <a:ext cx="7705858" cy="71438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gastos siempre excedieron los ingresos</a:t>
            </a:r>
          </a:p>
        </p:txBody>
      </p:sp>
      <p:sp>
        <p:nvSpPr>
          <p:cNvPr id="17" name="16 Flecha abajo"/>
          <p:cNvSpPr/>
          <p:nvPr/>
        </p:nvSpPr>
        <p:spPr>
          <a:xfrm>
            <a:off x="723794" y="2585220"/>
            <a:ext cx="7705858" cy="558028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Ingresos, gastos y déficit fiscal, 1885- 1891 (en millones de pesos papel)</a:t>
            </a:r>
          </a:p>
        </p:txBody>
      </p:sp>
      <p:sp>
        <p:nvSpPr>
          <p:cNvPr id="18" name="17 Flecha derecha"/>
          <p:cNvSpPr/>
          <p:nvPr/>
        </p:nvSpPr>
        <p:spPr>
          <a:xfrm>
            <a:off x="8348768" y="4949132"/>
            <a:ext cx="357190" cy="178595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1CCCF90-2727-4F40-9EC1-4C3CDDBEA9CA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FISCAL</a:t>
            </a: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0E3F5303-172E-4523-A0AA-19FDED6A2090}"/>
              </a:ext>
            </a:extLst>
          </p:cNvPr>
          <p:cNvSpPr/>
          <p:nvPr/>
        </p:nvSpPr>
        <p:spPr>
          <a:xfrm>
            <a:off x="6916088" y="91186"/>
            <a:ext cx="1872208" cy="1439590"/>
          </a:xfrm>
          <a:prstGeom prst="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 fin </a:t>
            </a:r>
          </a:p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 XIX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003C347-AFDD-495D-8D7B-A3A9B5EEEB93}"/>
              </a:ext>
            </a:extLst>
          </p:cNvPr>
          <p:cNvSpPr/>
          <p:nvPr/>
        </p:nvSpPr>
        <p:spPr>
          <a:xfrm>
            <a:off x="6097780" y="295017"/>
            <a:ext cx="1034332" cy="103433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0722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19F13192-92BF-476B-BA42-7B2F570A75E8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5724129" y="1995223"/>
            <a:ext cx="648071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3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768004"/>
              </p:ext>
            </p:extLst>
          </p:nvPr>
        </p:nvGraphicFramePr>
        <p:xfrm>
          <a:off x="1034021" y="3669420"/>
          <a:ext cx="8109980" cy="3188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3 Rectángulo"/>
          <p:cNvSpPr/>
          <p:nvPr/>
        </p:nvSpPr>
        <p:spPr>
          <a:xfrm>
            <a:off x="5854336" y="1599179"/>
            <a:ext cx="3161302" cy="7929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existe evidencia del flujo de billetes al Tesoro desde los bancos</a:t>
            </a:r>
          </a:p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Analizar “inflación contrafactual”.</a:t>
            </a:r>
          </a:p>
        </p:txBody>
      </p:sp>
      <p:sp>
        <p:nvSpPr>
          <p:cNvPr id="5" name="4 Rectángulo"/>
          <p:cNvSpPr/>
          <p:nvPr/>
        </p:nvSpPr>
        <p:spPr>
          <a:xfrm>
            <a:off x="5854334" y="2426246"/>
            <a:ext cx="3161304" cy="4364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Supuesto: los déficits nacionales eran completamente financiados con emisión </a:t>
            </a:r>
            <a:endParaRPr lang="es-AR" sz="12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3289665" y="2931327"/>
            <a:ext cx="5725973" cy="6882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se hubieran monetizado completamente los déficits fiscales:  </a:t>
            </a:r>
          </a:p>
          <a:p>
            <a:pPr algn="ctr"/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Tasa de inflación observada </a:t>
            </a:r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similar </a:t>
            </a:r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la contrafactual.</a:t>
            </a:r>
            <a:endParaRPr lang="es-AR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3826279" y="5534831"/>
            <a:ext cx="86160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AR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LBNG</a:t>
            </a:r>
          </a:p>
        </p:txBody>
      </p:sp>
      <p:sp>
        <p:nvSpPr>
          <p:cNvPr id="14" name="13 Elipse"/>
          <p:cNvSpPr/>
          <p:nvPr/>
        </p:nvSpPr>
        <p:spPr>
          <a:xfrm>
            <a:off x="1819357" y="5062264"/>
            <a:ext cx="428628" cy="428628"/>
          </a:xfrm>
          <a:prstGeom prst="ellipse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Elipse"/>
          <p:cNvSpPr/>
          <p:nvPr/>
        </p:nvSpPr>
        <p:spPr>
          <a:xfrm>
            <a:off x="4941349" y="5732194"/>
            <a:ext cx="428628" cy="428628"/>
          </a:xfrm>
          <a:prstGeom prst="ellipse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Flecha abajo"/>
          <p:cNvSpPr/>
          <p:nvPr/>
        </p:nvSpPr>
        <p:spPr>
          <a:xfrm rot="16200000">
            <a:off x="-970088" y="4707686"/>
            <a:ext cx="3071671" cy="995139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Déficit público, rendimiento de bonos, inflación</a:t>
            </a:r>
          </a:p>
        </p:txBody>
      </p:sp>
      <p:sp>
        <p:nvSpPr>
          <p:cNvPr id="21" name="20 Elipse"/>
          <p:cNvSpPr/>
          <p:nvPr/>
        </p:nvSpPr>
        <p:spPr>
          <a:xfrm>
            <a:off x="2861037" y="5625652"/>
            <a:ext cx="428628" cy="428628"/>
          </a:xfrm>
          <a:prstGeom prst="ellipse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21 Elipse"/>
          <p:cNvSpPr/>
          <p:nvPr/>
        </p:nvSpPr>
        <p:spPr>
          <a:xfrm>
            <a:off x="3891378" y="5822221"/>
            <a:ext cx="428628" cy="428628"/>
          </a:xfrm>
          <a:prstGeom prst="ellipse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CED5681-774A-4CEE-BECE-3688C2C83BBC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FISCAL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C3D0EA6-336A-4B15-8E0A-5212A47250C1}"/>
              </a:ext>
            </a:extLst>
          </p:cNvPr>
          <p:cNvSpPr txBox="1"/>
          <p:nvPr/>
        </p:nvSpPr>
        <p:spPr>
          <a:xfrm>
            <a:off x="359438" y="1059425"/>
            <a:ext cx="33484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Financiamiento del Déficit Fiscal</a:t>
            </a:r>
          </a:p>
        </p:txBody>
      </p:sp>
      <p:sp>
        <p:nvSpPr>
          <p:cNvPr id="25" name="17 Flecha derecha">
            <a:extLst>
              <a:ext uri="{FF2B5EF4-FFF2-40B4-BE49-F238E27FC236}">
                <a16:creationId xmlns:a16="http://schemas.microsoft.com/office/drawing/2014/main" id="{F06C4B2D-C905-41B1-9A86-10571950E4E1}"/>
              </a:ext>
            </a:extLst>
          </p:cNvPr>
          <p:cNvSpPr/>
          <p:nvPr/>
        </p:nvSpPr>
        <p:spPr>
          <a:xfrm>
            <a:off x="0" y="647911"/>
            <a:ext cx="357190" cy="178595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1DC3B14-8D18-4546-8637-01E7BE707C97}"/>
              </a:ext>
            </a:extLst>
          </p:cNvPr>
          <p:cNvSpPr/>
          <p:nvPr/>
        </p:nvSpPr>
        <p:spPr>
          <a:xfrm>
            <a:off x="3550446" y="764704"/>
            <a:ext cx="2173679" cy="79208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Venta de Bonos Públicos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564FC6E5-BE5F-4A3E-8B75-A1DC12D73EDC}"/>
              </a:ext>
            </a:extLst>
          </p:cNvPr>
          <p:cNvSpPr/>
          <p:nvPr/>
        </p:nvSpPr>
        <p:spPr>
          <a:xfrm>
            <a:off x="3550447" y="1599179"/>
            <a:ext cx="2173682" cy="79208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Emisión de Dinero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2114802C-F1C7-4935-890C-D9AA35317E60}"/>
              </a:ext>
            </a:extLst>
          </p:cNvPr>
          <p:cNvCxnSpPr>
            <a:cxnSpLocks/>
          </p:cNvCxnSpPr>
          <p:nvPr/>
        </p:nvCxnSpPr>
        <p:spPr>
          <a:xfrm>
            <a:off x="5825306" y="1599179"/>
            <a:ext cx="0" cy="1249399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324799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 redondeado"/>
          <p:cNvSpPr/>
          <p:nvPr/>
        </p:nvSpPr>
        <p:spPr>
          <a:xfrm>
            <a:off x="1428728" y="2730999"/>
            <a:ext cx="6286544" cy="57150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Según el contrafactual</a:t>
            </a:r>
            <a:endParaRPr lang="es-ES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0D72075-706F-42A1-A771-17808AE21FF7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FISCAL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C62173B-C6D5-43FE-8AB3-A79CFA769049}"/>
              </a:ext>
            </a:extLst>
          </p:cNvPr>
          <p:cNvSpPr txBox="1"/>
          <p:nvPr/>
        </p:nvSpPr>
        <p:spPr>
          <a:xfrm>
            <a:off x="359438" y="1059425"/>
            <a:ext cx="33484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Financiamiento del Déficit Fiscal</a:t>
            </a:r>
          </a:p>
        </p:txBody>
      </p:sp>
      <p:sp>
        <p:nvSpPr>
          <p:cNvPr id="18" name="17 Flecha derecha">
            <a:extLst>
              <a:ext uri="{FF2B5EF4-FFF2-40B4-BE49-F238E27FC236}">
                <a16:creationId xmlns:a16="http://schemas.microsoft.com/office/drawing/2014/main" id="{A303D0AA-6265-42E0-AD09-85AB8658A74E}"/>
              </a:ext>
            </a:extLst>
          </p:cNvPr>
          <p:cNvSpPr/>
          <p:nvPr/>
        </p:nvSpPr>
        <p:spPr>
          <a:xfrm>
            <a:off x="0" y="647911"/>
            <a:ext cx="357190" cy="1785950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3A8CBD87-1DAC-46EC-B486-F244C1498D14}"/>
              </a:ext>
            </a:extLst>
          </p:cNvPr>
          <p:cNvSpPr/>
          <p:nvPr/>
        </p:nvSpPr>
        <p:spPr>
          <a:xfrm>
            <a:off x="3550446" y="764704"/>
            <a:ext cx="2173679" cy="79208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Venta de Bonos Públicos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DDDEEEF4-5805-4B2D-B7DC-448D3C2502F3}"/>
              </a:ext>
            </a:extLst>
          </p:cNvPr>
          <p:cNvSpPr/>
          <p:nvPr/>
        </p:nvSpPr>
        <p:spPr>
          <a:xfrm>
            <a:off x="3550447" y="1599179"/>
            <a:ext cx="2173682" cy="79208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Emisión de Dinero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2231D9C-EC16-4134-87A3-245CB7026E7A}"/>
              </a:ext>
            </a:extLst>
          </p:cNvPr>
          <p:cNvCxnSpPr>
            <a:cxnSpLocks/>
          </p:cNvCxnSpPr>
          <p:nvPr/>
        </p:nvCxnSpPr>
        <p:spPr>
          <a:xfrm>
            <a:off x="395536" y="5710975"/>
            <a:ext cx="8424936" cy="0"/>
          </a:xfrm>
          <a:prstGeom prst="line">
            <a:avLst/>
          </a:prstGeom>
          <a:ln w="762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60649BC8-02FA-4F29-93DD-5841C5B35EEA}"/>
              </a:ext>
            </a:extLst>
          </p:cNvPr>
          <p:cNvCxnSpPr/>
          <p:nvPr/>
        </p:nvCxnSpPr>
        <p:spPr>
          <a:xfrm>
            <a:off x="441733" y="5494951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9B6A41F-914B-47CA-8B2A-50C1259A3354}"/>
              </a:ext>
            </a:extLst>
          </p:cNvPr>
          <p:cNvSpPr txBox="1"/>
          <p:nvPr/>
        </p:nvSpPr>
        <p:spPr>
          <a:xfrm>
            <a:off x="107504" y="590403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1885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D4F5470-6B88-4AF0-8D27-00BA27A1DF22}"/>
              </a:ext>
            </a:extLst>
          </p:cNvPr>
          <p:cNvCxnSpPr/>
          <p:nvPr/>
        </p:nvCxnSpPr>
        <p:spPr>
          <a:xfrm>
            <a:off x="1965231" y="5494951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2729AB56-11F7-43EB-AF2E-AAC8035F06BF}"/>
              </a:ext>
            </a:extLst>
          </p:cNvPr>
          <p:cNvSpPr txBox="1"/>
          <p:nvPr/>
        </p:nvSpPr>
        <p:spPr>
          <a:xfrm>
            <a:off x="1619672" y="5912437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1886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1323DE1-6042-45FD-BFD8-3C8C98C175D6}"/>
              </a:ext>
            </a:extLst>
          </p:cNvPr>
          <p:cNvSpPr/>
          <p:nvPr/>
        </p:nvSpPr>
        <p:spPr>
          <a:xfrm>
            <a:off x="-36512" y="4628741"/>
            <a:ext cx="16524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Probablemente financiado con emisión</a:t>
            </a:r>
            <a:endParaRPr lang="es-A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BF9E4F0-80E3-4A2A-9857-E44BB1E42B17}"/>
              </a:ext>
            </a:extLst>
          </p:cNvPr>
          <p:cNvSpPr/>
          <p:nvPr/>
        </p:nvSpPr>
        <p:spPr>
          <a:xfrm>
            <a:off x="1619672" y="4367350"/>
            <a:ext cx="233873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Mayor disciplina fiscal. Probablemente financiado con Deuda (menor “riesgo país”)</a:t>
            </a:r>
            <a:endParaRPr lang="es-AR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07D3668E-BFE3-4D75-987C-11B7AE4212BF}"/>
              </a:ext>
            </a:extLst>
          </p:cNvPr>
          <p:cNvCxnSpPr/>
          <p:nvPr/>
        </p:nvCxnSpPr>
        <p:spPr>
          <a:xfrm>
            <a:off x="3603207" y="5508644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C87F163B-CA8F-4F98-BFF8-3C68D456DD1F}"/>
              </a:ext>
            </a:extLst>
          </p:cNvPr>
          <p:cNvSpPr txBox="1"/>
          <p:nvPr/>
        </p:nvSpPr>
        <p:spPr>
          <a:xfrm>
            <a:off x="3268978" y="591773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1887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201B2BB8-DF76-4FF3-BB7E-00F016CABA9D}"/>
              </a:ext>
            </a:extLst>
          </p:cNvPr>
          <p:cNvCxnSpPr/>
          <p:nvPr/>
        </p:nvCxnSpPr>
        <p:spPr>
          <a:xfrm>
            <a:off x="5277599" y="5508644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6FDFF1E-3ED0-4FB3-806A-B5494F0E393C}"/>
              </a:ext>
            </a:extLst>
          </p:cNvPr>
          <p:cNvSpPr txBox="1"/>
          <p:nvPr/>
        </p:nvSpPr>
        <p:spPr>
          <a:xfrm>
            <a:off x="4932040" y="592613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1888</a:t>
            </a: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EA144AA-3AE4-45B0-A3F4-EBBA8AC00A61}"/>
              </a:ext>
            </a:extLst>
          </p:cNvPr>
          <p:cNvCxnSpPr/>
          <p:nvPr/>
        </p:nvCxnSpPr>
        <p:spPr>
          <a:xfrm>
            <a:off x="7010036" y="5507002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ECE1B310-9B0E-4D9F-9A32-E49A9F47AF18}"/>
              </a:ext>
            </a:extLst>
          </p:cNvPr>
          <p:cNvSpPr txBox="1"/>
          <p:nvPr/>
        </p:nvSpPr>
        <p:spPr>
          <a:xfrm>
            <a:off x="6675807" y="591609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1889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C7ACFA1D-49F3-46C0-A6AD-5631E3644053}"/>
              </a:ext>
            </a:extLst>
          </p:cNvPr>
          <p:cNvCxnSpPr/>
          <p:nvPr/>
        </p:nvCxnSpPr>
        <p:spPr>
          <a:xfrm>
            <a:off x="8684428" y="5507002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C8519A-3C47-4419-806D-77AC18B62C53}"/>
              </a:ext>
            </a:extLst>
          </p:cNvPr>
          <p:cNvSpPr txBox="1"/>
          <p:nvPr/>
        </p:nvSpPr>
        <p:spPr>
          <a:xfrm>
            <a:off x="8338869" y="592448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1890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CFFDE5A8-C0C1-44D9-BD5A-EEB6C1C21265}"/>
              </a:ext>
            </a:extLst>
          </p:cNvPr>
          <p:cNvSpPr/>
          <p:nvPr/>
        </p:nvSpPr>
        <p:spPr>
          <a:xfrm>
            <a:off x="4108234" y="3925291"/>
            <a:ext cx="233873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Ley de BNG: Emisión respaldada por reservas metálicas </a:t>
            </a:r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 AUMENTO DEUDA EXTERNA  no inflacionario</a:t>
            </a:r>
            <a:endParaRPr lang="es-AR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3C49C228-BC3D-4F4B-8671-CFB0A2EDB960}"/>
              </a:ext>
            </a:extLst>
          </p:cNvPr>
          <p:cNvSpPr/>
          <p:nvPr/>
        </p:nvSpPr>
        <p:spPr>
          <a:xfrm>
            <a:off x="6392030" y="3947124"/>
            <a:ext cx="27519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la tasa de inflación era similar o mayor a la inflación contrafactual </a:t>
            </a:r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</a:t>
            </a:r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" sz="2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financiamiento con emisión</a:t>
            </a:r>
            <a:endParaRPr lang="es-AR" sz="16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EE962284-10BE-4CF0-8434-76F910598D1B}"/>
              </a:ext>
            </a:extLst>
          </p:cNvPr>
          <p:cNvSpPr/>
          <p:nvPr/>
        </p:nvSpPr>
        <p:spPr>
          <a:xfrm>
            <a:off x="6516067" y="4739213"/>
            <a:ext cx="2492293" cy="734594"/>
          </a:xfrm>
          <a:prstGeom prst="roundRect">
            <a:avLst/>
          </a:prstGeom>
          <a:noFill/>
          <a:ln w="3810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232479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85317E83-E6B4-41F9-845A-9555A859BD48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MODELO MONETARIO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B7850FB4-B90D-4424-B661-1009895C272C}"/>
              </a:ext>
            </a:extLst>
          </p:cNvPr>
          <p:cNvSpPr/>
          <p:nvPr/>
        </p:nvSpPr>
        <p:spPr>
          <a:xfrm>
            <a:off x="935596" y="2834934"/>
            <a:ext cx="7272808" cy="118813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</p:spTree>
    <p:extLst>
      <p:ext uri="{BB962C8B-B14F-4D97-AF65-F5344CB8AC3E}">
        <p14:creationId xmlns:p14="http://schemas.microsoft.com/office/powerpoint/2010/main" val="31117131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7 Rectángulo"/>
          <p:cNvSpPr/>
          <p:nvPr/>
        </p:nvSpPr>
        <p:spPr>
          <a:xfrm>
            <a:off x="5621521" y="2700370"/>
            <a:ext cx="2838911" cy="7143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Mientras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entraban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AR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capitales</a:t>
            </a:r>
            <a:r>
              <a:rPr lang="es-ES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3" name="12 Rectángulo redondeado"/>
          <p:cNvSpPr/>
          <p:nvPr/>
        </p:nvSpPr>
        <p:spPr>
          <a:xfrm>
            <a:off x="1000100" y="1628800"/>
            <a:ext cx="1928826" cy="57150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∆</a:t>
            </a:r>
            <a:r>
              <a:rPr sz="28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Deficit</a:t>
            </a:r>
            <a:endParaRPr lang="es-ES" sz="28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3428992" y="1628800"/>
            <a:ext cx="2214578" cy="57150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∆</a:t>
            </a:r>
            <a:r>
              <a:rPr sz="28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Emisión</a:t>
            </a:r>
            <a:endParaRPr lang="es-ES" sz="28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16 Rectángulo redondeado"/>
          <p:cNvSpPr/>
          <p:nvPr/>
        </p:nvSpPr>
        <p:spPr>
          <a:xfrm>
            <a:off x="3428992" y="2700370"/>
            <a:ext cx="2214578" cy="71438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∆</a:t>
            </a:r>
            <a:r>
              <a:rPr sz="36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Deuda</a:t>
            </a:r>
            <a:endParaRPr lang="es-ES" sz="36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3286116" y="3914816"/>
            <a:ext cx="2500330" cy="785818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Techo al endeudamiento</a:t>
            </a:r>
          </a:p>
        </p:txBody>
      </p:sp>
      <p:sp>
        <p:nvSpPr>
          <p:cNvPr id="21" name="20 Rectángulo redondeado"/>
          <p:cNvSpPr/>
          <p:nvPr/>
        </p:nvSpPr>
        <p:spPr>
          <a:xfrm>
            <a:off x="3000364" y="5447709"/>
            <a:ext cx="3083804" cy="92678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PM activa </a:t>
            </a:r>
          </a:p>
          <a:p>
            <a:pPr algn="ctr"/>
            <a:r>
              <a:rPr lang="es-E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(financiar con emisión)</a:t>
            </a:r>
          </a:p>
        </p:txBody>
      </p:sp>
      <p:cxnSp>
        <p:nvCxnSpPr>
          <p:cNvPr id="24" name="23 Conector recto de flecha"/>
          <p:cNvCxnSpPr>
            <a:cxnSpLocks/>
            <a:stCxn id="13" idx="3"/>
            <a:endCxn id="16" idx="1"/>
          </p:cNvCxnSpPr>
          <p:nvPr/>
        </p:nvCxnSpPr>
        <p:spPr>
          <a:xfrm>
            <a:off x="2928926" y="1914552"/>
            <a:ext cx="500066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 de flecha"/>
          <p:cNvCxnSpPr>
            <a:cxnSpLocks/>
            <a:stCxn id="16" idx="2"/>
            <a:endCxn id="17" idx="0"/>
          </p:cNvCxnSpPr>
          <p:nvPr/>
        </p:nvCxnSpPr>
        <p:spPr>
          <a:xfrm>
            <a:off x="4536281" y="2200304"/>
            <a:ext cx="0" cy="500066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>
            <a:cxnSpLocks/>
            <a:stCxn id="17" idx="2"/>
            <a:endCxn id="20" idx="0"/>
          </p:cNvCxnSpPr>
          <p:nvPr/>
        </p:nvCxnSpPr>
        <p:spPr>
          <a:xfrm>
            <a:off x="4536281" y="3414750"/>
            <a:ext cx="0" cy="500066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36 Cara sonriente"/>
          <p:cNvSpPr/>
          <p:nvPr/>
        </p:nvSpPr>
        <p:spPr>
          <a:xfrm>
            <a:off x="7548927" y="2700370"/>
            <a:ext cx="793756" cy="714380"/>
          </a:xfrm>
          <a:prstGeom prst="smileyFace">
            <a:avLst>
              <a:gd name="adj" fmla="val 4653"/>
            </a:avLst>
          </a:prstGeom>
          <a:solidFill>
            <a:schemeClr val="accent5">
              <a:lumMod val="50000"/>
            </a:schemeClr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6F784B3-9CBD-4522-B37F-C4A6D8A0F3EE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3C36AAB-A7B1-4E91-AC61-D7EAA97CEE27}"/>
              </a:ext>
            </a:extLst>
          </p:cNvPr>
          <p:cNvSpPr txBox="1"/>
          <p:nvPr/>
        </p:nvSpPr>
        <p:spPr>
          <a:xfrm>
            <a:off x="-57043" y="693114"/>
            <a:ext cx="8605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Cambios en la financiación del Déficit Fiscal</a:t>
            </a:r>
          </a:p>
        </p:txBody>
      </p:sp>
      <p:sp>
        <p:nvSpPr>
          <p:cNvPr id="19" name="18 Elipse"/>
          <p:cNvSpPr/>
          <p:nvPr/>
        </p:nvSpPr>
        <p:spPr>
          <a:xfrm>
            <a:off x="2239840" y="3717302"/>
            <a:ext cx="1233826" cy="1170626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1889</a:t>
            </a:r>
            <a:endParaRPr lang="es-ES" sz="20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20 Rectángulo redondeado">
            <a:extLst>
              <a:ext uri="{FF2B5EF4-FFF2-40B4-BE49-F238E27FC236}">
                <a16:creationId xmlns:a16="http://schemas.microsoft.com/office/drawing/2014/main" id="{BA4115B6-C70D-4ED7-B565-363E1A2EFC5D}"/>
              </a:ext>
            </a:extLst>
          </p:cNvPr>
          <p:cNvSpPr/>
          <p:nvPr/>
        </p:nvSpPr>
        <p:spPr>
          <a:xfrm>
            <a:off x="6732240" y="6006245"/>
            <a:ext cx="1949900" cy="71510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¿TIPO DE CAMBIO?</a:t>
            </a:r>
          </a:p>
        </p:txBody>
      </p:sp>
      <p:sp>
        <p:nvSpPr>
          <p:cNvPr id="36" name="20 Rectángulo redondeado">
            <a:extLst>
              <a:ext uri="{FF2B5EF4-FFF2-40B4-BE49-F238E27FC236}">
                <a16:creationId xmlns:a16="http://schemas.microsoft.com/office/drawing/2014/main" id="{704785CB-B262-4885-81C7-F1C49E268E5C}"/>
              </a:ext>
            </a:extLst>
          </p:cNvPr>
          <p:cNvSpPr/>
          <p:nvPr/>
        </p:nvSpPr>
        <p:spPr>
          <a:xfrm>
            <a:off x="6732240" y="5090155"/>
            <a:ext cx="1949900" cy="71510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¿CAPITALES?</a:t>
            </a:r>
          </a:p>
        </p:txBody>
      </p: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5189CF47-928B-451A-9585-F540FC57C99C}"/>
              </a:ext>
            </a:extLst>
          </p:cNvPr>
          <p:cNvCxnSpPr>
            <a:cxnSpLocks/>
            <a:stCxn id="21" idx="3"/>
            <a:endCxn id="36" idx="1"/>
          </p:cNvCxnSpPr>
          <p:nvPr/>
        </p:nvCxnSpPr>
        <p:spPr>
          <a:xfrm flipV="1">
            <a:off x="6084168" y="5447710"/>
            <a:ext cx="648072" cy="46339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r 58">
            <a:extLst>
              <a:ext uri="{FF2B5EF4-FFF2-40B4-BE49-F238E27FC236}">
                <a16:creationId xmlns:a16="http://schemas.microsoft.com/office/drawing/2014/main" id="{8F9D6342-36E4-41DA-B6E8-E31E9824D8A2}"/>
              </a:ext>
            </a:extLst>
          </p:cNvPr>
          <p:cNvCxnSpPr>
            <a:cxnSpLocks/>
            <a:stCxn id="21" idx="3"/>
            <a:endCxn id="35" idx="1"/>
          </p:cNvCxnSpPr>
          <p:nvPr/>
        </p:nvCxnSpPr>
        <p:spPr>
          <a:xfrm>
            <a:off x="6084168" y="5911100"/>
            <a:ext cx="648072" cy="452700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23 Conector recto de flecha">
            <a:extLst>
              <a:ext uri="{FF2B5EF4-FFF2-40B4-BE49-F238E27FC236}">
                <a16:creationId xmlns:a16="http://schemas.microsoft.com/office/drawing/2014/main" id="{535ABED3-A098-4BCD-8AC5-C7599867025B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4536281" y="4700634"/>
            <a:ext cx="5985" cy="747075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1950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0" y="928670"/>
            <a:ext cx="9144000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Deuda pública total consolidada como % PIB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6094F50F-F896-43EB-AD98-4E22A5E079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768939"/>
              </p:ext>
            </p:extLst>
          </p:nvPr>
        </p:nvGraphicFramePr>
        <p:xfrm>
          <a:off x="107504" y="1390335"/>
          <a:ext cx="9036496" cy="5467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ectángulo 11">
            <a:extLst>
              <a:ext uri="{FF2B5EF4-FFF2-40B4-BE49-F238E27FC236}">
                <a16:creationId xmlns:a16="http://schemas.microsoft.com/office/drawing/2014/main" id="{DAD0AE5D-759D-4B8D-B338-2B392D056B5E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</p:spTree>
    <p:extLst>
      <p:ext uri="{BB962C8B-B14F-4D97-AF65-F5344CB8AC3E}">
        <p14:creationId xmlns:p14="http://schemas.microsoft.com/office/powerpoint/2010/main" val="2383249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0" y="0"/>
            <a:ext cx="9144000" cy="504056"/>
          </a:xfrm>
          <a:prstGeom prst="roundRect">
            <a:avLst>
              <a:gd name="adj" fmla="val 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  <p:sp>
        <p:nvSpPr>
          <p:cNvPr id="12" name="23 CuadroTexto">
            <a:extLst>
              <a:ext uri="{FF2B5EF4-FFF2-40B4-BE49-F238E27FC236}">
                <a16:creationId xmlns:a16="http://schemas.microsoft.com/office/drawing/2014/main" id="{9623E6E4-26AC-40D6-8955-E1C1B2550B2B}"/>
              </a:ext>
            </a:extLst>
          </p:cNvPr>
          <p:cNvSpPr txBox="1"/>
          <p:nvPr/>
        </p:nvSpPr>
        <p:spPr>
          <a:xfrm>
            <a:off x="0" y="928670"/>
            <a:ext cx="9144000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Balanza de pagos (mil US$) 1880- 1914</a:t>
            </a: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F240C446-4E20-44AA-B838-B9B9FB465D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1851733"/>
              </p:ext>
            </p:extLst>
          </p:nvPr>
        </p:nvGraphicFramePr>
        <p:xfrm>
          <a:off x="0" y="1390335"/>
          <a:ext cx="9138862" cy="5467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E6C2CEDB-6048-4C46-8608-91161C76E923}"/>
              </a:ext>
            </a:extLst>
          </p:cNvPr>
          <p:cNvCxnSpPr>
            <a:cxnSpLocks/>
          </p:cNvCxnSpPr>
          <p:nvPr/>
        </p:nvCxnSpPr>
        <p:spPr>
          <a:xfrm>
            <a:off x="2843808" y="2420888"/>
            <a:ext cx="504056" cy="2520280"/>
          </a:xfrm>
          <a:prstGeom prst="straightConnector1">
            <a:avLst/>
          </a:prstGeom>
          <a:ln w="76200">
            <a:solidFill>
              <a:schemeClr val="accent5">
                <a:lumMod val="75000"/>
                <a:alpha val="56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0321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0" y="928670"/>
            <a:ext cx="9144000" cy="400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sz="2400" b="1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Tipo de cambio. $/$ oro.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AD0AE5D-759D-4B8D-B338-2B392D056B5E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251DDA00-A8CC-40E3-8990-9192C2EA9F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4432678"/>
              </p:ext>
            </p:extLst>
          </p:nvPr>
        </p:nvGraphicFramePr>
        <p:xfrm>
          <a:off x="134" y="1484784"/>
          <a:ext cx="9143865" cy="5373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BD1E943-DB1C-4C38-90D4-144F2A0D3815}"/>
              </a:ext>
            </a:extLst>
          </p:cNvPr>
          <p:cNvCxnSpPr>
            <a:cxnSpLocks/>
          </p:cNvCxnSpPr>
          <p:nvPr/>
        </p:nvCxnSpPr>
        <p:spPr>
          <a:xfrm flipV="1">
            <a:off x="4831566" y="2492896"/>
            <a:ext cx="0" cy="4248472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54107938-D195-4946-A287-5355D6991668}"/>
              </a:ext>
            </a:extLst>
          </p:cNvPr>
          <p:cNvCxnSpPr>
            <a:cxnSpLocks/>
          </p:cNvCxnSpPr>
          <p:nvPr/>
        </p:nvCxnSpPr>
        <p:spPr>
          <a:xfrm flipV="1">
            <a:off x="4514506" y="3121804"/>
            <a:ext cx="0" cy="3614128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FFE0D4BC-1F34-48B6-B42A-226691DD1BE0}"/>
              </a:ext>
            </a:extLst>
          </p:cNvPr>
          <p:cNvCxnSpPr/>
          <p:nvPr/>
        </p:nvCxnSpPr>
        <p:spPr>
          <a:xfrm flipV="1">
            <a:off x="3923928" y="3818068"/>
            <a:ext cx="0" cy="2932378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07109AF5-2EC8-464E-B7CA-F1A6AC4A5D11}"/>
              </a:ext>
            </a:extLst>
          </p:cNvPr>
          <p:cNvCxnSpPr>
            <a:cxnSpLocks/>
          </p:cNvCxnSpPr>
          <p:nvPr/>
        </p:nvCxnSpPr>
        <p:spPr>
          <a:xfrm flipV="1">
            <a:off x="5421582" y="1637467"/>
            <a:ext cx="0" cy="508395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1932F0CA-DE20-447E-B99C-9D90BEE5E65D}"/>
              </a:ext>
            </a:extLst>
          </p:cNvPr>
          <p:cNvSpPr txBox="1"/>
          <p:nvPr/>
        </p:nvSpPr>
        <p:spPr>
          <a:xfrm>
            <a:off x="2721700" y="3750253"/>
            <a:ext cx="1258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</a:t>
            </a:r>
          </a:p>
          <a:p>
            <a:pPr algn="r"/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MONETARIA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C41CF2F-29FF-49F2-9AB6-CC48BAD254C1}"/>
              </a:ext>
            </a:extLst>
          </p:cNvPr>
          <p:cNvSpPr txBox="1"/>
          <p:nvPr/>
        </p:nvSpPr>
        <p:spPr>
          <a:xfrm>
            <a:off x="2733575" y="3049234"/>
            <a:ext cx="1840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SUSP.</a:t>
            </a:r>
          </a:p>
          <a:p>
            <a:pPr algn="r"/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CONVERTIBILIDAD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8A1B83E-C148-405B-87E5-89C7A51FCAE0}"/>
              </a:ext>
            </a:extLst>
          </p:cNvPr>
          <p:cNvSpPr txBox="1"/>
          <p:nvPr/>
        </p:nvSpPr>
        <p:spPr>
          <a:xfrm>
            <a:off x="2975963" y="2430752"/>
            <a:ext cx="1880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 DE BACOS.</a:t>
            </a:r>
          </a:p>
          <a:p>
            <a:pPr algn="r"/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NAC. GARANTIDOS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27F2D67-E4EF-4513-9FD2-793430896860}"/>
              </a:ext>
            </a:extLst>
          </p:cNvPr>
          <p:cNvSpPr txBox="1"/>
          <p:nvPr/>
        </p:nvSpPr>
        <p:spPr>
          <a:xfrm>
            <a:off x="4414157" y="1550383"/>
            <a:ext cx="1040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AR" sz="20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1E3DDDE2-DC97-40B4-AAB4-3EE27C19AD1A}"/>
              </a:ext>
            </a:extLst>
          </p:cNvPr>
          <p:cNvCxnSpPr>
            <a:cxnSpLocks/>
          </p:cNvCxnSpPr>
          <p:nvPr/>
        </p:nvCxnSpPr>
        <p:spPr>
          <a:xfrm flipV="1">
            <a:off x="5119036" y="1950493"/>
            <a:ext cx="0" cy="4799954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645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 redondeado"/>
          <p:cNvSpPr/>
          <p:nvPr/>
        </p:nvSpPr>
        <p:spPr>
          <a:xfrm>
            <a:off x="2143108" y="3158068"/>
            <a:ext cx="4929222" cy="71438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El Gobierno pasa de financiar déficit con deuda</a:t>
            </a:r>
            <a:endParaRPr sz="20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10 Rectángulo redondeado"/>
          <p:cNvSpPr/>
          <p:nvPr/>
        </p:nvSpPr>
        <p:spPr>
          <a:xfrm>
            <a:off x="2143108" y="4586828"/>
            <a:ext cx="4929222" cy="71438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 financiarlo con EMISIÓN</a:t>
            </a:r>
            <a:endParaRPr sz="28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1792188" y="1794353"/>
            <a:ext cx="6740252" cy="85326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Inconsistencia</a:t>
            </a:r>
            <a:r>
              <a:rPr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entre P</a:t>
            </a:r>
            <a:r>
              <a:rPr lang="es-AR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OL</a:t>
            </a:r>
            <a:r>
              <a:rPr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F y M</a:t>
            </a:r>
          </a:p>
        </p:txBody>
      </p:sp>
      <p:sp>
        <p:nvSpPr>
          <p:cNvPr id="16" name="15 Elipse"/>
          <p:cNvSpPr/>
          <p:nvPr/>
        </p:nvSpPr>
        <p:spPr>
          <a:xfrm>
            <a:off x="611560" y="1556792"/>
            <a:ext cx="1357322" cy="1332378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1889</a:t>
            </a:r>
            <a:endParaRPr lang="es-ES"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16 Flecha abajo"/>
          <p:cNvSpPr/>
          <p:nvPr/>
        </p:nvSpPr>
        <p:spPr>
          <a:xfrm>
            <a:off x="3929058" y="3943886"/>
            <a:ext cx="1571636" cy="571504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8" name="17 Rectángulo"/>
          <p:cNvSpPr/>
          <p:nvPr/>
        </p:nvSpPr>
        <p:spPr>
          <a:xfrm>
            <a:off x="0" y="5857892"/>
            <a:ext cx="4572000" cy="10001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“…en medio de la Crisis, los Billetes inconvertibles eran emitidos casi con el único propósito de financiar los déficit fiscales” (</a:t>
            </a:r>
            <a:r>
              <a:rPr lang="es-AR" sz="14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della</a:t>
            </a:r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4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Paolera</a:t>
            </a:r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-105-)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8348B82-0D91-404C-B4DA-A4BF4BE6BFF6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5C51A58-7FEE-473D-B3B5-3A8B499DEA1A}"/>
              </a:ext>
            </a:extLst>
          </p:cNvPr>
          <p:cNvSpPr txBox="1"/>
          <p:nvPr/>
        </p:nvSpPr>
        <p:spPr>
          <a:xfrm>
            <a:off x="-57043" y="693114"/>
            <a:ext cx="8605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Cambios en la financiación del Déficit Fiscal</a:t>
            </a:r>
          </a:p>
        </p:txBody>
      </p:sp>
    </p:spTree>
    <p:extLst>
      <p:ext uri="{BB962C8B-B14F-4D97-AF65-F5344CB8AC3E}">
        <p14:creationId xmlns:p14="http://schemas.microsoft.com/office/powerpoint/2010/main" val="310787286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 redondeado"/>
          <p:cNvSpPr/>
          <p:nvPr/>
        </p:nvSpPr>
        <p:spPr>
          <a:xfrm>
            <a:off x="357158" y="2996952"/>
            <a:ext cx="4000528" cy="114300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Sustitución de Monedas</a:t>
            </a:r>
            <a:endParaRPr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357158" y="1781366"/>
            <a:ext cx="4000528" cy="107157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En TC comienza a aumentar</a:t>
            </a:r>
          </a:p>
        </p:txBody>
      </p:sp>
      <p:sp>
        <p:nvSpPr>
          <p:cNvPr id="13" name="12 Rectángulo redondeado"/>
          <p:cNvSpPr/>
          <p:nvPr/>
        </p:nvSpPr>
        <p:spPr>
          <a:xfrm>
            <a:off x="4929190" y="2996952"/>
            <a:ext cx="3929090" cy="114300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"Impuesto inflacionario"</a:t>
            </a:r>
            <a:endParaRPr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4929190" y="1781366"/>
            <a:ext cx="3929090" cy="107157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Financiación del deficit con emisión</a:t>
            </a:r>
          </a:p>
        </p:txBody>
      </p:sp>
      <p:sp>
        <p:nvSpPr>
          <p:cNvPr id="19" name="18 Rectángulo"/>
          <p:cNvSpPr/>
          <p:nvPr/>
        </p:nvSpPr>
        <p:spPr>
          <a:xfrm>
            <a:off x="357158" y="4857760"/>
            <a:ext cx="8429684" cy="171451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Complica más el frente Fiscal:</a:t>
            </a:r>
          </a:p>
          <a:p>
            <a:pPr algn="ctr"/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sustitución de monedas achica la base del “impuesto inflacionario”, lo que implica la necesidad de una tasa mayor de inflación (</a:t>
            </a:r>
            <a:r>
              <a:rPr lang="es-AR" sz="16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della</a:t>
            </a:r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Paolera</a:t>
            </a:r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-105-)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21E49B9-DBF8-4628-B43C-9D914AA98807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A236795-9A6D-4F37-BC42-191B03EC8CBF}"/>
              </a:ext>
            </a:extLst>
          </p:cNvPr>
          <p:cNvSpPr txBox="1"/>
          <p:nvPr/>
        </p:nvSpPr>
        <p:spPr>
          <a:xfrm>
            <a:off x="-57043" y="693114"/>
            <a:ext cx="8605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Cambios en la financiación del Déficit Fiscal</a:t>
            </a:r>
          </a:p>
        </p:txBody>
      </p:sp>
    </p:spTree>
    <p:extLst>
      <p:ext uri="{BB962C8B-B14F-4D97-AF65-F5344CB8AC3E}">
        <p14:creationId xmlns:p14="http://schemas.microsoft.com/office/powerpoint/2010/main" val="310787286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821E49B9-DBF8-4628-B43C-9D914AA98807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FE64E31-855E-465F-A36F-D9E3B3D05EC4}"/>
              </a:ext>
            </a:extLst>
          </p:cNvPr>
          <p:cNvSpPr/>
          <p:nvPr/>
        </p:nvSpPr>
        <p:spPr>
          <a:xfrm>
            <a:off x="935596" y="2834934"/>
            <a:ext cx="7272808" cy="1188132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DINÁMICA</a:t>
            </a:r>
          </a:p>
        </p:txBody>
      </p:sp>
    </p:spTree>
    <p:extLst>
      <p:ext uri="{BB962C8B-B14F-4D97-AF65-F5344CB8AC3E}">
        <p14:creationId xmlns:p14="http://schemas.microsoft.com/office/powerpoint/2010/main" val="8575779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6 Gráfic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8760905"/>
              </p:ext>
            </p:extLst>
          </p:nvPr>
        </p:nvGraphicFramePr>
        <p:xfrm>
          <a:off x="500034" y="3833664"/>
          <a:ext cx="8286808" cy="3024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16 Flecha abajo"/>
          <p:cNvSpPr/>
          <p:nvPr/>
        </p:nvSpPr>
        <p:spPr>
          <a:xfrm>
            <a:off x="785786" y="3436062"/>
            <a:ext cx="7705858" cy="641010"/>
          </a:xfrm>
          <a:prstGeom prst="downArrow">
            <a:avLst>
              <a:gd name="adj1" fmla="val 100000"/>
              <a:gd name="adj2" fmla="val 5000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Inflación y Tipo de Cambio</a:t>
            </a:r>
            <a:endParaRPr lang="es-AR" b="1" dirty="0">
              <a:solidFill>
                <a:schemeClr val="accent5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2 Flecha derecha"/>
          <p:cNvSpPr/>
          <p:nvPr/>
        </p:nvSpPr>
        <p:spPr>
          <a:xfrm rot="20147799">
            <a:off x="6093858" y="4620226"/>
            <a:ext cx="2428892" cy="769231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Aumentan ambas variables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C5F834F-DE4C-46BF-814F-93C58791896A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5715008" y="234821"/>
            <a:ext cx="3071834" cy="60161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Techo al endeudamiento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2A3B2D7-E555-4881-BB5B-EDC47DE2AACE}"/>
              </a:ext>
            </a:extLst>
          </p:cNvPr>
          <p:cNvCxnSpPr>
            <a:cxnSpLocks/>
          </p:cNvCxnSpPr>
          <p:nvPr/>
        </p:nvCxnSpPr>
        <p:spPr>
          <a:xfrm>
            <a:off x="361906" y="1176435"/>
            <a:ext cx="8424936" cy="0"/>
          </a:xfrm>
          <a:prstGeom prst="line">
            <a:avLst/>
          </a:prstGeom>
          <a:ln w="76200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1DDD73F-F0F8-453C-87C3-07CC4F1CBBEA}"/>
              </a:ext>
            </a:extLst>
          </p:cNvPr>
          <p:cNvCxnSpPr/>
          <p:nvPr/>
        </p:nvCxnSpPr>
        <p:spPr>
          <a:xfrm>
            <a:off x="369725" y="974104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49A1D1F-3CFB-4C4D-85EF-651419F50534}"/>
              </a:ext>
            </a:extLst>
          </p:cNvPr>
          <p:cNvSpPr txBox="1"/>
          <p:nvPr/>
        </p:nvSpPr>
        <p:spPr>
          <a:xfrm>
            <a:off x="35496" y="138319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1887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EC9198A-A9A5-4A85-8705-8A7F1392CA0F}"/>
              </a:ext>
            </a:extLst>
          </p:cNvPr>
          <p:cNvCxnSpPr/>
          <p:nvPr/>
        </p:nvCxnSpPr>
        <p:spPr>
          <a:xfrm>
            <a:off x="2303137" y="974104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A5BCA9C-4B93-4881-907A-BDDE68874A08}"/>
              </a:ext>
            </a:extLst>
          </p:cNvPr>
          <p:cNvSpPr txBox="1"/>
          <p:nvPr/>
        </p:nvSpPr>
        <p:spPr>
          <a:xfrm>
            <a:off x="1957578" y="139159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1888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17205DC-7E04-4B01-9C79-DED96A4711F8}"/>
              </a:ext>
            </a:extLst>
          </p:cNvPr>
          <p:cNvCxnSpPr/>
          <p:nvPr/>
        </p:nvCxnSpPr>
        <p:spPr>
          <a:xfrm>
            <a:off x="4323606" y="972462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5E7BA83-D596-4625-88CA-DFA5116DFAA4}"/>
              </a:ext>
            </a:extLst>
          </p:cNvPr>
          <p:cNvSpPr txBox="1"/>
          <p:nvPr/>
        </p:nvSpPr>
        <p:spPr>
          <a:xfrm>
            <a:off x="3621828" y="1381550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</a:t>
            </a:r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1889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52C3462E-A966-4A66-A1E8-61B0174EB595}"/>
              </a:ext>
            </a:extLst>
          </p:cNvPr>
          <p:cNvCxnSpPr/>
          <p:nvPr/>
        </p:nvCxnSpPr>
        <p:spPr>
          <a:xfrm>
            <a:off x="6214022" y="972462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CDC1EBE-2C82-4E32-A90C-8A71EB1CA2D7}"/>
              </a:ext>
            </a:extLst>
          </p:cNvPr>
          <p:cNvSpPr txBox="1"/>
          <p:nvPr/>
        </p:nvSpPr>
        <p:spPr>
          <a:xfrm>
            <a:off x="5523840" y="1389948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</a:t>
            </a:r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1890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77AC16F-4350-4E8A-9473-1BC7A132640E}"/>
              </a:ext>
            </a:extLst>
          </p:cNvPr>
          <p:cNvSpPr/>
          <p:nvPr/>
        </p:nvSpPr>
        <p:spPr>
          <a:xfrm>
            <a:off x="3232588" y="1787332"/>
            <a:ext cx="218856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Default parcial</a:t>
            </a:r>
            <a:r>
              <a:rPr lang="es-ES" sz="16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 </a:t>
            </a:r>
            <a:endParaRPr lang="es-ES" sz="1600" dirty="0">
              <a:solidFill>
                <a:schemeClr val="accent5">
                  <a:lumMod val="50000"/>
                </a:schemeClr>
              </a:solidFill>
              <a:latin typeface="Arial" pitchFamily="34" charset="0"/>
              <a:ea typeface="Calibri"/>
              <a:cs typeface="Arial" pitchFamily="34" charset="0"/>
              <a:sym typeface="Wingdings" pitchFamily="2" charset="2"/>
            </a:endParaRPr>
          </a:p>
          <a:p>
            <a:pPr algn="ctr"/>
            <a:r>
              <a:rPr lang="es-ES" sz="16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Pago en pesos papel de deuda en oro</a:t>
            </a:r>
          </a:p>
          <a:p>
            <a:pPr algn="ctr"/>
            <a:r>
              <a:rPr lang="es-ES" sz="16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“debilidad financiera del Gobierno Nacional”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71CA82C-450C-4BF0-B550-44F023E3C4AD}"/>
              </a:ext>
            </a:extLst>
          </p:cNvPr>
          <p:cNvSpPr/>
          <p:nvPr/>
        </p:nvSpPr>
        <p:spPr>
          <a:xfrm>
            <a:off x="5190080" y="1777468"/>
            <a:ext cx="19725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85750" algn="ctr"/>
            <a:r>
              <a:rPr lang="es-ES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Corrida CAMBIARIA  </a:t>
            </a:r>
            <a:r>
              <a:rPr lang="es-ES" sz="16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ea typeface="Calibri"/>
                <a:cs typeface="Arial" pitchFamily="34" charset="0"/>
              </a:rPr>
              <a:t>Sustitución de Monedas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DB583A3-6ED0-42C2-A274-5832056EA72E}"/>
              </a:ext>
            </a:extLst>
          </p:cNvPr>
          <p:cNvSpPr/>
          <p:nvPr/>
        </p:nvSpPr>
        <p:spPr>
          <a:xfrm>
            <a:off x="5421152" y="1834633"/>
            <a:ext cx="1505636" cy="506916"/>
          </a:xfrm>
          <a:prstGeom prst="roundRect">
            <a:avLst/>
          </a:prstGeom>
          <a:noFill/>
          <a:ln w="38100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1AC82CAF-2F97-4EBF-A016-1F0BA026D8FC}"/>
              </a:ext>
            </a:extLst>
          </p:cNvPr>
          <p:cNvSpPr/>
          <p:nvPr/>
        </p:nvSpPr>
        <p:spPr>
          <a:xfrm rot="20442836">
            <a:off x="1914470" y="1643209"/>
            <a:ext cx="1411607" cy="1158574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TECHO</a:t>
            </a:r>
          </a:p>
        </p:txBody>
      </p:sp>
    </p:spTree>
    <p:extLst>
      <p:ext uri="{BB962C8B-B14F-4D97-AF65-F5344CB8AC3E}">
        <p14:creationId xmlns:p14="http://schemas.microsoft.com/office/powerpoint/2010/main" val="414519507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 redondeado"/>
          <p:cNvSpPr/>
          <p:nvPr/>
        </p:nvSpPr>
        <p:spPr>
          <a:xfrm>
            <a:off x="857224" y="1129874"/>
            <a:ext cx="3429024" cy="1374422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Huida del dinero papel hacia el metálico</a:t>
            </a:r>
            <a:endParaRPr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10 Rectángulo redondeado"/>
          <p:cNvSpPr/>
          <p:nvPr/>
        </p:nvSpPr>
        <p:spPr>
          <a:xfrm>
            <a:off x="739580" y="3317618"/>
            <a:ext cx="4611318" cy="620688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El </a:t>
            </a:r>
            <a:r>
              <a:rPr lang="es-AR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gobierno</a:t>
            </a:r>
            <a:r>
              <a:rPr lang="es-AR" sz="28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AR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intervino…</a:t>
            </a:r>
            <a:endParaRPr sz="2400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739580" y="3944800"/>
            <a:ext cx="4611317" cy="8309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/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Economía ARG (pequeña y abierta) particularmente </a:t>
            </a:r>
            <a:r>
              <a:rPr lang="es-AR" sz="1600" b="1" u="sng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sensible</a:t>
            </a:r>
            <a:r>
              <a:rPr lang="es-AR"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a las fluctuaciones del tipo de cambio</a:t>
            </a:r>
            <a:r>
              <a:rPr sz="16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6804248" y="3014799"/>
            <a:ext cx="2195736" cy="60161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Suba de </a:t>
            </a:r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precios</a:t>
            </a:r>
            <a:endParaRPr lang="es-AR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6804248" y="3675323"/>
            <a:ext cx="2195736" cy="60161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Problema fiscal</a:t>
            </a:r>
          </a:p>
        </p:txBody>
      </p:sp>
      <p:sp>
        <p:nvSpPr>
          <p:cNvPr id="17" name="16 Rectángulo redondeado"/>
          <p:cNvSpPr/>
          <p:nvPr/>
        </p:nvSpPr>
        <p:spPr>
          <a:xfrm>
            <a:off x="6804248" y="4286826"/>
            <a:ext cx="2214579" cy="198433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/>
            <a:r>
              <a:rPr lang="es-AR" sz="12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Tarifas se cobraban en pesos</a:t>
            </a:r>
          </a:p>
        </p:txBody>
      </p:sp>
      <p:sp>
        <p:nvSpPr>
          <p:cNvPr id="18" name="17 Rectángulo"/>
          <p:cNvSpPr/>
          <p:nvPr/>
        </p:nvSpPr>
        <p:spPr>
          <a:xfrm>
            <a:off x="6804248" y="4551129"/>
            <a:ext cx="2195736" cy="60161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Deuda externa</a:t>
            </a:r>
            <a:endParaRPr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18 Rectángulo redondeado"/>
          <p:cNvSpPr/>
          <p:nvPr/>
        </p:nvSpPr>
        <p:spPr>
          <a:xfrm>
            <a:off x="6804247" y="5160715"/>
            <a:ext cx="2200511" cy="198433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/>
            <a:r>
              <a:rPr lang="es-AR" sz="12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Se debía pagar en oro</a:t>
            </a:r>
          </a:p>
        </p:txBody>
      </p:sp>
      <p:sp>
        <p:nvSpPr>
          <p:cNvPr id="16" name="15 Rectángulo redondeado"/>
          <p:cNvSpPr/>
          <p:nvPr/>
        </p:nvSpPr>
        <p:spPr>
          <a:xfrm>
            <a:off x="4786314" y="1124744"/>
            <a:ext cx="3429024" cy="1379552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Depreciación del peso papel</a:t>
            </a:r>
            <a:endParaRPr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20 Flecha derecha"/>
          <p:cNvSpPr/>
          <p:nvPr/>
        </p:nvSpPr>
        <p:spPr>
          <a:xfrm>
            <a:off x="4357686" y="1421338"/>
            <a:ext cx="357190" cy="857256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21 Estrella de 5 puntas"/>
          <p:cNvSpPr/>
          <p:nvPr/>
        </p:nvSpPr>
        <p:spPr>
          <a:xfrm>
            <a:off x="4945627" y="3374606"/>
            <a:ext cx="357190" cy="285752"/>
          </a:xfrm>
          <a:prstGeom prst="star5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7C96DED-DC10-4A98-B2F3-B4D2684BBA5F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  <p:sp>
        <p:nvSpPr>
          <p:cNvPr id="25" name="15 Rectángulo redondeado">
            <a:extLst>
              <a:ext uri="{FF2B5EF4-FFF2-40B4-BE49-F238E27FC236}">
                <a16:creationId xmlns:a16="http://schemas.microsoft.com/office/drawing/2014/main" id="{474D56BF-7483-4BB1-B26C-6283B7519739}"/>
              </a:ext>
            </a:extLst>
          </p:cNvPr>
          <p:cNvSpPr/>
          <p:nvPr/>
        </p:nvSpPr>
        <p:spPr>
          <a:xfrm>
            <a:off x="5715008" y="234821"/>
            <a:ext cx="3071834" cy="60161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Corrida Cambiaria</a:t>
            </a:r>
          </a:p>
        </p:txBody>
      </p:sp>
      <p:cxnSp>
        <p:nvCxnSpPr>
          <p:cNvPr id="6" name="Conector: angular 5">
            <a:extLst>
              <a:ext uri="{FF2B5EF4-FFF2-40B4-BE49-F238E27FC236}">
                <a16:creationId xmlns:a16="http://schemas.microsoft.com/office/drawing/2014/main" id="{70BE9561-CEFD-4709-AC77-82D5A2FBB7D2}"/>
              </a:ext>
            </a:extLst>
          </p:cNvPr>
          <p:cNvCxnSpPr>
            <a:cxnSpLocks/>
            <a:stCxn id="16" idx="2"/>
            <a:endCxn id="14" idx="1"/>
          </p:cNvCxnSpPr>
          <p:nvPr/>
        </p:nvCxnSpPr>
        <p:spPr>
          <a:xfrm rot="16200000" flipH="1">
            <a:off x="6246882" y="2758240"/>
            <a:ext cx="811311" cy="303422"/>
          </a:xfrm>
          <a:prstGeom prst="bentConnector2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AC36417E-8EA9-4BF9-9666-BCFC4E865D2B}"/>
              </a:ext>
            </a:extLst>
          </p:cNvPr>
          <p:cNvCxnSpPr>
            <a:cxnSpLocks/>
            <a:stCxn id="16" idx="2"/>
            <a:endCxn id="15" idx="1"/>
          </p:cNvCxnSpPr>
          <p:nvPr/>
        </p:nvCxnSpPr>
        <p:spPr>
          <a:xfrm rot="16200000" flipH="1">
            <a:off x="5916620" y="3088502"/>
            <a:ext cx="1471835" cy="303422"/>
          </a:xfrm>
          <a:prstGeom prst="bentConnector2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CAC06618-8E19-4E4F-AA0C-6FB9573C1915}"/>
              </a:ext>
            </a:extLst>
          </p:cNvPr>
          <p:cNvCxnSpPr>
            <a:cxnSpLocks/>
            <a:stCxn id="16" idx="2"/>
            <a:endCxn id="18" idx="1"/>
          </p:cNvCxnSpPr>
          <p:nvPr/>
        </p:nvCxnSpPr>
        <p:spPr>
          <a:xfrm rot="16200000" flipH="1">
            <a:off x="5478717" y="3526405"/>
            <a:ext cx="2347641" cy="303422"/>
          </a:xfrm>
          <a:prstGeom prst="bentConnector2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13 Rectángulo">
            <a:extLst>
              <a:ext uri="{FF2B5EF4-FFF2-40B4-BE49-F238E27FC236}">
                <a16:creationId xmlns:a16="http://schemas.microsoft.com/office/drawing/2014/main" id="{474B96DA-3FB4-4ACE-B5E2-26467CEB46CD}"/>
              </a:ext>
            </a:extLst>
          </p:cNvPr>
          <p:cNvSpPr/>
          <p:nvPr/>
        </p:nvSpPr>
        <p:spPr>
          <a:xfrm>
            <a:off x="2616610" y="5507948"/>
            <a:ext cx="3482152" cy="62068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Afecta el </a:t>
            </a:r>
            <a:r>
              <a:rPr lang="es-E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flujo de capitales </a:t>
            </a:r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que</a:t>
            </a:r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171450" indent="-171450"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financiaba déficits gemelos </a:t>
            </a:r>
          </a:p>
        </p:txBody>
      </p:sp>
      <p:sp>
        <p:nvSpPr>
          <p:cNvPr id="33" name="18 Rectángulo redondeado">
            <a:extLst>
              <a:ext uri="{FF2B5EF4-FFF2-40B4-BE49-F238E27FC236}">
                <a16:creationId xmlns:a16="http://schemas.microsoft.com/office/drawing/2014/main" id="{E9CBF763-C69B-4802-9F6A-F5AD516BE327}"/>
              </a:ext>
            </a:extLst>
          </p:cNvPr>
          <p:cNvSpPr/>
          <p:nvPr/>
        </p:nvSpPr>
        <p:spPr>
          <a:xfrm>
            <a:off x="2616610" y="6148335"/>
            <a:ext cx="3482152" cy="197104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/>
            <a:r>
              <a:rPr lang="es-ES" sz="1200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Inestabilidad: prima de riesgo más alta</a:t>
            </a:r>
          </a:p>
        </p:txBody>
      </p: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EF785FF8-D27D-43EB-B1C2-C44DAA1CF876}"/>
              </a:ext>
            </a:extLst>
          </p:cNvPr>
          <p:cNvCxnSpPr>
            <a:cxnSpLocks/>
            <a:stCxn id="16" idx="2"/>
            <a:endCxn id="32" idx="3"/>
          </p:cNvCxnSpPr>
          <p:nvPr/>
        </p:nvCxnSpPr>
        <p:spPr>
          <a:xfrm rot="5400000">
            <a:off x="4642796" y="3960262"/>
            <a:ext cx="3313996" cy="402064"/>
          </a:xfrm>
          <a:prstGeom prst="bentConnector2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871812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 redondeado"/>
          <p:cNvSpPr/>
          <p:nvPr/>
        </p:nvSpPr>
        <p:spPr>
          <a:xfrm>
            <a:off x="1935538" y="2053020"/>
            <a:ext cx="5272923" cy="10159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El </a:t>
            </a:r>
            <a:r>
              <a:rPr lang="es-AR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oro depositado en el Banco Nacional (garantía del sistema bancario) fue lanzado al mercado</a:t>
            </a:r>
            <a:r>
              <a:rPr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</a:p>
        </p:txBody>
      </p:sp>
      <p:sp>
        <p:nvSpPr>
          <p:cNvPr id="9" name="8 Rectángulo"/>
          <p:cNvSpPr/>
          <p:nvPr/>
        </p:nvSpPr>
        <p:spPr>
          <a:xfrm>
            <a:off x="2486452" y="4191277"/>
            <a:ext cx="2071702" cy="8939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público anticipó la política monetaria</a:t>
            </a:r>
          </a:p>
          <a:p>
            <a:pPr algn="ctr"/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(financiar </a:t>
            </a:r>
            <a:r>
              <a:rPr lang="es-AR" sz="1400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deficits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1643042" y="3476898"/>
            <a:ext cx="5857916" cy="71438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Sustitución entre monedas </a:t>
            </a:r>
            <a:endParaRPr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4632402" y="4191277"/>
            <a:ext cx="2071702" cy="893907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Drenaje de oro de las arcas </a:t>
            </a:r>
            <a:r>
              <a:rPr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Banco Nacional </a:t>
            </a:r>
            <a:endParaRPr lang="es-AR" sz="1400" b="1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12 Elipse"/>
          <p:cNvSpPr/>
          <p:nvPr/>
        </p:nvSpPr>
        <p:spPr>
          <a:xfrm>
            <a:off x="7072362" y="2983381"/>
            <a:ext cx="1857356" cy="1714512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La defensa del billete garantido </a:t>
            </a:r>
            <a:r>
              <a:rPr sz="2000" b="1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fracasó</a:t>
            </a:r>
            <a:endParaRPr b="1" dirty="0">
              <a:solidFill>
                <a:schemeClr val="accent5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1643042" y="1030936"/>
            <a:ext cx="5857916" cy="860334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3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Régimen de Flotación Sucia</a:t>
            </a:r>
          </a:p>
        </p:txBody>
      </p:sp>
      <p:sp>
        <p:nvSpPr>
          <p:cNvPr id="16" name="15 Estrella de 5 puntas"/>
          <p:cNvSpPr/>
          <p:nvPr/>
        </p:nvSpPr>
        <p:spPr>
          <a:xfrm>
            <a:off x="4393405" y="2135672"/>
            <a:ext cx="357190" cy="285752"/>
          </a:xfrm>
          <a:prstGeom prst="star5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66426F1-A627-4D76-B3C6-FB0CAFE1EDCC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  <p:sp>
        <p:nvSpPr>
          <p:cNvPr id="18" name="15 Rectángulo redondeado">
            <a:extLst>
              <a:ext uri="{FF2B5EF4-FFF2-40B4-BE49-F238E27FC236}">
                <a16:creationId xmlns:a16="http://schemas.microsoft.com/office/drawing/2014/main" id="{11CAE08F-598D-4186-9ACC-DF39F6D37DC1}"/>
              </a:ext>
            </a:extLst>
          </p:cNvPr>
          <p:cNvSpPr/>
          <p:nvPr/>
        </p:nvSpPr>
        <p:spPr>
          <a:xfrm>
            <a:off x="5715008" y="234821"/>
            <a:ext cx="3071834" cy="60161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Flotación Sucia</a:t>
            </a:r>
          </a:p>
        </p:txBody>
      </p:sp>
      <p:sp>
        <p:nvSpPr>
          <p:cNvPr id="19" name="10 Rectángulo redondeado">
            <a:extLst>
              <a:ext uri="{FF2B5EF4-FFF2-40B4-BE49-F238E27FC236}">
                <a16:creationId xmlns:a16="http://schemas.microsoft.com/office/drawing/2014/main" id="{294F7AD3-B72B-4187-AFC4-D075981A6A74}"/>
              </a:ext>
            </a:extLst>
          </p:cNvPr>
          <p:cNvSpPr/>
          <p:nvPr/>
        </p:nvSpPr>
        <p:spPr>
          <a:xfrm>
            <a:off x="437726" y="5537423"/>
            <a:ext cx="2880320" cy="89390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“Salto” del tipo de cambio</a:t>
            </a:r>
            <a:endParaRPr sz="24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14 Rectángulo redondeado">
            <a:extLst>
              <a:ext uri="{FF2B5EF4-FFF2-40B4-BE49-F238E27FC236}">
                <a16:creationId xmlns:a16="http://schemas.microsoft.com/office/drawing/2014/main" id="{51A28F79-62D7-48C8-98E2-772C8671CCA9}"/>
              </a:ext>
            </a:extLst>
          </p:cNvPr>
          <p:cNvSpPr/>
          <p:nvPr/>
        </p:nvSpPr>
        <p:spPr>
          <a:xfrm>
            <a:off x="3944363" y="5371399"/>
            <a:ext cx="5010137" cy="3636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Aumento de precios</a:t>
            </a:r>
          </a:p>
        </p:txBody>
      </p:sp>
      <p:sp>
        <p:nvSpPr>
          <p:cNvPr id="21" name="14 Rectángulo redondeado">
            <a:extLst>
              <a:ext uri="{FF2B5EF4-FFF2-40B4-BE49-F238E27FC236}">
                <a16:creationId xmlns:a16="http://schemas.microsoft.com/office/drawing/2014/main" id="{34603AE7-3B08-485D-AF96-CA47AAC2D680}"/>
              </a:ext>
            </a:extLst>
          </p:cNvPr>
          <p:cNvSpPr/>
          <p:nvPr/>
        </p:nvSpPr>
        <p:spPr>
          <a:xfrm>
            <a:off x="3954352" y="5802527"/>
            <a:ext cx="5010136" cy="3636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Empeoramiento de la situación fiscal</a:t>
            </a:r>
          </a:p>
        </p:txBody>
      </p:sp>
      <p:sp>
        <p:nvSpPr>
          <p:cNvPr id="22" name="14 Rectángulo redondeado">
            <a:extLst>
              <a:ext uri="{FF2B5EF4-FFF2-40B4-BE49-F238E27FC236}">
                <a16:creationId xmlns:a16="http://schemas.microsoft.com/office/drawing/2014/main" id="{4067C81F-6B23-448F-91E4-EBFD816F36F1}"/>
              </a:ext>
            </a:extLst>
          </p:cNvPr>
          <p:cNvSpPr/>
          <p:nvPr/>
        </p:nvSpPr>
        <p:spPr>
          <a:xfrm>
            <a:off x="3954352" y="6233655"/>
            <a:ext cx="5010136" cy="36369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Reticencia de los mercados externos</a:t>
            </a:r>
          </a:p>
        </p:txBody>
      </p: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E2E2D790-4878-481A-B063-62842F7F1929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3318046" y="5553248"/>
            <a:ext cx="626317" cy="431129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4933E525-834A-4FB2-A491-7D1B6503C86D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>
            <a:off x="3318046" y="5984377"/>
            <a:ext cx="636306" cy="431127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267C71F9-4D17-46B0-A294-0CBAC3EA2399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 flipV="1">
            <a:off x="3318046" y="5984376"/>
            <a:ext cx="636306" cy="1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87286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 redondeado"/>
          <p:cNvSpPr/>
          <p:nvPr/>
        </p:nvSpPr>
        <p:spPr>
          <a:xfrm>
            <a:off x="625384" y="2818661"/>
            <a:ext cx="2367033" cy="766404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Sobre los dos bancos líderes</a:t>
            </a:r>
            <a:r>
              <a:rPr lang="es-AR" sz="1400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: el BN y BPBA (bajos niveles de R/D)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CFB6435-1F1E-48D4-B86D-81A8561A5E31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</a:t>
            </a:r>
          </a:p>
        </p:txBody>
      </p:sp>
      <p:sp>
        <p:nvSpPr>
          <p:cNvPr id="17" name="15 Rectángulo redondeado">
            <a:extLst>
              <a:ext uri="{FF2B5EF4-FFF2-40B4-BE49-F238E27FC236}">
                <a16:creationId xmlns:a16="http://schemas.microsoft.com/office/drawing/2014/main" id="{32D01DC9-AF02-4CD6-AC71-00EA993493B2}"/>
              </a:ext>
            </a:extLst>
          </p:cNvPr>
          <p:cNvSpPr/>
          <p:nvPr/>
        </p:nvSpPr>
        <p:spPr>
          <a:xfrm>
            <a:off x="5715008" y="234821"/>
            <a:ext cx="3071834" cy="60161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 w="571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Corridas Bancarias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471D564-0511-4A68-B972-80569AEF1592}"/>
              </a:ext>
            </a:extLst>
          </p:cNvPr>
          <p:cNvCxnSpPr>
            <a:cxnSpLocks/>
          </p:cNvCxnSpPr>
          <p:nvPr/>
        </p:nvCxnSpPr>
        <p:spPr>
          <a:xfrm>
            <a:off x="779789" y="1368295"/>
            <a:ext cx="7387754" cy="12051"/>
          </a:xfrm>
          <a:prstGeom prst="line">
            <a:avLst/>
          </a:prstGeom>
          <a:ln w="76200">
            <a:solidFill>
              <a:schemeClr val="accent5">
                <a:lumMod val="50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B0C76A76-2113-4750-932D-63833D3153AD}"/>
              </a:ext>
            </a:extLst>
          </p:cNvPr>
          <p:cNvCxnSpPr/>
          <p:nvPr/>
        </p:nvCxnSpPr>
        <p:spPr>
          <a:xfrm>
            <a:off x="1854302" y="1168033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FBD1AF3-9235-499E-82F9-5E914A047F71}"/>
              </a:ext>
            </a:extLst>
          </p:cNvPr>
          <p:cNvCxnSpPr/>
          <p:nvPr/>
        </p:nvCxnSpPr>
        <p:spPr>
          <a:xfrm>
            <a:off x="4550617" y="1168033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F3ABB4B-AB79-4763-B83F-5E5D02EC1310}"/>
              </a:ext>
            </a:extLst>
          </p:cNvPr>
          <p:cNvCxnSpPr/>
          <p:nvPr/>
        </p:nvCxnSpPr>
        <p:spPr>
          <a:xfrm>
            <a:off x="7321610" y="1166391"/>
            <a:ext cx="0" cy="432048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5630781-BB0A-42CE-AAC7-FDAC84657A5B}"/>
              </a:ext>
            </a:extLst>
          </p:cNvPr>
          <p:cNvSpPr txBox="1"/>
          <p:nvPr/>
        </p:nvSpPr>
        <p:spPr>
          <a:xfrm>
            <a:off x="1152828" y="1569063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 err="1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</a:t>
            </a:r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1890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C94DFF6-2B17-4D66-B069-741094926801}"/>
              </a:ext>
            </a:extLst>
          </p:cNvPr>
          <p:cNvSpPr/>
          <p:nvPr/>
        </p:nvSpPr>
        <p:spPr>
          <a:xfrm>
            <a:off x="1213615" y="1894521"/>
            <a:ext cx="12657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Primera Corrida Bancaria</a:t>
            </a:r>
            <a:endParaRPr lang="es-AR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0" name="8 Rectángulo redondeado">
            <a:extLst>
              <a:ext uri="{FF2B5EF4-FFF2-40B4-BE49-F238E27FC236}">
                <a16:creationId xmlns:a16="http://schemas.microsoft.com/office/drawing/2014/main" id="{2286A120-00AA-4F3E-A305-F774657D1399}"/>
              </a:ext>
            </a:extLst>
          </p:cNvPr>
          <p:cNvSpPr/>
          <p:nvPr/>
        </p:nvSpPr>
        <p:spPr>
          <a:xfrm>
            <a:off x="625384" y="3636369"/>
            <a:ext cx="2367033" cy="70624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Se autorizó a entrar en circulación billetes viejos</a:t>
            </a:r>
            <a:endParaRPr lang="es-AR" sz="1400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8 Rectángulo redondeado">
            <a:extLst>
              <a:ext uri="{FF2B5EF4-FFF2-40B4-BE49-F238E27FC236}">
                <a16:creationId xmlns:a16="http://schemas.microsoft.com/office/drawing/2014/main" id="{F8FBF516-6C55-4CAB-BE3B-C0500CEFC669}"/>
              </a:ext>
            </a:extLst>
          </p:cNvPr>
          <p:cNvSpPr/>
          <p:nvPr/>
        </p:nvSpPr>
        <p:spPr>
          <a:xfrm>
            <a:off x="606007" y="4393913"/>
            <a:ext cx="2385670" cy="394343"/>
          </a:xfrm>
          <a:prstGeom prst="roundRect">
            <a:avLst>
              <a:gd name="adj" fmla="val 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EMISIÓN</a:t>
            </a:r>
            <a:endParaRPr lang="es-AR" sz="2000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8 Rectángulo redondeado">
            <a:extLst>
              <a:ext uri="{FF2B5EF4-FFF2-40B4-BE49-F238E27FC236}">
                <a16:creationId xmlns:a16="http://schemas.microsoft.com/office/drawing/2014/main" id="{36A96B18-6805-436F-A60F-C3352F9706C6}"/>
              </a:ext>
            </a:extLst>
          </p:cNvPr>
          <p:cNvSpPr/>
          <p:nvPr/>
        </p:nvSpPr>
        <p:spPr>
          <a:xfrm>
            <a:off x="606007" y="4844063"/>
            <a:ext cx="2397235" cy="619076"/>
          </a:xfrm>
          <a:prstGeom prst="roundRect">
            <a:avLst>
              <a:gd name="adj" fmla="val 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nueva depreciación (20%) </a:t>
            </a:r>
          </a:p>
        </p:txBody>
      </p:sp>
      <p:sp>
        <p:nvSpPr>
          <p:cNvPr id="33" name="8 Rectángulo redondeado">
            <a:extLst>
              <a:ext uri="{FF2B5EF4-FFF2-40B4-BE49-F238E27FC236}">
                <a16:creationId xmlns:a16="http://schemas.microsoft.com/office/drawing/2014/main" id="{C14F3037-C61A-4C30-A8FD-7FB1FE1D2EA6}"/>
              </a:ext>
            </a:extLst>
          </p:cNvPr>
          <p:cNvSpPr/>
          <p:nvPr/>
        </p:nvSpPr>
        <p:spPr>
          <a:xfrm>
            <a:off x="599183" y="5517691"/>
            <a:ext cx="2397235" cy="70624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PRECIOS,</a:t>
            </a:r>
          </a:p>
          <a:p>
            <a:pPr algn="ctr"/>
            <a:r>
              <a:rPr lang="es-ES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FISCO</a:t>
            </a:r>
            <a:r>
              <a:rPr lang="es-AR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,</a:t>
            </a:r>
          </a:p>
          <a:p>
            <a:pPr algn="ctr"/>
            <a:r>
              <a:rPr lang="es-AR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INVERSIONES</a:t>
            </a:r>
            <a:endParaRPr lang="es-ES" sz="14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8 Rectángulo redondeado">
            <a:extLst>
              <a:ext uri="{FF2B5EF4-FFF2-40B4-BE49-F238E27FC236}">
                <a16:creationId xmlns:a16="http://schemas.microsoft.com/office/drawing/2014/main" id="{8C4EA500-0C71-402A-AF77-ED3B7626B199}"/>
              </a:ext>
            </a:extLst>
          </p:cNvPr>
          <p:cNvSpPr/>
          <p:nvPr/>
        </p:nvSpPr>
        <p:spPr>
          <a:xfrm>
            <a:off x="3318429" y="2817851"/>
            <a:ext cx="2397234" cy="923331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El BN notificó a la casa </a:t>
            </a:r>
            <a:r>
              <a:rPr lang="es-ES" sz="14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Baring</a:t>
            </a:r>
            <a:r>
              <a:rPr lang="es-ES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la suspensión del pago del servicio de la deuda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2212CA4-CE4B-4451-8379-BC89BE90352F}"/>
              </a:ext>
            </a:extLst>
          </p:cNvPr>
          <p:cNvSpPr txBox="1"/>
          <p:nvPr/>
        </p:nvSpPr>
        <p:spPr>
          <a:xfrm>
            <a:off x="3842772" y="1569063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Junio 1890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6D0EF526-7812-40D5-8CC4-E1FBE202F69A}"/>
              </a:ext>
            </a:extLst>
          </p:cNvPr>
          <p:cNvSpPr/>
          <p:nvPr/>
        </p:nvSpPr>
        <p:spPr>
          <a:xfrm>
            <a:off x="3903559" y="1894521"/>
            <a:ext cx="12657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Segunda  Corrida Bancaria</a:t>
            </a:r>
            <a:endParaRPr lang="es-AR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7" name="8 Rectángulo redondeado">
            <a:extLst>
              <a:ext uri="{FF2B5EF4-FFF2-40B4-BE49-F238E27FC236}">
                <a16:creationId xmlns:a16="http://schemas.microsoft.com/office/drawing/2014/main" id="{1E296AA9-57C8-4628-AD43-53259B9A8D1A}"/>
              </a:ext>
            </a:extLst>
          </p:cNvPr>
          <p:cNvSpPr/>
          <p:nvPr/>
        </p:nvSpPr>
        <p:spPr>
          <a:xfrm>
            <a:off x="3318427" y="3793435"/>
            <a:ext cx="2397235" cy="923842"/>
          </a:xfrm>
          <a:prstGeom prst="roundRect">
            <a:avLst>
              <a:gd name="adj" fmla="val 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Continuaron : redescuentos, déficit fiscal y default externo</a:t>
            </a:r>
          </a:p>
        </p:txBody>
      </p:sp>
      <p:sp>
        <p:nvSpPr>
          <p:cNvPr id="39" name="8 Rectángulo redondeado">
            <a:extLst>
              <a:ext uri="{FF2B5EF4-FFF2-40B4-BE49-F238E27FC236}">
                <a16:creationId xmlns:a16="http://schemas.microsoft.com/office/drawing/2014/main" id="{F854535B-53E8-4C75-B5A3-2DDAE75A7FDE}"/>
              </a:ext>
            </a:extLst>
          </p:cNvPr>
          <p:cNvSpPr/>
          <p:nvPr/>
        </p:nvSpPr>
        <p:spPr>
          <a:xfrm>
            <a:off x="3303326" y="4769530"/>
            <a:ext cx="2397235" cy="46969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Sin apoyo del congreso</a:t>
            </a:r>
          </a:p>
        </p:txBody>
      </p:sp>
      <p:sp>
        <p:nvSpPr>
          <p:cNvPr id="40" name="8 Rectángulo redondeado">
            <a:extLst>
              <a:ext uri="{FF2B5EF4-FFF2-40B4-BE49-F238E27FC236}">
                <a16:creationId xmlns:a16="http://schemas.microsoft.com/office/drawing/2014/main" id="{B9CA28D7-AF2C-4A69-9277-6B7014094255}"/>
              </a:ext>
            </a:extLst>
          </p:cNvPr>
          <p:cNvSpPr/>
          <p:nvPr/>
        </p:nvSpPr>
        <p:spPr>
          <a:xfrm>
            <a:off x="3318427" y="5291473"/>
            <a:ext cx="2382134" cy="945839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CRISIS POLÍTICA (Afuera </a:t>
            </a:r>
            <a:r>
              <a:rPr lang="es-AR" sz="1400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Juarez</a:t>
            </a:r>
            <a:r>
              <a:rPr lang="es-AR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Celman; adentro Pellegrini)</a:t>
            </a:r>
            <a:endParaRPr lang="es-ES" sz="1400" b="1" dirty="0">
              <a:solidFill>
                <a:schemeClr val="accent5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8 Rectángulo redondeado">
            <a:extLst>
              <a:ext uri="{FF2B5EF4-FFF2-40B4-BE49-F238E27FC236}">
                <a16:creationId xmlns:a16="http://schemas.microsoft.com/office/drawing/2014/main" id="{1BAEA654-DC6D-4DD3-AD17-E18658EF1100}"/>
              </a:ext>
            </a:extLst>
          </p:cNvPr>
          <p:cNvSpPr/>
          <p:nvPr/>
        </p:nvSpPr>
        <p:spPr>
          <a:xfrm>
            <a:off x="6135206" y="2817537"/>
            <a:ext cx="2397234" cy="1133414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Se percibe que los bancos no pueden funcionar sin el gobierno como prestamista de última instancia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F00C630-3E43-4BED-A7DA-CC7F07584498}"/>
              </a:ext>
            </a:extLst>
          </p:cNvPr>
          <p:cNvSpPr txBox="1"/>
          <p:nvPr/>
        </p:nvSpPr>
        <p:spPr>
          <a:xfrm>
            <a:off x="6663908" y="1568748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Fines 1890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FCCDAFF-DAA1-48CB-9913-41F678E9558B}"/>
              </a:ext>
            </a:extLst>
          </p:cNvPr>
          <p:cNvSpPr/>
          <p:nvPr/>
        </p:nvSpPr>
        <p:spPr>
          <a:xfrm>
            <a:off x="6724695" y="1894206"/>
            <a:ext cx="12657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Tercera  Corrida Bancaria</a:t>
            </a:r>
            <a:endParaRPr lang="es-AR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4" name="8 Rectángulo redondeado">
            <a:extLst>
              <a:ext uri="{FF2B5EF4-FFF2-40B4-BE49-F238E27FC236}">
                <a16:creationId xmlns:a16="http://schemas.microsoft.com/office/drawing/2014/main" id="{D5A29290-73CB-4CB4-AB55-AF7C115F7A66}"/>
              </a:ext>
            </a:extLst>
          </p:cNvPr>
          <p:cNvSpPr/>
          <p:nvPr/>
        </p:nvSpPr>
        <p:spPr>
          <a:xfrm>
            <a:off x="6135204" y="3989489"/>
            <a:ext cx="2397235" cy="923842"/>
          </a:xfrm>
          <a:prstGeom prst="roundRect">
            <a:avLst>
              <a:gd name="adj" fmla="val 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Masiva corrida sobre el BN y el BPBA</a:t>
            </a:r>
          </a:p>
        </p:txBody>
      </p:sp>
      <p:sp>
        <p:nvSpPr>
          <p:cNvPr id="45" name="8 Rectángulo redondeado">
            <a:extLst>
              <a:ext uri="{FF2B5EF4-FFF2-40B4-BE49-F238E27FC236}">
                <a16:creationId xmlns:a16="http://schemas.microsoft.com/office/drawing/2014/main" id="{7F37E628-1F19-4E8E-B6DA-3CD0338E5335}"/>
              </a:ext>
            </a:extLst>
          </p:cNvPr>
          <p:cNvSpPr/>
          <p:nvPr/>
        </p:nvSpPr>
        <p:spPr>
          <a:xfrm>
            <a:off x="6147582" y="4953144"/>
            <a:ext cx="2397235" cy="1284168"/>
          </a:xfrm>
          <a:prstGeom prst="roundRect">
            <a:avLst>
              <a:gd name="adj" fmla="val 0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EL BN Y EL BPBA CIERRAN EN ABRIL DE 1891</a:t>
            </a:r>
          </a:p>
        </p:txBody>
      </p:sp>
    </p:spTree>
    <p:extLst>
      <p:ext uri="{BB962C8B-B14F-4D97-AF65-F5344CB8AC3E}">
        <p14:creationId xmlns:p14="http://schemas.microsoft.com/office/powerpoint/2010/main" val="346750723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1114427935"/>
              </p:ext>
            </p:extLst>
          </p:nvPr>
        </p:nvGraphicFramePr>
        <p:xfrm>
          <a:off x="-180528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3 CuadroTexto"/>
          <p:cNvSpPr txBox="1"/>
          <p:nvPr/>
        </p:nvSpPr>
        <p:spPr>
          <a:xfrm>
            <a:off x="2288174" y="3240180"/>
            <a:ext cx="11876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3DD10DF-4B53-4565-BD2D-C22C42BF30CB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TRILEMA MACROECONÓMICO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2132DFA-B061-4160-A121-04C5F59D1DF8}"/>
              </a:ext>
            </a:extLst>
          </p:cNvPr>
          <p:cNvSpPr/>
          <p:nvPr/>
        </p:nvSpPr>
        <p:spPr>
          <a:xfrm>
            <a:off x="5796136" y="907030"/>
            <a:ext cx="3024336" cy="44074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 DE BARING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766E6CA-7007-4351-A9F3-5C409847AC0B}"/>
              </a:ext>
            </a:extLst>
          </p:cNvPr>
          <p:cNvSpPr/>
          <p:nvPr/>
        </p:nvSpPr>
        <p:spPr>
          <a:xfrm>
            <a:off x="5795866" y="1627110"/>
            <a:ext cx="3024336" cy="976177"/>
          </a:xfrm>
          <a:prstGeom prst="roundRect">
            <a:avLst>
              <a:gd name="adj" fmla="val 1074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 de la autonomía monetaria (emisión sin respaldo)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6C68B18-DC91-4D33-8D1F-B514CC07BC90}"/>
              </a:ext>
            </a:extLst>
          </p:cNvPr>
          <p:cNvSpPr/>
          <p:nvPr/>
        </p:nvSpPr>
        <p:spPr>
          <a:xfrm>
            <a:off x="5795866" y="2851246"/>
            <a:ext cx="3024336" cy="1028993"/>
          </a:xfrm>
          <a:prstGeom prst="roundRect">
            <a:avLst>
              <a:gd name="adj" fmla="val 1216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mercados de capitales abiertos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A4E8931-1113-48EB-A6E4-37B262653E17}"/>
              </a:ext>
            </a:extLst>
          </p:cNvPr>
          <p:cNvSpPr/>
          <p:nvPr/>
        </p:nvSpPr>
        <p:spPr>
          <a:xfrm>
            <a:off x="5795866" y="4147390"/>
            <a:ext cx="3024336" cy="1028993"/>
          </a:xfrm>
          <a:prstGeom prst="roundRect">
            <a:avLst>
              <a:gd name="adj" fmla="val 12169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Socavó la estabilidad cambiaria</a:t>
            </a:r>
          </a:p>
        </p:txBody>
      </p: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5E21FD2C-6083-4250-946D-AE4018C67D44}"/>
              </a:ext>
            </a:extLst>
          </p:cNvPr>
          <p:cNvCxnSpPr>
            <a:cxnSpLocks/>
            <a:stCxn id="9" idx="1"/>
            <a:endCxn id="13" idx="1"/>
          </p:cNvCxnSpPr>
          <p:nvPr/>
        </p:nvCxnSpPr>
        <p:spPr>
          <a:xfrm rot="10800000" flipV="1">
            <a:off x="5795866" y="1127401"/>
            <a:ext cx="270" cy="987797"/>
          </a:xfrm>
          <a:prstGeom prst="bentConnector3">
            <a:avLst>
              <a:gd name="adj1" fmla="val 186904074"/>
            </a:avLst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13C5863D-5786-43F1-9116-7A6E9206C970}"/>
              </a:ext>
            </a:extLst>
          </p:cNvPr>
          <p:cNvCxnSpPr>
            <a:cxnSpLocks/>
            <a:stCxn id="13" idx="1"/>
            <a:endCxn id="14" idx="1"/>
          </p:cNvCxnSpPr>
          <p:nvPr/>
        </p:nvCxnSpPr>
        <p:spPr>
          <a:xfrm rot="10800000" flipV="1">
            <a:off x="5795866" y="2115199"/>
            <a:ext cx="12700" cy="1250544"/>
          </a:xfrm>
          <a:prstGeom prst="bentConnector3">
            <a:avLst>
              <a:gd name="adj1" fmla="val 3400000"/>
            </a:avLst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604FC84E-D292-4AB4-B96B-387B470418DF}"/>
              </a:ext>
            </a:extLst>
          </p:cNvPr>
          <p:cNvCxnSpPr>
            <a:cxnSpLocks/>
            <a:stCxn id="14" idx="1"/>
            <a:endCxn id="15" idx="1"/>
          </p:cNvCxnSpPr>
          <p:nvPr/>
        </p:nvCxnSpPr>
        <p:spPr>
          <a:xfrm rot="10800000" flipV="1">
            <a:off x="5795866" y="3365743"/>
            <a:ext cx="12700" cy="1296144"/>
          </a:xfrm>
          <a:prstGeom prst="bentConnector3">
            <a:avLst>
              <a:gd name="adj1" fmla="val 2828575"/>
            </a:avLst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DBB1B462-1C79-4E5A-BBEE-76965A994A63}"/>
              </a:ext>
            </a:extLst>
          </p:cNvPr>
          <p:cNvSpPr/>
          <p:nvPr/>
        </p:nvSpPr>
        <p:spPr>
          <a:xfrm>
            <a:off x="5802215" y="5424343"/>
            <a:ext cx="3024336" cy="1028993"/>
          </a:xfrm>
          <a:prstGeom prst="roundRect">
            <a:avLst>
              <a:gd name="adj" fmla="val 12169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Derrumbando el sistema bancario </a:t>
            </a:r>
          </a:p>
          <a:p>
            <a:pPr algn="ctr"/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(bastante débil)</a:t>
            </a:r>
          </a:p>
        </p:txBody>
      </p: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2AE70EEB-D94F-4259-A28B-11B41B33E437}"/>
              </a:ext>
            </a:extLst>
          </p:cNvPr>
          <p:cNvCxnSpPr>
            <a:cxnSpLocks/>
            <a:stCxn id="15" idx="1"/>
            <a:endCxn id="28" idx="1"/>
          </p:cNvCxnSpPr>
          <p:nvPr/>
        </p:nvCxnSpPr>
        <p:spPr>
          <a:xfrm rot="10800000" flipH="1" flipV="1">
            <a:off x="5795865" y="4661886"/>
            <a:ext cx="6349" cy="1276953"/>
          </a:xfrm>
          <a:prstGeom prst="bentConnector3">
            <a:avLst>
              <a:gd name="adj1" fmla="val -4057773"/>
            </a:avLst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815571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F38A6BD-173D-44A0-9DFC-69EA0A9DB65B}"/>
              </a:ext>
            </a:extLst>
          </p:cNvPr>
          <p:cNvSpPr/>
          <p:nvPr/>
        </p:nvSpPr>
        <p:spPr>
          <a:xfrm>
            <a:off x="0" y="0"/>
            <a:ext cx="9144000" cy="62068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 MEDIDAS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1E3DE67-A01A-4409-A171-DD5E59D0B449}"/>
              </a:ext>
            </a:extLst>
          </p:cNvPr>
          <p:cNvSpPr/>
          <p:nvPr/>
        </p:nvSpPr>
        <p:spPr>
          <a:xfrm>
            <a:off x="395536" y="1171656"/>
            <a:ext cx="8424936" cy="44074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MONETARIA</a:t>
            </a:r>
          </a:p>
        </p:txBody>
      </p:sp>
      <p:pic>
        <p:nvPicPr>
          <p:cNvPr id="12" name="Gráfico 11" descr="Dinero">
            <a:extLst>
              <a:ext uri="{FF2B5EF4-FFF2-40B4-BE49-F238E27FC236}">
                <a16:creationId xmlns:a16="http://schemas.microsoft.com/office/drawing/2014/main" id="{CE6FDD05-F427-44F0-A329-C0C0AF135F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412" y="1624800"/>
            <a:ext cx="914400" cy="914400"/>
          </a:xfrm>
          <a:prstGeom prst="rect">
            <a:avLst/>
          </a:prstGeom>
        </p:spPr>
      </p:pic>
      <p:pic>
        <p:nvPicPr>
          <p:cNvPr id="14" name="Gráfico 13" descr="Tribunal">
            <a:extLst>
              <a:ext uri="{FF2B5EF4-FFF2-40B4-BE49-F238E27FC236}">
                <a16:creationId xmlns:a16="http://schemas.microsoft.com/office/drawing/2014/main" id="{3FC47A91-3D3A-4FC0-8DF5-B49AC75AA2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94210" y="1597948"/>
            <a:ext cx="914400" cy="914400"/>
          </a:xfrm>
          <a:prstGeom prst="rect">
            <a:avLst/>
          </a:prstGeom>
        </p:spPr>
      </p:pic>
      <p:pic>
        <p:nvPicPr>
          <p:cNvPr id="16" name="Gráfico 15" descr="Centro educativo">
            <a:extLst>
              <a:ext uri="{FF2B5EF4-FFF2-40B4-BE49-F238E27FC236}">
                <a16:creationId xmlns:a16="http://schemas.microsoft.com/office/drawing/2014/main" id="{29832B85-EDDC-46DD-A9F2-2E538C49F2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80449" y="1533639"/>
            <a:ext cx="914400" cy="914400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8049BFEA-AA43-4DED-A924-89CF6B591D5C}"/>
              </a:ext>
            </a:extLst>
          </p:cNvPr>
          <p:cNvSpPr/>
          <p:nvPr/>
        </p:nvSpPr>
        <p:spPr>
          <a:xfrm>
            <a:off x="1247642" y="1700364"/>
            <a:ext cx="233135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Emisión de billetes de tesorería para inyectar liquidez a los bancos </a:t>
            </a:r>
          </a:p>
          <a:p>
            <a:r>
              <a:rPr lang="es-AR" sz="1400" b="1" dirty="0" err="1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sep</a:t>
            </a:r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1890</a:t>
            </a:r>
            <a:endParaRPr lang="es-AR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4A81D8C-6C85-46DF-B73B-3B1493A6AAF8}"/>
              </a:ext>
            </a:extLst>
          </p:cNvPr>
          <p:cNvSpPr/>
          <p:nvPr/>
        </p:nvSpPr>
        <p:spPr>
          <a:xfrm>
            <a:off x="4174487" y="1704397"/>
            <a:ext cx="170616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Intervención de los bancos del interior</a:t>
            </a:r>
            <a:endParaRPr lang="es-AR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C2F3A34-C765-4E05-901C-F3D4CF4CC690}"/>
              </a:ext>
            </a:extLst>
          </p:cNvPr>
          <p:cNvSpPr/>
          <p:nvPr/>
        </p:nvSpPr>
        <p:spPr>
          <a:xfrm>
            <a:off x="6735282" y="1624800"/>
            <a:ext cx="33559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Creación de la CAJA DE CONVERSIÓN </a:t>
            </a:r>
          </a:p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(emisión centralizada)</a:t>
            </a:r>
          </a:p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Oct 1890</a:t>
            </a:r>
            <a:endParaRPr lang="es-AR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889C2AC3-F13C-4A28-AC82-525E22941AB0}"/>
              </a:ext>
            </a:extLst>
          </p:cNvPr>
          <p:cNvSpPr/>
          <p:nvPr/>
        </p:nvSpPr>
        <p:spPr>
          <a:xfrm>
            <a:off x="395536" y="3196575"/>
            <a:ext cx="8424936" cy="44074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POLÍTICA FISCAL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4217783-5CC6-4D7E-8E11-BD0020A7893B}"/>
              </a:ext>
            </a:extLst>
          </p:cNvPr>
          <p:cNvSpPr/>
          <p:nvPr/>
        </p:nvSpPr>
        <p:spPr>
          <a:xfrm>
            <a:off x="1042647" y="3689441"/>
            <a:ext cx="21741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Aumento del impuesto a artículos de consumo importados</a:t>
            </a:r>
            <a:endParaRPr lang="es-AR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D585BBE-727F-40EE-8D36-15985C1D10DD}"/>
              </a:ext>
            </a:extLst>
          </p:cNvPr>
          <p:cNvSpPr/>
          <p:nvPr/>
        </p:nvSpPr>
        <p:spPr>
          <a:xfrm>
            <a:off x="4308610" y="3689440"/>
            <a:ext cx="164279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Cobro de los impuestos aduaneros 100% en oro</a:t>
            </a:r>
            <a:endParaRPr lang="es-AR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CC4DDBD-751A-480C-BF22-BD7D54721BF6}"/>
              </a:ext>
            </a:extLst>
          </p:cNvPr>
          <p:cNvSpPr/>
          <p:nvPr/>
        </p:nvSpPr>
        <p:spPr>
          <a:xfrm>
            <a:off x="6654726" y="3656530"/>
            <a:ext cx="180570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No se otorgarían garantías a los ferrocarriles</a:t>
            </a:r>
            <a:endParaRPr lang="es-AR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5" name="Gráfico 24" descr="Caja">
            <a:extLst>
              <a:ext uri="{FF2B5EF4-FFF2-40B4-BE49-F238E27FC236}">
                <a16:creationId xmlns:a16="http://schemas.microsoft.com/office/drawing/2014/main" id="{6639719D-BD29-4740-A95A-97946D8816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8483" y="3662590"/>
            <a:ext cx="914400" cy="914400"/>
          </a:xfrm>
          <a:prstGeom prst="rect">
            <a:avLst/>
          </a:prstGeom>
        </p:spPr>
      </p:pic>
      <p:pic>
        <p:nvPicPr>
          <p:cNvPr id="27" name="Gráfico 26" descr="Monedas">
            <a:extLst>
              <a:ext uri="{FF2B5EF4-FFF2-40B4-BE49-F238E27FC236}">
                <a16:creationId xmlns:a16="http://schemas.microsoft.com/office/drawing/2014/main" id="{45F4D8A3-8BF7-4B32-B791-5AA847C25D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46100" y="3637318"/>
            <a:ext cx="914400" cy="914400"/>
          </a:xfrm>
          <a:prstGeom prst="rect">
            <a:avLst/>
          </a:prstGeom>
        </p:spPr>
      </p:pic>
      <p:pic>
        <p:nvPicPr>
          <p:cNvPr id="29" name="Gráfico 28" descr="Documento">
            <a:extLst>
              <a:ext uri="{FF2B5EF4-FFF2-40B4-BE49-F238E27FC236}">
                <a16:creationId xmlns:a16="http://schemas.microsoft.com/office/drawing/2014/main" id="{4040D262-D055-4168-8981-7C7804FDCAD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25633" y="3601573"/>
            <a:ext cx="914400" cy="914400"/>
          </a:xfrm>
          <a:prstGeom prst="rect">
            <a:avLst/>
          </a:prstGeom>
        </p:spPr>
      </p:pic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3D59A6B7-788D-4484-B688-CFC2F562A799}"/>
              </a:ext>
            </a:extLst>
          </p:cNvPr>
          <p:cNvSpPr/>
          <p:nvPr/>
        </p:nvSpPr>
        <p:spPr>
          <a:xfrm>
            <a:off x="384412" y="5212799"/>
            <a:ext cx="8424936" cy="44074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DEUDA EXTERNA</a:t>
            </a:r>
          </a:p>
        </p:txBody>
      </p:sp>
      <p:pic>
        <p:nvPicPr>
          <p:cNvPr id="32" name="Gráfico 31" descr="Cheque bancario">
            <a:extLst>
              <a:ext uri="{FF2B5EF4-FFF2-40B4-BE49-F238E27FC236}">
                <a16:creationId xmlns:a16="http://schemas.microsoft.com/office/drawing/2014/main" id="{23BAE79E-9EA6-40A8-964E-5B20FB5C6A7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3242" y="5682952"/>
            <a:ext cx="914400" cy="914400"/>
          </a:xfrm>
          <a:prstGeom prst="rect">
            <a:avLst/>
          </a:prstGeom>
        </p:spPr>
      </p:pic>
      <p:sp>
        <p:nvSpPr>
          <p:cNvPr id="33" name="Rectángulo 32">
            <a:extLst>
              <a:ext uri="{FF2B5EF4-FFF2-40B4-BE49-F238E27FC236}">
                <a16:creationId xmlns:a16="http://schemas.microsoft.com/office/drawing/2014/main" id="{EDFF8243-4D3C-4BB1-8D44-134D4555CA13}"/>
              </a:ext>
            </a:extLst>
          </p:cNvPr>
          <p:cNvSpPr/>
          <p:nvPr/>
        </p:nvSpPr>
        <p:spPr>
          <a:xfrm>
            <a:off x="1247642" y="5878542"/>
            <a:ext cx="21741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Renegociación de la deuda</a:t>
            </a:r>
            <a:endParaRPr lang="es-AR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41929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2576</Words>
  <Application>Microsoft Office PowerPoint</Application>
  <PresentationFormat>Presentación en pantalla (4:3)</PresentationFormat>
  <Paragraphs>606</Paragraphs>
  <Slides>48</Slides>
  <Notes>43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2012-08-02T15:14:29Z</dcterms:created>
  <dcterms:modified xsi:type="dcterms:W3CDTF">2019-08-22T17:32:34Z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3082</vt:i4>
  </property>
  <property fmtid="{D5CDD505-2E9C-101B-9397-08002B2CF9AE}" pid="3" name="_Version">
    <vt:lpwstr>12.0.4518</vt:lpwstr>
  </property>
</Properties>
</file>