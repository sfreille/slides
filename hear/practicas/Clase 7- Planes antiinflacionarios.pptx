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56" r:id="rId3"/>
    <p:sldId id="257" r:id="rId4"/>
    <p:sldId id="284" r:id="rId5"/>
    <p:sldId id="265" r:id="rId6"/>
    <p:sldId id="266" r:id="rId7"/>
    <p:sldId id="267" r:id="rId8"/>
    <p:sldId id="272" r:id="rId9"/>
    <p:sldId id="264" r:id="rId10"/>
    <p:sldId id="285" r:id="rId11"/>
    <p:sldId id="259" r:id="rId12"/>
    <p:sldId id="268" r:id="rId13"/>
    <p:sldId id="269" r:id="rId14"/>
    <p:sldId id="270" r:id="rId15"/>
    <p:sldId id="271" r:id="rId16"/>
    <p:sldId id="273" r:id="rId17"/>
    <p:sldId id="258" r:id="rId18"/>
    <p:sldId id="286" r:id="rId19"/>
    <p:sldId id="261" r:id="rId20"/>
    <p:sldId id="274" r:id="rId21"/>
    <p:sldId id="275" r:id="rId22"/>
    <p:sldId id="276" r:id="rId23"/>
    <p:sldId id="277" r:id="rId24"/>
    <p:sldId id="278" r:id="rId25"/>
    <p:sldId id="260" r:id="rId26"/>
    <p:sldId id="290" r:id="rId27"/>
    <p:sldId id="287" r:id="rId28"/>
    <p:sldId id="263" r:id="rId29"/>
    <p:sldId id="279" r:id="rId30"/>
    <p:sldId id="280" r:id="rId31"/>
    <p:sldId id="281" r:id="rId32"/>
    <p:sldId id="282" r:id="rId33"/>
    <p:sldId id="283" r:id="rId34"/>
    <p:sldId id="262" r:id="rId35"/>
    <p:sldId id="288" r:id="rId36"/>
    <p:sldId id="289" r:id="rId37"/>
    <p:sldId id="291" r:id="rId38"/>
    <p:sldId id="292" r:id="rId39"/>
    <p:sldId id="293" r:id="rId40"/>
    <p:sldId id="294" r:id="rId41"/>
    <p:sldId id="295" r:id="rId42"/>
    <p:sldId id="297" r:id="rId43"/>
    <p:sldId id="304" r:id="rId44"/>
    <p:sldId id="298" r:id="rId45"/>
    <p:sldId id="299" r:id="rId46"/>
    <p:sldId id="300" r:id="rId47"/>
    <p:sldId id="301" r:id="rId48"/>
    <p:sldId id="302" r:id="rId49"/>
    <p:sldId id="303" r:id="rId50"/>
    <p:sldId id="305" r:id="rId51"/>
    <p:sldId id="306" r:id="rId52"/>
    <p:sldId id="313" r:id="rId53"/>
    <p:sldId id="314" r:id="rId54"/>
    <p:sldId id="307" r:id="rId55"/>
    <p:sldId id="308" r:id="rId56"/>
    <p:sldId id="309" r:id="rId57"/>
    <p:sldId id="310" r:id="rId58"/>
    <p:sldId id="311" r:id="rId59"/>
    <p:sldId id="312" r:id="rId60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85C37A-CA74-4867-B94A-59869BCE1794}" v="10" dt="2019-10-15T20:11:52.8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Tossolini" userId="82ff3cc4fadd8f44" providerId="LiveId" clId="{6285C37A-CA74-4867-B94A-59869BCE1794}"/>
    <pc:docChg chg="addSld delSld modSld sldOrd">
      <pc:chgData name="Lucas Tossolini" userId="82ff3cc4fadd8f44" providerId="LiveId" clId="{6285C37A-CA74-4867-B94A-59869BCE1794}" dt="2019-10-15T20:12:36.991" v="53" actId="404"/>
      <pc:docMkLst>
        <pc:docMk/>
      </pc:docMkLst>
      <pc:sldChg chg="ord">
        <pc:chgData name="Lucas Tossolini" userId="82ff3cc4fadd8f44" providerId="LiveId" clId="{6285C37A-CA74-4867-B94A-59869BCE1794}" dt="2019-10-15T20:06:08.341" v="2"/>
        <pc:sldMkLst>
          <pc:docMk/>
          <pc:sldMk cId="2613490803" sldId="257"/>
        </pc:sldMkLst>
      </pc:sldChg>
      <pc:sldChg chg="ord">
        <pc:chgData name="Lucas Tossolini" userId="82ff3cc4fadd8f44" providerId="LiveId" clId="{6285C37A-CA74-4867-B94A-59869BCE1794}" dt="2019-10-15T20:06:36.775" v="3"/>
        <pc:sldMkLst>
          <pc:docMk/>
          <pc:sldMk cId="451219052" sldId="259"/>
        </pc:sldMkLst>
      </pc:sldChg>
      <pc:sldChg chg="ord">
        <pc:chgData name="Lucas Tossolini" userId="82ff3cc4fadd8f44" providerId="LiveId" clId="{6285C37A-CA74-4867-B94A-59869BCE1794}" dt="2019-10-15T20:07:47.181" v="4"/>
        <pc:sldMkLst>
          <pc:docMk/>
          <pc:sldMk cId="4081367440" sldId="261"/>
        </pc:sldMkLst>
      </pc:sldChg>
      <pc:sldChg chg="ord">
        <pc:chgData name="Lucas Tossolini" userId="82ff3cc4fadd8f44" providerId="LiveId" clId="{6285C37A-CA74-4867-B94A-59869BCE1794}" dt="2019-10-15T20:09:06.173" v="5"/>
        <pc:sldMkLst>
          <pc:docMk/>
          <pc:sldMk cId="372599159" sldId="263"/>
        </pc:sldMkLst>
      </pc:sldChg>
      <pc:sldChg chg="modSp">
        <pc:chgData name="Lucas Tossolini" userId="82ff3cc4fadd8f44" providerId="LiveId" clId="{6285C37A-CA74-4867-B94A-59869BCE1794}" dt="2019-10-15T20:10:37.032" v="7" actId="20577"/>
        <pc:sldMkLst>
          <pc:docMk/>
          <pc:sldMk cId="10383997" sldId="292"/>
        </pc:sldMkLst>
        <pc:spChg chg="mod">
          <ac:chgData name="Lucas Tossolini" userId="82ff3cc4fadd8f44" providerId="LiveId" clId="{6285C37A-CA74-4867-B94A-59869BCE1794}" dt="2019-10-15T20:10:34.794" v="6" actId="20577"/>
          <ac:spMkLst>
            <pc:docMk/>
            <pc:sldMk cId="10383997" sldId="292"/>
            <ac:spMk id="4" creationId="{777489AB-12FF-4E2A-8C34-B8074878F235}"/>
          </ac:spMkLst>
        </pc:spChg>
        <pc:spChg chg="mod">
          <ac:chgData name="Lucas Tossolini" userId="82ff3cc4fadd8f44" providerId="LiveId" clId="{6285C37A-CA74-4867-B94A-59869BCE1794}" dt="2019-10-15T20:10:37.032" v="7" actId="20577"/>
          <ac:spMkLst>
            <pc:docMk/>
            <pc:sldMk cId="10383997" sldId="292"/>
            <ac:spMk id="5" creationId="{0D1C1E0F-953C-432A-9F2F-A1A55D151FAA}"/>
          </ac:spMkLst>
        </pc:spChg>
      </pc:sldChg>
      <pc:sldChg chg="modSp">
        <pc:chgData name="Lucas Tossolini" userId="82ff3cc4fadd8f44" providerId="LiveId" clId="{6285C37A-CA74-4867-B94A-59869BCE1794}" dt="2019-10-15T20:12:36.991" v="53" actId="404"/>
        <pc:sldMkLst>
          <pc:docMk/>
          <pc:sldMk cId="1525226058" sldId="296"/>
        </pc:sldMkLst>
        <pc:spChg chg="mod">
          <ac:chgData name="Lucas Tossolini" userId="82ff3cc4fadd8f44" providerId="LiveId" clId="{6285C37A-CA74-4867-B94A-59869BCE1794}" dt="2019-10-15T20:12:36.991" v="53" actId="404"/>
          <ac:spMkLst>
            <pc:docMk/>
            <pc:sldMk cId="1525226058" sldId="296"/>
            <ac:spMk id="8" creationId="{BDB68376-3601-4F72-98F3-FDAD011EED1E}"/>
          </ac:spMkLst>
        </pc:spChg>
      </pc:sldChg>
      <pc:sldChg chg="ord">
        <pc:chgData name="Lucas Tossolini" userId="82ff3cc4fadd8f44" providerId="LiveId" clId="{6285C37A-CA74-4867-B94A-59869BCE1794}" dt="2019-10-15T20:11:31.709" v="8"/>
        <pc:sldMkLst>
          <pc:docMk/>
          <pc:sldMk cId="2063578209" sldId="304"/>
        </pc:sldMkLst>
      </pc:sldChg>
      <pc:sldChg chg="ord">
        <pc:chgData name="Lucas Tossolini" userId="82ff3cc4fadd8f44" providerId="LiveId" clId="{6285C37A-CA74-4867-B94A-59869BCE1794}" dt="2019-10-15T20:11:46.944" v="9"/>
        <pc:sldMkLst>
          <pc:docMk/>
          <pc:sldMk cId="2384291699" sldId="313"/>
        </pc:sldMkLst>
      </pc:sldChg>
      <pc:sldChg chg="ord">
        <pc:chgData name="Lucas Tossolini" userId="82ff3cc4fadd8f44" providerId="LiveId" clId="{6285C37A-CA74-4867-B94A-59869BCE1794}" dt="2019-10-15T20:11:52.805" v="10"/>
        <pc:sldMkLst>
          <pc:docMk/>
          <pc:sldMk cId="3487592941" sldId="314"/>
        </pc:sldMkLst>
      </pc:sldChg>
      <pc:sldChg chg="add del">
        <pc:chgData name="Lucas Tossolini" userId="82ff3cc4fadd8f44" providerId="LiveId" clId="{6285C37A-CA74-4867-B94A-59869BCE1794}" dt="2019-10-15T19:19:50.363" v="1"/>
        <pc:sldMkLst>
          <pc:docMk/>
          <pc:sldMk cId="3008628449" sldId="31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ci&#243;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ci&#243;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ci&#243;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ci&#243;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ci&#243;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ci&#243;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dirty="0"/>
              <a:t>PIB  a precios de mercado (</a:t>
            </a:r>
            <a:r>
              <a:rPr lang="es-AR" dirty="0" err="1"/>
              <a:t>m$n</a:t>
            </a:r>
            <a:r>
              <a:rPr lang="es-AR" dirty="0"/>
              <a:t> constantes)</a:t>
            </a:r>
            <a:r>
              <a:rPr lang="es-AR" baseline="0" dirty="0"/>
              <a:t> y tendencia (entre 1930 y 2000)</a:t>
            </a:r>
            <a:endParaRPr lang="es-AR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v>Inicio Plan</c:v>
          </c:tx>
          <c:spPr>
            <a:solidFill>
              <a:schemeClr val="accent1">
                <a:lumMod val="40000"/>
                <a:lumOff val="60000"/>
              </a:schemeClr>
            </a:solidFill>
            <a:ln w="25400">
              <a:noFill/>
            </a:ln>
          </c:spPr>
          <c:invertIfNegative val="0"/>
          <c:val>
            <c:numRef>
              <c:f>PIB!$E$18:$E$26</c:f>
              <c:numCache>
                <c:formatCode>General</c:formatCode>
                <c:ptCount val="9"/>
                <c:pt idx="5">
                  <c:v>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91-4138-A376-522588A63F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902111"/>
        <c:axId val="1"/>
      </c:barChart>
      <c:lineChart>
        <c:grouping val="standard"/>
        <c:varyColors val="0"/>
        <c:ser>
          <c:idx val="0"/>
          <c:order val="0"/>
          <c:tx>
            <c:strRef>
              <c:f>PIB!$B$1</c:f>
              <c:strCache>
                <c:ptCount val="1"/>
                <c:pt idx="0">
                  <c:v>PIBpm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PIB!$A$18:$A$26</c:f>
              <c:numCache>
                <c:formatCode>0</c:formatCode>
                <c:ptCount val="9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</c:numCache>
            </c:numRef>
          </c:cat>
          <c:val>
            <c:numRef>
              <c:f>PIB!$B$18:$B$26</c:f>
              <c:numCache>
                <c:formatCode>General</c:formatCode>
                <c:ptCount val="9"/>
                <c:pt idx="0">
                  <c:v>67114.041725902949</c:v>
                </c:pt>
                <c:pt idx="1">
                  <c:v>74579.007511420306</c:v>
                </c:pt>
                <c:pt idx="2">
                  <c:v>78665.372929586738</c:v>
                </c:pt>
                <c:pt idx="3">
                  <c:v>77644.727785006122</c:v>
                </c:pt>
                <c:pt idx="4">
                  <c:v>78587.152906145464</c:v>
                </c:pt>
                <c:pt idx="5">
                  <c:v>81642.192706641246</c:v>
                </c:pt>
                <c:pt idx="6">
                  <c:v>77533.080931383127</c:v>
                </c:pt>
                <c:pt idx="7">
                  <c:v>81642.192706641246</c:v>
                </c:pt>
                <c:pt idx="8">
                  <c:v>85012.517609163639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91-4138-A376-522588A63F74}"/>
            </c:ext>
          </c:extLst>
        </c:ser>
        <c:ser>
          <c:idx val="1"/>
          <c:order val="1"/>
          <c:tx>
            <c:strRef>
              <c:f>PIB!$C$1</c:f>
              <c:strCache>
                <c:ptCount val="1"/>
                <c:pt idx="0">
                  <c:v>PIB_tent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PIB!$A$18:$A$26</c:f>
              <c:numCache>
                <c:formatCode>0</c:formatCode>
                <c:ptCount val="9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</c:numCache>
            </c:numRef>
          </c:cat>
          <c:val>
            <c:numRef>
              <c:f>PIB!$C$18:$C$26</c:f>
              <c:numCache>
                <c:formatCode>General</c:formatCode>
                <c:ptCount val="9"/>
                <c:pt idx="0">
                  <c:v>67976.7890625</c:v>
                </c:pt>
                <c:pt idx="1">
                  <c:v>70478.7265625</c:v>
                </c:pt>
                <c:pt idx="2">
                  <c:v>72922.34375</c:v>
                </c:pt>
                <c:pt idx="3">
                  <c:v>75274.6484375</c:v>
                </c:pt>
                <c:pt idx="4">
                  <c:v>77560.0703125</c:v>
                </c:pt>
                <c:pt idx="5">
                  <c:v>79826.7578125</c:v>
                </c:pt>
                <c:pt idx="6">
                  <c:v>82133.1171875</c:v>
                </c:pt>
                <c:pt idx="7">
                  <c:v>84555.7109375</c:v>
                </c:pt>
                <c:pt idx="8">
                  <c:v>87125.1171875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91-4138-A376-522588A63F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4902111"/>
        <c:axId val="1"/>
      </c:lineChart>
      <c:catAx>
        <c:axId val="774902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902111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dirty="0"/>
              <a:t>Política Fiscal (todo como % PIB)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fiscal!$B$1</c:f>
              <c:strCache>
                <c:ptCount val="1"/>
                <c:pt idx="0">
                  <c:v>ingresos (%PIB)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 w="25400">
              <a:noFill/>
            </a:ln>
          </c:spPr>
          <c:invertIfNegative val="0"/>
          <c:cat>
            <c:numRef>
              <c:f>fiscal!$A$18:$A$26</c:f>
              <c:numCache>
                <c:formatCode>General</c:formatCode>
                <c:ptCount val="9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</c:numCache>
            </c:numRef>
          </c:cat>
          <c:val>
            <c:numRef>
              <c:f>fiscal!$B$18:$B$26</c:f>
              <c:numCache>
                <c:formatCode>_ * #.##000_ ;_ * \-#.##000_ ;_ * "-"_ ;_ @_ </c:formatCode>
                <c:ptCount val="9"/>
                <c:pt idx="0">
                  <c:v>5.7725030843202276</c:v>
                </c:pt>
                <c:pt idx="1">
                  <c:v>7.7083972716777334</c:v>
                </c:pt>
                <c:pt idx="2">
                  <c:v>10.167570557946199</c:v>
                </c:pt>
                <c:pt idx="3">
                  <c:v>7.8391965305750606</c:v>
                </c:pt>
                <c:pt idx="4">
                  <c:v>7.8151888804817409</c:v>
                </c:pt>
                <c:pt idx="5">
                  <c:v>8.4778368420422794</c:v>
                </c:pt>
                <c:pt idx="6">
                  <c:v>8.9012894513246632</c:v>
                </c:pt>
                <c:pt idx="7">
                  <c:v>7.930034512434081</c:v>
                </c:pt>
                <c:pt idx="8">
                  <c:v>7.7468191753643367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0E-489C-858F-24CA446BDC32}"/>
            </c:ext>
          </c:extLst>
        </c:ser>
        <c:ser>
          <c:idx val="1"/>
          <c:order val="1"/>
          <c:tx>
            <c:strRef>
              <c:f>fiscal!$C$1</c:f>
              <c:strCache>
                <c:ptCount val="1"/>
                <c:pt idx="0">
                  <c:v>gastos (% PIB)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 w="25400">
              <a:noFill/>
            </a:ln>
          </c:spPr>
          <c:invertIfNegative val="0"/>
          <c:cat>
            <c:numRef>
              <c:f>fiscal!$A$18:$A$26</c:f>
              <c:numCache>
                <c:formatCode>General</c:formatCode>
                <c:ptCount val="9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</c:numCache>
            </c:numRef>
          </c:cat>
          <c:val>
            <c:numRef>
              <c:f>fiscal!$C$18:$C$26</c:f>
              <c:numCache>
                <c:formatCode>_ * #.##000_ ;_ * \-#.##000_ ;_ * "-"_ ;_ @_ </c:formatCode>
                <c:ptCount val="9"/>
                <c:pt idx="0">
                  <c:v>9.8905759052307776</c:v>
                </c:pt>
                <c:pt idx="1">
                  <c:v>9.3058048986153032</c:v>
                </c:pt>
                <c:pt idx="2">
                  <c:v>12.89261137424525</c:v>
                </c:pt>
                <c:pt idx="3">
                  <c:v>11.82542439557295</c:v>
                </c:pt>
                <c:pt idx="4">
                  <c:v>11.199757859529882</c:v>
                </c:pt>
                <c:pt idx="5">
                  <c:v>11.958973802454874</c:v>
                </c:pt>
                <c:pt idx="6">
                  <c:v>11.90117495500326</c:v>
                </c:pt>
                <c:pt idx="7">
                  <c:v>11.050888975873399</c:v>
                </c:pt>
                <c:pt idx="8">
                  <c:v>10.980079669848992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0E-489C-858F-24CA446BDC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8441951"/>
        <c:axId val="1"/>
      </c:barChart>
      <c:lineChart>
        <c:grouping val="standard"/>
        <c:varyColors val="0"/>
        <c:ser>
          <c:idx val="2"/>
          <c:order val="2"/>
          <c:tx>
            <c:strRef>
              <c:f>fiscal!$D$1</c:f>
              <c:strCache>
                <c:ptCount val="1"/>
                <c:pt idx="0">
                  <c:v>resultado primario (% PIB)</c:v>
                </c:pt>
              </c:strCache>
            </c:strRef>
          </c:tx>
          <c:spPr>
            <a:ln w="3810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fiscal!$A$18:$A$26</c:f>
              <c:numCache>
                <c:formatCode>General</c:formatCode>
                <c:ptCount val="9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</c:numCache>
            </c:numRef>
          </c:cat>
          <c:val>
            <c:numRef>
              <c:f>fiscal!$D$18:$D$26</c:f>
              <c:numCache>
                <c:formatCode>_ * #.##000_ ;_ * \-#.##000_ ;_ * "-"_ ;_ @_ </c:formatCode>
                <c:ptCount val="9"/>
                <c:pt idx="0">
                  <c:v>-3.1405159922941808</c:v>
                </c:pt>
                <c:pt idx="1">
                  <c:v>-0.7766478893004306</c:v>
                </c:pt>
                <c:pt idx="2">
                  <c:v>-2.0133851695403155</c:v>
                </c:pt>
                <c:pt idx="3">
                  <c:v>-3.2424210163657836</c:v>
                </c:pt>
                <c:pt idx="4">
                  <c:v>-2.6409930477634855</c:v>
                </c:pt>
                <c:pt idx="5">
                  <c:v>-2.7901179767662234</c:v>
                </c:pt>
                <c:pt idx="6">
                  <c:v>-2.203170184634947</c:v>
                </c:pt>
                <c:pt idx="7">
                  <c:v>-2.3726543487760146</c:v>
                </c:pt>
                <c:pt idx="8">
                  <c:v>-2.4125364044785118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0E-489C-858F-24CA446BDC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8441951"/>
        <c:axId val="1"/>
      </c:lineChart>
      <c:catAx>
        <c:axId val="90844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908441951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dirty="0"/>
              <a:t>Base Monetaria en términos reales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4472C4"/>
            </a:solidFill>
            <a:ln w="25400">
              <a:noFill/>
            </a:ln>
          </c:spPr>
          <c:invertIfNegative val="0"/>
          <c:cat>
            <c:numRef>
              <c:f>monet!$A$18:$A$26</c:f>
              <c:numCache>
                <c:formatCode>General</c:formatCode>
                <c:ptCount val="9"/>
                <c:pt idx="0">
                  <c:v>1946</c:v>
                </c:pt>
                <c:pt idx="1">
                  <c:v>1947</c:v>
                </c:pt>
                <c:pt idx="2">
                  <c:v>1948</c:v>
                </c:pt>
                <c:pt idx="3">
                  <c:v>1949</c:v>
                </c:pt>
                <c:pt idx="4">
                  <c:v>1950</c:v>
                </c:pt>
                <c:pt idx="5">
                  <c:v>1951</c:v>
                </c:pt>
                <c:pt idx="6">
                  <c:v>1952</c:v>
                </c:pt>
                <c:pt idx="7">
                  <c:v>1953</c:v>
                </c:pt>
                <c:pt idx="8">
                  <c:v>1954</c:v>
                </c:pt>
              </c:numCache>
            </c:numRef>
          </c:cat>
          <c:val>
            <c:numRef>
              <c:f>monet!$F$18:$F$26</c:f>
              <c:numCache>
                <c:formatCode>0%</c:formatCode>
                <c:ptCount val="9"/>
                <c:pt idx="0">
                  <c:v>0.42567275427423645</c:v>
                </c:pt>
                <c:pt idx="1">
                  <c:v>6.6654295921197759E-2</c:v>
                </c:pt>
                <c:pt idx="2">
                  <c:v>0.18831101116394144</c:v>
                </c:pt>
                <c:pt idx="3">
                  <c:v>-2.6395764471191518E-2</c:v>
                </c:pt>
                <c:pt idx="4">
                  <c:v>-7.994744533464937E-4</c:v>
                </c:pt>
                <c:pt idx="5">
                  <c:v>-0.11285723068525</c:v>
                </c:pt>
                <c:pt idx="6">
                  <c:v>-0.17951790285039915</c:v>
                </c:pt>
                <c:pt idx="7">
                  <c:v>0.19278738447297661</c:v>
                </c:pt>
                <c:pt idx="8">
                  <c:v>0.11981175019509371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4E-4A1F-AC74-4A5288EC01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4901711"/>
        <c:axId val="1"/>
      </c:barChart>
      <c:catAx>
        <c:axId val="774901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9017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salario!$B$1</c:f>
              <c:strCache>
                <c:ptCount val="1"/>
                <c:pt idx="0">
                  <c:v>salario real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salario!$A$17:$A$26</c:f>
              <c:numCache>
                <c:formatCode>General</c:formatCode>
                <c:ptCount val="10"/>
                <c:pt idx="0">
                  <c:v>1945</c:v>
                </c:pt>
                <c:pt idx="1">
                  <c:v>1946</c:v>
                </c:pt>
                <c:pt idx="2">
                  <c:v>1947</c:v>
                </c:pt>
                <c:pt idx="3">
                  <c:v>1948</c:v>
                </c:pt>
                <c:pt idx="4">
                  <c:v>1949</c:v>
                </c:pt>
                <c:pt idx="5">
                  <c:v>1950</c:v>
                </c:pt>
                <c:pt idx="6">
                  <c:v>1951</c:v>
                </c:pt>
                <c:pt idx="7">
                  <c:v>1952</c:v>
                </c:pt>
                <c:pt idx="8">
                  <c:v>1953</c:v>
                </c:pt>
                <c:pt idx="9">
                  <c:v>1954</c:v>
                </c:pt>
              </c:numCache>
            </c:numRef>
          </c:cat>
          <c:val>
            <c:numRef>
              <c:f>salario!$B$17:$B$26</c:f>
              <c:numCache>
                <c:formatCode>_ * #.##000_ ;_ * \-#.##000_ ;_ * "-"_ ;_ @_ </c:formatCode>
                <c:ptCount val="10"/>
                <c:pt idx="0">
                  <c:v>1211.6880731937295</c:v>
                </c:pt>
                <c:pt idx="1">
                  <c:v>1166.3543851527111</c:v>
                </c:pt>
                <c:pt idx="2">
                  <c:v>1408.1328641950604</c:v>
                </c:pt>
                <c:pt idx="3">
                  <c:v>1769.602444374967</c:v>
                </c:pt>
                <c:pt idx="4">
                  <c:v>1785.9580256092584</c:v>
                </c:pt>
                <c:pt idx="5">
                  <c:v>1732.1011461231415</c:v>
                </c:pt>
                <c:pt idx="6">
                  <c:v>1581.4311182876684</c:v>
                </c:pt>
                <c:pt idx="7">
                  <c:v>1446.5461569397339</c:v>
                </c:pt>
                <c:pt idx="8">
                  <c:v>1513.0444951505767</c:v>
                </c:pt>
                <c:pt idx="9">
                  <c:v>1668.821943021574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C-48A8-B8FF-A15DEF144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4886511"/>
        <c:axId val="1"/>
      </c:lineChart>
      <c:catAx>
        <c:axId val="77488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865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AR"/>
              <a:t>TIPO DE CAMBIO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'tipo de cambio mensual'!$A$38:$B$145</c:f>
              <c:multiLvlStrCache>
                <c:ptCount val="108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 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</c:lvl>
                <c:lvl>
                  <c:pt idx="0">
                    <c:v>1946 </c:v>
                  </c:pt>
                  <c:pt idx="12">
                    <c:v>1947 </c:v>
                  </c:pt>
                  <c:pt idx="24">
                    <c:v>1948 </c:v>
                  </c:pt>
                  <c:pt idx="36">
                    <c:v>1949 </c:v>
                  </c:pt>
                  <c:pt idx="48">
                    <c:v>1950 </c:v>
                  </c:pt>
                  <c:pt idx="60">
                    <c:v>1951 </c:v>
                  </c:pt>
                  <c:pt idx="72">
                    <c:v>1952 </c:v>
                  </c:pt>
                  <c:pt idx="84">
                    <c:v>1953 </c:v>
                  </c:pt>
                  <c:pt idx="96">
                    <c:v>1954 </c:v>
                  </c:pt>
                </c:lvl>
              </c:multiLvlStrCache>
            </c:multiLvlStrRef>
          </c:cat>
          <c:val>
            <c:numRef>
              <c:f>'tipo de cambio mensual'!$C$38:$C$145</c:f>
              <c:numCache>
                <c:formatCode>_ * #.##00000_ ;_ * \-#.##00000_ ;_ * "-"????_ ;_ @_ </c:formatCode>
                <c:ptCount val="108"/>
                <c:pt idx="0">
                  <c:v>4.0796999999999999</c:v>
                </c:pt>
                <c:pt idx="1">
                  <c:v>4.1006</c:v>
                </c:pt>
                <c:pt idx="2">
                  <c:v>4.1041999999999996</c:v>
                </c:pt>
                <c:pt idx="3">
                  <c:v>4.1050000000000004</c:v>
                </c:pt>
                <c:pt idx="4">
                  <c:v>4.0952000000000002</c:v>
                </c:pt>
                <c:pt idx="5">
                  <c:v>4.0914999999999999</c:v>
                </c:pt>
                <c:pt idx="6">
                  <c:v>4.0750000000000002</c:v>
                </c:pt>
                <c:pt idx="7">
                  <c:v>4.056</c:v>
                </c:pt>
                <c:pt idx="8">
                  <c:v>4.0613000000000001</c:v>
                </c:pt>
                <c:pt idx="9">
                  <c:v>4.0774999999999997</c:v>
                </c:pt>
                <c:pt idx="10">
                  <c:v>4.0983000000000001</c:v>
                </c:pt>
                <c:pt idx="11">
                  <c:v>4.1050000000000004</c:v>
                </c:pt>
                <c:pt idx="12">
                  <c:v>4.1050000000000004</c:v>
                </c:pt>
                <c:pt idx="13">
                  <c:v>4.1050000000000004</c:v>
                </c:pt>
                <c:pt idx="14">
                  <c:v>4.1040999999999999</c:v>
                </c:pt>
                <c:pt idx="15">
                  <c:v>4.1050000000000004</c:v>
                </c:pt>
                <c:pt idx="16">
                  <c:v>4.1050000000000004</c:v>
                </c:pt>
                <c:pt idx="17">
                  <c:v>4.1050000000000004</c:v>
                </c:pt>
                <c:pt idx="18">
                  <c:v>4.0824999999999996</c:v>
                </c:pt>
                <c:pt idx="19">
                  <c:v>4.0575000000000001</c:v>
                </c:pt>
                <c:pt idx="20">
                  <c:v>4.0475000000000003</c:v>
                </c:pt>
                <c:pt idx="21">
                  <c:v>4.0384000000000002</c:v>
                </c:pt>
                <c:pt idx="22">
                  <c:v>4.0316000000000001</c:v>
                </c:pt>
                <c:pt idx="23">
                  <c:v>4.0228000000000002</c:v>
                </c:pt>
                <c:pt idx="24">
                  <c:v>4.0298999999999996</c:v>
                </c:pt>
                <c:pt idx="25">
                  <c:v>4.0258000000000003</c:v>
                </c:pt>
                <c:pt idx="26">
                  <c:v>4.0134999999999996</c:v>
                </c:pt>
                <c:pt idx="27">
                  <c:v>4.0106000000000002</c:v>
                </c:pt>
                <c:pt idx="28">
                  <c:v>4.0167000000000002</c:v>
                </c:pt>
                <c:pt idx="29">
                  <c:v>4.0172999999999996</c:v>
                </c:pt>
                <c:pt idx="30">
                  <c:v>4.8612000000000002</c:v>
                </c:pt>
                <c:pt idx="31">
                  <c:v>4.8094999999999999</c:v>
                </c:pt>
                <c:pt idx="32">
                  <c:v>4.8346999999999998</c:v>
                </c:pt>
                <c:pt idx="33">
                  <c:v>4.8849</c:v>
                </c:pt>
                <c:pt idx="34">
                  <c:v>4.8573000000000004</c:v>
                </c:pt>
                <c:pt idx="35">
                  <c:v>4.8135000000000003</c:v>
                </c:pt>
                <c:pt idx="36">
                  <c:v>4.8517000000000001</c:v>
                </c:pt>
                <c:pt idx="37">
                  <c:v>4.8099999999999996</c:v>
                </c:pt>
                <c:pt idx="38">
                  <c:v>4.8099999999999996</c:v>
                </c:pt>
                <c:pt idx="39">
                  <c:v>4.8099999999999996</c:v>
                </c:pt>
                <c:pt idx="40">
                  <c:v>4.8099999999999996</c:v>
                </c:pt>
                <c:pt idx="41">
                  <c:v>4.8099999999999996</c:v>
                </c:pt>
                <c:pt idx="42">
                  <c:v>4.8099999999999996</c:v>
                </c:pt>
                <c:pt idx="43">
                  <c:v>4.8099999999999996</c:v>
                </c:pt>
                <c:pt idx="44">
                  <c:v>4.8099999999999996</c:v>
                </c:pt>
                <c:pt idx="45">
                  <c:v>9.02</c:v>
                </c:pt>
                <c:pt idx="46">
                  <c:v>9.02</c:v>
                </c:pt>
                <c:pt idx="47">
                  <c:v>9.02</c:v>
                </c:pt>
                <c:pt idx="48">
                  <c:v>9.02</c:v>
                </c:pt>
                <c:pt idx="49">
                  <c:v>9.02</c:v>
                </c:pt>
                <c:pt idx="50">
                  <c:v>9.02</c:v>
                </c:pt>
                <c:pt idx="51">
                  <c:v>9.02</c:v>
                </c:pt>
                <c:pt idx="52">
                  <c:v>9.02</c:v>
                </c:pt>
                <c:pt idx="53">
                  <c:v>9.02</c:v>
                </c:pt>
                <c:pt idx="54">
                  <c:v>9.02</c:v>
                </c:pt>
                <c:pt idx="55">
                  <c:v>9.7705000000000002</c:v>
                </c:pt>
                <c:pt idx="56">
                  <c:v>13.679399999999999</c:v>
                </c:pt>
                <c:pt idx="57">
                  <c:v>13.633599999999999</c:v>
                </c:pt>
                <c:pt idx="58">
                  <c:v>14.078200000000001</c:v>
                </c:pt>
                <c:pt idx="59">
                  <c:v>14.3842</c:v>
                </c:pt>
                <c:pt idx="60">
                  <c:v>14.0481</c:v>
                </c:pt>
                <c:pt idx="61">
                  <c:v>14.03</c:v>
                </c:pt>
                <c:pt idx="62">
                  <c:v>14.0771</c:v>
                </c:pt>
                <c:pt idx="63">
                  <c:v>14.0463</c:v>
                </c:pt>
                <c:pt idx="64">
                  <c:v>14.1732</c:v>
                </c:pt>
                <c:pt idx="65">
                  <c:v>14.1409</c:v>
                </c:pt>
                <c:pt idx="66">
                  <c:v>14.058299999999999</c:v>
                </c:pt>
                <c:pt idx="67">
                  <c:v>14.152200000000001</c:v>
                </c:pt>
                <c:pt idx="68">
                  <c:v>14.4176</c:v>
                </c:pt>
                <c:pt idx="69">
                  <c:v>14.407299999999999</c:v>
                </c:pt>
                <c:pt idx="70">
                  <c:v>14.4552</c:v>
                </c:pt>
                <c:pt idx="71">
                  <c:v>14.3437</c:v>
                </c:pt>
                <c:pt idx="72">
                  <c:v>14.344099999999999</c:v>
                </c:pt>
                <c:pt idx="73">
                  <c:v>14.138199999999999</c:v>
                </c:pt>
                <c:pt idx="74">
                  <c:v>14.030099999999999</c:v>
                </c:pt>
                <c:pt idx="75">
                  <c:v>14.03</c:v>
                </c:pt>
                <c:pt idx="76">
                  <c:v>14.0098</c:v>
                </c:pt>
                <c:pt idx="77">
                  <c:v>13.977399999999999</c:v>
                </c:pt>
                <c:pt idx="78">
                  <c:v>13.9755</c:v>
                </c:pt>
                <c:pt idx="79">
                  <c:v>13.975</c:v>
                </c:pt>
                <c:pt idx="80">
                  <c:v>13.975199999999999</c:v>
                </c:pt>
                <c:pt idx="81">
                  <c:v>13.975199999999999</c:v>
                </c:pt>
                <c:pt idx="82">
                  <c:v>13.975</c:v>
                </c:pt>
                <c:pt idx="83">
                  <c:v>13.975</c:v>
                </c:pt>
                <c:pt idx="84">
                  <c:v>13.975</c:v>
                </c:pt>
                <c:pt idx="85">
                  <c:v>13.975</c:v>
                </c:pt>
                <c:pt idx="86">
                  <c:v>13.975</c:v>
                </c:pt>
                <c:pt idx="87">
                  <c:v>13.975</c:v>
                </c:pt>
                <c:pt idx="88">
                  <c:v>13.975</c:v>
                </c:pt>
                <c:pt idx="89">
                  <c:v>13.975</c:v>
                </c:pt>
                <c:pt idx="90">
                  <c:v>13.975</c:v>
                </c:pt>
                <c:pt idx="91">
                  <c:v>13.975</c:v>
                </c:pt>
                <c:pt idx="92">
                  <c:v>13.975</c:v>
                </c:pt>
                <c:pt idx="93">
                  <c:v>13.975</c:v>
                </c:pt>
                <c:pt idx="94">
                  <c:v>13.975</c:v>
                </c:pt>
                <c:pt idx="95">
                  <c:v>13.975</c:v>
                </c:pt>
                <c:pt idx="96">
                  <c:v>13.975</c:v>
                </c:pt>
                <c:pt idx="97">
                  <c:v>13.9762</c:v>
                </c:pt>
                <c:pt idx="98">
                  <c:v>13.975</c:v>
                </c:pt>
                <c:pt idx="99">
                  <c:v>13.975</c:v>
                </c:pt>
                <c:pt idx="100">
                  <c:v>13.975</c:v>
                </c:pt>
                <c:pt idx="101">
                  <c:v>13.975</c:v>
                </c:pt>
                <c:pt idx="102">
                  <c:v>13.975</c:v>
                </c:pt>
                <c:pt idx="103">
                  <c:v>13.975</c:v>
                </c:pt>
                <c:pt idx="104">
                  <c:v>13.975</c:v>
                </c:pt>
                <c:pt idx="105">
                  <c:v>13.975199999999999</c:v>
                </c:pt>
                <c:pt idx="106">
                  <c:v>13.976000000000001</c:v>
                </c:pt>
                <c:pt idx="107">
                  <c:v>13.975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C6-49E9-A66A-FB11193E38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909711"/>
        <c:axId val="1"/>
      </c:barChart>
      <c:catAx>
        <c:axId val="774909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9097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 b="1"/>
            </a:pPr>
            <a:r>
              <a:rPr lang="es-AR" b="1"/>
              <a:t>TIPO DE CAMBIO/IPC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'tipo de cambio mensual'!$A$38:$B$145</c:f>
              <c:multiLvlStrCache>
                <c:ptCount val="108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 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</c:lvl>
                <c:lvl>
                  <c:pt idx="0">
                    <c:v>1946 </c:v>
                  </c:pt>
                  <c:pt idx="12">
                    <c:v>1947 </c:v>
                  </c:pt>
                  <c:pt idx="24">
                    <c:v>1948 </c:v>
                  </c:pt>
                  <c:pt idx="36">
                    <c:v>1949 </c:v>
                  </c:pt>
                  <c:pt idx="48">
                    <c:v>1950 </c:v>
                  </c:pt>
                  <c:pt idx="60">
                    <c:v>1951 </c:v>
                  </c:pt>
                  <c:pt idx="72">
                    <c:v>1952 </c:v>
                  </c:pt>
                  <c:pt idx="84">
                    <c:v>1953 </c:v>
                  </c:pt>
                  <c:pt idx="96">
                    <c:v>1954 </c:v>
                  </c:pt>
                </c:lvl>
              </c:multiLvlStrCache>
            </c:multiLvlStrRef>
          </c:cat>
          <c:val>
            <c:numRef>
              <c:f>'tipo de cambio mensual'!$F$38:$F$145</c:f>
              <c:numCache>
                <c:formatCode>#,#00</c:formatCode>
                <c:ptCount val="108"/>
                <c:pt idx="0">
                  <c:v>3.1201313091641487</c:v>
                </c:pt>
                <c:pt idx="1">
                  <c:v>3.1313270125130357</c:v>
                </c:pt>
                <c:pt idx="2">
                  <c:v>3.0449457478833493</c:v>
                </c:pt>
                <c:pt idx="3">
                  <c:v>2.9937620749751042</c:v>
                </c:pt>
                <c:pt idx="4">
                  <c:v>2.9946031339823831</c:v>
                </c:pt>
                <c:pt idx="5">
                  <c:v>2.9417510554367263</c:v>
                </c:pt>
                <c:pt idx="6">
                  <c:v>2.9235319792869392</c:v>
                </c:pt>
                <c:pt idx="7">
                  <c:v>2.9303035163131566</c:v>
                </c:pt>
                <c:pt idx="8">
                  <c:v>2.9300031795791992</c:v>
                </c:pt>
                <c:pt idx="9">
                  <c:v>2.8706860000000001</c:v>
                </c:pt>
                <c:pt idx="10">
                  <c:v>2.8730975988922691</c:v>
                </c:pt>
                <c:pt idx="11">
                  <c:v>2.8294266866113147</c:v>
                </c:pt>
                <c:pt idx="12">
                  <c:v>2.8539861831621067</c:v>
                </c:pt>
                <c:pt idx="13">
                  <c:v>2.8347628902434927</c:v>
                </c:pt>
                <c:pt idx="14">
                  <c:v>2.670967089535659</c:v>
                </c:pt>
                <c:pt idx="15">
                  <c:v>2.6700274226804122</c:v>
                </c:pt>
                <c:pt idx="16">
                  <c:v>2.6670663656527251</c:v>
                </c:pt>
                <c:pt idx="17">
                  <c:v>2.5481371507280604</c:v>
                </c:pt>
                <c:pt idx="18">
                  <c:v>2.5622495255731383</c:v>
                </c:pt>
                <c:pt idx="19">
                  <c:v>2.5233881820387616</c:v>
                </c:pt>
                <c:pt idx="20">
                  <c:v>2.5141190133591835</c:v>
                </c:pt>
                <c:pt idx="21">
                  <c:v>2.5222963192202257</c:v>
                </c:pt>
                <c:pt idx="22">
                  <c:v>2.4947958365523903</c:v>
                </c:pt>
                <c:pt idx="23">
                  <c:v>2.4129621682024283</c:v>
                </c:pt>
                <c:pt idx="24">
                  <c:v>2.456674292722083</c:v>
                </c:pt>
                <c:pt idx="25">
                  <c:v>2.4612727397954623</c:v>
                </c:pt>
                <c:pt idx="26">
                  <c:v>2.4102040166935126</c:v>
                </c:pt>
                <c:pt idx="27">
                  <c:v>2.3945071028418354</c:v>
                </c:pt>
                <c:pt idx="28">
                  <c:v>2.3402293524464395</c:v>
                </c:pt>
                <c:pt idx="29">
                  <c:v>2.2755969714632998</c:v>
                </c:pt>
                <c:pt idx="30">
                  <c:v>2.7597989888698162</c:v>
                </c:pt>
                <c:pt idx="31">
                  <c:v>2.6754107742600581</c:v>
                </c:pt>
                <c:pt idx="32">
                  <c:v>2.5835254881163348</c:v>
                </c:pt>
                <c:pt idx="33">
                  <c:v>2.6023482985190958</c:v>
                </c:pt>
                <c:pt idx="34">
                  <c:v>2.5819429882047964</c:v>
                </c:pt>
                <c:pt idx="35">
                  <c:v>2.429307542641955</c:v>
                </c:pt>
                <c:pt idx="36">
                  <c:v>2.4352800012239602</c:v>
                </c:pt>
                <c:pt idx="37">
                  <c:v>2.420511178737085</c:v>
                </c:pt>
                <c:pt idx="38">
                  <c:v>2.2659690529798282</c:v>
                </c:pt>
                <c:pt idx="39">
                  <c:v>2.1608695528339505</c:v>
                </c:pt>
                <c:pt idx="40">
                  <c:v>2.0998205024483716</c:v>
                </c:pt>
                <c:pt idx="41">
                  <c:v>2.0755607020349753</c:v>
                </c:pt>
                <c:pt idx="42">
                  <c:v>2.0378224550094011</c:v>
                </c:pt>
                <c:pt idx="43">
                  <c:v>2.0035462043187682</c:v>
                </c:pt>
                <c:pt idx="44">
                  <c:v>1.9726502860114408</c:v>
                </c:pt>
                <c:pt idx="45">
                  <c:v>3.6007825951523418</c:v>
                </c:pt>
                <c:pt idx="46">
                  <c:v>3.4885828696455845</c:v>
                </c:pt>
                <c:pt idx="47">
                  <c:v>3.4059664843562967</c:v>
                </c:pt>
                <c:pt idx="48">
                  <c:v>3.4675877985676258</c:v>
                </c:pt>
                <c:pt idx="49">
                  <c:v>3.3795168469521997</c:v>
                </c:pt>
                <c:pt idx="50">
                  <c:v>3.3784056917400358</c:v>
                </c:pt>
                <c:pt idx="51">
                  <c:v>3.3065324299199084</c:v>
                </c:pt>
                <c:pt idx="52">
                  <c:v>3.1564304389378113</c:v>
                </c:pt>
                <c:pt idx="53">
                  <c:v>3.0688114619456104</c:v>
                </c:pt>
                <c:pt idx="54">
                  <c:v>3.0678443139596601</c:v>
                </c:pt>
                <c:pt idx="55">
                  <c:v>3.3166096985398803</c:v>
                </c:pt>
                <c:pt idx="56">
                  <c:v>4.4664054562825433</c:v>
                </c:pt>
                <c:pt idx="57">
                  <c:v>4.2887808882684135</c:v>
                </c:pt>
                <c:pt idx="58">
                  <c:v>4.4384459044573257</c:v>
                </c:pt>
                <c:pt idx="59">
                  <c:v>4.4479955147036652</c:v>
                </c:pt>
                <c:pt idx="60">
                  <c:v>4.3868007689144735</c:v>
                </c:pt>
                <c:pt idx="61">
                  <c:v>4.2557396854983063</c:v>
                </c:pt>
                <c:pt idx="62">
                  <c:v>4.2572420841568093</c:v>
                </c:pt>
                <c:pt idx="63">
                  <c:v>3.8959781523665242</c:v>
                </c:pt>
                <c:pt idx="64">
                  <c:v>3.6583130710842009</c:v>
                </c:pt>
                <c:pt idx="65">
                  <c:v>3.5326665823170367</c:v>
                </c:pt>
                <c:pt idx="66">
                  <c:v>3.4855329996493474</c:v>
                </c:pt>
                <c:pt idx="67">
                  <c:v>3.2113390927803112</c:v>
                </c:pt>
                <c:pt idx="68">
                  <c:v>3.3349289455931963</c:v>
                </c:pt>
                <c:pt idx="69">
                  <c:v>3.234008908459955</c:v>
                </c:pt>
                <c:pt idx="70">
                  <c:v>3.2341396482192737</c:v>
                </c:pt>
                <c:pt idx="71">
                  <c:v>2.9528250000501988</c:v>
                </c:pt>
                <c:pt idx="72">
                  <c:v>2.8419183157640466</c:v>
                </c:pt>
                <c:pt idx="73">
                  <c:v>2.7806514399992324</c:v>
                </c:pt>
                <c:pt idx="74">
                  <c:v>2.6811101246959486</c:v>
                </c:pt>
                <c:pt idx="75">
                  <c:v>2.5233866955537816</c:v>
                </c:pt>
                <c:pt idx="76">
                  <c:v>2.4807601794488723</c:v>
                </c:pt>
                <c:pt idx="77">
                  <c:v>2.4248298526176861</c:v>
                </c:pt>
                <c:pt idx="78">
                  <c:v>2.5279084513192371</c:v>
                </c:pt>
                <c:pt idx="79">
                  <c:v>2.5382521590858764</c:v>
                </c:pt>
                <c:pt idx="80">
                  <c:v>2.4557591416500268</c:v>
                </c:pt>
                <c:pt idx="81">
                  <c:v>2.4310505067232238</c:v>
                </c:pt>
                <c:pt idx="82">
                  <c:v>2.4248443198646075</c:v>
                </c:pt>
                <c:pt idx="83">
                  <c:v>2.4161753260988714</c:v>
                </c:pt>
                <c:pt idx="84">
                  <c:v>2.4476064906556427</c:v>
                </c:pt>
                <c:pt idx="85">
                  <c:v>2.3132672250252271</c:v>
                </c:pt>
                <c:pt idx="86">
                  <c:v>2.3242246189908431</c:v>
                </c:pt>
                <c:pt idx="87">
                  <c:v>2.4260144728153206</c:v>
                </c:pt>
                <c:pt idx="88">
                  <c:v>2.4660158818264741</c:v>
                </c:pt>
                <c:pt idx="89">
                  <c:v>2.470267560042068</c:v>
                </c:pt>
                <c:pt idx="90">
                  <c:v>2.4510818364553928</c:v>
                </c:pt>
                <c:pt idx="91">
                  <c:v>2.4490498645380194</c:v>
                </c:pt>
                <c:pt idx="92">
                  <c:v>2.4660158818264741</c:v>
                </c:pt>
                <c:pt idx="93">
                  <c:v>2.4766726374652124</c:v>
                </c:pt>
                <c:pt idx="94">
                  <c:v>2.4590958259317421</c:v>
                </c:pt>
                <c:pt idx="95">
                  <c:v>2.4334724132952887</c:v>
                </c:pt>
                <c:pt idx="96">
                  <c:v>2.4823581477342618</c:v>
                </c:pt>
                <c:pt idx="97">
                  <c:v>2.4882402571760989</c:v>
                </c:pt>
                <c:pt idx="98">
                  <c:v>2.4841227298339907</c:v>
                </c:pt>
                <c:pt idx="99">
                  <c:v>2.4338444469924752</c:v>
                </c:pt>
                <c:pt idx="100">
                  <c:v>2.438442233398006</c:v>
                </c:pt>
                <c:pt idx="101">
                  <c:v>2.400629801368888</c:v>
                </c:pt>
                <c:pt idx="102">
                  <c:v>2.3482997820154559</c:v>
                </c:pt>
                <c:pt idx="103">
                  <c:v>2.3318277266476248</c:v>
                </c:pt>
                <c:pt idx="104">
                  <c:v>2.2764941490037818</c:v>
                </c:pt>
                <c:pt idx="105">
                  <c:v>2.2124774434836318</c:v>
                </c:pt>
                <c:pt idx="106">
                  <c:v>2.190164714513898</c:v>
                </c:pt>
                <c:pt idx="107">
                  <c:v>2.0976208000878414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B3-46E2-8CBA-36DB2C366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905311"/>
        <c:axId val="1"/>
      </c:barChart>
      <c:catAx>
        <c:axId val="774905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9053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s-AR" sz="1400" b="0" i="0" u="none" strike="noStrike" kern="1200" baseline="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pPr>
      <a:endParaRPr lang="es-A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b="1"/>
              <a:t>Inflación anual y tendencia. 1944-1955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1943-1995'!$A$14:$A$157</c:f>
              <c:numCache>
                <c:formatCode>mmm\-yy</c:formatCode>
                <c:ptCount val="144"/>
                <c:pt idx="0">
                  <c:v>16072</c:v>
                </c:pt>
                <c:pt idx="1">
                  <c:v>16103</c:v>
                </c:pt>
                <c:pt idx="2">
                  <c:v>16132</c:v>
                </c:pt>
                <c:pt idx="3">
                  <c:v>16163</c:v>
                </c:pt>
                <c:pt idx="4">
                  <c:v>16193</c:v>
                </c:pt>
                <c:pt idx="5">
                  <c:v>16224</c:v>
                </c:pt>
                <c:pt idx="6">
                  <c:v>16254</c:v>
                </c:pt>
                <c:pt idx="7">
                  <c:v>16285</c:v>
                </c:pt>
                <c:pt idx="8">
                  <c:v>16316</c:v>
                </c:pt>
                <c:pt idx="9">
                  <c:v>16346</c:v>
                </c:pt>
                <c:pt idx="10">
                  <c:v>16377</c:v>
                </c:pt>
                <c:pt idx="11">
                  <c:v>16407</c:v>
                </c:pt>
                <c:pt idx="12">
                  <c:v>16438</c:v>
                </c:pt>
                <c:pt idx="13">
                  <c:v>16469</c:v>
                </c:pt>
                <c:pt idx="14">
                  <c:v>16497</c:v>
                </c:pt>
                <c:pt idx="15">
                  <c:v>16528</c:v>
                </c:pt>
                <c:pt idx="16">
                  <c:v>16558</c:v>
                </c:pt>
                <c:pt idx="17">
                  <c:v>16589</c:v>
                </c:pt>
                <c:pt idx="18">
                  <c:v>16619</c:v>
                </c:pt>
                <c:pt idx="19">
                  <c:v>16650</c:v>
                </c:pt>
                <c:pt idx="20">
                  <c:v>16681</c:v>
                </c:pt>
                <c:pt idx="21">
                  <c:v>16711</c:v>
                </c:pt>
                <c:pt idx="22">
                  <c:v>16742</c:v>
                </c:pt>
                <c:pt idx="23">
                  <c:v>16772</c:v>
                </c:pt>
                <c:pt idx="24">
                  <c:v>16803</c:v>
                </c:pt>
                <c:pt idx="25">
                  <c:v>16834</c:v>
                </c:pt>
                <c:pt idx="26">
                  <c:v>16862</c:v>
                </c:pt>
                <c:pt idx="27">
                  <c:v>16893</c:v>
                </c:pt>
                <c:pt idx="28">
                  <c:v>16923</c:v>
                </c:pt>
                <c:pt idx="29">
                  <c:v>16954</c:v>
                </c:pt>
                <c:pt idx="30">
                  <c:v>16984</c:v>
                </c:pt>
                <c:pt idx="31">
                  <c:v>17015</c:v>
                </c:pt>
                <c:pt idx="32">
                  <c:v>17046</c:v>
                </c:pt>
                <c:pt idx="33">
                  <c:v>17076</c:v>
                </c:pt>
                <c:pt idx="34">
                  <c:v>17107</c:v>
                </c:pt>
                <c:pt idx="35">
                  <c:v>17137</c:v>
                </c:pt>
                <c:pt idx="36">
                  <c:v>17168</c:v>
                </c:pt>
                <c:pt idx="37">
                  <c:v>17199</c:v>
                </c:pt>
                <c:pt idx="38">
                  <c:v>17227</c:v>
                </c:pt>
                <c:pt idx="39">
                  <c:v>17258</c:v>
                </c:pt>
                <c:pt idx="40">
                  <c:v>17288</c:v>
                </c:pt>
                <c:pt idx="41">
                  <c:v>17319</c:v>
                </c:pt>
                <c:pt idx="42">
                  <c:v>17349</c:v>
                </c:pt>
                <c:pt idx="43">
                  <c:v>17380</c:v>
                </c:pt>
                <c:pt idx="44">
                  <c:v>17411</c:v>
                </c:pt>
                <c:pt idx="45">
                  <c:v>17441</c:v>
                </c:pt>
                <c:pt idx="46">
                  <c:v>17472</c:v>
                </c:pt>
                <c:pt idx="47">
                  <c:v>17502</c:v>
                </c:pt>
                <c:pt idx="48">
                  <c:v>17533</c:v>
                </c:pt>
                <c:pt idx="49">
                  <c:v>17564</c:v>
                </c:pt>
                <c:pt idx="50">
                  <c:v>17593</c:v>
                </c:pt>
                <c:pt idx="51">
                  <c:v>17624</c:v>
                </c:pt>
                <c:pt idx="52">
                  <c:v>17654</c:v>
                </c:pt>
                <c:pt idx="53">
                  <c:v>17685</c:v>
                </c:pt>
                <c:pt idx="54">
                  <c:v>17715</c:v>
                </c:pt>
                <c:pt idx="55">
                  <c:v>17746</c:v>
                </c:pt>
                <c:pt idx="56">
                  <c:v>17777</c:v>
                </c:pt>
                <c:pt idx="57">
                  <c:v>17807</c:v>
                </c:pt>
                <c:pt idx="58">
                  <c:v>17838</c:v>
                </c:pt>
                <c:pt idx="59">
                  <c:v>17868</c:v>
                </c:pt>
                <c:pt idx="60">
                  <c:v>17899</c:v>
                </c:pt>
                <c:pt idx="61">
                  <c:v>17930</c:v>
                </c:pt>
                <c:pt idx="62">
                  <c:v>17958</c:v>
                </c:pt>
                <c:pt idx="63">
                  <c:v>17989</c:v>
                </c:pt>
                <c:pt idx="64">
                  <c:v>18019</c:v>
                </c:pt>
                <c:pt idx="65">
                  <c:v>18050</c:v>
                </c:pt>
                <c:pt idx="66">
                  <c:v>18080</c:v>
                </c:pt>
                <c:pt idx="67">
                  <c:v>18111</c:v>
                </c:pt>
                <c:pt idx="68">
                  <c:v>18142</c:v>
                </c:pt>
                <c:pt idx="69">
                  <c:v>18172</c:v>
                </c:pt>
                <c:pt idx="70">
                  <c:v>18203</c:v>
                </c:pt>
                <c:pt idx="71">
                  <c:v>18233</c:v>
                </c:pt>
                <c:pt idx="72">
                  <c:v>18264</c:v>
                </c:pt>
                <c:pt idx="73">
                  <c:v>18295</c:v>
                </c:pt>
                <c:pt idx="74">
                  <c:v>18323</c:v>
                </c:pt>
                <c:pt idx="75">
                  <c:v>18354</c:v>
                </c:pt>
                <c:pt idx="76">
                  <c:v>18384</c:v>
                </c:pt>
                <c:pt idx="77">
                  <c:v>18415</c:v>
                </c:pt>
                <c:pt idx="78">
                  <c:v>18445</c:v>
                </c:pt>
                <c:pt idx="79">
                  <c:v>18476</c:v>
                </c:pt>
                <c:pt idx="80">
                  <c:v>18507</c:v>
                </c:pt>
                <c:pt idx="81">
                  <c:v>18537</c:v>
                </c:pt>
                <c:pt idx="82">
                  <c:v>18568</c:v>
                </c:pt>
                <c:pt idx="83">
                  <c:v>18598</c:v>
                </c:pt>
                <c:pt idx="84">
                  <c:v>18629</c:v>
                </c:pt>
                <c:pt idx="85">
                  <c:v>18660</c:v>
                </c:pt>
                <c:pt idx="86">
                  <c:v>18688</c:v>
                </c:pt>
                <c:pt idx="87">
                  <c:v>18719</c:v>
                </c:pt>
                <c:pt idx="88">
                  <c:v>18749</c:v>
                </c:pt>
                <c:pt idx="89">
                  <c:v>18780</c:v>
                </c:pt>
                <c:pt idx="90">
                  <c:v>18810</c:v>
                </c:pt>
                <c:pt idx="91">
                  <c:v>18841</c:v>
                </c:pt>
                <c:pt idx="92">
                  <c:v>18872</c:v>
                </c:pt>
                <c:pt idx="93">
                  <c:v>18902</c:v>
                </c:pt>
                <c:pt idx="94">
                  <c:v>18933</c:v>
                </c:pt>
                <c:pt idx="95">
                  <c:v>18963</c:v>
                </c:pt>
                <c:pt idx="96">
                  <c:v>18994</c:v>
                </c:pt>
                <c:pt idx="97">
                  <c:v>19025</c:v>
                </c:pt>
                <c:pt idx="98">
                  <c:v>19054</c:v>
                </c:pt>
                <c:pt idx="99">
                  <c:v>19085</c:v>
                </c:pt>
                <c:pt idx="100">
                  <c:v>19115</c:v>
                </c:pt>
                <c:pt idx="101">
                  <c:v>19146</c:v>
                </c:pt>
                <c:pt idx="102">
                  <c:v>19176</c:v>
                </c:pt>
                <c:pt idx="103">
                  <c:v>19207</c:v>
                </c:pt>
                <c:pt idx="104">
                  <c:v>19238</c:v>
                </c:pt>
                <c:pt idx="105">
                  <c:v>19268</c:v>
                </c:pt>
                <c:pt idx="106">
                  <c:v>19299</c:v>
                </c:pt>
                <c:pt idx="107">
                  <c:v>19329</c:v>
                </c:pt>
                <c:pt idx="108">
                  <c:v>19360</c:v>
                </c:pt>
                <c:pt idx="109">
                  <c:v>19391</c:v>
                </c:pt>
                <c:pt idx="110">
                  <c:v>19419</c:v>
                </c:pt>
                <c:pt idx="111">
                  <c:v>19450</c:v>
                </c:pt>
                <c:pt idx="112">
                  <c:v>19480</c:v>
                </c:pt>
                <c:pt idx="113">
                  <c:v>19511</c:v>
                </c:pt>
                <c:pt idx="114">
                  <c:v>19541</c:v>
                </c:pt>
                <c:pt idx="115">
                  <c:v>19572</c:v>
                </c:pt>
                <c:pt idx="116">
                  <c:v>19603</c:v>
                </c:pt>
                <c:pt idx="117">
                  <c:v>19633</c:v>
                </c:pt>
                <c:pt idx="118">
                  <c:v>19664</c:v>
                </c:pt>
                <c:pt idx="119">
                  <c:v>19694</c:v>
                </c:pt>
                <c:pt idx="120">
                  <c:v>19725</c:v>
                </c:pt>
                <c:pt idx="121">
                  <c:v>19756</c:v>
                </c:pt>
                <c:pt idx="122">
                  <c:v>19784</c:v>
                </c:pt>
                <c:pt idx="123">
                  <c:v>19815</c:v>
                </c:pt>
                <c:pt idx="124">
                  <c:v>19845</c:v>
                </c:pt>
                <c:pt idx="125">
                  <c:v>19876</c:v>
                </c:pt>
                <c:pt idx="126">
                  <c:v>19906</c:v>
                </c:pt>
                <c:pt idx="127">
                  <c:v>19937</c:v>
                </c:pt>
                <c:pt idx="128">
                  <c:v>19968</c:v>
                </c:pt>
                <c:pt idx="129">
                  <c:v>19998</c:v>
                </c:pt>
                <c:pt idx="130">
                  <c:v>20029</c:v>
                </c:pt>
                <c:pt idx="131">
                  <c:v>20059</c:v>
                </c:pt>
                <c:pt idx="132">
                  <c:v>20090</c:v>
                </c:pt>
                <c:pt idx="133">
                  <c:v>20121</c:v>
                </c:pt>
                <c:pt idx="134">
                  <c:v>20149</c:v>
                </c:pt>
                <c:pt idx="135">
                  <c:v>20180</c:v>
                </c:pt>
                <c:pt idx="136">
                  <c:v>20210</c:v>
                </c:pt>
                <c:pt idx="137">
                  <c:v>20241</c:v>
                </c:pt>
                <c:pt idx="138">
                  <c:v>20271</c:v>
                </c:pt>
                <c:pt idx="139">
                  <c:v>20302</c:v>
                </c:pt>
                <c:pt idx="140">
                  <c:v>20333</c:v>
                </c:pt>
                <c:pt idx="141">
                  <c:v>20363</c:v>
                </c:pt>
                <c:pt idx="142">
                  <c:v>20394</c:v>
                </c:pt>
                <c:pt idx="143">
                  <c:v>20424</c:v>
                </c:pt>
              </c:numCache>
            </c:numRef>
          </c:cat>
          <c:val>
            <c:numRef>
              <c:f>'indice 1943-1995'!$F$14:$F$157</c:f>
              <c:numCache>
                <c:formatCode>0.0%</c:formatCode>
                <c:ptCount val="144"/>
                <c:pt idx="0">
                  <c:v>-3.349930992104333E-2</c:v>
                </c:pt>
                <c:pt idx="1">
                  <c:v>-2.5880252327554865E-2</c:v>
                </c:pt>
                <c:pt idx="2">
                  <c:v>-3.4827456320806749E-2</c:v>
                </c:pt>
                <c:pt idx="3">
                  <c:v>-5.197359583980965E-2</c:v>
                </c:pt>
                <c:pt idx="4">
                  <c:v>-4.7589781311549895E-2</c:v>
                </c:pt>
                <c:pt idx="5">
                  <c:v>-3.1238669818572151E-2</c:v>
                </c:pt>
                <c:pt idx="6">
                  <c:v>2.5755316805254447E-2</c:v>
                </c:pt>
                <c:pt idx="7">
                  <c:v>2.9602510990654807E-2</c:v>
                </c:pt>
                <c:pt idx="8">
                  <c:v>3.7067174338031306E-2</c:v>
                </c:pt>
                <c:pt idx="9">
                  <c:v>3.3363554862205103E-2</c:v>
                </c:pt>
                <c:pt idx="10">
                  <c:v>3.3363554862205103E-2</c:v>
                </c:pt>
                <c:pt idx="11">
                  <c:v>3.8702891665438832E-2</c:v>
                </c:pt>
                <c:pt idx="12">
                  <c:v>0.11184781511756992</c:v>
                </c:pt>
                <c:pt idx="13">
                  <c:v>0.1307997542626369</c:v>
                </c:pt>
                <c:pt idx="14">
                  <c:v>0.2072788768474878</c:v>
                </c:pt>
                <c:pt idx="15">
                  <c:v>0.22212045461445817</c:v>
                </c:pt>
                <c:pt idx="16">
                  <c:v>0.23143993862006917</c:v>
                </c:pt>
                <c:pt idx="17">
                  <c:v>0.21000314375963725</c:v>
                </c:pt>
                <c:pt idx="18">
                  <c:v>0.22532341041905979</c:v>
                </c:pt>
                <c:pt idx="19">
                  <c:v>0.19726078669890801</c:v>
                </c:pt>
                <c:pt idx="20">
                  <c:v>0.20659281008660457</c:v>
                </c:pt>
                <c:pt idx="21">
                  <c:v>0.1993892695742534</c:v>
                </c:pt>
                <c:pt idx="22">
                  <c:v>0.2015312374398337</c:v>
                </c:pt>
                <c:pt idx="23">
                  <c:v>0.22556549133174175</c:v>
                </c:pt>
                <c:pt idx="24">
                  <c:v>0.21676817369046852</c:v>
                </c:pt>
                <c:pt idx="25">
                  <c:v>0.19575527362275724</c:v>
                </c:pt>
                <c:pt idx="26">
                  <c:v>0.14540767694182199</c:v>
                </c:pt>
                <c:pt idx="27">
                  <c:v>0.1641609354361877</c:v>
                </c:pt>
                <c:pt idx="28">
                  <c:v>0.15701695027150153</c:v>
                </c:pt>
                <c:pt idx="29">
                  <c:v>0.17613338777058818</c:v>
                </c:pt>
                <c:pt idx="30">
                  <c:v>0.16504023283684299</c:v>
                </c:pt>
                <c:pt idx="31">
                  <c:v>0.1674790728286133</c:v>
                </c:pt>
                <c:pt idx="32">
                  <c:v>0.1624064455441494</c:v>
                </c:pt>
                <c:pt idx="33">
                  <c:v>0.19024753061950084</c:v>
                </c:pt>
                <c:pt idx="34">
                  <c:v>0.19318413602356266</c:v>
                </c:pt>
                <c:pt idx="35">
                  <c:v>0.18741892350370204</c:v>
                </c:pt>
                <c:pt idx="36">
                  <c:v>0.10003356831151389</c:v>
                </c:pt>
                <c:pt idx="37">
                  <c:v>0.10580217488455235</c:v>
                </c:pt>
                <c:pt idx="38">
                  <c:v>0.1399884217381866</c:v>
                </c:pt>
                <c:pt idx="39">
                  <c:v>0.1212476881490967</c:v>
                </c:pt>
                <c:pt idx="40">
                  <c:v>0.12549481116935901</c:v>
                </c:pt>
                <c:pt idx="41">
                  <c:v>0.1582804446158701</c:v>
                </c:pt>
                <c:pt idx="42">
                  <c:v>0.14310206080962873</c:v>
                </c:pt>
                <c:pt idx="43">
                  <c:v>0.1616869847086182</c:v>
                </c:pt>
                <c:pt idx="44">
                  <c:v>0.16145943283372044</c:v>
                </c:pt>
                <c:pt idx="45">
                  <c:v>0.12721030042918469</c:v>
                </c:pt>
                <c:pt idx="46">
                  <c:v>0.132893432254094</c:v>
                </c:pt>
                <c:pt idx="47">
                  <c:v>0.14911425594137606</c:v>
                </c:pt>
                <c:pt idx="48">
                  <c:v>0.14047401078221955</c:v>
                </c:pt>
                <c:pt idx="49">
                  <c:v>0.12952547738524234</c:v>
                </c:pt>
                <c:pt idx="50">
                  <c:v>8.3727425651442644E-2</c:v>
                </c:pt>
                <c:pt idx="51">
                  <c:v>8.9421094369547927E-2</c:v>
                </c:pt>
                <c:pt idx="52">
                  <c:v>0.1151457541191383</c:v>
                </c:pt>
                <c:pt idx="53">
                  <c:v>9.5843550389004939E-2</c:v>
                </c:pt>
                <c:pt idx="54">
                  <c:v>0.10550641241467962</c:v>
                </c:pt>
                <c:pt idx="55">
                  <c:v>0.11798246944284352</c:v>
                </c:pt>
                <c:pt idx="56">
                  <c:v>0.162400411983884</c:v>
                </c:pt>
                <c:pt idx="57">
                  <c:v>0.17240328967407859</c:v>
                </c:pt>
                <c:pt idx="58">
                  <c:v>0.16414171897633989</c:v>
                </c:pt>
                <c:pt idx="59">
                  <c:v>0.18850372970601148</c:v>
                </c:pt>
                <c:pt idx="60">
                  <c:v>0.21450231894398852</c:v>
                </c:pt>
                <c:pt idx="61">
                  <c:v>0.21491398073884138</c:v>
                </c:pt>
                <c:pt idx="62">
                  <c:v>0.2747400790745349</c:v>
                </c:pt>
                <c:pt idx="63">
                  <c:v>0.32899487537852323</c:v>
                </c:pt>
                <c:pt idx="64">
                  <c:v>0.33460248906063517</c:v>
                </c:pt>
                <c:pt idx="65">
                  <c:v>0.31271582087902994</c:v>
                </c:pt>
                <c:pt idx="66">
                  <c:v>0.34002436458275653</c:v>
                </c:pt>
                <c:pt idx="67">
                  <c:v>0.33547651989908034</c:v>
                </c:pt>
                <c:pt idx="68">
                  <c:v>0.30298134056082549</c:v>
                </c:pt>
                <c:pt idx="69">
                  <c:v>0.33450246817355156</c:v>
                </c:pt>
                <c:pt idx="70">
                  <c:v>0.3743875567077124</c:v>
                </c:pt>
                <c:pt idx="71">
                  <c:v>0.3365576312486156</c:v>
                </c:pt>
                <c:pt idx="72">
                  <c:v>0.30567183177890378</c:v>
                </c:pt>
                <c:pt idx="73">
                  <c:v>0.34311728470807656</c:v>
                </c:pt>
                <c:pt idx="74">
                  <c:v>0.25777696089693514</c:v>
                </c:pt>
                <c:pt idx="75">
                  <c:v>0.22551103126437799</c:v>
                </c:pt>
                <c:pt idx="76">
                  <c:v>0.24751969342133284</c:v>
                </c:pt>
                <c:pt idx="77">
                  <c:v>0.26831372714072255</c:v>
                </c:pt>
                <c:pt idx="78">
                  <c:v>0.24564557118948738</c:v>
                </c:pt>
                <c:pt idx="79">
                  <c:v>0.2270908241412235</c:v>
                </c:pt>
                <c:pt idx="80">
                  <c:v>0.25607024280971258</c:v>
                </c:pt>
                <c:pt idx="81">
                  <c:v>0.26901586683539369</c:v>
                </c:pt>
                <c:pt idx="82">
                  <c:v>0.22675745515589329</c:v>
                </c:pt>
                <c:pt idx="83">
                  <c:v>0.22111117249507384</c:v>
                </c:pt>
                <c:pt idx="84">
                  <c:v>0.23109227942555033</c:v>
                </c:pt>
                <c:pt idx="85">
                  <c:v>0.2351812600497003</c:v>
                </c:pt>
                <c:pt idx="86">
                  <c:v>0.23848317685310327</c:v>
                </c:pt>
                <c:pt idx="87">
                  <c:v>0.32163544050343251</c:v>
                </c:pt>
                <c:pt idx="88">
                  <c:v>0.35574100621202831</c:v>
                </c:pt>
                <c:pt idx="89">
                  <c:v>0.3618775821732565</c:v>
                </c:pt>
                <c:pt idx="90">
                  <c:v>0.37179869957537148</c:v>
                </c:pt>
                <c:pt idx="91">
                  <c:v>0.49594411151210149</c:v>
                </c:pt>
                <c:pt idx="92">
                  <c:v>0.41155395614719503</c:v>
                </c:pt>
                <c:pt idx="93">
                  <c:v>0.40140834266603265</c:v>
                </c:pt>
                <c:pt idx="94">
                  <c:v>0.40912375651532162</c:v>
                </c:pt>
                <c:pt idx="95">
                  <c:v>0.50211129543055333</c:v>
                </c:pt>
                <c:pt idx="96">
                  <c:v>0.57612999512670582</c:v>
                </c:pt>
                <c:pt idx="97">
                  <c:v>0.54228612849302515</c:v>
                </c:pt>
                <c:pt idx="98">
                  <c:v>0.58256393616707469</c:v>
                </c:pt>
                <c:pt idx="99">
                  <c:v>0.54215645163472082</c:v>
                </c:pt>
                <c:pt idx="100">
                  <c:v>0.45767299001774897</c:v>
                </c:pt>
                <c:pt idx="101">
                  <c:v>0.44002729078083314</c:v>
                </c:pt>
                <c:pt idx="102">
                  <c:v>0.37069997460793447</c:v>
                </c:pt>
                <c:pt idx="103">
                  <c:v>0.24933601876853606</c:v>
                </c:pt>
                <c:pt idx="104">
                  <c:v>0.31633332205263587</c:v>
                </c:pt>
                <c:pt idx="105">
                  <c:v>0.29039497307001794</c:v>
                </c:pt>
                <c:pt idx="106">
                  <c:v>0.2894443959497206</c:v>
                </c:pt>
                <c:pt idx="107">
                  <c:v>0.19069323829125051</c:v>
                </c:pt>
                <c:pt idx="108">
                  <c:v>0.13122373061500547</c:v>
                </c:pt>
                <c:pt idx="109">
                  <c:v>0.18816961930613774</c:v>
                </c:pt>
                <c:pt idx="110">
                  <c:v>0.1490200464114968</c:v>
                </c:pt>
                <c:pt idx="111">
                  <c:v>3.6059189348022436E-2</c:v>
                </c:pt>
                <c:pt idx="112">
                  <c:v>3.4801682225233943E-3</c:v>
                </c:pt>
                <c:pt idx="113">
                  <c:v>-1.8562387898067634E-2</c:v>
                </c:pt>
                <c:pt idx="114">
                  <c:v>3.1307063275729741E-2</c:v>
                </c:pt>
                <c:pt idx="115">
                  <c:v>3.6423225120687297E-2</c:v>
                </c:pt>
                <c:pt idx="116">
                  <c:v>-4.1734867896716654E-3</c:v>
                </c:pt>
                <c:pt idx="117">
                  <c:v>-1.8434782608695688E-2</c:v>
                </c:pt>
                <c:pt idx="118">
                  <c:v>-1.3928495874762081E-2</c:v>
                </c:pt>
                <c:pt idx="119">
                  <c:v>-7.1079857334379604E-3</c:v>
                </c:pt>
                <c:pt idx="120">
                  <c:v>-1.3999453346544177E-2</c:v>
                </c:pt>
                <c:pt idx="121">
                  <c:v>-7.0240161453077765E-2</c:v>
                </c:pt>
                <c:pt idx="122">
                  <c:v>-6.4368039840702052E-2</c:v>
                </c:pt>
                <c:pt idx="123">
                  <c:v>-3.2171218611896091E-3</c:v>
                </c:pt>
                <c:pt idx="124">
                  <c:v>1.1307894872721658E-2</c:v>
                </c:pt>
                <c:pt idx="125">
                  <c:v>2.9008120549645744E-2</c:v>
                </c:pt>
                <c:pt idx="126">
                  <c:v>4.3768710974253722E-2</c:v>
                </c:pt>
                <c:pt idx="127">
                  <c:v>5.0270496636953377E-2</c:v>
                </c:pt>
                <c:pt idx="128">
                  <c:v>8.3251579146658372E-2</c:v>
                </c:pt>
                <c:pt idx="129">
                  <c:v>0.11942749477104986</c:v>
                </c:pt>
                <c:pt idx="130">
                  <c:v>0.12287070171373649</c:v>
                </c:pt>
                <c:pt idx="131">
                  <c:v>0.16011073745711468</c:v>
                </c:pt>
                <c:pt idx="132">
                  <c:v>0.15755780209118386</c:v>
                </c:pt>
                <c:pt idx="133">
                  <c:v>0.16177262229322609</c:v>
                </c:pt>
                <c:pt idx="134">
                  <c:v>0.16157080317281447</c:v>
                </c:pt>
                <c:pt idx="135">
                  <c:v>0.15445310774771093</c:v>
                </c:pt>
                <c:pt idx="136">
                  <c:v>0.1581742060655571</c:v>
                </c:pt>
                <c:pt idx="137">
                  <c:v>0.14695853962988092</c:v>
                </c:pt>
                <c:pt idx="138">
                  <c:v>0.12689814549239098</c:v>
                </c:pt>
                <c:pt idx="139">
                  <c:v>0.12280187811765098</c:v>
                </c:pt>
                <c:pt idx="140">
                  <c:v>0.10364962343893991</c:v>
                </c:pt>
                <c:pt idx="141">
                  <c:v>7.1680049413217928E-2</c:v>
                </c:pt>
                <c:pt idx="142">
                  <c:v>6.1292960480561209E-2</c:v>
                </c:pt>
                <c:pt idx="143">
                  <c:v>7.4723665910255477E-2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F5-41C8-A184-D8D8D77A28D3}"/>
            </c:ext>
          </c:extLst>
        </c:ser>
        <c:ser>
          <c:idx val="1"/>
          <c:order val="1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1943-1995'!$A$14:$A$157</c:f>
              <c:numCache>
                <c:formatCode>mmm\-yy</c:formatCode>
                <c:ptCount val="144"/>
                <c:pt idx="0">
                  <c:v>16072</c:v>
                </c:pt>
                <c:pt idx="1">
                  <c:v>16103</c:v>
                </c:pt>
                <c:pt idx="2">
                  <c:v>16132</c:v>
                </c:pt>
                <c:pt idx="3">
                  <c:v>16163</c:v>
                </c:pt>
                <c:pt idx="4">
                  <c:v>16193</c:v>
                </c:pt>
                <c:pt idx="5">
                  <c:v>16224</c:v>
                </c:pt>
                <c:pt idx="6">
                  <c:v>16254</c:v>
                </c:pt>
                <c:pt idx="7">
                  <c:v>16285</c:v>
                </c:pt>
                <c:pt idx="8">
                  <c:v>16316</c:v>
                </c:pt>
                <c:pt idx="9">
                  <c:v>16346</c:v>
                </c:pt>
                <c:pt idx="10">
                  <c:v>16377</c:v>
                </c:pt>
                <c:pt idx="11">
                  <c:v>16407</c:v>
                </c:pt>
                <c:pt idx="12">
                  <c:v>16438</c:v>
                </c:pt>
                <c:pt idx="13">
                  <c:v>16469</c:v>
                </c:pt>
                <c:pt idx="14">
                  <c:v>16497</c:v>
                </c:pt>
                <c:pt idx="15">
                  <c:v>16528</c:v>
                </c:pt>
                <c:pt idx="16">
                  <c:v>16558</c:v>
                </c:pt>
                <c:pt idx="17">
                  <c:v>16589</c:v>
                </c:pt>
                <c:pt idx="18">
                  <c:v>16619</c:v>
                </c:pt>
                <c:pt idx="19">
                  <c:v>16650</c:v>
                </c:pt>
                <c:pt idx="20">
                  <c:v>16681</c:v>
                </c:pt>
                <c:pt idx="21">
                  <c:v>16711</c:v>
                </c:pt>
                <c:pt idx="22">
                  <c:v>16742</c:v>
                </c:pt>
                <c:pt idx="23">
                  <c:v>16772</c:v>
                </c:pt>
                <c:pt idx="24">
                  <c:v>16803</c:v>
                </c:pt>
                <c:pt idx="25">
                  <c:v>16834</c:v>
                </c:pt>
                <c:pt idx="26">
                  <c:v>16862</c:v>
                </c:pt>
                <c:pt idx="27">
                  <c:v>16893</c:v>
                </c:pt>
                <c:pt idx="28">
                  <c:v>16923</c:v>
                </c:pt>
                <c:pt idx="29">
                  <c:v>16954</c:v>
                </c:pt>
                <c:pt idx="30">
                  <c:v>16984</c:v>
                </c:pt>
                <c:pt idx="31">
                  <c:v>17015</c:v>
                </c:pt>
                <c:pt idx="32">
                  <c:v>17046</c:v>
                </c:pt>
                <c:pt idx="33">
                  <c:v>17076</c:v>
                </c:pt>
                <c:pt idx="34">
                  <c:v>17107</c:v>
                </c:pt>
                <c:pt idx="35">
                  <c:v>17137</c:v>
                </c:pt>
                <c:pt idx="36">
                  <c:v>17168</c:v>
                </c:pt>
                <c:pt idx="37">
                  <c:v>17199</c:v>
                </c:pt>
                <c:pt idx="38">
                  <c:v>17227</c:v>
                </c:pt>
                <c:pt idx="39">
                  <c:v>17258</c:v>
                </c:pt>
                <c:pt idx="40">
                  <c:v>17288</c:v>
                </c:pt>
                <c:pt idx="41">
                  <c:v>17319</c:v>
                </c:pt>
                <c:pt idx="42">
                  <c:v>17349</c:v>
                </c:pt>
                <c:pt idx="43">
                  <c:v>17380</c:v>
                </c:pt>
                <c:pt idx="44">
                  <c:v>17411</c:v>
                </c:pt>
                <c:pt idx="45">
                  <c:v>17441</c:v>
                </c:pt>
                <c:pt idx="46">
                  <c:v>17472</c:v>
                </c:pt>
                <c:pt idx="47">
                  <c:v>17502</c:v>
                </c:pt>
                <c:pt idx="48">
                  <c:v>17533</c:v>
                </c:pt>
                <c:pt idx="49">
                  <c:v>17564</c:v>
                </c:pt>
                <c:pt idx="50">
                  <c:v>17593</c:v>
                </c:pt>
                <c:pt idx="51">
                  <c:v>17624</c:v>
                </c:pt>
                <c:pt idx="52">
                  <c:v>17654</c:v>
                </c:pt>
                <c:pt idx="53">
                  <c:v>17685</c:v>
                </c:pt>
                <c:pt idx="54">
                  <c:v>17715</c:v>
                </c:pt>
                <c:pt idx="55">
                  <c:v>17746</c:v>
                </c:pt>
                <c:pt idx="56">
                  <c:v>17777</c:v>
                </c:pt>
                <c:pt idx="57">
                  <c:v>17807</c:v>
                </c:pt>
                <c:pt idx="58">
                  <c:v>17838</c:v>
                </c:pt>
                <c:pt idx="59">
                  <c:v>17868</c:v>
                </c:pt>
                <c:pt idx="60">
                  <c:v>17899</c:v>
                </c:pt>
                <c:pt idx="61">
                  <c:v>17930</c:v>
                </c:pt>
                <c:pt idx="62">
                  <c:v>17958</c:v>
                </c:pt>
                <c:pt idx="63">
                  <c:v>17989</c:v>
                </c:pt>
                <c:pt idx="64">
                  <c:v>18019</c:v>
                </c:pt>
                <c:pt idx="65">
                  <c:v>18050</c:v>
                </c:pt>
                <c:pt idx="66">
                  <c:v>18080</c:v>
                </c:pt>
                <c:pt idx="67">
                  <c:v>18111</c:v>
                </c:pt>
                <c:pt idx="68">
                  <c:v>18142</c:v>
                </c:pt>
                <c:pt idx="69">
                  <c:v>18172</c:v>
                </c:pt>
                <c:pt idx="70">
                  <c:v>18203</c:v>
                </c:pt>
                <c:pt idx="71">
                  <c:v>18233</c:v>
                </c:pt>
                <c:pt idx="72">
                  <c:v>18264</c:v>
                </c:pt>
                <c:pt idx="73">
                  <c:v>18295</c:v>
                </c:pt>
                <c:pt idx="74">
                  <c:v>18323</c:v>
                </c:pt>
                <c:pt idx="75">
                  <c:v>18354</c:v>
                </c:pt>
                <c:pt idx="76">
                  <c:v>18384</c:v>
                </c:pt>
                <c:pt idx="77">
                  <c:v>18415</c:v>
                </c:pt>
                <c:pt idx="78">
                  <c:v>18445</c:v>
                </c:pt>
                <c:pt idx="79">
                  <c:v>18476</c:v>
                </c:pt>
                <c:pt idx="80">
                  <c:v>18507</c:v>
                </c:pt>
                <c:pt idx="81">
                  <c:v>18537</c:v>
                </c:pt>
                <c:pt idx="82">
                  <c:v>18568</c:v>
                </c:pt>
                <c:pt idx="83">
                  <c:v>18598</c:v>
                </c:pt>
                <c:pt idx="84">
                  <c:v>18629</c:v>
                </c:pt>
                <c:pt idx="85">
                  <c:v>18660</c:v>
                </c:pt>
                <c:pt idx="86">
                  <c:v>18688</c:v>
                </c:pt>
                <c:pt idx="87">
                  <c:v>18719</c:v>
                </c:pt>
                <c:pt idx="88">
                  <c:v>18749</c:v>
                </c:pt>
                <c:pt idx="89">
                  <c:v>18780</c:v>
                </c:pt>
                <c:pt idx="90">
                  <c:v>18810</c:v>
                </c:pt>
                <c:pt idx="91">
                  <c:v>18841</c:v>
                </c:pt>
                <c:pt idx="92">
                  <c:v>18872</c:v>
                </c:pt>
                <c:pt idx="93">
                  <c:v>18902</c:v>
                </c:pt>
                <c:pt idx="94">
                  <c:v>18933</c:v>
                </c:pt>
                <c:pt idx="95">
                  <c:v>18963</c:v>
                </c:pt>
                <c:pt idx="96">
                  <c:v>18994</c:v>
                </c:pt>
                <c:pt idx="97">
                  <c:v>19025</c:v>
                </c:pt>
                <c:pt idx="98">
                  <c:v>19054</c:v>
                </c:pt>
                <c:pt idx="99">
                  <c:v>19085</c:v>
                </c:pt>
                <c:pt idx="100">
                  <c:v>19115</c:v>
                </c:pt>
                <c:pt idx="101">
                  <c:v>19146</c:v>
                </c:pt>
                <c:pt idx="102">
                  <c:v>19176</c:v>
                </c:pt>
                <c:pt idx="103">
                  <c:v>19207</c:v>
                </c:pt>
                <c:pt idx="104">
                  <c:v>19238</c:v>
                </c:pt>
                <c:pt idx="105">
                  <c:v>19268</c:v>
                </c:pt>
                <c:pt idx="106">
                  <c:v>19299</c:v>
                </c:pt>
                <c:pt idx="107">
                  <c:v>19329</c:v>
                </c:pt>
                <c:pt idx="108">
                  <c:v>19360</c:v>
                </c:pt>
                <c:pt idx="109">
                  <c:v>19391</c:v>
                </c:pt>
                <c:pt idx="110">
                  <c:v>19419</c:v>
                </c:pt>
                <c:pt idx="111">
                  <c:v>19450</c:v>
                </c:pt>
                <c:pt idx="112">
                  <c:v>19480</c:v>
                </c:pt>
                <c:pt idx="113">
                  <c:v>19511</c:v>
                </c:pt>
                <c:pt idx="114">
                  <c:v>19541</c:v>
                </c:pt>
                <c:pt idx="115">
                  <c:v>19572</c:v>
                </c:pt>
                <c:pt idx="116">
                  <c:v>19603</c:v>
                </c:pt>
                <c:pt idx="117">
                  <c:v>19633</c:v>
                </c:pt>
                <c:pt idx="118">
                  <c:v>19664</c:v>
                </c:pt>
                <c:pt idx="119">
                  <c:v>19694</c:v>
                </c:pt>
                <c:pt idx="120">
                  <c:v>19725</c:v>
                </c:pt>
                <c:pt idx="121">
                  <c:v>19756</c:v>
                </c:pt>
                <c:pt idx="122">
                  <c:v>19784</c:v>
                </c:pt>
                <c:pt idx="123">
                  <c:v>19815</c:v>
                </c:pt>
                <c:pt idx="124">
                  <c:v>19845</c:v>
                </c:pt>
                <c:pt idx="125">
                  <c:v>19876</c:v>
                </c:pt>
                <c:pt idx="126">
                  <c:v>19906</c:v>
                </c:pt>
                <c:pt idx="127">
                  <c:v>19937</c:v>
                </c:pt>
                <c:pt idx="128">
                  <c:v>19968</c:v>
                </c:pt>
                <c:pt idx="129">
                  <c:v>19998</c:v>
                </c:pt>
                <c:pt idx="130">
                  <c:v>20029</c:v>
                </c:pt>
                <c:pt idx="131">
                  <c:v>20059</c:v>
                </c:pt>
                <c:pt idx="132">
                  <c:v>20090</c:v>
                </c:pt>
                <c:pt idx="133">
                  <c:v>20121</c:v>
                </c:pt>
                <c:pt idx="134">
                  <c:v>20149</c:v>
                </c:pt>
                <c:pt idx="135">
                  <c:v>20180</c:v>
                </c:pt>
                <c:pt idx="136">
                  <c:v>20210</c:v>
                </c:pt>
                <c:pt idx="137">
                  <c:v>20241</c:v>
                </c:pt>
                <c:pt idx="138">
                  <c:v>20271</c:v>
                </c:pt>
                <c:pt idx="139">
                  <c:v>20302</c:v>
                </c:pt>
                <c:pt idx="140">
                  <c:v>20333</c:v>
                </c:pt>
                <c:pt idx="141">
                  <c:v>20363</c:v>
                </c:pt>
                <c:pt idx="142">
                  <c:v>20394</c:v>
                </c:pt>
                <c:pt idx="143">
                  <c:v>20424</c:v>
                </c:pt>
              </c:numCache>
            </c:numRef>
          </c:cat>
          <c:val>
            <c:numRef>
              <c:f>'indice 1943-1995'!$H$14:$H$157</c:f>
              <c:numCache>
                <c:formatCode>0.0%</c:formatCode>
                <c:ptCount val="144"/>
                <c:pt idx="0">
                  <c:v>1.5138251474127173E-3</c:v>
                </c:pt>
                <c:pt idx="1">
                  <c:v>9.484386071562767E-3</c:v>
                </c:pt>
                <c:pt idx="2">
                  <c:v>1.7452515661716461E-2</c:v>
                </c:pt>
                <c:pt idx="3">
                  <c:v>2.5413326919078827E-2</c:v>
                </c:pt>
                <c:pt idx="4">
                  <c:v>3.3358298242092133E-2</c:v>
                </c:pt>
                <c:pt idx="5">
                  <c:v>4.1273545473814011E-2</c:v>
                </c:pt>
                <c:pt idx="6">
                  <c:v>4.9139548093080521E-2</c:v>
                </c:pt>
                <c:pt idx="7">
                  <c:v>5.6931760162115097E-2</c:v>
                </c:pt>
                <c:pt idx="8">
                  <c:v>6.4624011516571045E-2</c:v>
                </c:pt>
                <c:pt idx="9">
                  <c:v>7.2188220918178558E-2</c:v>
                </c:pt>
                <c:pt idx="10">
                  <c:v>7.9594418406486511E-2</c:v>
                </c:pt>
                <c:pt idx="11">
                  <c:v>8.6809910833835602E-2</c:v>
                </c:pt>
                <c:pt idx="12">
                  <c:v>9.3798816204071045E-2</c:v>
                </c:pt>
                <c:pt idx="13">
                  <c:v>0.10052189975976944</c:v>
                </c:pt>
                <c:pt idx="14">
                  <c:v>0.10694117844104767</c:v>
                </c:pt>
                <c:pt idx="15">
                  <c:v>0.11302078515291214</c:v>
                </c:pt>
                <c:pt idx="16">
                  <c:v>0.11873180419206619</c:v>
                </c:pt>
                <c:pt idx="17">
                  <c:v>0.12405290454626083</c:v>
                </c:pt>
                <c:pt idx="18">
                  <c:v>0.12897059321403503</c:v>
                </c:pt>
                <c:pt idx="19">
                  <c:v>0.13347731530666351</c:v>
                </c:pt>
                <c:pt idx="20">
                  <c:v>0.13757224380970001</c:v>
                </c:pt>
                <c:pt idx="21">
                  <c:v>0.14125895500183105</c:v>
                </c:pt>
                <c:pt idx="22">
                  <c:v>0.14454582333564758</c:v>
                </c:pt>
                <c:pt idx="23">
                  <c:v>0.14744527637958527</c:v>
                </c:pt>
                <c:pt idx="24">
                  <c:v>0.14997367560863495</c:v>
                </c:pt>
                <c:pt idx="25">
                  <c:v>0.15215282142162323</c:v>
                </c:pt>
                <c:pt idx="26">
                  <c:v>0.154009148478508</c:v>
                </c:pt>
                <c:pt idx="27">
                  <c:v>0.15557211637496948</c:v>
                </c:pt>
                <c:pt idx="28">
                  <c:v>0.15687058866024017</c:v>
                </c:pt>
                <c:pt idx="29">
                  <c:v>0.1579340398311615</c:v>
                </c:pt>
                <c:pt idx="30">
                  <c:v>0.15879194438457489</c:v>
                </c:pt>
                <c:pt idx="31">
                  <c:v>0.15947502851486206</c:v>
                </c:pt>
                <c:pt idx="32">
                  <c:v>0.16001446545124054</c:v>
                </c:pt>
                <c:pt idx="33">
                  <c:v>0.16044197976589203</c:v>
                </c:pt>
                <c:pt idx="34">
                  <c:v>0.16078947484493256</c:v>
                </c:pt>
                <c:pt idx="35">
                  <c:v>0.16109089553356171</c:v>
                </c:pt>
                <c:pt idx="36">
                  <c:v>0.16138246655464172</c:v>
                </c:pt>
                <c:pt idx="37">
                  <c:v>0.16170221567153931</c:v>
                </c:pt>
                <c:pt idx="38">
                  <c:v>0.1620839387178421</c:v>
                </c:pt>
                <c:pt idx="39">
                  <c:v>0.16255752742290497</c:v>
                </c:pt>
                <c:pt idx="40">
                  <c:v>0.16315135359764099</c:v>
                </c:pt>
                <c:pt idx="41">
                  <c:v>0.16389088332653046</c:v>
                </c:pt>
                <c:pt idx="42">
                  <c:v>0.1647990345954895</c:v>
                </c:pt>
                <c:pt idx="43">
                  <c:v>0.16589826345443726</c:v>
                </c:pt>
                <c:pt idx="44">
                  <c:v>0.16720958054065704</c:v>
                </c:pt>
                <c:pt idx="45">
                  <c:v>0.16875366866588593</c:v>
                </c:pt>
                <c:pt idx="46">
                  <c:v>0.17055080831050873</c:v>
                </c:pt>
                <c:pt idx="47">
                  <c:v>0.17261841893196106</c:v>
                </c:pt>
                <c:pt idx="48">
                  <c:v>0.17497128248214722</c:v>
                </c:pt>
                <c:pt idx="49">
                  <c:v>0.17762255668640137</c:v>
                </c:pt>
                <c:pt idx="50">
                  <c:v>0.18058302998542786</c:v>
                </c:pt>
                <c:pt idx="51">
                  <c:v>0.18386009335517883</c:v>
                </c:pt>
                <c:pt idx="52">
                  <c:v>0.1874544620513916</c:v>
                </c:pt>
                <c:pt idx="53">
                  <c:v>0.19136027991771698</c:v>
                </c:pt>
                <c:pt idx="54">
                  <c:v>0.19556663930416107</c:v>
                </c:pt>
                <c:pt idx="55">
                  <c:v>0.20005606114864349</c:v>
                </c:pt>
                <c:pt idx="56">
                  <c:v>0.20480474829673767</c:v>
                </c:pt>
                <c:pt idx="57">
                  <c:v>0.20978325605392456</c:v>
                </c:pt>
                <c:pt idx="58">
                  <c:v>0.21495914459228516</c:v>
                </c:pt>
                <c:pt idx="59">
                  <c:v>0.22029741108417511</c:v>
                </c:pt>
                <c:pt idx="60">
                  <c:v>0.22575953602790833</c:v>
                </c:pt>
                <c:pt idx="61">
                  <c:v>0.23130474984645844</c:v>
                </c:pt>
                <c:pt idx="62">
                  <c:v>0.23689153790473938</c:v>
                </c:pt>
                <c:pt idx="63">
                  <c:v>0.24247722327709198</c:v>
                </c:pt>
                <c:pt idx="64">
                  <c:v>0.24802176654338837</c:v>
                </c:pt>
                <c:pt idx="65">
                  <c:v>0.25349116325378418</c:v>
                </c:pt>
                <c:pt idx="66">
                  <c:v>0.2588573694229126</c:v>
                </c:pt>
                <c:pt idx="67">
                  <c:v>0.26409649848937988</c:v>
                </c:pt>
                <c:pt idx="68">
                  <c:v>0.26919025182723999</c:v>
                </c:pt>
                <c:pt idx="69">
                  <c:v>0.2741253674030304</c:v>
                </c:pt>
                <c:pt idx="70">
                  <c:v>0.27889084815979004</c:v>
                </c:pt>
                <c:pt idx="71">
                  <c:v>0.28347989916801453</c:v>
                </c:pt>
                <c:pt idx="72">
                  <c:v>0.28789243102073669</c:v>
                </c:pt>
                <c:pt idx="73">
                  <c:v>0.29213199019432068</c:v>
                </c:pt>
                <c:pt idx="74">
                  <c:v>0.29620331525802612</c:v>
                </c:pt>
                <c:pt idx="75">
                  <c:v>0.30011475086212158</c:v>
                </c:pt>
                <c:pt idx="76">
                  <c:v>0.30387192964553833</c:v>
                </c:pt>
                <c:pt idx="77">
                  <c:v>0.30747535824775696</c:v>
                </c:pt>
                <c:pt idx="78">
                  <c:v>0.31092157959938049</c:v>
                </c:pt>
                <c:pt idx="79">
                  <c:v>0.31420442461967468</c:v>
                </c:pt>
                <c:pt idx="80">
                  <c:v>0.31731322407722473</c:v>
                </c:pt>
                <c:pt idx="81">
                  <c:v>0.32023119926452637</c:v>
                </c:pt>
                <c:pt idx="82">
                  <c:v>0.32293736934661865</c:v>
                </c:pt>
                <c:pt idx="83">
                  <c:v>0.32540720701217651</c:v>
                </c:pt>
                <c:pt idx="84">
                  <c:v>0.32760944962501526</c:v>
                </c:pt>
                <c:pt idx="85">
                  <c:v>0.32950562238693237</c:v>
                </c:pt>
                <c:pt idx="86">
                  <c:v>0.33105054497718811</c:v>
                </c:pt>
                <c:pt idx="87">
                  <c:v>0.33219254016876221</c:v>
                </c:pt>
                <c:pt idx="88">
                  <c:v>0.33287337422370911</c:v>
                </c:pt>
                <c:pt idx="89">
                  <c:v>0.3330342173576355</c:v>
                </c:pt>
                <c:pt idx="90">
                  <c:v>0.33261772990226746</c:v>
                </c:pt>
                <c:pt idx="91">
                  <c:v>0.33156865835189819</c:v>
                </c:pt>
                <c:pt idx="92">
                  <c:v>0.32983437180519104</c:v>
                </c:pt>
                <c:pt idx="93">
                  <c:v>0.32737374305725098</c:v>
                </c:pt>
                <c:pt idx="94">
                  <c:v>0.32415127754211426</c:v>
                </c:pt>
                <c:pt idx="95">
                  <c:v>0.32013663649559021</c:v>
                </c:pt>
                <c:pt idx="96">
                  <c:v>0.31530535221099854</c:v>
                </c:pt>
                <c:pt idx="97">
                  <c:v>0.30964562296867371</c:v>
                </c:pt>
                <c:pt idx="98">
                  <c:v>0.3031637966632843</c:v>
                </c:pt>
                <c:pt idx="99">
                  <c:v>0.29588225483894348</c:v>
                </c:pt>
                <c:pt idx="100">
                  <c:v>0.28784292936325073</c:v>
                </c:pt>
                <c:pt idx="101">
                  <c:v>0.27910476922988892</c:v>
                </c:pt>
                <c:pt idx="102">
                  <c:v>0.26973849534988403</c:v>
                </c:pt>
                <c:pt idx="103">
                  <c:v>0.25982609391212463</c:v>
                </c:pt>
                <c:pt idx="104">
                  <c:v>0.24945648014545441</c:v>
                </c:pt>
                <c:pt idx="105">
                  <c:v>0.23871789872646332</c:v>
                </c:pt>
                <c:pt idx="106">
                  <c:v>0.22770316898822784</c:v>
                </c:pt>
                <c:pt idx="107">
                  <c:v>0.21650877594947815</c:v>
                </c:pt>
                <c:pt idx="108">
                  <c:v>0.20523543655872345</c:v>
                </c:pt>
                <c:pt idx="109">
                  <c:v>0.19398210942745209</c:v>
                </c:pt>
                <c:pt idx="110">
                  <c:v>0.18284261226654053</c:v>
                </c:pt>
                <c:pt idx="111">
                  <c:v>0.17191031575202942</c:v>
                </c:pt>
                <c:pt idx="112">
                  <c:v>0.16127628087997437</c:v>
                </c:pt>
                <c:pt idx="113">
                  <c:v>0.15102213621139526</c:v>
                </c:pt>
                <c:pt idx="114">
                  <c:v>0.14121854305267334</c:v>
                </c:pt>
                <c:pt idx="115">
                  <c:v>0.13192437589168549</c:v>
                </c:pt>
                <c:pt idx="116">
                  <c:v>0.12319089472293854</c:v>
                </c:pt>
                <c:pt idx="117">
                  <c:v>0.11506271362304688</c:v>
                </c:pt>
                <c:pt idx="118">
                  <c:v>0.10757561028003693</c:v>
                </c:pt>
                <c:pt idx="119">
                  <c:v>0.10075608640909195</c:v>
                </c:pt>
                <c:pt idx="120">
                  <c:v>9.4622209668159485E-2</c:v>
                </c:pt>
                <c:pt idx="121">
                  <c:v>8.9184552431106567E-2</c:v>
                </c:pt>
                <c:pt idx="122">
                  <c:v>8.4446147084236145E-2</c:v>
                </c:pt>
                <c:pt idx="123">
                  <c:v>8.0398961901664734E-2</c:v>
                </c:pt>
                <c:pt idx="124">
                  <c:v>7.7024616301059723E-2</c:v>
                </c:pt>
                <c:pt idx="125">
                  <c:v>7.4298933148384094E-2</c:v>
                </c:pt>
                <c:pt idx="126">
                  <c:v>7.2193168103694916E-2</c:v>
                </c:pt>
                <c:pt idx="127">
                  <c:v>7.0675425231456757E-2</c:v>
                </c:pt>
                <c:pt idx="128">
                  <c:v>6.9711856544017792E-2</c:v>
                </c:pt>
                <c:pt idx="129">
                  <c:v>6.926717609167099E-2</c:v>
                </c:pt>
                <c:pt idx="130">
                  <c:v>6.9307044148445129E-2</c:v>
                </c:pt>
                <c:pt idx="131">
                  <c:v>6.9800600409507751E-2</c:v>
                </c:pt>
                <c:pt idx="132">
                  <c:v>7.072070986032486E-2</c:v>
                </c:pt>
                <c:pt idx="133">
                  <c:v>7.2046518325805664E-2</c:v>
                </c:pt>
                <c:pt idx="134">
                  <c:v>7.3763176798820496E-2</c:v>
                </c:pt>
                <c:pt idx="135">
                  <c:v>7.5862087309360504E-2</c:v>
                </c:pt>
                <c:pt idx="136">
                  <c:v>7.8340746462345123E-2</c:v>
                </c:pt>
                <c:pt idx="137">
                  <c:v>8.1202104687690735E-2</c:v>
                </c:pt>
                <c:pt idx="138">
                  <c:v>8.4454663097858429E-2</c:v>
                </c:pt>
                <c:pt idx="139">
                  <c:v>8.8111475110054016E-2</c:v>
                </c:pt>
                <c:pt idx="140">
                  <c:v>9.2188552021980286E-2</c:v>
                </c:pt>
                <c:pt idx="141">
                  <c:v>9.670431911945343E-2</c:v>
                </c:pt>
                <c:pt idx="142">
                  <c:v>0.10167798399925232</c:v>
                </c:pt>
                <c:pt idx="143">
                  <c:v>0.10712703317403793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F5-41C8-A184-D8D8D77A2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0740384"/>
        <c:axId val="308694592"/>
      </c:lineChart>
      <c:dateAx>
        <c:axId val="67074038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08694592"/>
        <c:crosses val="autoZero"/>
        <c:auto val="1"/>
        <c:lblOffset val="100"/>
        <c:baseTimeUnit val="months"/>
      </c:dateAx>
      <c:valAx>
        <c:axId val="308694592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7074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sz="1800" b="1" i="0" baseline="0" dirty="0">
                <a:effectLst/>
              </a:rPr>
              <a:t>PIB  a precios de mercado (</a:t>
            </a:r>
            <a:r>
              <a:rPr lang="es-AR" sz="1800" b="1" i="0" baseline="0" dirty="0" err="1">
                <a:effectLst/>
              </a:rPr>
              <a:t>m$n</a:t>
            </a:r>
            <a:r>
              <a:rPr lang="es-AR" sz="1800" b="1" i="0" baseline="0" dirty="0">
                <a:effectLst/>
              </a:rPr>
              <a:t> constantes) y tendencia (entre 1930 y 2000)</a:t>
            </a:r>
            <a:endParaRPr lang="es-AR" dirty="0">
              <a:effectLst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v>Inicio Plan</c:v>
          </c:tx>
          <c:spPr>
            <a:solidFill>
              <a:schemeClr val="accent1">
                <a:lumMod val="40000"/>
                <a:lumOff val="60000"/>
              </a:schemeClr>
            </a:solidFill>
            <a:ln w="25400">
              <a:noFill/>
            </a:ln>
          </c:spPr>
          <c:invertIfNegative val="0"/>
          <c:val>
            <c:numRef>
              <c:f>PIB!$E$27:$E$34</c:f>
              <c:numCache>
                <c:formatCode>General</c:formatCode>
                <c:ptCount val="8"/>
                <c:pt idx="3">
                  <c:v>110000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90-4CED-8EC7-162438699D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902111"/>
        <c:axId val="1"/>
      </c:barChart>
      <c:lineChart>
        <c:grouping val="standard"/>
        <c:varyColors val="0"/>
        <c:ser>
          <c:idx val="0"/>
          <c:order val="0"/>
          <c:tx>
            <c:strRef>
              <c:f>PIB!$B$1</c:f>
              <c:strCache>
                <c:ptCount val="1"/>
                <c:pt idx="0">
                  <c:v>PIBpm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PIB!$A$27:$A$34</c:f>
              <c:numCache>
                <c:formatCode>0</c:formatCode>
                <c:ptCount val="8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</c:numCache>
            </c:numRef>
          </c:cat>
          <c:val>
            <c:numRef>
              <c:f>PIB!$B$27:$B$34</c:f>
              <c:numCache>
                <c:formatCode>General</c:formatCode>
                <c:ptCount val="8"/>
                <c:pt idx="0">
                  <c:v>91017.502176146314</c:v>
                </c:pt>
                <c:pt idx="1">
                  <c:v>93546.026261706502</c:v>
                </c:pt>
                <c:pt idx="2">
                  <c:v>98391.843819917951</c:v>
                </c:pt>
                <c:pt idx="3">
                  <c:v>104396.82838690061</c:v>
                </c:pt>
                <c:pt idx="4">
                  <c:v>97654.09749207343</c:v>
                </c:pt>
                <c:pt idx="5">
                  <c:v>105344.7647827629</c:v>
                </c:pt>
                <c:pt idx="6">
                  <c:v>112824.20146054342</c:v>
                </c:pt>
                <c:pt idx="7">
                  <c:v>111033.42370282777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90-4CED-8EC7-162438699DB5}"/>
            </c:ext>
          </c:extLst>
        </c:ser>
        <c:ser>
          <c:idx val="1"/>
          <c:order val="1"/>
          <c:tx>
            <c:strRef>
              <c:f>PIB!$C$1</c:f>
              <c:strCache>
                <c:ptCount val="1"/>
                <c:pt idx="0">
                  <c:v>PIB_tent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PIB!$A$27:$A$34</c:f>
              <c:numCache>
                <c:formatCode>0</c:formatCode>
                <c:ptCount val="8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</c:numCache>
            </c:numRef>
          </c:cat>
          <c:val>
            <c:numRef>
              <c:f>PIB!$C$27:$C$34</c:f>
              <c:numCache>
                <c:formatCode>General</c:formatCode>
                <c:ptCount val="8"/>
                <c:pt idx="0">
                  <c:v>89842.7421875</c:v>
                </c:pt>
                <c:pt idx="1">
                  <c:v>92688.9140625</c:v>
                </c:pt>
                <c:pt idx="2">
                  <c:v>95655.6640625</c:v>
                </c:pt>
                <c:pt idx="3">
                  <c:v>98743.6171875</c:v>
                </c:pt>
                <c:pt idx="4">
                  <c:v>101980.765625</c:v>
                </c:pt>
                <c:pt idx="5">
                  <c:v>105451.625</c:v>
                </c:pt>
                <c:pt idx="6">
                  <c:v>109197.4375</c:v>
                </c:pt>
                <c:pt idx="7">
                  <c:v>113258.3828125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190-4CED-8EC7-162438699D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4902111"/>
        <c:axId val="1"/>
      </c:lineChart>
      <c:catAx>
        <c:axId val="774902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902111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dirty="0"/>
              <a:t>Política</a:t>
            </a:r>
            <a:r>
              <a:rPr lang="es-AR" baseline="0" dirty="0"/>
              <a:t> Fiscal (todo como % PIB)</a:t>
            </a:r>
            <a:endParaRPr lang="es-AR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fiscal!$B$1</c:f>
              <c:strCache>
                <c:ptCount val="1"/>
                <c:pt idx="0">
                  <c:v>ingresos (%PIB)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 w="25400">
              <a:noFill/>
            </a:ln>
          </c:spPr>
          <c:invertIfNegative val="0"/>
          <c:cat>
            <c:numRef>
              <c:f>fiscal!$A$27:$A$34</c:f>
              <c:numCache>
                <c:formatCode>General</c:formatCode>
                <c:ptCount val="8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</c:numCache>
            </c:numRef>
          </c:cat>
          <c:val>
            <c:numRef>
              <c:f>fiscal!$B$27:$B$34</c:f>
              <c:numCache>
                <c:formatCode>_ * #.##000_ ;_ * \-#.##000_ ;_ * "-"_ ;_ @_ </c:formatCode>
                <c:ptCount val="8"/>
                <c:pt idx="0">
                  <c:v>6.4454206220284656</c:v>
                </c:pt>
                <c:pt idx="1">
                  <c:v>6.267866977172047</c:v>
                </c:pt>
                <c:pt idx="2">
                  <c:v>5.6905766316196758</c:v>
                </c:pt>
                <c:pt idx="3">
                  <c:v>6.5851139290668765</c:v>
                </c:pt>
                <c:pt idx="4">
                  <c:v>8.8011367442623758</c:v>
                </c:pt>
                <c:pt idx="5">
                  <c:v>9.3264657123346844</c:v>
                </c:pt>
                <c:pt idx="6">
                  <c:v>14.025116433575121</c:v>
                </c:pt>
                <c:pt idx="7">
                  <c:v>10.835273624908726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BE-4089-B294-D3CA773AEB44}"/>
            </c:ext>
          </c:extLst>
        </c:ser>
        <c:ser>
          <c:idx val="1"/>
          <c:order val="1"/>
          <c:tx>
            <c:strRef>
              <c:f>fiscal!$C$1</c:f>
              <c:strCache>
                <c:ptCount val="1"/>
                <c:pt idx="0">
                  <c:v>gastos (% PIB)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 w="25400">
              <a:noFill/>
            </a:ln>
          </c:spPr>
          <c:invertIfNegative val="0"/>
          <c:cat>
            <c:numRef>
              <c:f>fiscal!$A$27:$A$34</c:f>
              <c:numCache>
                <c:formatCode>General</c:formatCode>
                <c:ptCount val="8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</c:numCache>
            </c:numRef>
          </c:cat>
          <c:val>
            <c:numRef>
              <c:f>fiscal!$C$27:$C$34</c:f>
              <c:numCache>
                <c:formatCode>_ * #.##000_ ;_ * \-#.##000_ ;_ * "-"_ ;_ @_ </c:formatCode>
                <c:ptCount val="8"/>
                <c:pt idx="0">
                  <c:v>10.21560164416745</c:v>
                </c:pt>
                <c:pt idx="1">
                  <c:v>10.04118490500475</c:v>
                </c:pt>
                <c:pt idx="2">
                  <c:v>8.4272916332381396</c:v>
                </c:pt>
                <c:pt idx="3">
                  <c:v>13.193231828399897</c:v>
                </c:pt>
                <c:pt idx="4">
                  <c:v>13.636928908587148</c:v>
                </c:pt>
                <c:pt idx="5">
                  <c:v>11.30709949362018</c:v>
                </c:pt>
                <c:pt idx="6">
                  <c:v>12.273240598550242</c:v>
                </c:pt>
                <c:pt idx="7">
                  <c:v>11.315712728044325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BE-4089-B294-D3CA773AEB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8442351"/>
        <c:axId val="1"/>
      </c:barChart>
      <c:lineChart>
        <c:grouping val="standard"/>
        <c:varyColors val="0"/>
        <c:ser>
          <c:idx val="2"/>
          <c:order val="2"/>
          <c:tx>
            <c:strRef>
              <c:f>fiscal!$D$1</c:f>
              <c:strCache>
                <c:ptCount val="1"/>
                <c:pt idx="0">
                  <c:v>resultado primario (% PIB)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fiscal!$A$27:$A$34</c:f>
              <c:numCache>
                <c:formatCode>General</c:formatCode>
                <c:ptCount val="8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</c:numCache>
            </c:numRef>
          </c:cat>
          <c:val>
            <c:numRef>
              <c:f>fiscal!$D$27:$D$34</c:f>
              <c:numCache>
                <c:formatCode>_ * #.##000_ ;_ * \-#.##000_ ;_ * "-"_ ;_ @_ </c:formatCode>
                <c:ptCount val="8"/>
                <c:pt idx="0">
                  <c:v>-2.9553328942548047</c:v>
                </c:pt>
                <c:pt idx="1">
                  <c:v>-3.0386868360083987</c:v>
                </c:pt>
                <c:pt idx="2">
                  <c:v>-2.0616482791609578</c:v>
                </c:pt>
                <c:pt idx="3">
                  <c:v>-5.9051064585995938</c:v>
                </c:pt>
                <c:pt idx="4">
                  <c:v>-4.3017986960826127</c:v>
                </c:pt>
                <c:pt idx="5">
                  <c:v>-1.4746112580100637</c:v>
                </c:pt>
                <c:pt idx="6">
                  <c:v>2.2097032379126698</c:v>
                </c:pt>
                <c:pt idx="7">
                  <c:v>7.4138233412179247E-2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BBE-4089-B294-D3CA773AEB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8442351"/>
        <c:axId val="1"/>
      </c:lineChart>
      <c:catAx>
        <c:axId val="908442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908442351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dirty="0"/>
              <a:t>Base Monetaria en términos reales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4472C4"/>
            </a:solidFill>
            <a:ln w="25400">
              <a:noFill/>
            </a:ln>
          </c:spPr>
          <c:invertIfNegative val="0"/>
          <c:cat>
            <c:numRef>
              <c:f>monet!$A$27:$A$34</c:f>
              <c:numCache>
                <c:formatCode>General</c:formatCode>
                <c:ptCount val="8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</c:numCache>
            </c:numRef>
          </c:cat>
          <c:val>
            <c:numRef>
              <c:f>monet!$F$27:$F$34</c:f>
              <c:numCache>
                <c:formatCode>0%</c:formatCode>
                <c:ptCount val="8"/>
                <c:pt idx="0">
                  <c:v>4.723995498172151E-2</c:v>
                </c:pt>
                <c:pt idx="1">
                  <c:v>2.9374968883842723E-2</c:v>
                </c:pt>
                <c:pt idx="2">
                  <c:v>-0.1942121818452186</c:v>
                </c:pt>
                <c:pt idx="3">
                  <c:v>6.9979542886393631E-2</c:v>
                </c:pt>
                <c:pt idx="4">
                  <c:v>-0.34099966227614076</c:v>
                </c:pt>
                <c:pt idx="5">
                  <c:v>-5.1285832322133684E-2</c:v>
                </c:pt>
                <c:pt idx="6">
                  <c:v>-0.13315143080978953</c:v>
                </c:pt>
                <c:pt idx="7">
                  <c:v>-0.18625419008983357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A4-4151-8F1F-03E1F81C6A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4910511"/>
        <c:axId val="1"/>
      </c:barChart>
      <c:catAx>
        <c:axId val="774910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9105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salario!$B$1</c:f>
              <c:strCache>
                <c:ptCount val="1"/>
                <c:pt idx="0">
                  <c:v>salario real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salario!$A$27:$A$34</c:f>
              <c:numCache>
                <c:formatCode>General</c:formatCode>
                <c:ptCount val="8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</c:numCache>
            </c:numRef>
          </c:cat>
          <c:val>
            <c:numRef>
              <c:f>salario!$B$27:$B$34</c:f>
              <c:numCache>
                <c:formatCode>_ * #.##000_ ;_ * \-#.##000_ ;_ * "-"_ ;_ @_ </c:formatCode>
                <c:ptCount val="8"/>
                <c:pt idx="0">
                  <c:v>1619.6754049411993</c:v>
                </c:pt>
                <c:pt idx="1">
                  <c:v>1754.7920947972589</c:v>
                </c:pt>
                <c:pt idx="2">
                  <c:v>1703.8572316228849</c:v>
                </c:pt>
                <c:pt idx="3">
                  <c:v>1822.9334772215091</c:v>
                </c:pt>
                <c:pt idx="4">
                  <c:v>1356.7064115741539</c:v>
                </c:pt>
                <c:pt idx="5">
                  <c:v>1385.9250924038392</c:v>
                </c:pt>
                <c:pt idx="6">
                  <c:v>1542.2328564801867</c:v>
                </c:pt>
                <c:pt idx="7">
                  <c:v>1507.4529916754527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7D-41BA-9FD4-4460BDCF5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4894911"/>
        <c:axId val="1"/>
      </c:lineChart>
      <c:catAx>
        <c:axId val="774894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949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AR"/>
              <a:t>TIPO DE CAMBIO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0000770997375329"/>
          <c:y val="0.11908983272760769"/>
          <c:w val="0.89213877952755904"/>
          <c:h val="0.7200376569258123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'tipo de cambio mensual'!$A$146:$B$241</c:f>
              <c:multiLvlStrCache>
                <c:ptCount val="96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 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 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</c:lvl>
                <c:lvl>
                  <c:pt idx="0">
                    <c:v>1955 </c:v>
                  </c:pt>
                  <c:pt idx="12">
                    <c:v>1956 </c:v>
                  </c:pt>
                  <c:pt idx="24">
                    <c:v>1957 </c:v>
                  </c:pt>
                  <c:pt idx="36">
                    <c:v>1958 </c:v>
                  </c:pt>
                  <c:pt idx="48">
                    <c:v>1959 </c:v>
                  </c:pt>
                  <c:pt idx="60">
                    <c:v>1960 </c:v>
                  </c:pt>
                  <c:pt idx="72">
                    <c:v>1961 </c:v>
                  </c:pt>
                  <c:pt idx="84">
                    <c:v>1962 </c:v>
                  </c:pt>
                </c:lvl>
              </c:multiLvlStrCache>
            </c:multiLvlStrRef>
          </c:cat>
          <c:val>
            <c:numRef>
              <c:f>'tipo de cambio mensual'!$C$146:$C$241</c:f>
              <c:numCache>
                <c:formatCode>_ * #.##00000_ ;_ * \-#.##00000_ ;_ * "-"????_ ;_ @_ </c:formatCode>
                <c:ptCount val="96"/>
                <c:pt idx="0">
                  <c:v>13.975</c:v>
                </c:pt>
                <c:pt idx="1">
                  <c:v>13.975</c:v>
                </c:pt>
                <c:pt idx="2">
                  <c:v>13.975</c:v>
                </c:pt>
                <c:pt idx="3">
                  <c:v>13.975</c:v>
                </c:pt>
                <c:pt idx="4">
                  <c:v>13.991099999999999</c:v>
                </c:pt>
                <c:pt idx="5">
                  <c:v>13.976000000000001</c:v>
                </c:pt>
                <c:pt idx="6">
                  <c:v>13.976699999999999</c:v>
                </c:pt>
                <c:pt idx="7">
                  <c:v>13.9811</c:v>
                </c:pt>
                <c:pt idx="8">
                  <c:v>13.9762</c:v>
                </c:pt>
                <c:pt idx="9">
                  <c:v>13.9819</c:v>
                </c:pt>
                <c:pt idx="10">
                  <c:v>32.61</c:v>
                </c:pt>
                <c:pt idx="11">
                  <c:v>35.89</c:v>
                </c:pt>
                <c:pt idx="12">
                  <c:v>39.53</c:v>
                </c:pt>
                <c:pt idx="13">
                  <c:v>42.61</c:v>
                </c:pt>
                <c:pt idx="14">
                  <c:v>40.770000000000003</c:v>
                </c:pt>
                <c:pt idx="15">
                  <c:v>39.49</c:v>
                </c:pt>
                <c:pt idx="16">
                  <c:v>37.24</c:v>
                </c:pt>
                <c:pt idx="17">
                  <c:v>33.81</c:v>
                </c:pt>
                <c:pt idx="18">
                  <c:v>31.93</c:v>
                </c:pt>
                <c:pt idx="19">
                  <c:v>30.65</c:v>
                </c:pt>
                <c:pt idx="20">
                  <c:v>31.49</c:v>
                </c:pt>
                <c:pt idx="21">
                  <c:v>31.73</c:v>
                </c:pt>
                <c:pt idx="22">
                  <c:v>34.18</c:v>
                </c:pt>
                <c:pt idx="23">
                  <c:v>35.86</c:v>
                </c:pt>
                <c:pt idx="24">
                  <c:v>37.979999999999997</c:v>
                </c:pt>
                <c:pt idx="25">
                  <c:v>37.32</c:v>
                </c:pt>
                <c:pt idx="26">
                  <c:v>39.380000000000003</c:v>
                </c:pt>
                <c:pt idx="27">
                  <c:v>40.729999999999997</c:v>
                </c:pt>
                <c:pt idx="28">
                  <c:v>39.380000000000003</c:v>
                </c:pt>
                <c:pt idx="29">
                  <c:v>40.619999999999997</c:v>
                </c:pt>
                <c:pt idx="30">
                  <c:v>42.49</c:v>
                </c:pt>
                <c:pt idx="31">
                  <c:v>43.66</c:v>
                </c:pt>
                <c:pt idx="32">
                  <c:v>45.09</c:v>
                </c:pt>
                <c:pt idx="33">
                  <c:v>40.14</c:v>
                </c:pt>
                <c:pt idx="34">
                  <c:v>38.479999999999997</c:v>
                </c:pt>
                <c:pt idx="35">
                  <c:v>37.130000000000003</c:v>
                </c:pt>
                <c:pt idx="36">
                  <c:v>37.31</c:v>
                </c:pt>
                <c:pt idx="37">
                  <c:v>37.86</c:v>
                </c:pt>
                <c:pt idx="38">
                  <c:v>38.71</c:v>
                </c:pt>
                <c:pt idx="39">
                  <c:v>41.29</c:v>
                </c:pt>
                <c:pt idx="40">
                  <c:v>42.2</c:v>
                </c:pt>
                <c:pt idx="41">
                  <c:v>42.12</c:v>
                </c:pt>
                <c:pt idx="42">
                  <c:v>42.71</c:v>
                </c:pt>
                <c:pt idx="43">
                  <c:v>45.16</c:v>
                </c:pt>
                <c:pt idx="44">
                  <c:v>49.56</c:v>
                </c:pt>
                <c:pt idx="45">
                  <c:v>61.21</c:v>
                </c:pt>
                <c:pt idx="46">
                  <c:v>71.77</c:v>
                </c:pt>
                <c:pt idx="47">
                  <c:v>66.11</c:v>
                </c:pt>
                <c:pt idx="48">
                  <c:v>65.849999999999994</c:v>
                </c:pt>
                <c:pt idx="49">
                  <c:v>65.959999999999994</c:v>
                </c:pt>
                <c:pt idx="50">
                  <c:v>68.27</c:v>
                </c:pt>
                <c:pt idx="51">
                  <c:v>73.790000000000006</c:v>
                </c:pt>
                <c:pt idx="52">
                  <c:v>85.42</c:v>
                </c:pt>
                <c:pt idx="53">
                  <c:v>90.3</c:v>
                </c:pt>
                <c:pt idx="54">
                  <c:v>85.06</c:v>
                </c:pt>
                <c:pt idx="55">
                  <c:v>84.02</c:v>
                </c:pt>
                <c:pt idx="56">
                  <c:v>83.35</c:v>
                </c:pt>
                <c:pt idx="57">
                  <c:v>82.08</c:v>
                </c:pt>
                <c:pt idx="58">
                  <c:v>82.83</c:v>
                </c:pt>
                <c:pt idx="59">
                  <c:v>83.36</c:v>
                </c:pt>
                <c:pt idx="60">
                  <c:v>83.07</c:v>
                </c:pt>
                <c:pt idx="61">
                  <c:v>82.92</c:v>
                </c:pt>
                <c:pt idx="62">
                  <c:v>82.93</c:v>
                </c:pt>
                <c:pt idx="63">
                  <c:v>83.38</c:v>
                </c:pt>
                <c:pt idx="64">
                  <c:v>83.09</c:v>
                </c:pt>
                <c:pt idx="65">
                  <c:v>82.92</c:v>
                </c:pt>
                <c:pt idx="66">
                  <c:v>82.81</c:v>
                </c:pt>
                <c:pt idx="67">
                  <c:v>82.79</c:v>
                </c:pt>
                <c:pt idx="68">
                  <c:v>82.76</c:v>
                </c:pt>
                <c:pt idx="69">
                  <c:v>82.85</c:v>
                </c:pt>
                <c:pt idx="70">
                  <c:v>82.92</c:v>
                </c:pt>
                <c:pt idx="71">
                  <c:v>82.85</c:v>
                </c:pt>
                <c:pt idx="72">
                  <c:v>82.73</c:v>
                </c:pt>
                <c:pt idx="73">
                  <c:v>82.7</c:v>
                </c:pt>
                <c:pt idx="74">
                  <c:v>82.75</c:v>
                </c:pt>
                <c:pt idx="75">
                  <c:v>82.85</c:v>
                </c:pt>
                <c:pt idx="76">
                  <c:v>82.93</c:v>
                </c:pt>
                <c:pt idx="77">
                  <c:v>82.74</c:v>
                </c:pt>
                <c:pt idx="78">
                  <c:v>82.65</c:v>
                </c:pt>
                <c:pt idx="79">
                  <c:v>82.74</c:v>
                </c:pt>
                <c:pt idx="80">
                  <c:v>82.97</c:v>
                </c:pt>
                <c:pt idx="81">
                  <c:v>83.03</c:v>
                </c:pt>
                <c:pt idx="82">
                  <c:v>83.04</c:v>
                </c:pt>
                <c:pt idx="83">
                  <c:v>82.84</c:v>
                </c:pt>
                <c:pt idx="84">
                  <c:v>83.04</c:v>
                </c:pt>
                <c:pt idx="85">
                  <c:v>83.04</c:v>
                </c:pt>
                <c:pt idx="86">
                  <c:v>82.76</c:v>
                </c:pt>
                <c:pt idx="87">
                  <c:v>95.38</c:v>
                </c:pt>
                <c:pt idx="88">
                  <c:v>105.44</c:v>
                </c:pt>
                <c:pt idx="89">
                  <c:v>117.55</c:v>
                </c:pt>
                <c:pt idx="90">
                  <c:v>122.14</c:v>
                </c:pt>
                <c:pt idx="91">
                  <c:v>123.6</c:v>
                </c:pt>
                <c:pt idx="92">
                  <c:v>127.43</c:v>
                </c:pt>
                <c:pt idx="93">
                  <c:v>135.75</c:v>
                </c:pt>
                <c:pt idx="94">
                  <c:v>146.93</c:v>
                </c:pt>
                <c:pt idx="95">
                  <c:v>141.65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7D-4548-9E66-0EE3C40D1F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893711"/>
        <c:axId val="1"/>
      </c:barChart>
      <c:catAx>
        <c:axId val="774893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937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 b="1"/>
            </a:pPr>
            <a:r>
              <a:rPr lang="en-US" b="1"/>
              <a:t>TIPO DE CAMBIO/IPC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'tipo de cambio mensual'!$A$146:$B$241</c:f>
              <c:multiLvlStrCache>
                <c:ptCount val="96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 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 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</c:lvl>
                <c:lvl>
                  <c:pt idx="0">
                    <c:v>1955 </c:v>
                  </c:pt>
                  <c:pt idx="12">
                    <c:v>1956 </c:v>
                  </c:pt>
                  <c:pt idx="24">
                    <c:v>1957 </c:v>
                  </c:pt>
                  <c:pt idx="36">
                    <c:v>1958 </c:v>
                  </c:pt>
                  <c:pt idx="48">
                    <c:v>1959 </c:v>
                  </c:pt>
                  <c:pt idx="60">
                    <c:v>1960 </c:v>
                  </c:pt>
                  <c:pt idx="72">
                    <c:v>1961 </c:v>
                  </c:pt>
                  <c:pt idx="84">
                    <c:v>1962 </c:v>
                  </c:pt>
                </c:lvl>
              </c:multiLvlStrCache>
            </c:multiLvlStrRef>
          </c:cat>
          <c:val>
            <c:numRef>
              <c:f>'tipo de cambio mensual'!$F$146:$F$241</c:f>
              <c:numCache>
                <c:formatCode>#,#00</c:formatCode>
                <c:ptCount val="96"/>
                <c:pt idx="0">
                  <c:v>2.1444787839101966</c:v>
                </c:pt>
                <c:pt idx="1">
                  <c:v>2.1415779374616983</c:v>
                </c:pt>
                <c:pt idx="2">
                  <c:v>2.1385891613741017</c:v>
                </c:pt>
                <c:pt idx="3">
                  <c:v>2.1082228725087</c:v>
                </c:pt>
                <c:pt idx="4">
                  <c:v>2.1078447833274554</c:v>
                </c:pt>
                <c:pt idx="5">
                  <c:v>2.093189508359568</c:v>
                </c:pt>
                <c:pt idx="6">
                  <c:v>2.084115101445692</c:v>
                </c:pt>
                <c:pt idx="7">
                  <c:v>2.077700082548195</c:v>
                </c:pt>
                <c:pt idx="8">
                  <c:v>2.0628735585900104</c:v>
                </c:pt>
                <c:pt idx="9">
                  <c:v>2.065484145341633</c:v>
                </c:pt>
                <c:pt idx="10">
                  <c:v>4.8151453477067987</c:v>
                </c:pt>
                <c:pt idx="11">
                  <c:v>5.0124702761241817</c:v>
                </c:pt>
                <c:pt idx="12">
                  <c:v>5.5936090277969477</c:v>
                </c:pt>
                <c:pt idx="13">
                  <c:v>6.0760646262761133</c:v>
                </c:pt>
                <c:pt idx="14">
                  <c:v>5.8226346717743338</c:v>
                </c:pt>
                <c:pt idx="15">
                  <c:v>5.4479419034931915</c:v>
                </c:pt>
                <c:pt idx="16">
                  <c:v>4.9477589109263738</c:v>
                </c:pt>
                <c:pt idx="17">
                  <c:v>4.3243470415050087</c:v>
                </c:pt>
                <c:pt idx="18">
                  <c:v>4.1050940936735847</c:v>
                </c:pt>
                <c:pt idx="19">
                  <c:v>3.9594225692847553</c:v>
                </c:pt>
                <c:pt idx="20">
                  <c:v>4.0455068385867961</c:v>
                </c:pt>
                <c:pt idx="21">
                  <c:v>4.0250208915889241</c:v>
                </c:pt>
                <c:pt idx="22">
                  <c:v>4.2697461512686958</c:v>
                </c:pt>
                <c:pt idx="23">
                  <c:v>4.2925778851935528</c:v>
                </c:pt>
                <c:pt idx="24">
                  <c:v>4.5972886616804116</c:v>
                </c:pt>
                <c:pt idx="25">
                  <c:v>4.4831794577367425</c:v>
                </c:pt>
                <c:pt idx="26">
                  <c:v>4.5642682998519053</c:v>
                </c:pt>
                <c:pt idx="27">
                  <c:v>4.5976580071566202</c:v>
                </c:pt>
                <c:pt idx="28">
                  <c:v>4.3241259833243193</c:v>
                </c:pt>
                <c:pt idx="29">
                  <c:v>4.295271786832239</c:v>
                </c:pt>
                <c:pt idx="30">
                  <c:v>4.4118330421660819</c:v>
                </c:pt>
                <c:pt idx="31">
                  <c:v>4.3021338247802658</c:v>
                </c:pt>
                <c:pt idx="32">
                  <c:v>4.4528638903069835</c:v>
                </c:pt>
                <c:pt idx="33">
                  <c:v>3.9225779495586863</c:v>
                </c:pt>
                <c:pt idx="34">
                  <c:v>3.6680576826524356</c:v>
                </c:pt>
                <c:pt idx="35">
                  <c:v>3.5377917557294483</c:v>
                </c:pt>
                <c:pt idx="36">
                  <c:v>3.6516621114632657</c:v>
                </c:pt>
                <c:pt idx="37">
                  <c:v>3.6549006327564451</c:v>
                </c:pt>
                <c:pt idx="38">
                  <c:v>3.6762245858285518</c:v>
                </c:pt>
                <c:pt idx="39">
                  <c:v>3.7589009003809308</c:v>
                </c:pt>
                <c:pt idx="40">
                  <c:v>3.6087980915600752</c:v>
                </c:pt>
                <c:pt idx="41">
                  <c:v>3.4497806625817846</c:v>
                </c:pt>
                <c:pt idx="42">
                  <c:v>3.3756467067022311</c:v>
                </c:pt>
                <c:pt idx="43">
                  <c:v>3.4108494476715276</c:v>
                </c:pt>
                <c:pt idx="44">
                  <c:v>3.6729441589139733</c:v>
                </c:pt>
                <c:pt idx="45">
                  <c:v>4.4054072432178195</c:v>
                </c:pt>
                <c:pt idx="46">
                  <c:v>4.9156473521768467</c:v>
                </c:pt>
                <c:pt idx="47">
                  <c:v>4.1784819600578267</c:v>
                </c:pt>
                <c:pt idx="48">
                  <c:v>3.534420683824222</c:v>
                </c:pt>
                <c:pt idx="49">
                  <c:v>3.2456467736787675</c:v>
                </c:pt>
                <c:pt idx="50">
                  <c:v>3.1296757197248311</c:v>
                </c:pt>
                <c:pt idx="51">
                  <c:v>3.1244005339985259</c:v>
                </c:pt>
                <c:pt idx="52">
                  <c:v>3.275170736176817</c:v>
                </c:pt>
                <c:pt idx="53">
                  <c:v>3.2564919405190071</c:v>
                </c:pt>
                <c:pt idx="54">
                  <c:v>2.976486699944537</c:v>
                </c:pt>
                <c:pt idx="55">
                  <c:v>2.8330058754367933</c:v>
                </c:pt>
                <c:pt idx="56">
                  <c:v>2.7614632536495911</c:v>
                </c:pt>
                <c:pt idx="57">
                  <c:v>2.7026879942960744</c:v>
                </c:pt>
                <c:pt idx="58">
                  <c:v>2.6714685613978792</c:v>
                </c:pt>
                <c:pt idx="59">
                  <c:v>2.6132113286296335</c:v>
                </c:pt>
                <c:pt idx="60">
                  <c:v>2.5346672901618703</c:v>
                </c:pt>
                <c:pt idx="61">
                  <c:v>2.5094070432450701</c:v>
                </c:pt>
                <c:pt idx="62">
                  <c:v>2.4919018887776803</c:v>
                </c:pt>
                <c:pt idx="63">
                  <c:v>2.5079594988477489</c:v>
                </c:pt>
                <c:pt idx="64">
                  <c:v>2.504317255257039</c:v>
                </c:pt>
                <c:pt idx="65">
                  <c:v>2.5119651393848428</c:v>
                </c:pt>
                <c:pt idx="66">
                  <c:v>2.4857717101063992</c:v>
                </c:pt>
                <c:pt idx="67">
                  <c:v>2.4726396918523528</c:v>
                </c:pt>
                <c:pt idx="68">
                  <c:v>2.4692512648290936</c:v>
                </c:pt>
                <c:pt idx="69">
                  <c:v>2.4521869289329112</c:v>
                </c:pt>
                <c:pt idx="70">
                  <c:v>2.3944579908855852</c:v>
                </c:pt>
                <c:pt idx="71">
                  <c:v>2.1916383901272285</c:v>
                </c:pt>
                <c:pt idx="72">
                  <c:v>2.3299262538817906</c:v>
                </c:pt>
                <c:pt idx="73">
                  <c:v>2.3006518052412512</c:v>
                </c:pt>
                <c:pt idx="74">
                  <c:v>2.2763843535680941</c:v>
                </c:pt>
                <c:pt idx="75">
                  <c:v>2.229460368350324</c:v>
                </c:pt>
                <c:pt idx="76">
                  <c:v>2.2155170326033717</c:v>
                </c:pt>
                <c:pt idx="77">
                  <c:v>2.180946109308556</c:v>
                </c:pt>
                <c:pt idx="78">
                  <c:v>2.1461107227656946</c:v>
                </c:pt>
                <c:pt idx="79">
                  <c:v>2.1316359229705126</c:v>
                </c:pt>
                <c:pt idx="80">
                  <c:v>2.1154817187053134</c:v>
                </c:pt>
                <c:pt idx="81">
                  <c:v>2.1151967287861848</c:v>
                </c:pt>
                <c:pt idx="82">
                  <c:v>2.0502208838194411</c:v>
                </c:pt>
                <c:pt idx="83">
                  <c:v>1.8821631759384634</c:v>
                </c:pt>
                <c:pt idx="84">
                  <c:v>1.9650718479946823</c:v>
                </c:pt>
                <c:pt idx="85">
                  <c:v>1.9372151689049284</c:v>
                </c:pt>
                <c:pt idx="86">
                  <c:v>1.9007560795031335</c:v>
                </c:pt>
                <c:pt idx="87">
                  <c:v>2.1215248257877519</c:v>
                </c:pt>
                <c:pt idx="88">
                  <c:v>2.2669963185526703</c:v>
                </c:pt>
                <c:pt idx="89">
                  <c:v>2.4912132870855084</c:v>
                </c:pt>
                <c:pt idx="90">
                  <c:v>2.4768638385196979</c:v>
                </c:pt>
                <c:pt idx="91">
                  <c:v>2.4742951144886134</c:v>
                </c:pt>
                <c:pt idx="92">
                  <c:v>2.4599941883290199</c:v>
                </c:pt>
                <c:pt idx="93">
                  <c:v>2.5765051071175682</c:v>
                </c:pt>
                <c:pt idx="94">
                  <c:v>2.8030704390332857</c:v>
                </c:pt>
                <c:pt idx="95">
                  <c:v>2.4628698711040147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16-4D92-BE21-45F940EDB0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910911"/>
        <c:axId val="1"/>
      </c:barChart>
      <c:catAx>
        <c:axId val="774910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9109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s-AR" sz="1400" b="0" i="0" u="none" strike="noStrike" kern="1200" baseline="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pPr>
      <a:endParaRPr lang="es-A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Inflación anual y tendencia. 1956-1962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1943-1995'!$A$158:$A$241</c:f>
              <c:numCache>
                <c:formatCode>mmm\-yy</c:formatCode>
                <c:ptCount val="84"/>
                <c:pt idx="0">
                  <c:v>20455</c:v>
                </c:pt>
                <c:pt idx="1">
                  <c:v>20486</c:v>
                </c:pt>
                <c:pt idx="2">
                  <c:v>20515</c:v>
                </c:pt>
                <c:pt idx="3">
                  <c:v>20546</c:v>
                </c:pt>
                <c:pt idx="4">
                  <c:v>20576</c:v>
                </c:pt>
                <c:pt idx="5">
                  <c:v>20607</c:v>
                </c:pt>
                <c:pt idx="6">
                  <c:v>20637</c:v>
                </c:pt>
                <c:pt idx="7">
                  <c:v>20668</c:v>
                </c:pt>
                <c:pt idx="8">
                  <c:v>20699</c:v>
                </c:pt>
                <c:pt idx="9">
                  <c:v>20729</c:v>
                </c:pt>
                <c:pt idx="10">
                  <c:v>20760</c:v>
                </c:pt>
                <c:pt idx="11">
                  <c:v>20790</c:v>
                </c:pt>
                <c:pt idx="12">
                  <c:v>20821</c:v>
                </c:pt>
                <c:pt idx="13">
                  <c:v>20852</c:v>
                </c:pt>
                <c:pt idx="14">
                  <c:v>20880</c:v>
                </c:pt>
                <c:pt idx="15">
                  <c:v>20911</c:v>
                </c:pt>
                <c:pt idx="16">
                  <c:v>20941</c:v>
                </c:pt>
                <c:pt idx="17">
                  <c:v>20972</c:v>
                </c:pt>
                <c:pt idx="18">
                  <c:v>21002</c:v>
                </c:pt>
                <c:pt idx="19">
                  <c:v>21033</c:v>
                </c:pt>
                <c:pt idx="20">
                  <c:v>21064</c:v>
                </c:pt>
                <c:pt idx="21">
                  <c:v>21094</c:v>
                </c:pt>
                <c:pt idx="22">
                  <c:v>21125</c:v>
                </c:pt>
                <c:pt idx="23">
                  <c:v>21155</c:v>
                </c:pt>
                <c:pt idx="24">
                  <c:v>21186</c:v>
                </c:pt>
                <c:pt idx="25">
                  <c:v>21217</c:v>
                </c:pt>
                <c:pt idx="26">
                  <c:v>21245</c:v>
                </c:pt>
                <c:pt idx="27">
                  <c:v>21276</c:v>
                </c:pt>
                <c:pt idx="28">
                  <c:v>21306</c:v>
                </c:pt>
                <c:pt idx="29">
                  <c:v>21337</c:v>
                </c:pt>
                <c:pt idx="30">
                  <c:v>21367</c:v>
                </c:pt>
                <c:pt idx="31">
                  <c:v>21398</c:v>
                </c:pt>
                <c:pt idx="32">
                  <c:v>21429</c:v>
                </c:pt>
                <c:pt idx="33">
                  <c:v>21459</c:v>
                </c:pt>
                <c:pt idx="34">
                  <c:v>21490</c:v>
                </c:pt>
                <c:pt idx="35">
                  <c:v>21520</c:v>
                </c:pt>
                <c:pt idx="36">
                  <c:v>21551</c:v>
                </c:pt>
                <c:pt idx="37">
                  <c:v>21582</c:v>
                </c:pt>
                <c:pt idx="38">
                  <c:v>21610</c:v>
                </c:pt>
                <c:pt idx="39">
                  <c:v>21641</c:v>
                </c:pt>
                <c:pt idx="40">
                  <c:v>21671</c:v>
                </c:pt>
                <c:pt idx="41">
                  <c:v>21702</c:v>
                </c:pt>
                <c:pt idx="42">
                  <c:v>21732</c:v>
                </c:pt>
                <c:pt idx="43">
                  <c:v>21763</c:v>
                </c:pt>
                <c:pt idx="44">
                  <c:v>21794</c:v>
                </c:pt>
                <c:pt idx="45">
                  <c:v>21824</c:v>
                </c:pt>
                <c:pt idx="46">
                  <c:v>21855</c:v>
                </c:pt>
                <c:pt idx="47">
                  <c:v>21885</c:v>
                </c:pt>
                <c:pt idx="48">
                  <c:v>21916</c:v>
                </c:pt>
                <c:pt idx="49">
                  <c:v>21947</c:v>
                </c:pt>
                <c:pt idx="50">
                  <c:v>21976</c:v>
                </c:pt>
                <c:pt idx="51">
                  <c:v>22007</c:v>
                </c:pt>
                <c:pt idx="52">
                  <c:v>22037</c:v>
                </c:pt>
                <c:pt idx="53">
                  <c:v>22068</c:v>
                </c:pt>
                <c:pt idx="54">
                  <c:v>22098</c:v>
                </c:pt>
                <c:pt idx="55">
                  <c:v>22129</c:v>
                </c:pt>
                <c:pt idx="56">
                  <c:v>22160</c:v>
                </c:pt>
                <c:pt idx="57">
                  <c:v>22190</c:v>
                </c:pt>
                <c:pt idx="58">
                  <c:v>22221</c:v>
                </c:pt>
                <c:pt idx="59">
                  <c:v>22251</c:v>
                </c:pt>
                <c:pt idx="60">
                  <c:v>22282</c:v>
                </c:pt>
                <c:pt idx="61">
                  <c:v>22313</c:v>
                </c:pt>
                <c:pt idx="62">
                  <c:v>22341</c:v>
                </c:pt>
                <c:pt idx="63">
                  <c:v>22372</c:v>
                </c:pt>
                <c:pt idx="64">
                  <c:v>22402</c:v>
                </c:pt>
                <c:pt idx="65">
                  <c:v>22433</c:v>
                </c:pt>
                <c:pt idx="66">
                  <c:v>22463</c:v>
                </c:pt>
                <c:pt idx="67">
                  <c:v>22494</c:v>
                </c:pt>
                <c:pt idx="68">
                  <c:v>22525</c:v>
                </c:pt>
                <c:pt idx="69">
                  <c:v>22555</c:v>
                </c:pt>
                <c:pt idx="70">
                  <c:v>22586</c:v>
                </c:pt>
                <c:pt idx="71">
                  <c:v>22616</c:v>
                </c:pt>
                <c:pt idx="72">
                  <c:v>22647</c:v>
                </c:pt>
                <c:pt idx="73">
                  <c:v>22678</c:v>
                </c:pt>
                <c:pt idx="74">
                  <c:v>22706</c:v>
                </c:pt>
                <c:pt idx="75">
                  <c:v>22737</c:v>
                </c:pt>
                <c:pt idx="76">
                  <c:v>22767</c:v>
                </c:pt>
                <c:pt idx="77">
                  <c:v>22798</c:v>
                </c:pt>
                <c:pt idx="78">
                  <c:v>22828</c:v>
                </c:pt>
                <c:pt idx="79">
                  <c:v>22859</c:v>
                </c:pt>
                <c:pt idx="80">
                  <c:v>22890</c:v>
                </c:pt>
                <c:pt idx="81">
                  <c:v>22920</c:v>
                </c:pt>
                <c:pt idx="82">
                  <c:v>22951</c:v>
                </c:pt>
                <c:pt idx="83">
                  <c:v>22981</c:v>
                </c:pt>
              </c:numCache>
            </c:numRef>
          </c:cat>
          <c:val>
            <c:numRef>
              <c:f>'indice 1943-1995'!$F$158:$F$241</c:f>
              <c:numCache>
                <c:formatCode>0.0%</c:formatCode>
                <c:ptCount val="84"/>
                <c:pt idx="0">
                  <c:v>8.4437792329279615E-2</c:v>
                </c:pt>
                <c:pt idx="1">
                  <c:v>7.4660329133222625E-2</c:v>
                </c:pt>
                <c:pt idx="2">
                  <c:v>7.1511198346182248E-2</c:v>
                </c:pt>
                <c:pt idx="3">
                  <c:v>9.3501467742766131E-2</c:v>
                </c:pt>
                <c:pt idx="4">
                  <c:v>0.1339343443249279</c:v>
                </c:pt>
                <c:pt idx="5">
                  <c:v>0.17098218524713515</c:v>
                </c:pt>
                <c:pt idx="6">
                  <c:v>0.15982605154459262</c:v>
                </c:pt>
                <c:pt idx="7">
                  <c:v>0.15037686621249446</c:v>
                </c:pt>
                <c:pt idx="8">
                  <c:v>0.14890262951419153</c:v>
                </c:pt>
                <c:pt idx="9">
                  <c:v>0.1645485720872597</c:v>
                </c:pt>
                <c:pt idx="10">
                  <c:v>0.18203028797338461</c:v>
                </c:pt>
                <c:pt idx="11">
                  <c:v>0.16673023743682669</c:v>
                </c:pt>
                <c:pt idx="12">
                  <c:v>0.16901068264001973</c:v>
                </c:pt>
                <c:pt idx="13">
                  <c:v>0.18704275501404766</c:v>
                </c:pt>
                <c:pt idx="14">
                  <c:v>0.23220616402577043</c:v>
                </c:pt>
                <c:pt idx="15">
                  <c:v>0.22214597125787172</c:v>
                </c:pt>
                <c:pt idx="16">
                  <c:v>0.20997453558215029</c:v>
                </c:pt>
                <c:pt idx="17">
                  <c:v>0.20955226487356393</c:v>
                </c:pt>
                <c:pt idx="18">
                  <c:v>0.23820302213304911</c:v>
                </c:pt>
                <c:pt idx="19">
                  <c:v>0.31099547026693308</c:v>
                </c:pt>
                <c:pt idx="20">
                  <c:v>0.30089155373443832</c:v>
                </c:pt>
                <c:pt idx="21">
                  <c:v>0.29808715448763956</c:v>
                </c:pt>
                <c:pt idx="22">
                  <c:v>0.31047549422766463</c:v>
                </c:pt>
                <c:pt idx="23">
                  <c:v>0.25632089295200711</c:v>
                </c:pt>
                <c:pt idx="24">
                  <c:v>0.23674874113778732</c:v>
                </c:pt>
                <c:pt idx="25">
                  <c:v>0.24436997633163826</c:v>
                </c:pt>
                <c:pt idx="26">
                  <c:v>0.22044043998779084</c:v>
                </c:pt>
                <c:pt idx="27">
                  <c:v>0.23995595926231772</c:v>
                </c:pt>
                <c:pt idx="28">
                  <c:v>0.28402208429947673</c:v>
                </c:pt>
                <c:pt idx="29">
                  <c:v>0.29106351817567666</c:v>
                </c:pt>
                <c:pt idx="30">
                  <c:v>0.31372638380401141</c:v>
                </c:pt>
                <c:pt idx="31">
                  <c:v>0.30464263574459505</c:v>
                </c:pt>
                <c:pt idx="32">
                  <c:v>0.33252742807054725</c:v>
                </c:pt>
                <c:pt idx="33">
                  <c:v>0.35778351792897034</c:v>
                </c:pt>
                <c:pt idx="34">
                  <c:v>0.3917566989605219</c:v>
                </c:pt>
                <c:pt idx="35">
                  <c:v>0.50749521384360885</c:v>
                </c:pt>
                <c:pt idx="36">
                  <c:v>0.82348785703375604</c:v>
                </c:pt>
                <c:pt idx="37">
                  <c:v>0.96188866499689252</c:v>
                </c:pt>
                <c:pt idx="38">
                  <c:v>1.0716168086219913</c:v>
                </c:pt>
                <c:pt idx="39">
                  <c:v>1.1500412896580507</c:v>
                </c:pt>
                <c:pt idx="40">
                  <c:v>1.2303640465932926</c:v>
                </c:pt>
                <c:pt idx="41">
                  <c:v>1.2711240882909798</c:v>
                </c:pt>
                <c:pt idx="42">
                  <c:v>1.2586495320618574</c:v>
                </c:pt>
                <c:pt idx="43">
                  <c:v>1.2399783415043815</c:v>
                </c:pt>
                <c:pt idx="44">
                  <c:v>1.2369143914586629</c:v>
                </c:pt>
                <c:pt idx="45">
                  <c:v>1.1857733037090079</c:v>
                </c:pt>
                <c:pt idx="46">
                  <c:v>1.1236129575319498</c:v>
                </c:pt>
                <c:pt idx="47">
                  <c:v>1.0162043530126166</c:v>
                </c:pt>
                <c:pt idx="48">
                  <c:v>0.75908048624708147</c:v>
                </c:pt>
                <c:pt idx="49">
                  <c:v>0.62595599369350152</c:v>
                </c:pt>
                <c:pt idx="50">
                  <c:v>0.52563331537328195</c:v>
                </c:pt>
                <c:pt idx="51">
                  <c:v>0.40770147293560832</c:v>
                </c:pt>
                <c:pt idx="52">
                  <c:v>0.27213672656556787</c:v>
                </c:pt>
                <c:pt idx="53">
                  <c:v>0.19044118293658818</c:v>
                </c:pt>
                <c:pt idx="54">
                  <c:v>0.16573573957933352</c:v>
                </c:pt>
                <c:pt idx="55">
                  <c:v>0.12896855087358694</c:v>
                </c:pt>
                <c:pt idx="56">
                  <c:v>0.11042405538814526</c:v>
                </c:pt>
                <c:pt idx="57">
                  <c:v>0.11249355658721516</c:v>
                </c:pt>
                <c:pt idx="58">
                  <c:v>0.11690048021039301</c:v>
                </c:pt>
                <c:pt idx="59">
                  <c:v>0.18506027411920267</c:v>
                </c:pt>
                <c:pt idx="60">
                  <c:v>8.342187262841172E-2</c:v>
                </c:pt>
                <c:pt idx="61">
                  <c:v>8.7843531983286871E-2</c:v>
                </c:pt>
                <c:pt idx="62">
                  <c:v>9.2299373240582128E-2</c:v>
                </c:pt>
                <c:pt idx="63">
                  <c:v>0.11776725846365532</c:v>
                </c:pt>
                <c:pt idx="64">
                  <c:v>0.12817678583502601</c:v>
                </c:pt>
                <c:pt idx="65">
                  <c:v>0.14927747991850682</c:v>
                </c:pt>
                <c:pt idx="66">
                  <c:v>0.15603022726074967</c:v>
                </c:pt>
                <c:pt idx="67">
                  <c:v>0.15927224952443653</c:v>
                </c:pt>
                <c:pt idx="68">
                  <c:v>0.17019063015189606</c:v>
                </c:pt>
                <c:pt idx="69">
                  <c:v>0.16183734565851871</c:v>
                </c:pt>
                <c:pt idx="70">
                  <c:v>0.16959261157834837</c:v>
                </c:pt>
                <c:pt idx="71">
                  <c:v>0.16428473750616024</c:v>
                </c:pt>
                <c:pt idx="72">
                  <c:v>0.19011261140617974</c:v>
                </c:pt>
                <c:pt idx="73">
                  <c:v>0.19249032664202881</c:v>
                </c:pt>
                <c:pt idx="74">
                  <c:v>0.19776517875350152</c:v>
                </c:pt>
                <c:pt idx="75">
                  <c:v>0.209807976986635</c:v>
                </c:pt>
                <c:pt idx="76">
                  <c:v>0.24256183487768523</c:v>
                </c:pt>
                <c:pt idx="77">
                  <c:v>0.24377304257058685</c:v>
                </c:pt>
                <c:pt idx="78">
                  <c:v>0.28045715009339278</c:v>
                </c:pt>
                <c:pt idx="79">
                  <c:v>0.28695833537503956</c:v>
                </c:pt>
                <c:pt idx="80">
                  <c:v>0.32076572039641382</c:v>
                </c:pt>
                <c:pt idx="81">
                  <c:v>0.34222263635234196</c:v>
                </c:pt>
                <c:pt idx="82">
                  <c:v>0.29416538532393988</c:v>
                </c:pt>
                <c:pt idx="83">
                  <c:v>0.30674935677672566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F5-4FD3-82E0-322BA8288737}"/>
            </c:ext>
          </c:extLst>
        </c:ser>
        <c:ser>
          <c:idx val="1"/>
          <c:order val="1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1943-1995'!$A$158:$A$241</c:f>
              <c:numCache>
                <c:formatCode>mmm\-yy</c:formatCode>
                <c:ptCount val="84"/>
                <c:pt idx="0">
                  <c:v>20455</c:v>
                </c:pt>
                <c:pt idx="1">
                  <c:v>20486</c:v>
                </c:pt>
                <c:pt idx="2">
                  <c:v>20515</c:v>
                </c:pt>
                <c:pt idx="3">
                  <c:v>20546</c:v>
                </c:pt>
                <c:pt idx="4">
                  <c:v>20576</c:v>
                </c:pt>
                <c:pt idx="5">
                  <c:v>20607</c:v>
                </c:pt>
                <c:pt idx="6">
                  <c:v>20637</c:v>
                </c:pt>
                <c:pt idx="7">
                  <c:v>20668</c:v>
                </c:pt>
                <c:pt idx="8">
                  <c:v>20699</c:v>
                </c:pt>
                <c:pt idx="9">
                  <c:v>20729</c:v>
                </c:pt>
                <c:pt idx="10">
                  <c:v>20760</c:v>
                </c:pt>
                <c:pt idx="11">
                  <c:v>20790</c:v>
                </c:pt>
                <c:pt idx="12">
                  <c:v>20821</c:v>
                </c:pt>
                <c:pt idx="13">
                  <c:v>20852</c:v>
                </c:pt>
                <c:pt idx="14">
                  <c:v>20880</c:v>
                </c:pt>
                <c:pt idx="15">
                  <c:v>20911</c:v>
                </c:pt>
                <c:pt idx="16">
                  <c:v>20941</c:v>
                </c:pt>
                <c:pt idx="17">
                  <c:v>20972</c:v>
                </c:pt>
                <c:pt idx="18">
                  <c:v>21002</c:v>
                </c:pt>
                <c:pt idx="19">
                  <c:v>21033</c:v>
                </c:pt>
                <c:pt idx="20">
                  <c:v>21064</c:v>
                </c:pt>
                <c:pt idx="21">
                  <c:v>21094</c:v>
                </c:pt>
                <c:pt idx="22">
                  <c:v>21125</c:v>
                </c:pt>
                <c:pt idx="23">
                  <c:v>21155</c:v>
                </c:pt>
                <c:pt idx="24">
                  <c:v>21186</c:v>
                </c:pt>
                <c:pt idx="25">
                  <c:v>21217</c:v>
                </c:pt>
                <c:pt idx="26">
                  <c:v>21245</c:v>
                </c:pt>
                <c:pt idx="27">
                  <c:v>21276</c:v>
                </c:pt>
                <c:pt idx="28">
                  <c:v>21306</c:v>
                </c:pt>
                <c:pt idx="29">
                  <c:v>21337</c:v>
                </c:pt>
                <c:pt idx="30">
                  <c:v>21367</c:v>
                </c:pt>
                <c:pt idx="31">
                  <c:v>21398</c:v>
                </c:pt>
                <c:pt idx="32">
                  <c:v>21429</c:v>
                </c:pt>
                <c:pt idx="33">
                  <c:v>21459</c:v>
                </c:pt>
                <c:pt idx="34">
                  <c:v>21490</c:v>
                </c:pt>
                <c:pt idx="35">
                  <c:v>21520</c:v>
                </c:pt>
                <c:pt idx="36">
                  <c:v>21551</c:v>
                </c:pt>
                <c:pt idx="37">
                  <c:v>21582</c:v>
                </c:pt>
                <c:pt idx="38">
                  <c:v>21610</c:v>
                </c:pt>
                <c:pt idx="39">
                  <c:v>21641</c:v>
                </c:pt>
                <c:pt idx="40">
                  <c:v>21671</c:v>
                </c:pt>
                <c:pt idx="41">
                  <c:v>21702</c:v>
                </c:pt>
                <c:pt idx="42">
                  <c:v>21732</c:v>
                </c:pt>
                <c:pt idx="43">
                  <c:v>21763</c:v>
                </c:pt>
                <c:pt idx="44">
                  <c:v>21794</c:v>
                </c:pt>
                <c:pt idx="45">
                  <c:v>21824</c:v>
                </c:pt>
                <c:pt idx="46">
                  <c:v>21855</c:v>
                </c:pt>
                <c:pt idx="47">
                  <c:v>21885</c:v>
                </c:pt>
                <c:pt idx="48">
                  <c:v>21916</c:v>
                </c:pt>
                <c:pt idx="49">
                  <c:v>21947</c:v>
                </c:pt>
                <c:pt idx="50">
                  <c:v>21976</c:v>
                </c:pt>
                <c:pt idx="51">
                  <c:v>22007</c:v>
                </c:pt>
                <c:pt idx="52">
                  <c:v>22037</c:v>
                </c:pt>
                <c:pt idx="53">
                  <c:v>22068</c:v>
                </c:pt>
                <c:pt idx="54">
                  <c:v>22098</c:v>
                </c:pt>
                <c:pt idx="55">
                  <c:v>22129</c:v>
                </c:pt>
                <c:pt idx="56">
                  <c:v>22160</c:v>
                </c:pt>
                <c:pt idx="57">
                  <c:v>22190</c:v>
                </c:pt>
                <c:pt idx="58">
                  <c:v>22221</c:v>
                </c:pt>
                <c:pt idx="59">
                  <c:v>22251</c:v>
                </c:pt>
                <c:pt idx="60">
                  <c:v>22282</c:v>
                </c:pt>
                <c:pt idx="61">
                  <c:v>22313</c:v>
                </c:pt>
                <c:pt idx="62">
                  <c:v>22341</c:v>
                </c:pt>
                <c:pt idx="63">
                  <c:v>22372</c:v>
                </c:pt>
                <c:pt idx="64">
                  <c:v>22402</c:v>
                </c:pt>
                <c:pt idx="65">
                  <c:v>22433</c:v>
                </c:pt>
                <c:pt idx="66">
                  <c:v>22463</c:v>
                </c:pt>
                <c:pt idx="67">
                  <c:v>22494</c:v>
                </c:pt>
                <c:pt idx="68">
                  <c:v>22525</c:v>
                </c:pt>
                <c:pt idx="69">
                  <c:v>22555</c:v>
                </c:pt>
                <c:pt idx="70">
                  <c:v>22586</c:v>
                </c:pt>
                <c:pt idx="71">
                  <c:v>22616</c:v>
                </c:pt>
                <c:pt idx="72">
                  <c:v>22647</c:v>
                </c:pt>
                <c:pt idx="73">
                  <c:v>22678</c:v>
                </c:pt>
                <c:pt idx="74">
                  <c:v>22706</c:v>
                </c:pt>
                <c:pt idx="75">
                  <c:v>22737</c:v>
                </c:pt>
                <c:pt idx="76">
                  <c:v>22767</c:v>
                </c:pt>
                <c:pt idx="77">
                  <c:v>22798</c:v>
                </c:pt>
                <c:pt idx="78">
                  <c:v>22828</c:v>
                </c:pt>
                <c:pt idx="79">
                  <c:v>22859</c:v>
                </c:pt>
                <c:pt idx="80">
                  <c:v>22890</c:v>
                </c:pt>
                <c:pt idx="81">
                  <c:v>22920</c:v>
                </c:pt>
                <c:pt idx="82">
                  <c:v>22951</c:v>
                </c:pt>
                <c:pt idx="83">
                  <c:v>22981</c:v>
                </c:pt>
              </c:numCache>
            </c:numRef>
          </c:cat>
          <c:val>
            <c:numRef>
              <c:f>'indice 1943-1995'!$H$158:$H$241</c:f>
              <c:numCache>
                <c:formatCode>0.0%</c:formatCode>
                <c:ptCount val="84"/>
                <c:pt idx="0">
                  <c:v>0.11306612938642502</c:v>
                </c:pt>
                <c:pt idx="1">
                  <c:v>0.11950769275426865</c:v>
                </c:pt>
                <c:pt idx="2">
                  <c:v>0.1264621764421463</c:v>
                </c:pt>
                <c:pt idx="3">
                  <c:v>0.13393686711788177</c:v>
                </c:pt>
                <c:pt idx="4">
                  <c:v>0.14193530380725861</c:v>
                </c:pt>
                <c:pt idx="5">
                  <c:v>0.15045817196369171</c:v>
                </c:pt>
                <c:pt idx="6">
                  <c:v>0.15950559079647064</c:v>
                </c:pt>
                <c:pt idx="7">
                  <c:v>0.16907915472984314</c:v>
                </c:pt>
                <c:pt idx="8">
                  <c:v>0.17918042838573456</c:v>
                </c:pt>
                <c:pt idx="9">
                  <c:v>0.18980972468852997</c:v>
                </c:pt>
                <c:pt idx="10">
                  <c:v>0.20096521079540253</c:v>
                </c:pt>
                <c:pt idx="11">
                  <c:v>0.21264331042766571</c:v>
                </c:pt>
                <c:pt idx="12">
                  <c:v>0.22483916580677032</c:v>
                </c:pt>
                <c:pt idx="13">
                  <c:v>0.2375447005033493</c:v>
                </c:pt>
                <c:pt idx="14">
                  <c:v>0.25074794888496399</c:v>
                </c:pt>
                <c:pt idx="15">
                  <c:v>0.26443347334861755</c:v>
                </c:pt>
                <c:pt idx="16">
                  <c:v>0.27858451008796692</c:v>
                </c:pt>
                <c:pt idx="17">
                  <c:v>0.29318141937255859</c:v>
                </c:pt>
                <c:pt idx="18">
                  <c:v>0.30819970369338989</c:v>
                </c:pt>
                <c:pt idx="19">
                  <c:v>0.32360914349555969</c:v>
                </c:pt>
                <c:pt idx="20">
                  <c:v>0.33937463164329529</c:v>
                </c:pt>
                <c:pt idx="21">
                  <c:v>0.35546016693115234</c:v>
                </c:pt>
                <c:pt idx="22">
                  <c:v>0.37182709574699402</c:v>
                </c:pt>
                <c:pt idx="23">
                  <c:v>0.38843274116516113</c:v>
                </c:pt>
                <c:pt idx="24">
                  <c:v>0.40523025393486023</c:v>
                </c:pt>
                <c:pt idx="25">
                  <c:v>0.42216351628303528</c:v>
                </c:pt>
                <c:pt idx="26">
                  <c:v>0.43916475772857666</c:v>
                </c:pt>
                <c:pt idx="27">
                  <c:v>0.45615383982658386</c:v>
                </c:pt>
                <c:pt idx="28">
                  <c:v>0.47303545475006104</c:v>
                </c:pt>
                <c:pt idx="29">
                  <c:v>0.48969927430152893</c:v>
                </c:pt>
                <c:pt idx="30">
                  <c:v>0.50602185726165771</c:v>
                </c:pt>
                <c:pt idx="31">
                  <c:v>0.52186590433120728</c:v>
                </c:pt>
                <c:pt idx="32">
                  <c:v>0.53708088397979736</c:v>
                </c:pt>
                <c:pt idx="33">
                  <c:v>0.55150103569030762</c:v>
                </c:pt>
                <c:pt idx="34">
                  <c:v>0.56494647264480591</c:v>
                </c:pt>
                <c:pt idx="35">
                  <c:v>0.57722395658493042</c:v>
                </c:pt>
                <c:pt idx="36">
                  <c:v>0.58812797069549561</c:v>
                </c:pt>
                <c:pt idx="37">
                  <c:v>0.59744834899902344</c:v>
                </c:pt>
                <c:pt idx="38">
                  <c:v>0.60499125719070435</c:v>
                </c:pt>
                <c:pt idx="39">
                  <c:v>0.61058807373046875</c:v>
                </c:pt>
                <c:pt idx="40">
                  <c:v>0.61410272121429443</c:v>
                </c:pt>
                <c:pt idx="41">
                  <c:v>0.61543643474578857</c:v>
                </c:pt>
                <c:pt idx="42">
                  <c:v>0.61453330516815186</c:v>
                </c:pt>
                <c:pt idx="43">
                  <c:v>0.61138302087783813</c:v>
                </c:pt>
                <c:pt idx="44">
                  <c:v>0.60601991415023804</c:v>
                </c:pt>
                <c:pt idx="45">
                  <c:v>0.59852194786071777</c:v>
                </c:pt>
                <c:pt idx="46">
                  <c:v>0.58901107311248779</c:v>
                </c:pt>
                <c:pt idx="47">
                  <c:v>0.57764983177185059</c:v>
                </c:pt>
                <c:pt idx="48">
                  <c:v>0.56463789939880371</c:v>
                </c:pt>
                <c:pt idx="49">
                  <c:v>0.55020558834075928</c:v>
                </c:pt>
                <c:pt idx="50">
                  <c:v>0.53459650278091431</c:v>
                </c:pt>
                <c:pt idx="51">
                  <c:v>0.51805961132049561</c:v>
                </c:pt>
                <c:pt idx="52">
                  <c:v>0.50084322690963745</c:v>
                </c:pt>
                <c:pt idx="53">
                  <c:v>0.48318809270858765</c:v>
                </c:pt>
                <c:pt idx="54">
                  <c:v>0.46531891822814941</c:v>
                </c:pt>
                <c:pt idx="55">
                  <c:v>0.44744020700454712</c:v>
                </c:pt>
                <c:pt idx="56">
                  <c:v>0.42973557114601135</c:v>
                </c:pt>
                <c:pt idx="57">
                  <c:v>0.41236653923988342</c:v>
                </c:pt>
                <c:pt idx="58">
                  <c:v>0.39547252655029297</c:v>
                </c:pt>
                <c:pt idx="59">
                  <c:v>0.37917202711105347</c:v>
                </c:pt>
                <c:pt idx="60">
                  <c:v>0.36356422305107117</c:v>
                </c:pt>
                <c:pt idx="61">
                  <c:v>0.34873485565185547</c:v>
                </c:pt>
                <c:pt idx="62">
                  <c:v>0.33475014567375183</c:v>
                </c:pt>
                <c:pt idx="63">
                  <c:v>0.32165825366973877</c:v>
                </c:pt>
                <c:pt idx="64">
                  <c:v>0.30949050188064575</c:v>
                </c:pt>
                <c:pt idx="65">
                  <c:v>0.29826399683952332</c:v>
                </c:pt>
                <c:pt idx="66">
                  <c:v>0.28798329830169678</c:v>
                </c:pt>
                <c:pt idx="67">
                  <c:v>0.27864259481430054</c:v>
                </c:pt>
                <c:pt idx="68">
                  <c:v>0.27022698521614075</c:v>
                </c:pt>
                <c:pt idx="69">
                  <c:v>0.26271316409111023</c:v>
                </c:pt>
                <c:pt idx="70">
                  <c:v>0.25607097148895264</c:v>
                </c:pt>
                <c:pt idx="71">
                  <c:v>0.25026315450668335</c:v>
                </c:pt>
                <c:pt idx="72">
                  <c:v>0.24524658918380737</c:v>
                </c:pt>
                <c:pt idx="73">
                  <c:v>0.24097202718257904</c:v>
                </c:pt>
                <c:pt idx="74">
                  <c:v>0.23738650977611542</c:v>
                </c:pt>
                <c:pt idx="75">
                  <c:v>0.23443363606929779</c:v>
                </c:pt>
                <c:pt idx="76">
                  <c:v>0.23205429315567017</c:v>
                </c:pt>
                <c:pt idx="77">
                  <c:v>0.23018763959407806</c:v>
                </c:pt>
                <c:pt idx="78">
                  <c:v>0.22877359390258789</c:v>
                </c:pt>
                <c:pt idx="79">
                  <c:v>0.22775296866893768</c:v>
                </c:pt>
                <c:pt idx="80">
                  <c:v>0.22707021236419678</c:v>
                </c:pt>
                <c:pt idx="81">
                  <c:v>0.22667385637760162</c:v>
                </c:pt>
                <c:pt idx="82">
                  <c:v>0.22651894390583038</c:v>
                </c:pt>
                <c:pt idx="83">
                  <c:v>0.2265685498714447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5F5-4FD3-82E0-322BA82887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0740384"/>
        <c:axId val="308694592"/>
      </c:lineChart>
      <c:dateAx>
        <c:axId val="67074038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08694592"/>
        <c:crosses val="autoZero"/>
        <c:auto val="1"/>
        <c:lblOffset val="100"/>
        <c:baseTimeUnit val="months"/>
      </c:dateAx>
      <c:valAx>
        <c:axId val="308694592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7074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sz="1800" b="1" i="0" baseline="0" dirty="0">
                <a:effectLst/>
              </a:rPr>
              <a:t>PIB  a precios de mercado (</a:t>
            </a:r>
            <a:r>
              <a:rPr lang="es-AR" sz="1800" b="1" i="0" baseline="0" dirty="0" err="1">
                <a:effectLst/>
              </a:rPr>
              <a:t>m$n</a:t>
            </a:r>
            <a:r>
              <a:rPr lang="es-AR" sz="1800" b="1" i="0" baseline="0" dirty="0">
                <a:effectLst/>
              </a:rPr>
              <a:t> constantes) y tendencia (entre 1930 y 2000)</a:t>
            </a:r>
            <a:endParaRPr lang="es-AR" dirty="0">
              <a:effectLst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v>Inicio Plan</c:v>
          </c:tx>
          <c:spPr>
            <a:solidFill>
              <a:schemeClr val="accent1">
                <a:lumMod val="40000"/>
                <a:lumOff val="60000"/>
              </a:schemeClr>
            </a:solidFill>
            <a:ln w="25400">
              <a:noFill/>
            </a:ln>
          </c:spPr>
          <c:invertIfNegative val="0"/>
          <c:val>
            <c:numRef>
              <c:f>PIB!$E$35:$E$43</c:f>
              <c:numCache>
                <c:formatCode>General</c:formatCode>
                <c:ptCount val="9"/>
                <c:pt idx="3">
                  <c:v>170000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4D-467A-AA84-6AE8CBE68A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902111"/>
        <c:axId val="1"/>
      </c:barChart>
      <c:lineChart>
        <c:grouping val="standard"/>
        <c:varyColors val="0"/>
        <c:ser>
          <c:idx val="0"/>
          <c:order val="0"/>
          <c:tx>
            <c:strRef>
              <c:f>PIB!$B$1</c:f>
              <c:strCache>
                <c:ptCount val="1"/>
                <c:pt idx="0">
                  <c:v>PIBpm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PIB!$A$35:$A$43</c:f>
              <c:numCache>
                <c:formatCode>0</c:formatCode>
                <c:ptCount val="9"/>
                <c:pt idx="0">
                  <c:v>1963</c:v>
                </c:pt>
                <c:pt idx="1">
                  <c:v>1964</c:v>
                </c:pt>
                <c:pt idx="2">
                  <c:v>1965</c:v>
                </c:pt>
                <c:pt idx="3">
                  <c:v>1966</c:v>
                </c:pt>
                <c:pt idx="4">
                  <c:v>1967</c:v>
                </c:pt>
                <c:pt idx="5">
                  <c:v>1968</c:v>
                </c:pt>
                <c:pt idx="6">
                  <c:v>1969</c:v>
                </c:pt>
                <c:pt idx="7">
                  <c:v>1970</c:v>
                </c:pt>
                <c:pt idx="8">
                  <c:v>1971</c:v>
                </c:pt>
              </c:numCache>
            </c:numRef>
          </c:cat>
          <c:val>
            <c:numRef>
              <c:f>PIB!$B$35:$B$43</c:f>
              <c:numCache>
                <c:formatCode>General</c:formatCode>
                <c:ptCount val="9"/>
                <c:pt idx="0">
                  <c:v>108399.80458325871</c:v>
                </c:pt>
                <c:pt idx="1">
                  <c:v>119565.89181047946</c:v>
                </c:pt>
                <c:pt idx="2">
                  <c:v>130521.78896968246</c:v>
                </c:pt>
                <c:pt idx="3">
                  <c:v>131364.63033153585</c:v>
                </c:pt>
                <c:pt idx="4">
                  <c:v>134841.09081295834</c:v>
                </c:pt>
                <c:pt idx="5">
                  <c:v>140634.84476703205</c:v>
                </c:pt>
                <c:pt idx="6">
                  <c:v>152643.77335610622</c:v>
                </c:pt>
                <c:pt idx="7">
                  <c:v>160860.95636173122</c:v>
                </c:pt>
                <c:pt idx="8">
                  <c:v>166912.60622155317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4D-467A-AA84-6AE8CBE68A95}"/>
            </c:ext>
          </c:extLst>
        </c:ser>
        <c:ser>
          <c:idx val="1"/>
          <c:order val="1"/>
          <c:tx>
            <c:strRef>
              <c:f>PIB!$C$1</c:f>
              <c:strCache>
                <c:ptCount val="1"/>
                <c:pt idx="0">
                  <c:v>PIB_tent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PIB!$A$35:$A$43</c:f>
              <c:numCache>
                <c:formatCode>0</c:formatCode>
                <c:ptCount val="9"/>
                <c:pt idx="0">
                  <c:v>1963</c:v>
                </c:pt>
                <c:pt idx="1">
                  <c:v>1964</c:v>
                </c:pt>
                <c:pt idx="2">
                  <c:v>1965</c:v>
                </c:pt>
                <c:pt idx="3">
                  <c:v>1966</c:v>
                </c:pt>
                <c:pt idx="4">
                  <c:v>1967</c:v>
                </c:pt>
                <c:pt idx="5">
                  <c:v>1968</c:v>
                </c:pt>
                <c:pt idx="6">
                  <c:v>1969</c:v>
                </c:pt>
                <c:pt idx="7">
                  <c:v>1970</c:v>
                </c:pt>
                <c:pt idx="8">
                  <c:v>1971</c:v>
                </c:pt>
              </c:numCache>
            </c:numRef>
          </c:cat>
          <c:val>
            <c:numRef>
              <c:f>PIB!$C$35:$C$43</c:f>
              <c:numCache>
                <c:formatCode>General</c:formatCode>
                <c:ptCount val="9"/>
                <c:pt idx="0">
                  <c:v>117710.9140625</c:v>
                </c:pt>
                <c:pt idx="1">
                  <c:v>122609.2265625</c:v>
                </c:pt>
                <c:pt idx="2">
                  <c:v>127914.40625</c:v>
                </c:pt>
                <c:pt idx="3">
                  <c:v>133557.109375</c:v>
                </c:pt>
                <c:pt idx="4">
                  <c:v>139494.078125</c:v>
                </c:pt>
                <c:pt idx="5">
                  <c:v>145660.09375</c:v>
                </c:pt>
                <c:pt idx="6">
                  <c:v>151943.4375</c:v>
                </c:pt>
                <c:pt idx="7">
                  <c:v>158182.125</c:v>
                </c:pt>
                <c:pt idx="8">
                  <c:v>164221.203125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04D-467A-AA84-6AE8CBE68A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4902111"/>
        <c:axId val="1"/>
      </c:lineChart>
      <c:catAx>
        <c:axId val="774902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902111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dirty="0"/>
              <a:t>Política</a:t>
            </a:r>
            <a:r>
              <a:rPr lang="es-AR" baseline="0" dirty="0"/>
              <a:t> Fiscal (todo como % PIB)</a:t>
            </a:r>
            <a:endParaRPr lang="es-AR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fiscal!$B$1</c:f>
              <c:strCache>
                <c:ptCount val="1"/>
                <c:pt idx="0">
                  <c:v>ingresos (%PIB)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 w="25400">
              <a:noFill/>
            </a:ln>
          </c:spPr>
          <c:invertIfNegative val="0"/>
          <c:cat>
            <c:numRef>
              <c:f>fiscal!$A$35:$A$43</c:f>
              <c:numCache>
                <c:formatCode>General</c:formatCode>
                <c:ptCount val="9"/>
                <c:pt idx="0">
                  <c:v>1963</c:v>
                </c:pt>
                <c:pt idx="1">
                  <c:v>1964</c:v>
                </c:pt>
                <c:pt idx="2">
                  <c:v>1965</c:v>
                </c:pt>
                <c:pt idx="3">
                  <c:v>1966</c:v>
                </c:pt>
                <c:pt idx="4">
                  <c:v>1967</c:v>
                </c:pt>
                <c:pt idx="5">
                  <c:v>1968</c:v>
                </c:pt>
                <c:pt idx="6">
                  <c:v>1969</c:v>
                </c:pt>
                <c:pt idx="7">
                  <c:v>1970</c:v>
                </c:pt>
                <c:pt idx="8">
                  <c:v>1971</c:v>
                </c:pt>
              </c:numCache>
            </c:numRef>
          </c:cat>
          <c:val>
            <c:numRef>
              <c:f>fiscal!$B$35:$B$43</c:f>
              <c:numCache>
                <c:formatCode>_ * #.##000_ ;_ * \-#.##000_ ;_ * "-"_ ;_ @_ </c:formatCode>
                <c:ptCount val="9"/>
                <c:pt idx="0">
                  <c:v>10.559789315732466</c:v>
                </c:pt>
                <c:pt idx="1">
                  <c:v>10.438232727816869</c:v>
                </c:pt>
                <c:pt idx="2">
                  <c:v>10.720328631184818</c:v>
                </c:pt>
                <c:pt idx="3">
                  <c:v>11.149611367835139</c:v>
                </c:pt>
                <c:pt idx="4">
                  <c:v>13.610560186235624</c:v>
                </c:pt>
                <c:pt idx="5">
                  <c:v>13.013688041301648</c:v>
                </c:pt>
                <c:pt idx="6">
                  <c:v>12.84961704766495</c:v>
                </c:pt>
                <c:pt idx="7">
                  <c:v>13.09128880519371</c:v>
                </c:pt>
                <c:pt idx="8">
                  <c:v>12.020573738318776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BD-4F2A-B2AD-A57ED8913530}"/>
            </c:ext>
          </c:extLst>
        </c:ser>
        <c:ser>
          <c:idx val="1"/>
          <c:order val="1"/>
          <c:tx>
            <c:strRef>
              <c:f>fiscal!$C$1</c:f>
              <c:strCache>
                <c:ptCount val="1"/>
                <c:pt idx="0">
                  <c:v>gastos (% PIB)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 w="25400">
              <a:noFill/>
            </a:ln>
          </c:spPr>
          <c:invertIfNegative val="0"/>
          <c:cat>
            <c:numRef>
              <c:f>fiscal!$A$35:$A$43</c:f>
              <c:numCache>
                <c:formatCode>General</c:formatCode>
                <c:ptCount val="9"/>
                <c:pt idx="0">
                  <c:v>1963</c:v>
                </c:pt>
                <c:pt idx="1">
                  <c:v>1964</c:v>
                </c:pt>
                <c:pt idx="2">
                  <c:v>1965</c:v>
                </c:pt>
                <c:pt idx="3">
                  <c:v>1966</c:v>
                </c:pt>
                <c:pt idx="4">
                  <c:v>1967</c:v>
                </c:pt>
                <c:pt idx="5">
                  <c:v>1968</c:v>
                </c:pt>
                <c:pt idx="6">
                  <c:v>1969</c:v>
                </c:pt>
                <c:pt idx="7">
                  <c:v>1970</c:v>
                </c:pt>
                <c:pt idx="8">
                  <c:v>1971</c:v>
                </c:pt>
              </c:numCache>
            </c:numRef>
          </c:cat>
          <c:val>
            <c:numRef>
              <c:f>fiscal!$C$35:$C$43</c:f>
              <c:numCache>
                <c:formatCode>_ * #.##000_ ;_ * \-#.##000_ ;_ * "-"_ ;_ @_ </c:formatCode>
                <c:ptCount val="9"/>
                <c:pt idx="0">
                  <c:v>11.208193336755073</c:v>
                </c:pt>
                <c:pt idx="1">
                  <c:v>11.777583818830774</c:v>
                </c:pt>
                <c:pt idx="2">
                  <c:v>11.60331164573174</c:v>
                </c:pt>
                <c:pt idx="3">
                  <c:v>12.12968099477423</c:v>
                </c:pt>
                <c:pt idx="4">
                  <c:v>12.956053075140849</c:v>
                </c:pt>
                <c:pt idx="5">
                  <c:v>12.864442101278149</c:v>
                </c:pt>
                <c:pt idx="6">
                  <c:v>12.289665556155585</c:v>
                </c:pt>
                <c:pt idx="7">
                  <c:v>12.076197965778318</c:v>
                </c:pt>
                <c:pt idx="8">
                  <c:v>11.726754101069188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BD-4F2A-B2AD-A57ED8913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4894511"/>
        <c:axId val="1"/>
      </c:barChart>
      <c:lineChart>
        <c:grouping val="standard"/>
        <c:varyColors val="0"/>
        <c:ser>
          <c:idx val="2"/>
          <c:order val="2"/>
          <c:tx>
            <c:strRef>
              <c:f>fiscal!$D$1</c:f>
              <c:strCache>
                <c:ptCount val="1"/>
                <c:pt idx="0">
                  <c:v>resultado primario (% PIB)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fiscal!$A$35:$A$43</c:f>
              <c:numCache>
                <c:formatCode>General</c:formatCode>
                <c:ptCount val="9"/>
                <c:pt idx="0">
                  <c:v>1963</c:v>
                </c:pt>
                <c:pt idx="1">
                  <c:v>1964</c:v>
                </c:pt>
                <c:pt idx="2">
                  <c:v>1965</c:v>
                </c:pt>
                <c:pt idx="3">
                  <c:v>1966</c:v>
                </c:pt>
                <c:pt idx="4">
                  <c:v>1967</c:v>
                </c:pt>
                <c:pt idx="5">
                  <c:v>1968</c:v>
                </c:pt>
                <c:pt idx="6">
                  <c:v>1969</c:v>
                </c:pt>
                <c:pt idx="7">
                  <c:v>1970</c:v>
                </c:pt>
                <c:pt idx="8">
                  <c:v>1971</c:v>
                </c:pt>
              </c:numCache>
            </c:numRef>
          </c:cat>
          <c:val>
            <c:numRef>
              <c:f>fiscal!$D$35:$D$43</c:f>
              <c:numCache>
                <c:formatCode>_ * #.##000_ ;_ * \-#.##000_ ;_ * "-"_ ;_ @_ </c:formatCode>
                <c:ptCount val="9"/>
                <c:pt idx="0">
                  <c:v>-4.2013219504704463E-2</c:v>
                </c:pt>
                <c:pt idx="1">
                  <c:v>-0.5176591966768751</c:v>
                </c:pt>
                <c:pt idx="2">
                  <c:v>-0.37862656522882676</c:v>
                </c:pt>
                <c:pt idx="3">
                  <c:v>-0.50721050009790725</c:v>
                </c:pt>
                <c:pt idx="4">
                  <c:v>1.0346944410425891</c:v>
                </c:pt>
                <c:pt idx="5">
                  <c:v>0.54081047935449122</c:v>
                </c:pt>
                <c:pt idx="6">
                  <c:v>0.84767445236563777</c:v>
                </c:pt>
                <c:pt idx="7">
                  <c:v>1.3184597734917169</c:v>
                </c:pt>
                <c:pt idx="8">
                  <c:v>0.65497294136886852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7BD-4F2A-B2AD-A57ED8913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4894511"/>
        <c:axId val="1"/>
      </c:lineChart>
      <c:catAx>
        <c:axId val="77489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94511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dirty="0"/>
              <a:t>Base Monetaria en términos reales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4472C4"/>
            </a:solidFill>
            <a:ln w="25400">
              <a:noFill/>
            </a:ln>
          </c:spPr>
          <c:invertIfNegative val="0"/>
          <c:cat>
            <c:numRef>
              <c:f>monet!$A$35:$A$43</c:f>
              <c:numCache>
                <c:formatCode>General</c:formatCode>
                <c:ptCount val="9"/>
                <c:pt idx="0">
                  <c:v>1963</c:v>
                </c:pt>
                <c:pt idx="1">
                  <c:v>1964</c:v>
                </c:pt>
                <c:pt idx="2">
                  <c:v>1965</c:v>
                </c:pt>
                <c:pt idx="3">
                  <c:v>1966</c:v>
                </c:pt>
                <c:pt idx="4">
                  <c:v>1967</c:v>
                </c:pt>
                <c:pt idx="5">
                  <c:v>1968</c:v>
                </c:pt>
                <c:pt idx="6">
                  <c:v>1969</c:v>
                </c:pt>
                <c:pt idx="7">
                  <c:v>1970</c:v>
                </c:pt>
                <c:pt idx="8">
                  <c:v>1971</c:v>
                </c:pt>
              </c:numCache>
            </c:numRef>
          </c:cat>
          <c:val>
            <c:numRef>
              <c:f>monet!$F$35:$F$43</c:f>
              <c:numCache>
                <c:formatCode>0%</c:formatCode>
                <c:ptCount val="9"/>
                <c:pt idx="0">
                  <c:v>0.14919861797455169</c:v>
                </c:pt>
                <c:pt idx="1">
                  <c:v>0.15232540289476559</c:v>
                </c:pt>
                <c:pt idx="2">
                  <c:v>8.2777844013666613E-2</c:v>
                </c:pt>
                <c:pt idx="3">
                  <c:v>-3.5318488371219314E-2</c:v>
                </c:pt>
                <c:pt idx="4">
                  <c:v>9.3893729688470984E-2</c:v>
                </c:pt>
                <c:pt idx="5">
                  <c:v>-2.7696241657530596E-2</c:v>
                </c:pt>
                <c:pt idx="6">
                  <c:v>-6.2110937920874965E-2</c:v>
                </c:pt>
                <c:pt idx="7">
                  <c:v>5.4022039010594991E-2</c:v>
                </c:pt>
                <c:pt idx="8">
                  <c:v>-4.6634505422229022E-2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9A-48F6-A2E4-CF8D986823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4891311"/>
        <c:axId val="1"/>
      </c:barChart>
      <c:catAx>
        <c:axId val="774891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913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salario!$B$1</c:f>
              <c:strCache>
                <c:ptCount val="1"/>
                <c:pt idx="0">
                  <c:v>salario real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salario!$A$35:$A$43</c:f>
              <c:numCache>
                <c:formatCode>General</c:formatCode>
                <c:ptCount val="9"/>
                <c:pt idx="0">
                  <c:v>1963</c:v>
                </c:pt>
                <c:pt idx="1">
                  <c:v>1964</c:v>
                </c:pt>
                <c:pt idx="2">
                  <c:v>1965</c:v>
                </c:pt>
                <c:pt idx="3">
                  <c:v>1966</c:v>
                </c:pt>
                <c:pt idx="4">
                  <c:v>1967</c:v>
                </c:pt>
                <c:pt idx="5">
                  <c:v>1968</c:v>
                </c:pt>
                <c:pt idx="6">
                  <c:v>1969</c:v>
                </c:pt>
                <c:pt idx="7">
                  <c:v>1970</c:v>
                </c:pt>
                <c:pt idx="8">
                  <c:v>1971</c:v>
                </c:pt>
              </c:numCache>
            </c:numRef>
          </c:cat>
          <c:val>
            <c:numRef>
              <c:f>salario!$B$35:$B$43</c:f>
              <c:numCache>
                <c:formatCode>_ * #.##000_ ;_ * \-#.##000_ ;_ * "-"_ ;_ @_ </c:formatCode>
                <c:ptCount val="9"/>
                <c:pt idx="0">
                  <c:v>1541.2735692532178</c:v>
                </c:pt>
                <c:pt idx="1">
                  <c:v>1705.3286024837207</c:v>
                </c:pt>
                <c:pt idx="2">
                  <c:v>1844.7013762769916</c:v>
                </c:pt>
                <c:pt idx="3">
                  <c:v>1864.9531001146051</c:v>
                </c:pt>
                <c:pt idx="4">
                  <c:v>1864.0695658354014</c:v>
                </c:pt>
                <c:pt idx="5">
                  <c:v>1725.436126782108</c:v>
                </c:pt>
                <c:pt idx="6">
                  <c:v>1770.1442901859541</c:v>
                </c:pt>
                <c:pt idx="7">
                  <c:v>1830.5783018542836</c:v>
                </c:pt>
                <c:pt idx="8">
                  <c:v>1905.7538238777558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11-4FBD-965C-AD3DDA33FB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4895311"/>
        <c:axId val="1"/>
      </c:lineChart>
      <c:catAx>
        <c:axId val="774895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953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AR"/>
              <a:t>TIPO DE CAMBIO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'tipo de cambio mensual'!$A$242:$B$349</c:f>
              <c:multiLvlStrCache>
                <c:ptCount val="108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 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</c:lvl>
                <c:lvl>
                  <c:pt idx="0">
                    <c:v>1963 </c:v>
                  </c:pt>
                  <c:pt idx="12">
                    <c:v>1964 </c:v>
                  </c:pt>
                  <c:pt idx="24">
                    <c:v>1965 </c:v>
                  </c:pt>
                  <c:pt idx="36">
                    <c:v>1966 </c:v>
                  </c:pt>
                  <c:pt idx="48">
                    <c:v>1967 </c:v>
                  </c:pt>
                  <c:pt idx="60">
                    <c:v>1968 </c:v>
                  </c:pt>
                  <c:pt idx="72">
                    <c:v>1969 </c:v>
                  </c:pt>
                  <c:pt idx="84">
                    <c:v>1970 </c:v>
                  </c:pt>
                  <c:pt idx="96">
                    <c:v>1971 </c:v>
                  </c:pt>
                </c:lvl>
              </c:multiLvlStrCache>
            </c:multiLvlStrRef>
          </c:cat>
          <c:val>
            <c:numRef>
              <c:f>'tipo de cambio mensual'!$C$242:$C$349</c:f>
              <c:numCache>
                <c:formatCode>_ * #.##00000_ ;_ * \-#.##00000_ ;_ * "-"????_ ;_ @_ </c:formatCode>
                <c:ptCount val="108"/>
                <c:pt idx="0">
                  <c:v>134</c:v>
                </c:pt>
                <c:pt idx="1">
                  <c:v>134.58000000000001</c:v>
                </c:pt>
                <c:pt idx="2">
                  <c:v>136.11000000000001</c:v>
                </c:pt>
                <c:pt idx="3">
                  <c:v>137.46</c:v>
                </c:pt>
                <c:pt idx="4">
                  <c:v>137.81</c:v>
                </c:pt>
                <c:pt idx="5">
                  <c:v>137.86000000000001</c:v>
                </c:pt>
                <c:pt idx="6">
                  <c:v>137.03</c:v>
                </c:pt>
                <c:pt idx="7">
                  <c:v>134.65</c:v>
                </c:pt>
                <c:pt idx="8">
                  <c:v>142.75</c:v>
                </c:pt>
                <c:pt idx="9">
                  <c:v>148</c:v>
                </c:pt>
                <c:pt idx="10">
                  <c:v>143.72999999999999</c:v>
                </c:pt>
                <c:pt idx="11">
                  <c:v>135.55000000000001</c:v>
                </c:pt>
                <c:pt idx="12">
                  <c:v>133.38</c:v>
                </c:pt>
                <c:pt idx="13">
                  <c:v>132.08000000000001</c:v>
                </c:pt>
                <c:pt idx="14">
                  <c:v>134.75</c:v>
                </c:pt>
                <c:pt idx="15">
                  <c:v>137.44</c:v>
                </c:pt>
                <c:pt idx="16">
                  <c:v>137.01</c:v>
                </c:pt>
                <c:pt idx="17">
                  <c:v>137.85</c:v>
                </c:pt>
                <c:pt idx="18">
                  <c:v>137.65</c:v>
                </c:pt>
                <c:pt idx="19">
                  <c:v>141.84</c:v>
                </c:pt>
                <c:pt idx="20">
                  <c:v>143.56</c:v>
                </c:pt>
                <c:pt idx="21">
                  <c:v>143.61000000000001</c:v>
                </c:pt>
                <c:pt idx="22">
                  <c:v>149.03</c:v>
                </c:pt>
                <c:pt idx="23">
                  <c:v>150.37</c:v>
                </c:pt>
                <c:pt idx="24">
                  <c:v>150.74</c:v>
                </c:pt>
                <c:pt idx="25">
                  <c:v>151.18</c:v>
                </c:pt>
                <c:pt idx="26">
                  <c:v>150.63</c:v>
                </c:pt>
                <c:pt idx="27">
                  <c:v>160.68</c:v>
                </c:pt>
                <c:pt idx="28">
                  <c:v>171.55</c:v>
                </c:pt>
                <c:pt idx="29">
                  <c:v>171.98</c:v>
                </c:pt>
                <c:pt idx="30">
                  <c:v>171.71</c:v>
                </c:pt>
                <c:pt idx="31">
                  <c:v>171.52</c:v>
                </c:pt>
                <c:pt idx="32">
                  <c:v>176.29</c:v>
                </c:pt>
                <c:pt idx="33">
                  <c:v>179.35</c:v>
                </c:pt>
                <c:pt idx="34">
                  <c:v>179.18</c:v>
                </c:pt>
                <c:pt idx="35">
                  <c:v>187.11</c:v>
                </c:pt>
                <c:pt idx="36">
                  <c:v>188.78</c:v>
                </c:pt>
                <c:pt idx="37">
                  <c:v>189.03</c:v>
                </c:pt>
                <c:pt idx="38">
                  <c:v>188.73</c:v>
                </c:pt>
                <c:pt idx="39">
                  <c:v>188.76</c:v>
                </c:pt>
                <c:pt idx="40">
                  <c:v>190.1</c:v>
                </c:pt>
                <c:pt idx="41">
                  <c:v>202.74</c:v>
                </c:pt>
                <c:pt idx="42">
                  <c:v>203.89</c:v>
                </c:pt>
                <c:pt idx="43">
                  <c:v>212.27</c:v>
                </c:pt>
                <c:pt idx="44">
                  <c:v>217.23</c:v>
                </c:pt>
                <c:pt idx="45">
                  <c:v>217.58</c:v>
                </c:pt>
                <c:pt idx="46">
                  <c:v>244.63</c:v>
                </c:pt>
                <c:pt idx="47">
                  <c:v>245.63</c:v>
                </c:pt>
                <c:pt idx="48">
                  <c:v>245.65</c:v>
                </c:pt>
                <c:pt idx="49">
                  <c:v>250.98</c:v>
                </c:pt>
                <c:pt idx="50">
                  <c:v>326.95999999999998</c:v>
                </c:pt>
                <c:pt idx="51">
                  <c:v>350</c:v>
                </c:pt>
                <c:pt idx="52">
                  <c:v>350</c:v>
                </c:pt>
                <c:pt idx="53">
                  <c:v>350</c:v>
                </c:pt>
                <c:pt idx="54">
                  <c:v>350</c:v>
                </c:pt>
                <c:pt idx="55">
                  <c:v>350</c:v>
                </c:pt>
                <c:pt idx="56">
                  <c:v>350</c:v>
                </c:pt>
                <c:pt idx="57">
                  <c:v>350</c:v>
                </c:pt>
                <c:pt idx="58">
                  <c:v>350</c:v>
                </c:pt>
                <c:pt idx="59">
                  <c:v>350</c:v>
                </c:pt>
                <c:pt idx="60">
                  <c:v>350</c:v>
                </c:pt>
                <c:pt idx="61">
                  <c:v>350</c:v>
                </c:pt>
                <c:pt idx="62">
                  <c:v>350</c:v>
                </c:pt>
                <c:pt idx="63">
                  <c:v>350</c:v>
                </c:pt>
                <c:pt idx="64">
                  <c:v>350</c:v>
                </c:pt>
                <c:pt idx="65">
                  <c:v>350</c:v>
                </c:pt>
                <c:pt idx="66">
                  <c:v>350</c:v>
                </c:pt>
                <c:pt idx="67">
                  <c:v>350</c:v>
                </c:pt>
                <c:pt idx="68">
                  <c:v>350</c:v>
                </c:pt>
                <c:pt idx="69">
                  <c:v>350</c:v>
                </c:pt>
                <c:pt idx="70">
                  <c:v>350</c:v>
                </c:pt>
                <c:pt idx="71">
                  <c:v>350</c:v>
                </c:pt>
                <c:pt idx="72">
                  <c:v>350</c:v>
                </c:pt>
                <c:pt idx="73">
                  <c:v>350</c:v>
                </c:pt>
                <c:pt idx="74">
                  <c:v>350</c:v>
                </c:pt>
                <c:pt idx="75">
                  <c:v>350</c:v>
                </c:pt>
                <c:pt idx="76">
                  <c:v>350</c:v>
                </c:pt>
                <c:pt idx="77">
                  <c:v>350</c:v>
                </c:pt>
                <c:pt idx="78">
                  <c:v>350</c:v>
                </c:pt>
                <c:pt idx="79">
                  <c:v>350</c:v>
                </c:pt>
                <c:pt idx="80">
                  <c:v>350</c:v>
                </c:pt>
                <c:pt idx="81">
                  <c:v>350</c:v>
                </c:pt>
                <c:pt idx="82">
                  <c:v>350</c:v>
                </c:pt>
                <c:pt idx="83">
                  <c:v>350</c:v>
                </c:pt>
                <c:pt idx="84">
                  <c:v>350</c:v>
                </c:pt>
                <c:pt idx="85">
                  <c:v>350</c:v>
                </c:pt>
                <c:pt idx="86">
                  <c:v>350</c:v>
                </c:pt>
                <c:pt idx="87">
                  <c:v>350</c:v>
                </c:pt>
                <c:pt idx="88">
                  <c:v>350</c:v>
                </c:pt>
                <c:pt idx="89">
                  <c:v>400</c:v>
                </c:pt>
                <c:pt idx="90">
                  <c:v>400</c:v>
                </c:pt>
                <c:pt idx="91">
                  <c:v>400</c:v>
                </c:pt>
                <c:pt idx="92">
                  <c:v>400</c:v>
                </c:pt>
                <c:pt idx="93">
                  <c:v>400</c:v>
                </c:pt>
                <c:pt idx="94">
                  <c:v>400</c:v>
                </c:pt>
                <c:pt idx="95">
                  <c:v>400</c:v>
                </c:pt>
                <c:pt idx="96">
                  <c:v>400</c:v>
                </c:pt>
                <c:pt idx="97">
                  <c:v>400</c:v>
                </c:pt>
                <c:pt idx="98">
                  <c:v>400</c:v>
                </c:pt>
                <c:pt idx="99">
                  <c:v>404</c:v>
                </c:pt>
                <c:pt idx="100">
                  <c:v>412</c:v>
                </c:pt>
                <c:pt idx="101">
                  <c:v>440.00000000000006</c:v>
                </c:pt>
                <c:pt idx="102">
                  <c:v>470</c:v>
                </c:pt>
                <c:pt idx="103">
                  <c:v>500</c:v>
                </c:pt>
                <c:pt idx="104">
                  <c:v>670</c:v>
                </c:pt>
                <c:pt idx="105">
                  <c:v>770</c:v>
                </c:pt>
                <c:pt idx="106">
                  <c:v>810</c:v>
                </c:pt>
                <c:pt idx="107">
                  <c:v>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09-496A-9661-493E634D75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910111"/>
        <c:axId val="1"/>
      </c:barChart>
      <c:catAx>
        <c:axId val="774910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9101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AR"/>
              <a:t>TIPO DE CAMBIO/IPC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'tipo de cambio mensual'!$A$242:$B$349</c:f>
              <c:multiLvlStrCache>
                <c:ptCount val="108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 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</c:lvl>
                <c:lvl>
                  <c:pt idx="0">
                    <c:v>1963 </c:v>
                  </c:pt>
                  <c:pt idx="12">
                    <c:v>1964 </c:v>
                  </c:pt>
                  <c:pt idx="24">
                    <c:v>1965 </c:v>
                  </c:pt>
                  <c:pt idx="36">
                    <c:v>1966 </c:v>
                  </c:pt>
                  <c:pt idx="48">
                    <c:v>1967 </c:v>
                  </c:pt>
                  <c:pt idx="60">
                    <c:v>1968 </c:v>
                  </c:pt>
                  <c:pt idx="72">
                    <c:v>1969 </c:v>
                  </c:pt>
                  <c:pt idx="84">
                    <c:v>1970 </c:v>
                  </c:pt>
                  <c:pt idx="96">
                    <c:v>1971 </c:v>
                  </c:pt>
                </c:lvl>
              </c:multiLvlStrCache>
            </c:multiLvlStrRef>
          </c:cat>
          <c:val>
            <c:numRef>
              <c:f>'tipo de cambio mensual'!$F$242:$F$349</c:f>
              <c:numCache>
                <c:formatCode>#,#00</c:formatCode>
                <c:ptCount val="108"/>
                <c:pt idx="0">
                  <c:v>2.4296688322425872</c:v>
                </c:pt>
                <c:pt idx="1">
                  <c:v>2.4179912517513591</c:v>
                </c:pt>
                <c:pt idx="2">
                  <c:v>2.3350325240391259</c:v>
                </c:pt>
                <c:pt idx="3">
                  <c:v>2.3218888401032358</c:v>
                </c:pt>
                <c:pt idx="4">
                  <c:v>2.3278008224547277</c:v>
                </c:pt>
                <c:pt idx="5">
                  <c:v>2.3023919923047416</c:v>
                </c:pt>
                <c:pt idx="6">
                  <c:v>2.2542239400731994</c:v>
                </c:pt>
                <c:pt idx="7">
                  <c:v>2.2052717427333861</c:v>
                </c:pt>
                <c:pt idx="8">
                  <c:v>2.3022994682901121</c:v>
                </c:pt>
                <c:pt idx="9">
                  <c:v>2.3151367198675028</c:v>
                </c:pt>
                <c:pt idx="10">
                  <c:v>2.1927690224993301</c:v>
                </c:pt>
                <c:pt idx="11">
                  <c:v>1.9033174360565168</c:v>
                </c:pt>
                <c:pt idx="12">
                  <c:v>1.8817698234952929</c:v>
                </c:pt>
                <c:pt idx="13">
                  <c:v>1.8777362725895526</c:v>
                </c:pt>
                <c:pt idx="14">
                  <c:v>1.9212253930882661</c:v>
                </c:pt>
                <c:pt idx="15">
                  <c:v>1.886934615307359</c:v>
                </c:pt>
                <c:pt idx="16">
                  <c:v>1.8784150607444454</c:v>
                </c:pt>
                <c:pt idx="17">
                  <c:v>1.8640572320739661</c:v>
                </c:pt>
                <c:pt idx="18">
                  <c:v>1.8545783519251153</c:v>
                </c:pt>
                <c:pt idx="19">
                  <c:v>1.9206409164930986</c:v>
                </c:pt>
                <c:pt idx="20">
                  <c:v>1.9228374857763963</c:v>
                </c:pt>
                <c:pt idx="21">
                  <c:v>1.8507190481397966</c:v>
                </c:pt>
                <c:pt idx="22">
                  <c:v>1.8990891535761052</c:v>
                </c:pt>
                <c:pt idx="23">
                  <c:v>1.7877531760761785</c:v>
                </c:pt>
                <c:pt idx="24">
                  <c:v>1.860849734500488</c:v>
                </c:pt>
                <c:pt idx="25">
                  <c:v>1.7802393510595538</c:v>
                </c:pt>
                <c:pt idx="26">
                  <c:v>1.7317737322822282</c:v>
                </c:pt>
                <c:pt idx="27">
                  <c:v>1.8281594997253374</c:v>
                </c:pt>
                <c:pt idx="28">
                  <c:v>1.9107506925734399</c:v>
                </c:pt>
                <c:pt idx="29">
                  <c:v>1.8414599857964928</c:v>
                </c:pt>
                <c:pt idx="30">
                  <c:v>1.7615403445135986</c:v>
                </c:pt>
                <c:pt idx="31">
                  <c:v>1.7214460967670886</c:v>
                </c:pt>
                <c:pt idx="32">
                  <c:v>1.7433367836990592</c:v>
                </c:pt>
                <c:pt idx="33">
                  <c:v>1.729148869193154</c:v>
                </c:pt>
                <c:pt idx="34">
                  <c:v>1.6672874551873735</c:v>
                </c:pt>
                <c:pt idx="35">
                  <c:v>1.609639295423652</c:v>
                </c:pt>
                <c:pt idx="36">
                  <c:v>1.6616364417620346</c:v>
                </c:pt>
                <c:pt idx="37">
                  <c:v>1.6280483566379227</c:v>
                </c:pt>
                <c:pt idx="38">
                  <c:v>1.5907797003329636</c:v>
                </c:pt>
                <c:pt idx="39">
                  <c:v>1.5586637204919418</c:v>
                </c:pt>
                <c:pt idx="40">
                  <c:v>1.5537049102569724</c:v>
                </c:pt>
                <c:pt idx="41">
                  <c:v>1.6429657690058022</c:v>
                </c:pt>
                <c:pt idx="42">
                  <c:v>1.6264765276626867</c:v>
                </c:pt>
                <c:pt idx="43">
                  <c:v>1.6739514660523505</c:v>
                </c:pt>
                <c:pt idx="44">
                  <c:v>1.6874571634768374</c:v>
                </c:pt>
                <c:pt idx="45">
                  <c:v>1.6377905641191306</c:v>
                </c:pt>
                <c:pt idx="46">
                  <c:v>1.7993477465617309</c:v>
                </c:pt>
                <c:pt idx="47">
                  <c:v>1.626231740881015</c:v>
                </c:pt>
                <c:pt idx="48">
                  <c:v>1.7064261416762656</c:v>
                </c:pt>
                <c:pt idx="49">
                  <c:v>1.707018642032639</c:v>
                </c:pt>
                <c:pt idx="50">
                  <c:v>2.1758672283525895</c:v>
                </c:pt>
                <c:pt idx="51">
                  <c:v>2.3012617841339065</c:v>
                </c:pt>
                <c:pt idx="52">
                  <c:v>2.279552456881492</c:v>
                </c:pt>
                <c:pt idx="53">
                  <c:v>2.1844265538442809</c:v>
                </c:pt>
                <c:pt idx="54">
                  <c:v>2.0805690844784603</c:v>
                </c:pt>
                <c:pt idx="55">
                  <c:v>2.0735358700991018</c:v>
                </c:pt>
                <c:pt idx="56">
                  <c:v>2.0639944206378882</c:v>
                </c:pt>
                <c:pt idx="57">
                  <c:v>2.0065185785780191</c:v>
                </c:pt>
                <c:pt idx="58">
                  <c:v>1.9613333879915829</c:v>
                </c:pt>
                <c:pt idx="59">
                  <c:v>1.819561634805537</c:v>
                </c:pt>
                <c:pt idx="60">
                  <c:v>1.8843446410754607</c:v>
                </c:pt>
                <c:pt idx="61">
                  <c:v>1.8660690605579968</c:v>
                </c:pt>
                <c:pt idx="62">
                  <c:v>1.8782295210677831</c:v>
                </c:pt>
                <c:pt idx="63">
                  <c:v>1.8860778954560984</c:v>
                </c:pt>
                <c:pt idx="64">
                  <c:v>1.8839983724043787</c:v>
                </c:pt>
                <c:pt idx="65">
                  <c:v>1.8774924787442777</c:v>
                </c:pt>
                <c:pt idx="66">
                  <c:v>1.8785736722246944</c:v>
                </c:pt>
                <c:pt idx="67">
                  <c:v>1.8754808446140174</c:v>
                </c:pt>
                <c:pt idx="68">
                  <c:v>1.8497164875383387</c:v>
                </c:pt>
                <c:pt idx="69">
                  <c:v>1.8141342264914058</c:v>
                </c:pt>
                <c:pt idx="70">
                  <c:v>1.8081466831271578</c:v>
                </c:pt>
                <c:pt idx="71">
                  <c:v>1.6607384181052436</c:v>
                </c:pt>
                <c:pt idx="72">
                  <c:v>1.7410336964168747</c:v>
                </c:pt>
                <c:pt idx="73">
                  <c:v>1.7647515184301767</c:v>
                </c:pt>
                <c:pt idx="74">
                  <c:v>1.7451403073630967</c:v>
                </c:pt>
                <c:pt idx="75">
                  <c:v>1.7433598114949231</c:v>
                </c:pt>
                <c:pt idx="76">
                  <c:v>1.7677508744273116</c:v>
                </c:pt>
                <c:pt idx="77">
                  <c:v>1.7504609868533378</c:v>
                </c:pt>
                <c:pt idx="78">
                  <c:v>1.7274141914985799</c:v>
                </c:pt>
                <c:pt idx="79">
                  <c:v>1.7404425851824907</c:v>
                </c:pt>
                <c:pt idx="80">
                  <c:v>1.7086196224079233</c:v>
                </c:pt>
                <c:pt idx="81">
                  <c:v>1.6830945121951224</c:v>
                </c:pt>
                <c:pt idx="82">
                  <c:v>1.6711799087183308</c:v>
                </c:pt>
                <c:pt idx="83">
                  <c:v>1.5570075716486236</c:v>
                </c:pt>
                <c:pt idx="84">
                  <c:v>1.634042577413479</c:v>
                </c:pt>
                <c:pt idx="85">
                  <c:v>1.6122015051106369</c:v>
                </c:pt>
                <c:pt idx="86">
                  <c:v>1.5916422710135287</c:v>
                </c:pt>
                <c:pt idx="87">
                  <c:v>1.5795217448719077</c:v>
                </c:pt>
                <c:pt idx="88">
                  <c:v>1.5679268985405928</c:v>
                </c:pt>
                <c:pt idx="89">
                  <c:v>1.77889691370074</c:v>
                </c:pt>
                <c:pt idx="90">
                  <c:v>1.7572867120881006</c:v>
                </c:pt>
                <c:pt idx="91">
                  <c:v>1.7376665748607019</c:v>
                </c:pt>
                <c:pt idx="92">
                  <c:v>1.7029587027386168</c:v>
                </c:pt>
                <c:pt idx="93">
                  <c:v>1.6380005192419069</c:v>
                </c:pt>
                <c:pt idx="94">
                  <c:v>1.5967372048202151</c:v>
                </c:pt>
                <c:pt idx="95">
                  <c:v>1.4616341441682261</c:v>
                </c:pt>
                <c:pt idx="96">
                  <c:v>1.4657874043891632</c:v>
                </c:pt>
                <c:pt idx="97">
                  <c:v>1.4184352517985614</c:v>
                </c:pt>
                <c:pt idx="98">
                  <c:v>1.4036520459329489</c:v>
                </c:pt>
                <c:pt idx="99">
                  <c:v>1.4050407232144371</c:v>
                </c:pt>
                <c:pt idx="100">
                  <c:v>1.3988638892568552</c:v>
                </c:pt>
                <c:pt idx="101">
                  <c:v>1.4487837620836952</c:v>
                </c:pt>
                <c:pt idx="102">
                  <c:v>1.4837348544332056</c:v>
                </c:pt>
                <c:pt idx="103">
                  <c:v>1.5381366739179356</c:v>
                </c:pt>
                <c:pt idx="104">
                  <c:v>2.0426547422573114</c:v>
                </c:pt>
                <c:pt idx="105">
                  <c:v>2.3236210981765741</c:v>
                </c:pt>
                <c:pt idx="106">
                  <c:v>2.3800540238450072</c:v>
                </c:pt>
                <c:pt idx="107">
                  <c:v>2.166898409079264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82-4C8D-A382-B19AA44C2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887711"/>
        <c:axId val="1"/>
      </c:barChart>
      <c:catAx>
        <c:axId val="774887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877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b="1"/>
              <a:t>Inflación anual y tendencia. 1963-1970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1943-1995'!$A$242:$A$337</c:f>
              <c:numCache>
                <c:formatCode>mmm\-yy</c:formatCode>
                <c:ptCount val="96"/>
                <c:pt idx="0">
                  <c:v>23012</c:v>
                </c:pt>
                <c:pt idx="1">
                  <c:v>23043</c:v>
                </c:pt>
                <c:pt idx="2">
                  <c:v>23071</c:v>
                </c:pt>
                <c:pt idx="3">
                  <c:v>23102</c:v>
                </c:pt>
                <c:pt idx="4">
                  <c:v>23132</c:v>
                </c:pt>
                <c:pt idx="5">
                  <c:v>23163</c:v>
                </c:pt>
                <c:pt idx="6">
                  <c:v>23193</c:v>
                </c:pt>
                <c:pt idx="7">
                  <c:v>23224</c:v>
                </c:pt>
                <c:pt idx="8">
                  <c:v>23255</c:v>
                </c:pt>
                <c:pt idx="9">
                  <c:v>23285</c:v>
                </c:pt>
                <c:pt idx="10">
                  <c:v>23316</c:v>
                </c:pt>
                <c:pt idx="11">
                  <c:v>23346</c:v>
                </c:pt>
                <c:pt idx="12">
                  <c:v>23377</c:v>
                </c:pt>
                <c:pt idx="13">
                  <c:v>23408</c:v>
                </c:pt>
                <c:pt idx="14">
                  <c:v>23437</c:v>
                </c:pt>
                <c:pt idx="15">
                  <c:v>23468</c:v>
                </c:pt>
                <c:pt idx="16">
                  <c:v>23498</c:v>
                </c:pt>
                <c:pt idx="17">
                  <c:v>23529</c:v>
                </c:pt>
                <c:pt idx="18">
                  <c:v>23559</c:v>
                </c:pt>
                <c:pt idx="19">
                  <c:v>23590</c:v>
                </c:pt>
                <c:pt idx="20">
                  <c:v>23621</c:v>
                </c:pt>
                <c:pt idx="21">
                  <c:v>23651</c:v>
                </c:pt>
                <c:pt idx="22">
                  <c:v>23682</c:v>
                </c:pt>
                <c:pt idx="23">
                  <c:v>23712</c:v>
                </c:pt>
                <c:pt idx="24">
                  <c:v>23743</c:v>
                </c:pt>
                <c:pt idx="25">
                  <c:v>23774</c:v>
                </c:pt>
                <c:pt idx="26">
                  <c:v>23802</c:v>
                </c:pt>
                <c:pt idx="27">
                  <c:v>23833</c:v>
                </c:pt>
                <c:pt idx="28">
                  <c:v>23863</c:v>
                </c:pt>
                <c:pt idx="29">
                  <c:v>23894</c:v>
                </c:pt>
                <c:pt idx="30">
                  <c:v>23924</c:v>
                </c:pt>
                <c:pt idx="31">
                  <c:v>23955</c:v>
                </c:pt>
                <c:pt idx="32">
                  <c:v>23986</c:v>
                </c:pt>
                <c:pt idx="33">
                  <c:v>24016</c:v>
                </c:pt>
                <c:pt idx="34">
                  <c:v>24047</c:v>
                </c:pt>
                <c:pt idx="35">
                  <c:v>24077</c:v>
                </c:pt>
                <c:pt idx="36">
                  <c:v>24108</c:v>
                </c:pt>
                <c:pt idx="37">
                  <c:v>24139</c:v>
                </c:pt>
                <c:pt idx="38">
                  <c:v>24167</c:v>
                </c:pt>
                <c:pt idx="39">
                  <c:v>24198</c:v>
                </c:pt>
                <c:pt idx="40">
                  <c:v>24228</c:v>
                </c:pt>
                <c:pt idx="41">
                  <c:v>24259</c:v>
                </c:pt>
                <c:pt idx="42">
                  <c:v>24289</c:v>
                </c:pt>
                <c:pt idx="43">
                  <c:v>24320</c:v>
                </c:pt>
                <c:pt idx="44">
                  <c:v>24351</c:v>
                </c:pt>
                <c:pt idx="45">
                  <c:v>24381</c:v>
                </c:pt>
                <c:pt idx="46">
                  <c:v>24412</c:v>
                </c:pt>
                <c:pt idx="47">
                  <c:v>24442</c:v>
                </c:pt>
                <c:pt idx="48">
                  <c:v>24473</c:v>
                </c:pt>
                <c:pt idx="49">
                  <c:v>24504</c:v>
                </c:pt>
                <c:pt idx="50">
                  <c:v>24532</c:v>
                </c:pt>
                <c:pt idx="51">
                  <c:v>24563</c:v>
                </c:pt>
                <c:pt idx="52">
                  <c:v>24593</c:v>
                </c:pt>
                <c:pt idx="53">
                  <c:v>24624</c:v>
                </c:pt>
                <c:pt idx="54">
                  <c:v>24654</c:v>
                </c:pt>
                <c:pt idx="55">
                  <c:v>24685</c:v>
                </c:pt>
                <c:pt idx="56">
                  <c:v>24716</c:v>
                </c:pt>
                <c:pt idx="57">
                  <c:v>24746</c:v>
                </c:pt>
                <c:pt idx="58">
                  <c:v>24777</c:v>
                </c:pt>
                <c:pt idx="59">
                  <c:v>24807</c:v>
                </c:pt>
                <c:pt idx="60">
                  <c:v>24838</c:v>
                </c:pt>
                <c:pt idx="61">
                  <c:v>24869</c:v>
                </c:pt>
                <c:pt idx="62">
                  <c:v>24898</c:v>
                </c:pt>
                <c:pt idx="63">
                  <c:v>24929</c:v>
                </c:pt>
                <c:pt idx="64">
                  <c:v>24959</c:v>
                </c:pt>
                <c:pt idx="65">
                  <c:v>24990</c:v>
                </c:pt>
                <c:pt idx="66">
                  <c:v>25020</c:v>
                </c:pt>
                <c:pt idx="67">
                  <c:v>25051</c:v>
                </c:pt>
                <c:pt idx="68">
                  <c:v>25082</c:v>
                </c:pt>
                <c:pt idx="69">
                  <c:v>25112</c:v>
                </c:pt>
                <c:pt idx="70">
                  <c:v>25143</c:v>
                </c:pt>
                <c:pt idx="71">
                  <c:v>25173</c:v>
                </c:pt>
                <c:pt idx="72">
                  <c:v>25204</c:v>
                </c:pt>
                <c:pt idx="73">
                  <c:v>25235</c:v>
                </c:pt>
                <c:pt idx="74">
                  <c:v>25263</c:v>
                </c:pt>
                <c:pt idx="75">
                  <c:v>25294</c:v>
                </c:pt>
                <c:pt idx="76">
                  <c:v>25324</c:v>
                </c:pt>
                <c:pt idx="77">
                  <c:v>25355</c:v>
                </c:pt>
                <c:pt idx="78">
                  <c:v>25385</c:v>
                </c:pt>
                <c:pt idx="79">
                  <c:v>25416</c:v>
                </c:pt>
                <c:pt idx="80">
                  <c:v>25447</c:v>
                </c:pt>
                <c:pt idx="81">
                  <c:v>25477</c:v>
                </c:pt>
                <c:pt idx="82">
                  <c:v>25508</c:v>
                </c:pt>
                <c:pt idx="83">
                  <c:v>25538</c:v>
                </c:pt>
                <c:pt idx="84">
                  <c:v>25569</c:v>
                </c:pt>
                <c:pt idx="85">
                  <c:v>25600</c:v>
                </c:pt>
                <c:pt idx="86">
                  <c:v>25628</c:v>
                </c:pt>
                <c:pt idx="87">
                  <c:v>25659</c:v>
                </c:pt>
                <c:pt idx="88">
                  <c:v>25689</c:v>
                </c:pt>
                <c:pt idx="89">
                  <c:v>25720</c:v>
                </c:pt>
                <c:pt idx="90">
                  <c:v>25750</c:v>
                </c:pt>
                <c:pt idx="91">
                  <c:v>25781</c:v>
                </c:pt>
                <c:pt idx="92">
                  <c:v>25812</c:v>
                </c:pt>
                <c:pt idx="93">
                  <c:v>25842</c:v>
                </c:pt>
                <c:pt idx="94">
                  <c:v>25873</c:v>
                </c:pt>
                <c:pt idx="95">
                  <c:v>25903</c:v>
                </c:pt>
              </c:numCache>
            </c:numRef>
          </c:cat>
          <c:val>
            <c:numRef>
              <c:f>'indice 1943-1995'!$F$242:$F$337</c:f>
              <c:numCache>
                <c:formatCode>0.0%</c:formatCode>
                <c:ptCount val="96"/>
                <c:pt idx="0">
                  <c:v>0.30511508420119671</c:v>
                </c:pt>
                <c:pt idx="1">
                  <c:v>0.29842335680056808</c:v>
                </c:pt>
                <c:pt idx="2">
                  <c:v>0.33876085775569975</c:v>
                </c:pt>
                <c:pt idx="3">
                  <c:v>0.31681788203032113</c:v>
                </c:pt>
                <c:pt idx="4">
                  <c:v>0.27285910363940058</c:v>
                </c:pt>
                <c:pt idx="5">
                  <c:v>0.26895811133585035</c:v>
                </c:pt>
                <c:pt idx="6">
                  <c:v>0.2327153870117542</c:v>
                </c:pt>
                <c:pt idx="7">
                  <c:v>0.22229848070963998</c:v>
                </c:pt>
                <c:pt idx="8">
                  <c:v>0.1969519089639824</c:v>
                </c:pt>
                <c:pt idx="9">
                  <c:v>0.21332247270573124</c:v>
                </c:pt>
                <c:pt idx="10">
                  <c:v>0.2504838037394308</c:v>
                </c:pt>
                <c:pt idx="11">
                  <c:v>0.23826381746137404</c:v>
                </c:pt>
                <c:pt idx="12">
                  <c:v>0.28518751376144347</c:v>
                </c:pt>
                <c:pt idx="13">
                  <c:v>0.26379509610893948</c:v>
                </c:pt>
                <c:pt idx="14">
                  <c:v>0.20324303340168792</c:v>
                </c:pt>
                <c:pt idx="15">
                  <c:v>0.23032933611329209</c:v>
                </c:pt>
                <c:pt idx="16">
                  <c:v>0.23204278346226759</c:v>
                </c:pt>
                <c:pt idx="17">
                  <c:v>0.23506131853793333</c:v>
                </c:pt>
                <c:pt idx="18">
                  <c:v>0.22099090700499158</c:v>
                </c:pt>
                <c:pt idx="19">
                  <c:v>0.2095067624180007</c:v>
                </c:pt>
                <c:pt idx="20">
                  <c:v>0.20413884235116431</c:v>
                </c:pt>
                <c:pt idx="21">
                  <c:v>0.21383348883408004</c:v>
                </c:pt>
                <c:pt idx="22">
                  <c:v>0.19721957679830959</c:v>
                </c:pt>
                <c:pt idx="23">
                  <c:v>0.18104200948700711</c:v>
                </c:pt>
                <c:pt idx="24">
                  <c:v>0.14285989504530439</c:v>
                </c:pt>
                <c:pt idx="25">
                  <c:v>0.20729521637090387</c:v>
                </c:pt>
                <c:pt idx="26">
                  <c:v>0.24013759219226194</c:v>
                </c:pt>
                <c:pt idx="27">
                  <c:v>0.20667813837016991</c:v>
                </c:pt>
                <c:pt idx="28">
                  <c:v>0.2309091273794639</c:v>
                </c:pt>
                <c:pt idx="29">
                  <c:v>0.26289757776795897</c:v>
                </c:pt>
                <c:pt idx="30">
                  <c:v>0.31332425263271335</c:v>
                </c:pt>
                <c:pt idx="31">
                  <c:v>0.34917657997720397</c:v>
                </c:pt>
                <c:pt idx="32">
                  <c:v>0.35442672508958761</c:v>
                </c:pt>
                <c:pt idx="33">
                  <c:v>0.33667187056129166</c:v>
                </c:pt>
                <c:pt idx="34">
                  <c:v>0.36946425697170659</c:v>
                </c:pt>
                <c:pt idx="35">
                  <c:v>0.382021475151201</c:v>
                </c:pt>
                <c:pt idx="36">
                  <c:v>0.40249966887815947</c:v>
                </c:pt>
                <c:pt idx="37">
                  <c:v>0.36724860736231557</c:v>
                </c:pt>
                <c:pt idx="38">
                  <c:v>0.36398806853862009</c:v>
                </c:pt>
                <c:pt idx="39">
                  <c:v>0.37787494243179198</c:v>
                </c:pt>
                <c:pt idx="40">
                  <c:v>0.36278354771423604</c:v>
                </c:pt>
                <c:pt idx="41">
                  <c:v>0.32128123988261215</c:v>
                </c:pt>
                <c:pt idx="42">
                  <c:v>0.28601232764313878</c:v>
                </c:pt>
                <c:pt idx="43">
                  <c:v>0.27269523506522098</c:v>
                </c:pt>
                <c:pt idx="44">
                  <c:v>0.27303592958765366</c:v>
                </c:pt>
                <c:pt idx="45">
                  <c:v>0.28083035546360735</c:v>
                </c:pt>
                <c:pt idx="46">
                  <c:v>0.26507292545901739</c:v>
                </c:pt>
                <c:pt idx="47">
                  <c:v>0.29936313749181909</c:v>
                </c:pt>
                <c:pt idx="48">
                  <c:v>0.26709535624447311</c:v>
                </c:pt>
                <c:pt idx="49">
                  <c:v>0.26630236182107603</c:v>
                </c:pt>
                <c:pt idx="50">
                  <c:v>0.26657623217001714</c:v>
                </c:pt>
                <c:pt idx="51">
                  <c:v>0.25586939538180276</c:v>
                </c:pt>
                <c:pt idx="52">
                  <c:v>0.25488773651463026</c:v>
                </c:pt>
                <c:pt idx="53">
                  <c:v>0.29843337496245481</c:v>
                </c:pt>
                <c:pt idx="54">
                  <c:v>0.34195445898157129</c:v>
                </c:pt>
                <c:pt idx="55">
                  <c:v>0.33110015460468145</c:v>
                </c:pt>
                <c:pt idx="56">
                  <c:v>0.31726296010061961</c:v>
                </c:pt>
                <c:pt idx="57">
                  <c:v>0.31299856464775133</c:v>
                </c:pt>
                <c:pt idx="58">
                  <c:v>0.31256860395876229</c:v>
                </c:pt>
                <c:pt idx="59">
                  <c:v>0.2735098204455122</c:v>
                </c:pt>
                <c:pt idx="60">
                  <c:v>0.29026356799241149</c:v>
                </c:pt>
                <c:pt idx="61">
                  <c:v>0.27567334483216155</c:v>
                </c:pt>
                <c:pt idx="62">
                  <c:v>0.24010125924964298</c:v>
                </c:pt>
                <c:pt idx="63">
                  <c:v>0.22013082793561223</c:v>
                </c:pt>
                <c:pt idx="64">
                  <c:v>0.2099545786614998</c:v>
                </c:pt>
                <c:pt idx="65">
                  <c:v>0.16348085469044871</c:v>
                </c:pt>
                <c:pt idx="66">
                  <c:v>0.10752594654142755</c:v>
                </c:pt>
                <c:pt idx="67">
                  <c:v>0.10560226517581106</c:v>
                </c:pt>
                <c:pt idx="68">
                  <c:v>0.11584366282246705</c:v>
                </c:pt>
                <c:pt idx="69">
                  <c:v>0.10604747392848157</c:v>
                </c:pt>
                <c:pt idx="70">
                  <c:v>8.4720286409226242E-2</c:v>
                </c:pt>
                <c:pt idx="71">
                  <c:v>9.5634095634095528E-2</c:v>
                </c:pt>
                <c:pt idx="72">
                  <c:v>8.231371107493568E-2</c:v>
                </c:pt>
                <c:pt idx="73">
                  <c:v>5.7411789178085648E-2</c:v>
                </c:pt>
                <c:pt idx="74">
                  <c:v>7.6262758440198919E-2</c:v>
                </c:pt>
                <c:pt idx="75">
                  <c:v>8.1863814354419029E-2</c:v>
                </c:pt>
                <c:pt idx="76">
                  <c:v>6.5760113406662546E-2</c:v>
                </c:pt>
                <c:pt idx="77">
                  <c:v>7.2570307390451338E-2</c:v>
                </c:pt>
                <c:pt idx="78">
                  <c:v>8.7506216789257296E-2</c:v>
                </c:pt>
                <c:pt idx="79">
                  <c:v>7.7588459729263537E-2</c:v>
                </c:pt>
                <c:pt idx="80">
                  <c:v>8.2579447923915472E-2</c:v>
                </c:pt>
                <c:pt idx="81">
                  <c:v>7.7856420626895906E-2</c:v>
                </c:pt>
                <c:pt idx="82">
                  <c:v>8.1958126527424513E-2</c:v>
                </c:pt>
                <c:pt idx="83">
                  <c:v>6.6621928078863135E-2</c:v>
                </c:pt>
                <c:pt idx="84">
                  <c:v>6.5476334877853537E-2</c:v>
                </c:pt>
                <c:pt idx="85">
                  <c:v>9.4622175228071814E-2</c:v>
                </c:pt>
                <c:pt idx="86">
                  <c:v>9.6440035016049031E-2</c:v>
                </c:pt>
                <c:pt idx="87">
                  <c:v>0.10372637613564595</c:v>
                </c:pt>
                <c:pt idx="88">
                  <c:v>0.12744470170944378</c:v>
                </c:pt>
                <c:pt idx="89">
                  <c:v>0.1245884045952339</c:v>
                </c:pt>
                <c:pt idx="90">
                  <c:v>0.1234294516921004</c:v>
                </c:pt>
                <c:pt idx="91">
                  <c:v>0.14468291499939379</c:v>
                </c:pt>
                <c:pt idx="92">
                  <c:v>0.14665619122443641</c:v>
                </c:pt>
                <c:pt idx="93">
                  <c:v>0.17431988742964344</c:v>
                </c:pt>
                <c:pt idx="94">
                  <c:v>0.19613915797317438</c:v>
                </c:pt>
                <c:pt idx="95">
                  <c:v>0.21742997852168444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25-4607-BA02-3D27385991EA}"/>
            </c:ext>
          </c:extLst>
        </c:ser>
        <c:ser>
          <c:idx val="1"/>
          <c:order val="1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1943-1995'!$A$242:$A$337</c:f>
              <c:numCache>
                <c:formatCode>mmm\-yy</c:formatCode>
                <c:ptCount val="96"/>
                <c:pt idx="0">
                  <c:v>23012</c:v>
                </c:pt>
                <c:pt idx="1">
                  <c:v>23043</c:v>
                </c:pt>
                <c:pt idx="2">
                  <c:v>23071</c:v>
                </c:pt>
                <c:pt idx="3">
                  <c:v>23102</c:v>
                </c:pt>
                <c:pt idx="4">
                  <c:v>23132</c:v>
                </c:pt>
                <c:pt idx="5">
                  <c:v>23163</c:v>
                </c:pt>
                <c:pt idx="6">
                  <c:v>23193</c:v>
                </c:pt>
                <c:pt idx="7">
                  <c:v>23224</c:v>
                </c:pt>
                <c:pt idx="8">
                  <c:v>23255</c:v>
                </c:pt>
                <c:pt idx="9">
                  <c:v>23285</c:v>
                </c:pt>
                <c:pt idx="10">
                  <c:v>23316</c:v>
                </c:pt>
                <c:pt idx="11">
                  <c:v>23346</c:v>
                </c:pt>
                <c:pt idx="12">
                  <c:v>23377</c:v>
                </c:pt>
                <c:pt idx="13">
                  <c:v>23408</c:v>
                </c:pt>
                <c:pt idx="14">
                  <c:v>23437</c:v>
                </c:pt>
                <c:pt idx="15">
                  <c:v>23468</c:v>
                </c:pt>
                <c:pt idx="16">
                  <c:v>23498</c:v>
                </c:pt>
                <c:pt idx="17">
                  <c:v>23529</c:v>
                </c:pt>
                <c:pt idx="18">
                  <c:v>23559</c:v>
                </c:pt>
                <c:pt idx="19">
                  <c:v>23590</c:v>
                </c:pt>
                <c:pt idx="20">
                  <c:v>23621</c:v>
                </c:pt>
                <c:pt idx="21">
                  <c:v>23651</c:v>
                </c:pt>
                <c:pt idx="22">
                  <c:v>23682</c:v>
                </c:pt>
                <c:pt idx="23">
                  <c:v>23712</c:v>
                </c:pt>
                <c:pt idx="24">
                  <c:v>23743</c:v>
                </c:pt>
                <c:pt idx="25">
                  <c:v>23774</c:v>
                </c:pt>
                <c:pt idx="26">
                  <c:v>23802</c:v>
                </c:pt>
                <c:pt idx="27">
                  <c:v>23833</c:v>
                </c:pt>
                <c:pt idx="28">
                  <c:v>23863</c:v>
                </c:pt>
                <c:pt idx="29">
                  <c:v>23894</c:v>
                </c:pt>
                <c:pt idx="30">
                  <c:v>23924</c:v>
                </c:pt>
                <c:pt idx="31">
                  <c:v>23955</c:v>
                </c:pt>
                <c:pt idx="32">
                  <c:v>23986</c:v>
                </c:pt>
                <c:pt idx="33">
                  <c:v>24016</c:v>
                </c:pt>
                <c:pt idx="34">
                  <c:v>24047</c:v>
                </c:pt>
                <c:pt idx="35">
                  <c:v>24077</c:v>
                </c:pt>
                <c:pt idx="36">
                  <c:v>24108</c:v>
                </c:pt>
                <c:pt idx="37">
                  <c:v>24139</c:v>
                </c:pt>
                <c:pt idx="38">
                  <c:v>24167</c:v>
                </c:pt>
                <c:pt idx="39">
                  <c:v>24198</c:v>
                </c:pt>
                <c:pt idx="40">
                  <c:v>24228</c:v>
                </c:pt>
                <c:pt idx="41">
                  <c:v>24259</c:v>
                </c:pt>
                <c:pt idx="42">
                  <c:v>24289</c:v>
                </c:pt>
                <c:pt idx="43">
                  <c:v>24320</c:v>
                </c:pt>
                <c:pt idx="44">
                  <c:v>24351</c:v>
                </c:pt>
                <c:pt idx="45">
                  <c:v>24381</c:v>
                </c:pt>
                <c:pt idx="46">
                  <c:v>24412</c:v>
                </c:pt>
                <c:pt idx="47">
                  <c:v>24442</c:v>
                </c:pt>
                <c:pt idx="48">
                  <c:v>24473</c:v>
                </c:pt>
                <c:pt idx="49">
                  <c:v>24504</c:v>
                </c:pt>
                <c:pt idx="50">
                  <c:v>24532</c:v>
                </c:pt>
                <c:pt idx="51">
                  <c:v>24563</c:v>
                </c:pt>
                <c:pt idx="52">
                  <c:v>24593</c:v>
                </c:pt>
                <c:pt idx="53">
                  <c:v>24624</c:v>
                </c:pt>
                <c:pt idx="54">
                  <c:v>24654</c:v>
                </c:pt>
                <c:pt idx="55">
                  <c:v>24685</c:v>
                </c:pt>
                <c:pt idx="56">
                  <c:v>24716</c:v>
                </c:pt>
                <c:pt idx="57">
                  <c:v>24746</c:v>
                </c:pt>
                <c:pt idx="58">
                  <c:v>24777</c:v>
                </c:pt>
                <c:pt idx="59">
                  <c:v>24807</c:v>
                </c:pt>
                <c:pt idx="60">
                  <c:v>24838</c:v>
                </c:pt>
                <c:pt idx="61">
                  <c:v>24869</c:v>
                </c:pt>
                <c:pt idx="62">
                  <c:v>24898</c:v>
                </c:pt>
                <c:pt idx="63">
                  <c:v>24929</c:v>
                </c:pt>
                <c:pt idx="64">
                  <c:v>24959</c:v>
                </c:pt>
                <c:pt idx="65">
                  <c:v>24990</c:v>
                </c:pt>
                <c:pt idx="66">
                  <c:v>25020</c:v>
                </c:pt>
                <c:pt idx="67">
                  <c:v>25051</c:v>
                </c:pt>
                <c:pt idx="68">
                  <c:v>25082</c:v>
                </c:pt>
                <c:pt idx="69">
                  <c:v>25112</c:v>
                </c:pt>
                <c:pt idx="70">
                  <c:v>25143</c:v>
                </c:pt>
                <c:pt idx="71">
                  <c:v>25173</c:v>
                </c:pt>
                <c:pt idx="72">
                  <c:v>25204</c:v>
                </c:pt>
                <c:pt idx="73">
                  <c:v>25235</c:v>
                </c:pt>
                <c:pt idx="74">
                  <c:v>25263</c:v>
                </c:pt>
                <c:pt idx="75">
                  <c:v>25294</c:v>
                </c:pt>
                <c:pt idx="76">
                  <c:v>25324</c:v>
                </c:pt>
                <c:pt idx="77">
                  <c:v>25355</c:v>
                </c:pt>
                <c:pt idx="78">
                  <c:v>25385</c:v>
                </c:pt>
                <c:pt idx="79">
                  <c:v>25416</c:v>
                </c:pt>
                <c:pt idx="80">
                  <c:v>25447</c:v>
                </c:pt>
                <c:pt idx="81">
                  <c:v>25477</c:v>
                </c:pt>
                <c:pt idx="82">
                  <c:v>25508</c:v>
                </c:pt>
                <c:pt idx="83">
                  <c:v>25538</c:v>
                </c:pt>
                <c:pt idx="84">
                  <c:v>25569</c:v>
                </c:pt>
                <c:pt idx="85">
                  <c:v>25600</c:v>
                </c:pt>
                <c:pt idx="86">
                  <c:v>25628</c:v>
                </c:pt>
                <c:pt idx="87">
                  <c:v>25659</c:v>
                </c:pt>
                <c:pt idx="88">
                  <c:v>25689</c:v>
                </c:pt>
                <c:pt idx="89">
                  <c:v>25720</c:v>
                </c:pt>
                <c:pt idx="90">
                  <c:v>25750</c:v>
                </c:pt>
                <c:pt idx="91">
                  <c:v>25781</c:v>
                </c:pt>
                <c:pt idx="92">
                  <c:v>25812</c:v>
                </c:pt>
                <c:pt idx="93">
                  <c:v>25842</c:v>
                </c:pt>
                <c:pt idx="94">
                  <c:v>25873</c:v>
                </c:pt>
                <c:pt idx="95">
                  <c:v>25903</c:v>
                </c:pt>
              </c:numCache>
            </c:numRef>
          </c:cat>
          <c:val>
            <c:numRef>
              <c:f>'indice 1943-1995'!$H$242:$H$337</c:f>
              <c:numCache>
                <c:formatCode>0.0%</c:formatCode>
                <c:ptCount val="96"/>
                <c:pt idx="0">
                  <c:v>0.22679044306278229</c:v>
                </c:pt>
                <c:pt idx="1">
                  <c:v>0.22715796530246735</c:v>
                </c:pt>
                <c:pt idx="2">
                  <c:v>0.22764988243579865</c:v>
                </c:pt>
                <c:pt idx="3">
                  <c:v>0.2282499223947525</c:v>
                </c:pt>
                <c:pt idx="4">
                  <c:v>0.22894953191280365</c:v>
                </c:pt>
                <c:pt idx="5">
                  <c:v>0.22974631190299988</c:v>
                </c:pt>
                <c:pt idx="6">
                  <c:v>0.23064087331295013</c:v>
                </c:pt>
                <c:pt idx="7">
                  <c:v>0.23163659870624542</c:v>
                </c:pt>
                <c:pt idx="8">
                  <c:v>0.23273700475692749</c:v>
                </c:pt>
                <c:pt idx="9">
                  <c:v>0.23394493758678436</c:v>
                </c:pt>
                <c:pt idx="10">
                  <c:v>0.23526076972484589</c:v>
                </c:pt>
                <c:pt idx="11">
                  <c:v>0.2366834431886673</c:v>
                </c:pt>
                <c:pt idx="12">
                  <c:v>0.23821297287940979</c:v>
                </c:pt>
                <c:pt idx="13">
                  <c:v>0.23984946310520172</c:v>
                </c:pt>
                <c:pt idx="14">
                  <c:v>0.24159626662731171</c:v>
                </c:pt>
                <c:pt idx="15">
                  <c:v>0.24345843493938446</c:v>
                </c:pt>
                <c:pt idx="16">
                  <c:v>0.2454383373260498</c:v>
                </c:pt>
                <c:pt idx="17">
                  <c:v>0.24753743410110474</c:v>
                </c:pt>
                <c:pt idx="18">
                  <c:v>0.24975624680519104</c:v>
                </c:pt>
                <c:pt idx="19">
                  <c:v>0.25209444761276245</c:v>
                </c:pt>
                <c:pt idx="20">
                  <c:v>0.25454968214035034</c:v>
                </c:pt>
                <c:pt idx="21">
                  <c:v>0.25711667537689209</c:v>
                </c:pt>
                <c:pt idx="22">
                  <c:v>0.25978663563728333</c:v>
                </c:pt>
                <c:pt idx="23">
                  <c:v>0.26254773139953613</c:v>
                </c:pt>
                <c:pt idx="24">
                  <c:v>0.26538386940956116</c:v>
                </c:pt>
                <c:pt idx="25">
                  <c:v>0.26827320456504822</c:v>
                </c:pt>
                <c:pt idx="26">
                  <c:v>0.27118545770645142</c:v>
                </c:pt>
                <c:pt idx="27">
                  <c:v>0.27408605813980103</c:v>
                </c:pt>
                <c:pt idx="28">
                  <c:v>0.27693828940391541</c:v>
                </c:pt>
                <c:pt idx="29">
                  <c:v>0.27970081567764282</c:v>
                </c:pt>
                <c:pt idx="30">
                  <c:v>0.28232899308204651</c:v>
                </c:pt>
                <c:pt idx="31">
                  <c:v>0.28477713465690613</c:v>
                </c:pt>
                <c:pt idx="32">
                  <c:v>0.28700157999992371</c:v>
                </c:pt>
                <c:pt idx="33">
                  <c:v>0.28896328806877136</c:v>
                </c:pt>
                <c:pt idx="34">
                  <c:v>0.29062771797180176</c:v>
                </c:pt>
                <c:pt idx="35">
                  <c:v>0.2919638454914093</c:v>
                </c:pt>
                <c:pt idx="36">
                  <c:v>0.29294592142105103</c:v>
                </c:pt>
                <c:pt idx="37">
                  <c:v>0.2935546338558197</c:v>
                </c:pt>
                <c:pt idx="38">
                  <c:v>0.29377812147140503</c:v>
                </c:pt>
                <c:pt idx="39">
                  <c:v>0.29360973834991455</c:v>
                </c:pt>
                <c:pt idx="40">
                  <c:v>0.293047696352005</c:v>
                </c:pt>
                <c:pt idx="41">
                  <c:v>0.29209604859352112</c:v>
                </c:pt>
                <c:pt idx="42">
                  <c:v>0.29076367616653442</c:v>
                </c:pt>
                <c:pt idx="43">
                  <c:v>0.28906148672103882</c:v>
                </c:pt>
                <c:pt idx="44">
                  <c:v>0.28700011968612671</c:v>
                </c:pt>
                <c:pt idx="45">
                  <c:v>0.28458899259567261</c:v>
                </c:pt>
                <c:pt idx="46">
                  <c:v>0.28183662891387939</c:v>
                </c:pt>
                <c:pt idx="47">
                  <c:v>0.2787511944770813</c:v>
                </c:pt>
                <c:pt idx="48">
                  <c:v>0.27533984184265137</c:v>
                </c:pt>
                <c:pt idx="49">
                  <c:v>0.27161097526550293</c:v>
                </c:pt>
                <c:pt idx="50">
                  <c:v>0.2675725519657135</c:v>
                </c:pt>
                <c:pt idx="51">
                  <c:v>0.26323214173316956</c:v>
                </c:pt>
                <c:pt idx="52">
                  <c:v>0.25859719514846802</c:v>
                </c:pt>
                <c:pt idx="53">
                  <c:v>0.25367471575737</c:v>
                </c:pt>
                <c:pt idx="54">
                  <c:v>0.24847137928009033</c:v>
                </c:pt>
                <c:pt idx="55">
                  <c:v>0.24299705028533936</c:v>
                </c:pt>
                <c:pt idx="56">
                  <c:v>0.23726800084114075</c:v>
                </c:pt>
                <c:pt idx="57">
                  <c:v>0.23130670189857483</c:v>
                </c:pt>
                <c:pt idx="58">
                  <c:v>0.22514110803604126</c:v>
                </c:pt>
                <c:pt idx="59">
                  <c:v>0.21880491077899933</c:v>
                </c:pt>
                <c:pt idx="60">
                  <c:v>0.21233782172203064</c:v>
                </c:pt>
                <c:pt idx="61">
                  <c:v>0.20578336715698242</c:v>
                </c:pt>
                <c:pt idx="62">
                  <c:v>0.19919051229953766</c:v>
                </c:pt>
                <c:pt idx="63">
                  <c:v>0.19261303544044495</c:v>
                </c:pt>
                <c:pt idx="64">
                  <c:v>0.1861075758934021</c:v>
                </c:pt>
                <c:pt idx="65">
                  <c:v>0.17973268032073975</c:v>
                </c:pt>
                <c:pt idx="66">
                  <c:v>0.17354854941368103</c:v>
                </c:pt>
                <c:pt idx="67">
                  <c:v>0.16761428117752075</c:v>
                </c:pt>
                <c:pt idx="68">
                  <c:v>0.16198433935642242</c:v>
                </c:pt>
                <c:pt idx="69">
                  <c:v>0.15670892596244812</c:v>
                </c:pt>
                <c:pt idx="70">
                  <c:v>0.15183499455451965</c:v>
                </c:pt>
                <c:pt idx="71">
                  <c:v>0.14740604162216187</c:v>
                </c:pt>
                <c:pt idx="72">
                  <c:v>0.14346085488796234</c:v>
                </c:pt>
                <c:pt idx="73">
                  <c:v>0.14003463089466095</c:v>
                </c:pt>
                <c:pt idx="74">
                  <c:v>0.13715831935405731</c:v>
                </c:pt>
                <c:pt idx="75">
                  <c:v>0.134857177734375</c:v>
                </c:pt>
                <c:pt idx="76">
                  <c:v>0.13315217196941376</c:v>
                </c:pt>
                <c:pt idx="77">
                  <c:v>0.13206061720848083</c:v>
                </c:pt>
                <c:pt idx="78">
                  <c:v>0.13159516453742981</c:v>
                </c:pt>
                <c:pt idx="79">
                  <c:v>0.13176429271697998</c:v>
                </c:pt>
                <c:pt idx="80">
                  <c:v>0.1325734406709671</c:v>
                </c:pt>
                <c:pt idx="81">
                  <c:v>0.13402430713176727</c:v>
                </c:pt>
                <c:pt idx="82">
                  <c:v>0.13611507415771484</c:v>
                </c:pt>
                <c:pt idx="83">
                  <c:v>0.13884006440639496</c:v>
                </c:pt>
                <c:pt idx="84">
                  <c:v>0.14218981564044952</c:v>
                </c:pt>
                <c:pt idx="85">
                  <c:v>0.14614985883235931</c:v>
                </c:pt>
                <c:pt idx="86">
                  <c:v>0.15070039033889771</c:v>
                </c:pt>
                <c:pt idx="87">
                  <c:v>0.15581803023815155</c:v>
                </c:pt>
                <c:pt idx="88">
                  <c:v>0.16147564351558685</c:v>
                </c:pt>
                <c:pt idx="89">
                  <c:v>0.16764247417449951</c:v>
                </c:pt>
                <c:pt idx="90">
                  <c:v>0.17428538203239441</c:v>
                </c:pt>
                <c:pt idx="91">
                  <c:v>0.18136826157569885</c:v>
                </c:pt>
                <c:pt idx="92">
                  <c:v>0.18885146081447601</c:v>
                </c:pt>
                <c:pt idx="93">
                  <c:v>0.19669277966022491</c:v>
                </c:pt>
                <c:pt idx="94">
                  <c:v>0.20484711229801178</c:v>
                </c:pt>
                <c:pt idx="95">
                  <c:v>0.21326775848865509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25-4607-BA02-3D27385991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0740384"/>
        <c:axId val="308694592"/>
      </c:lineChart>
      <c:dateAx>
        <c:axId val="67074038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08694592"/>
        <c:crosses val="autoZero"/>
        <c:auto val="1"/>
        <c:lblOffset val="100"/>
        <c:baseTimeUnit val="months"/>
      </c:dateAx>
      <c:valAx>
        <c:axId val="308694592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7074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sz="1800" b="1" i="0" baseline="0" dirty="0">
                <a:effectLst/>
              </a:rPr>
              <a:t>PIB  a precios de mercado (</a:t>
            </a:r>
            <a:r>
              <a:rPr lang="es-AR" sz="1800" b="1" i="0" baseline="0" dirty="0" err="1">
                <a:effectLst/>
              </a:rPr>
              <a:t>m$n</a:t>
            </a:r>
            <a:r>
              <a:rPr lang="es-AR" sz="1800" b="1" i="0" baseline="0" dirty="0">
                <a:effectLst/>
              </a:rPr>
              <a:t> constantes) y tendencia (entre 1930 y 2000)</a:t>
            </a:r>
            <a:endParaRPr lang="es-AR" dirty="0">
              <a:effectLst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v>Inicio Plan</c:v>
          </c:tx>
          <c:spPr>
            <a:solidFill>
              <a:schemeClr val="accent1">
                <a:lumMod val="40000"/>
                <a:lumOff val="60000"/>
              </a:schemeClr>
            </a:solidFill>
            <a:ln w="25400">
              <a:noFill/>
            </a:ln>
          </c:spPr>
          <c:invertIfNegative val="0"/>
          <c:val>
            <c:numRef>
              <c:f>PIB!$E$44:$E$47</c:f>
              <c:numCache>
                <c:formatCode>General</c:formatCode>
                <c:ptCount val="4"/>
                <c:pt idx="0">
                  <c:v>190000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8A-45C5-A0D1-BD897452EF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902111"/>
        <c:axId val="1"/>
      </c:barChart>
      <c:lineChart>
        <c:grouping val="standard"/>
        <c:varyColors val="0"/>
        <c:ser>
          <c:idx val="0"/>
          <c:order val="0"/>
          <c:tx>
            <c:strRef>
              <c:f>PIB!$B$1</c:f>
              <c:strCache>
                <c:ptCount val="1"/>
                <c:pt idx="0">
                  <c:v>PIBpm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PIB!$A$44:$A$47</c:f>
              <c:numCache>
                <c:formatCode>0</c:formatCode>
                <c:ptCount val="4"/>
                <c:pt idx="0">
                  <c:v>1972</c:v>
                </c:pt>
                <c:pt idx="1">
                  <c:v>1973</c:v>
                </c:pt>
                <c:pt idx="2">
                  <c:v>1974</c:v>
                </c:pt>
                <c:pt idx="3">
                  <c:v>1975</c:v>
                </c:pt>
              </c:numCache>
            </c:numRef>
          </c:cat>
          <c:val>
            <c:numRef>
              <c:f>PIB!$B$44:$B$47</c:f>
              <c:numCache>
                <c:formatCode>General</c:formatCode>
                <c:ptCount val="4"/>
                <c:pt idx="0">
                  <c:v>170379.33445085437</c:v>
                </c:pt>
                <c:pt idx="1">
                  <c:v>176760.97430606186</c:v>
                </c:pt>
                <c:pt idx="2">
                  <c:v>186316.01795022786</c:v>
                </c:pt>
                <c:pt idx="3">
                  <c:v>185210.55146568603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8A-45C5-A0D1-BD897452EF43}"/>
            </c:ext>
          </c:extLst>
        </c:ser>
        <c:ser>
          <c:idx val="1"/>
          <c:order val="1"/>
          <c:tx>
            <c:strRef>
              <c:f>PIB!$C$1</c:f>
              <c:strCache>
                <c:ptCount val="1"/>
                <c:pt idx="0">
                  <c:v>PIB_tent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PIB!$A$44:$A$47</c:f>
              <c:numCache>
                <c:formatCode>0</c:formatCode>
                <c:ptCount val="4"/>
                <c:pt idx="0">
                  <c:v>1972</c:v>
                </c:pt>
                <c:pt idx="1">
                  <c:v>1973</c:v>
                </c:pt>
                <c:pt idx="2">
                  <c:v>1974</c:v>
                </c:pt>
                <c:pt idx="3">
                  <c:v>1975</c:v>
                </c:pt>
              </c:numCache>
            </c:numRef>
          </c:cat>
          <c:val>
            <c:numRef>
              <c:f>PIB!$C$44:$C$47</c:f>
              <c:numCache>
                <c:formatCode>General</c:formatCode>
                <c:ptCount val="4"/>
                <c:pt idx="0">
                  <c:v>169932.453125</c:v>
                </c:pt>
                <c:pt idx="1">
                  <c:v>175214.625</c:v>
                </c:pt>
                <c:pt idx="2">
                  <c:v>179970.90625</c:v>
                </c:pt>
                <c:pt idx="3">
                  <c:v>184119.9375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E8A-45C5-A0D1-BD897452EF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4902111"/>
        <c:axId val="1"/>
      </c:lineChart>
      <c:catAx>
        <c:axId val="774902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902111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dirty="0"/>
              <a:t>Política Fiscal (todo como % PIB)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fiscal!$B$1</c:f>
              <c:strCache>
                <c:ptCount val="1"/>
                <c:pt idx="0">
                  <c:v>ingresos (%PIB)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 w="25400">
              <a:noFill/>
            </a:ln>
          </c:spPr>
          <c:invertIfNegative val="0"/>
          <c:cat>
            <c:numRef>
              <c:f>fiscal!$A$44:$A$47</c:f>
              <c:numCache>
                <c:formatCode>General</c:formatCode>
                <c:ptCount val="4"/>
                <c:pt idx="0">
                  <c:v>1972</c:v>
                </c:pt>
                <c:pt idx="1">
                  <c:v>1973</c:v>
                </c:pt>
                <c:pt idx="2">
                  <c:v>1974</c:v>
                </c:pt>
                <c:pt idx="3">
                  <c:v>1975</c:v>
                </c:pt>
              </c:numCache>
            </c:numRef>
          </c:cat>
          <c:val>
            <c:numRef>
              <c:f>fiscal!$B$44:$B$47</c:f>
              <c:numCache>
                <c:formatCode>_ * #.##000_ ;_ * \-#.##000_ ;_ * "-"_ ;_ @_ </c:formatCode>
                <c:ptCount val="4"/>
                <c:pt idx="0">
                  <c:v>11.054186932030936</c:v>
                </c:pt>
                <c:pt idx="1">
                  <c:v>11.099589202845452</c:v>
                </c:pt>
                <c:pt idx="2">
                  <c:v>12.952881981781072</c:v>
                </c:pt>
                <c:pt idx="3">
                  <c:v>9.6120088729031377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D1-4B3B-B840-13B3ABC4B893}"/>
            </c:ext>
          </c:extLst>
        </c:ser>
        <c:ser>
          <c:idx val="1"/>
          <c:order val="1"/>
          <c:tx>
            <c:strRef>
              <c:f>fiscal!$C$1</c:f>
              <c:strCache>
                <c:ptCount val="1"/>
                <c:pt idx="0">
                  <c:v>gastos (% PIB)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 w="25400">
              <a:noFill/>
            </a:ln>
          </c:spPr>
          <c:invertIfNegative val="0"/>
          <c:cat>
            <c:numRef>
              <c:f>fiscal!$A$44:$A$47</c:f>
              <c:numCache>
                <c:formatCode>General</c:formatCode>
                <c:ptCount val="4"/>
                <c:pt idx="0">
                  <c:v>1972</c:v>
                </c:pt>
                <c:pt idx="1">
                  <c:v>1973</c:v>
                </c:pt>
                <c:pt idx="2">
                  <c:v>1974</c:v>
                </c:pt>
                <c:pt idx="3">
                  <c:v>1975</c:v>
                </c:pt>
              </c:numCache>
            </c:numRef>
          </c:cat>
          <c:val>
            <c:numRef>
              <c:f>fiscal!$C$44:$C$47</c:f>
              <c:numCache>
                <c:formatCode>_ * #.##000_ ;_ * \-#.##000_ ;_ * "-"_ ;_ @_ </c:formatCode>
                <c:ptCount val="4"/>
                <c:pt idx="0">
                  <c:v>11.180042448419124</c:v>
                </c:pt>
                <c:pt idx="1">
                  <c:v>12.567449856486544</c:v>
                </c:pt>
                <c:pt idx="2">
                  <c:v>14.046071020567409</c:v>
                </c:pt>
                <c:pt idx="3">
                  <c:v>12.51677322660805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D1-4B3B-B840-13B3ABC4B8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4899711"/>
        <c:axId val="1"/>
      </c:barChart>
      <c:lineChart>
        <c:grouping val="standard"/>
        <c:varyColors val="0"/>
        <c:ser>
          <c:idx val="2"/>
          <c:order val="2"/>
          <c:tx>
            <c:strRef>
              <c:f>fiscal!$D$1</c:f>
              <c:strCache>
                <c:ptCount val="1"/>
                <c:pt idx="0">
                  <c:v>resultado primario (% PIB)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fiscal!$A$44:$A$47</c:f>
              <c:numCache>
                <c:formatCode>General</c:formatCode>
                <c:ptCount val="4"/>
                <c:pt idx="0">
                  <c:v>1972</c:v>
                </c:pt>
                <c:pt idx="1">
                  <c:v>1973</c:v>
                </c:pt>
                <c:pt idx="2">
                  <c:v>1974</c:v>
                </c:pt>
                <c:pt idx="3">
                  <c:v>1975</c:v>
                </c:pt>
              </c:numCache>
            </c:numRef>
          </c:cat>
          <c:val>
            <c:numRef>
              <c:f>fiscal!$D$44:$D$47</c:f>
              <c:numCache>
                <c:formatCode>_ * #.##000_ ;_ * \-#.##000_ ;_ * "-"_ ;_ @_ </c:formatCode>
                <c:ptCount val="4"/>
                <c:pt idx="0">
                  <c:v>0.29975369529183132</c:v>
                </c:pt>
                <c:pt idx="1">
                  <c:v>-1.0628240947530294</c:v>
                </c:pt>
                <c:pt idx="2">
                  <c:v>-0.4795942184750725</c:v>
                </c:pt>
                <c:pt idx="3">
                  <c:v>-2.3829630966896636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5D1-4B3B-B840-13B3ABC4B8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4899711"/>
        <c:axId val="1"/>
      </c:lineChart>
      <c:catAx>
        <c:axId val="774899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99711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dirty="0"/>
              <a:t>Base Monetaria en términos reales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4472C4"/>
            </a:solidFill>
            <a:ln w="25400">
              <a:noFill/>
            </a:ln>
          </c:spPr>
          <c:invertIfNegative val="0"/>
          <c:cat>
            <c:numRef>
              <c:f>monet!$A$44:$A$47</c:f>
              <c:numCache>
                <c:formatCode>General</c:formatCode>
                <c:ptCount val="4"/>
                <c:pt idx="0">
                  <c:v>1972</c:v>
                </c:pt>
                <c:pt idx="1">
                  <c:v>1973</c:v>
                </c:pt>
                <c:pt idx="2">
                  <c:v>1974</c:v>
                </c:pt>
                <c:pt idx="3">
                  <c:v>1975</c:v>
                </c:pt>
              </c:numCache>
            </c:numRef>
          </c:cat>
          <c:val>
            <c:numRef>
              <c:f>monet!$F$44:$F$47</c:f>
              <c:numCache>
                <c:formatCode>0%</c:formatCode>
                <c:ptCount val="4"/>
                <c:pt idx="0">
                  <c:v>-9.7242288481005357E-2</c:v>
                </c:pt>
                <c:pt idx="1">
                  <c:v>0.51633762803840444</c:v>
                </c:pt>
                <c:pt idx="2">
                  <c:v>0.28085454793505216</c:v>
                </c:pt>
                <c:pt idx="3">
                  <c:v>0.15439569297443012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59-4F5B-9739-503BF6C649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4889711"/>
        <c:axId val="1"/>
      </c:barChart>
      <c:catAx>
        <c:axId val="774889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897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salario!$B$1</c:f>
              <c:strCache>
                <c:ptCount val="1"/>
                <c:pt idx="0">
                  <c:v>salario real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salario!$A$44:$A$47</c:f>
              <c:numCache>
                <c:formatCode>General</c:formatCode>
                <c:ptCount val="4"/>
                <c:pt idx="0">
                  <c:v>1972</c:v>
                </c:pt>
                <c:pt idx="1">
                  <c:v>1973</c:v>
                </c:pt>
                <c:pt idx="2">
                  <c:v>1974</c:v>
                </c:pt>
                <c:pt idx="3">
                  <c:v>1975</c:v>
                </c:pt>
              </c:numCache>
            </c:numRef>
          </c:cat>
          <c:val>
            <c:numRef>
              <c:f>salario!$B$44:$B$47</c:f>
              <c:numCache>
                <c:formatCode>_ * #.##000_ ;_ * \-#.##000_ ;_ * "-"_ ;_ @_ </c:formatCode>
                <c:ptCount val="4"/>
                <c:pt idx="0">
                  <c:v>1771.2352675346501</c:v>
                </c:pt>
                <c:pt idx="1">
                  <c:v>1909.0192175336572</c:v>
                </c:pt>
                <c:pt idx="2">
                  <c:v>2112.4254657647648</c:v>
                </c:pt>
                <c:pt idx="3">
                  <c:v>2029.8999542826884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19-4E33-8F1E-A575C9BE32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4890511"/>
        <c:axId val="1"/>
      </c:lineChart>
      <c:catAx>
        <c:axId val="774890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905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AR"/>
              <a:t>TIPO DE CAMBIO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'tipo de cambio mensual'!$A$350:$B$397</c:f>
              <c:multiLvlStrCache>
                <c:ptCount val="48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</c:lvl>
                <c:lvl>
                  <c:pt idx="0">
                    <c:v>1972 </c:v>
                  </c:pt>
                  <c:pt idx="12">
                    <c:v>1973 </c:v>
                  </c:pt>
                  <c:pt idx="24">
                    <c:v>1974 </c:v>
                  </c:pt>
                  <c:pt idx="36">
                    <c:v>1975 </c:v>
                  </c:pt>
                </c:lvl>
              </c:multiLvlStrCache>
            </c:multiLvlStrRef>
          </c:cat>
          <c:val>
            <c:numRef>
              <c:f>'tipo de cambio mensual'!$C$350:$C$397</c:f>
              <c:numCache>
                <c:formatCode>_ * #.##00000_ ;_ * \-#.##00000_ ;_ * "-"????_ ;_ @_ </c:formatCode>
                <c:ptCount val="48"/>
                <c:pt idx="0">
                  <c:v>960</c:v>
                </c:pt>
                <c:pt idx="1">
                  <c:v>968</c:v>
                </c:pt>
                <c:pt idx="2">
                  <c:v>975</c:v>
                </c:pt>
                <c:pt idx="3">
                  <c:v>986.99999999999989</c:v>
                </c:pt>
                <c:pt idx="4">
                  <c:v>990</c:v>
                </c:pt>
                <c:pt idx="5">
                  <c:v>994.99999999999989</c:v>
                </c:pt>
                <c:pt idx="6">
                  <c:v>994.99999999999989</c:v>
                </c:pt>
                <c:pt idx="7">
                  <c:v>998</c:v>
                </c:pt>
                <c:pt idx="8">
                  <c:v>998</c:v>
                </c:pt>
                <c:pt idx="9">
                  <c:v>998</c:v>
                </c:pt>
                <c:pt idx="10">
                  <c:v>998</c:v>
                </c:pt>
                <c:pt idx="11">
                  <c:v>998</c:v>
                </c:pt>
                <c:pt idx="12">
                  <c:v>998</c:v>
                </c:pt>
                <c:pt idx="13">
                  <c:v>998</c:v>
                </c:pt>
                <c:pt idx="14">
                  <c:v>998</c:v>
                </c:pt>
                <c:pt idx="15">
                  <c:v>998</c:v>
                </c:pt>
                <c:pt idx="16">
                  <c:v>998</c:v>
                </c:pt>
                <c:pt idx="17">
                  <c:v>998</c:v>
                </c:pt>
                <c:pt idx="18">
                  <c:v>998</c:v>
                </c:pt>
                <c:pt idx="19">
                  <c:v>998</c:v>
                </c:pt>
                <c:pt idx="20">
                  <c:v>998</c:v>
                </c:pt>
                <c:pt idx="21">
                  <c:v>998</c:v>
                </c:pt>
                <c:pt idx="22">
                  <c:v>998</c:v>
                </c:pt>
                <c:pt idx="23">
                  <c:v>998</c:v>
                </c:pt>
                <c:pt idx="24">
                  <c:v>998</c:v>
                </c:pt>
                <c:pt idx="25">
                  <c:v>998</c:v>
                </c:pt>
                <c:pt idx="26">
                  <c:v>998</c:v>
                </c:pt>
                <c:pt idx="27">
                  <c:v>998</c:v>
                </c:pt>
                <c:pt idx="28">
                  <c:v>998</c:v>
                </c:pt>
                <c:pt idx="29">
                  <c:v>998</c:v>
                </c:pt>
                <c:pt idx="30">
                  <c:v>998</c:v>
                </c:pt>
                <c:pt idx="31">
                  <c:v>998</c:v>
                </c:pt>
                <c:pt idx="32">
                  <c:v>998</c:v>
                </c:pt>
                <c:pt idx="33">
                  <c:v>998</c:v>
                </c:pt>
                <c:pt idx="34">
                  <c:v>998</c:v>
                </c:pt>
                <c:pt idx="35">
                  <c:v>998</c:v>
                </c:pt>
                <c:pt idx="36">
                  <c:v>998</c:v>
                </c:pt>
                <c:pt idx="37">
                  <c:v>998</c:v>
                </c:pt>
                <c:pt idx="38">
                  <c:v>1510</c:v>
                </c:pt>
                <c:pt idx="39">
                  <c:v>1510</c:v>
                </c:pt>
                <c:pt idx="40">
                  <c:v>1510</c:v>
                </c:pt>
                <c:pt idx="41">
                  <c:v>3009</c:v>
                </c:pt>
                <c:pt idx="42">
                  <c:v>3550</c:v>
                </c:pt>
                <c:pt idx="43">
                  <c:v>6318</c:v>
                </c:pt>
                <c:pt idx="44">
                  <c:v>6669</c:v>
                </c:pt>
                <c:pt idx="45">
                  <c:v>6898.9999999999991</c:v>
                </c:pt>
                <c:pt idx="46">
                  <c:v>7530</c:v>
                </c:pt>
                <c:pt idx="47">
                  <c:v>8662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9B-4D8F-A191-36EEC44CF7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886911"/>
        <c:axId val="1"/>
      </c:barChart>
      <c:catAx>
        <c:axId val="774886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869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AR"/>
              <a:t>TIPO DE CAMBIO/IPC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'tipo de cambio mensual'!$A$350:$B$397</c:f>
              <c:multiLvlStrCache>
                <c:ptCount val="48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</c:lvl>
                <c:lvl>
                  <c:pt idx="0">
                    <c:v>1972 </c:v>
                  </c:pt>
                  <c:pt idx="12">
                    <c:v>1973 </c:v>
                  </c:pt>
                  <c:pt idx="24">
                    <c:v>1974 </c:v>
                  </c:pt>
                  <c:pt idx="36">
                    <c:v>1975 </c:v>
                  </c:pt>
                </c:lvl>
              </c:multiLvlStrCache>
            </c:multiLvlStrRef>
          </c:cat>
          <c:val>
            <c:numRef>
              <c:f>'tipo de cambio mensual'!$F$350:$F$397</c:f>
              <c:numCache>
                <c:formatCode>#,#00</c:formatCode>
                <c:ptCount val="48"/>
                <c:pt idx="0">
                  <c:v>2.3965696336608349</c:v>
                </c:pt>
                <c:pt idx="1">
                  <c:v>2.3322652253099112</c:v>
                </c:pt>
                <c:pt idx="2">
                  <c:v>2.253793754579787</c:v>
                </c:pt>
                <c:pt idx="3">
                  <c:v>2.1754400468660982</c:v>
                </c:pt>
                <c:pt idx="4">
                  <c:v>2.1475415229672263</c:v>
                </c:pt>
                <c:pt idx="5">
                  <c:v>2.0459047060357185</c:v>
                </c:pt>
                <c:pt idx="6">
                  <c:v>1.9491722237083458</c:v>
                </c:pt>
                <c:pt idx="7">
                  <c:v>1.9575177157069066</c:v>
                </c:pt>
                <c:pt idx="8">
                  <c:v>1.9107095358586754</c:v>
                </c:pt>
                <c:pt idx="9">
                  <c:v>1.8224954535334195</c:v>
                </c:pt>
                <c:pt idx="10">
                  <c:v>1.7377771720208224</c:v>
                </c:pt>
                <c:pt idx="11">
                  <c:v>1.5968950120173551</c:v>
                </c:pt>
                <c:pt idx="12">
                  <c:v>1.5263358643117131</c:v>
                </c:pt>
                <c:pt idx="13">
                  <c:v>1.4189553453799111</c:v>
                </c:pt>
                <c:pt idx="14">
                  <c:v>1.3067034168332197</c:v>
                </c:pt>
                <c:pt idx="15">
                  <c:v>1.250826097320954</c:v>
                </c:pt>
                <c:pt idx="16">
                  <c:v>1.2089853306944731</c:v>
                </c:pt>
                <c:pt idx="17">
                  <c:v>1.2455501168622487</c:v>
                </c:pt>
                <c:pt idx="18">
                  <c:v>1.245656261793745</c:v>
                </c:pt>
                <c:pt idx="19">
                  <c:v>1.2357645488746778</c:v>
                </c:pt>
                <c:pt idx="20">
                  <c:v>1.2293430452595788</c:v>
                </c:pt>
                <c:pt idx="21">
                  <c:v>1.2105730612920975</c:v>
                </c:pt>
                <c:pt idx="22">
                  <c:v>1.201031199746458</c:v>
                </c:pt>
                <c:pt idx="23">
                  <c:v>1.1107553546033848</c:v>
                </c:pt>
                <c:pt idx="24">
                  <c:v>1.1781507930567947</c:v>
                </c:pt>
                <c:pt idx="25">
                  <c:v>1.1599924155679253</c:v>
                </c:pt>
                <c:pt idx="26">
                  <c:v>1.1463657813804191</c:v>
                </c:pt>
                <c:pt idx="27">
                  <c:v>1.1147306144015863</c:v>
                </c:pt>
                <c:pt idx="28">
                  <c:v>1.07881838598119</c:v>
                </c:pt>
                <c:pt idx="29">
                  <c:v>1.0390134903912063</c:v>
                </c:pt>
                <c:pt idx="30">
                  <c:v>1.0156986539339672</c:v>
                </c:pt>
                <c:pt idx="31">
                  <c:v>0.99717327342984818</c:v>
                </c:pt>
                <c:pt idx="32">
                  <c:v>0.96526873331383678</c:v>
                </c:pt>
                <c:pt idx="33">
                  <c:v>0.93010918296851131</c:v>
                </c:pt>
                <c:pt idx="34">
                  <c:v>0.89316332703378631</c:v>
                </c:pt>
                <c:pt idx="35">
                  <c:v>0.79282064971040045</c:v>
                </c:pt>
                <c:pt idx="36">
                  <c:v>0.77053581594999632</c:v>
                </c:pt>
                <c:pt idx="37">
                  <c:v>0.73653506334581054</c:v>
                </c:pt>
                <c:pt idx="38">
                  <c:v>1.0308086360155808</c:v>
                </c:pt>
                <c:pt idx="39">
                  <c:v>0.93967827010622162</c:v>
                </c:pt>
                <c:pt idx="40">
                  <c:v>0.90448700046739883</c:v>
                </c:pt>
                <c:pt idx="41">
                  <c:v>1.4878401721768069</c:v>
                </c:pt>
                <c:pt idx="42">
                  <c:v>1.3028421212772052</c:v>
                </c:pt>
                <c:pt idx="43">
                  <c:v>1.8932302303150756</c:v>
                </c:pt>
                <c:pt idx="44">
                  <c:v>1.8035052437914616</c:v>
                </c:pt>
                <c:pt idx="45">
                  <c:v>1.6395459667137988</c:v>
                </c:pt>
                <c:pt idx="46">
                  <c:v>1.6424510621549462</c:v>
                </c:pt>
                <c:pt idx="47">
                  <c:v>1.5820205201745789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C6-4C64-A30F-2BEA172841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890111"/>
        <c:axId val="1"/>
      </c:barChart>
      <c:catAx>
        <c:axId val="774890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901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b="1"/>
              <a:t>Inflación anual y tendencia. 1971-1975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1943-1995'!$A$338:$A$397</c:f>
              <c:numCache>
                <c:formatCode>mmm\-yy</c:formatCode>
                <c:ptCount val="60"/>
                <c:pt idx="0">
                  <c:v>25934</c:v>
                </c:pt>
                <c:pt idx="1">
                  <c:v>25965</c:v>
                </c:pt>
                <c:pt idx="2">
                  <c:v>25993</c:v>
                </c:pt>
                <c:pt idx="3">
                  <c:v>26024</c:v>
                </c:pt>
                <c:pt idx="4">
                  <c:v>26054</c:v>
                </c:pt>
                <c:pt idx="5">
                  <c:v>26085</c:v>
                </c:pt>
                <c:pt idx="6">
                  <c:v>26115</c:v>
                </c:pt>
                <c:pt idx="7">
                  <c:v>26146</c:v>
                </c:pt>
                <c:pt idx="8">
                  <c:v>26177</c:v>
                </c:pt>
                <c:pt idx="9">
                  <c:v>26207</c:v>
                </c:pt>
                <c:pt idx="10">
                  <c:v>26238</c:v>
                </c:pt>
                <c:pt idx="11">
                  <c:v>26268</c:v>
                </c:pt>
                <c:pt idx="12">
                  <c:v>26299</c:v>
                </c:pt>
                <c:pt idx="13">
                  <c:v>26330</c:v>
                </c:pt>
                <c:pt idx="14">
                  <c:v>26359</c:v>
                </c:pt>
                <c:pt idx="15">
                  <c:v>26390</c:v>
                </c:pt>
                <c:pt idx="16">
                  <c:v>26420</c:v>
                </c:pt>
                <c:pt idx="17">
                  <c:v>26451</c:v>
                </c:pt>
                <c:pt idx="18">
                  <c:v>26481</c:v>
                </c:pt>
                <c:pt idx="19">
                  <c:v>26512</c:v>
                </c:pt>
                <c:pt idx="20">
                  <c:v>26543</c:v>
                </c:pt>
                <c:pt idx="21">
                  <c:v>26573</c:v>
                </c:pt>
                <c:pt idx="22">
                  <c:v>26604</c:v>
                </c:pt>
                <c:pt idx="23">
                  <c:v>26634</c:v>
                </c:pt>
                <c:pt idx="24">
                  <c:v>26665</c:v>
                </c:pt>
                <c:pt idx="25">
                  <c:v>26696</c:v>
                </c:pt>
                <c:pt idx="26">
                  <c:v>26724</c:v>
                </c:pt>
                <c:pt idx="27">
                  <c:v>26755</c:v>
                </c:pt>
                <c:pt idx="28">
                  <c:v>26785</c:v>
                </c:pt>
                <c:pt idx="29">
                  <c:v>26816</c:v>
                </c:pt>
                <c:pt idx="30">
                  <c:v>26846</c:v>
                </c:pt>
                <c:pt idx="31">
                  <c:v>26877</c:v>
                </c:pt>
                <c:pt idx="32">
                  <c:v>26908</c:v>
                </c:pt>
                <c:pt idx="33">
                  <c:v>26938</c:v>
                </c:pt>
                <c:pt idx="34">
                  <c:v>26969</c:v>
                </c:pt>
                <c:pt idx="35">
                  <c:v>26999</c:v>
                </c:pt>
                <c:pt idx="36">
                  <c:v>27030</c:v>
                </c:pt>
                <c:pt idx="37">
                  <c:v>27061</c:v>
                </c:pt>
                <c:pt idx="38">
                  <c:v>27089</c:v>
                </c:pt>
                <c:pt idx="39">
                  <c:v>27120</c:v>
                </c:pt>
                <c:pt idx="40">
                  <c:v>27150</c:v>
                </c:pt>
                <c:pt idx="41">
                  <c:v>27181</c:v>
                </c:pt>
                <c:pt idx="42">
                  <c:v>27211</c:v>
                </c:pt>
                <c:pt idx="43">
                  <c:v>27242</c:v>
                </c:pt>
                <c:pt idx="44">
                  <c:v>27273</c:v>
                </c:pt>
                <c:pt idx="45">
                  <c:v>27303</c:v>
                </c:pt>
                <c:pt idx="46">
                  <c:v>27334</c:v>
                </c:pt>
                <c:pt idx="47">
                  <c:v>27364</c:v>
                </c:pt>
                <c:pt idx="48">
                  <c:v>27395</c:v>
                </c:pt>
                <c:pt idx="49">
                  <c:v>27426</c:v>
                </c:pt>
                <c:pt idx="50">
                  <c:v>27454</c:v>
                </c:pt>
                <c:pt idx="51">
                  <c:v>27485</c:v>
                </c:pt>
                <c:pt idx="52">
                  <c:v>27515</c:v>
                </c:pt>
                <c:pt idx="53">
                  <c:v>27546</c:v>
                </c:pt>
                <c:pt idx="54">
                  <c:v>27576</c:v>
                </c:pt>
                <c:pt idx="55">
                  <c:v>27607</c:v>
                </c:pt>
                <c:pt idx="56">
                  <c:v>27638</c:v>
                </c:pt>
                <c:pt idx="57">
                  <c:v>27668</c:v>
                </c:pt>
                <c:pt idx="58">
                  <c:v>27699</c:v>
                </c:pt>
                <c:pt idx="59">
                  <c:v>27729</c:v>
                </c:pt>
              </c:numCache>
            </c:numRef>
          </c:cat>
          <c:val>
            <c:numRef>
              <c:f>'indice 1943-1995'!$F$338:$F$397</c:f>
              <c:numCache>
                <c:formatCode>0.0%</c:formatCode>
                <c:ptCount val="60"/>
                <c:pt idx="0">
                  <c:v>0.27404371584699461</c:v>
                </c:pt>
                <c:pt idx="1">
                  <c:v>0.2989778726272041</c:v>
                </c:pt>
                <c:pt idx="2">
                  <c:v>0.29591927256597916</c:v>
                </c:pt>
                <c:pt idx="3">
                  <c:v>0.29762743199225294</c:v>
                </c:pt>
                <c:pt idx="4">
                  <c:v>0.31940924582714336</c:v>
                </c:pt>
                <c:pt idx="5">
                  <c:v>0.35064090051402164</c:v>
                </c:pt>
                <c:pt idx="6">
                  <c:v>0.39163131507905913</c:v>
                </c:pt>
                <c:pt idx="7">
                  <c:v>0.41215228490921807</c:v>
                </c:pt>
                <c:pt idx="8">
                  <c:v>0.39644540414841267</c:v>
                </c:pt>
                <c:pt idx="9">
                  <c:v>0.35699878177860334</c:v>
                </c:pt>
                <c:pt idx="10">
                  <c:v>0.35853758249459755</c:v>
                </c:pt>
                <c:pt idx="11">
                  <c:v>0.39121447028423795</c:v>
                </c:pt>
                <c:pt idx="12">
                  <c:v>0.46788548144971065</c:v>
                </c:pt>
                <c:pt idx="13">
                  <c:v>0.47179371887105703</c:v>
                </c:pt>
                <c:pt idx="14">
                  <c:v>0.51806342306573328</c:v>
                </c:pt>
                <c:pt idx="15">
                  <c:v>0.57789311216268913</c:v>
                </c:pt>
                <c:pt idx="16">
                  <c:v>0.56520731222678489</c:v>
                </c:pt>
                <c:pt idx="17">
                  <c:v>0.60135851238076898</c:v>
                </c:pt>
                <c:pt idx="18">
                  <c:v>0.61150370267732068</c:v>
                </c:pt>
                <c:pt idx="19">
                  <c:v>0.56837446553146775</c:v>
                </c:pt>
                <c:pt idx="20">
                  <c:v>0.59241417250249051</c:v>
                </c:pt>
                <c:pt idx="21">
                  <c:v>0.65248936702526872</c:v>
                </c:pt>
                <c:pt idx="22">
                  <c:v>0.68747850510145581</c:v>
                </c:pt>
                <c:pt idx="23">
                  <c:v>0.64149203258697529</c:v>
                </c:pt>
                <c:pt idx="24">
                  <c:v>0.6322972594567613</c:v>
                </c:pt>
                <c:pt idx="25">
                  <c:v>0.6945890370718526</c:v>
                </c:pt>
                <c:pt idx="26">
                  <c:v>0.7654810890028747</c:v>
                </c:pt>
                <c:pt idx="27">
                  <c:v>0.75858584772817661</c:v>
                </c:pt>
                <c:pt idx="28">
                  <c:v>0.79067134968156916</c:v>
                </c:pt>
                <c:pt idx="29">
                  <c:v>0.64752364048414113</c:v>
                </c:pt>
                <c:pt idx="30">
                  <c:v>0.56949327422806451</c:v>
                </c:pt>
                <c:pt idx="31">
                  <c:v>0.58405395064090304</c:v>
                </c:pt>
                <c:pt idx="32">
                  <c:v>0.5542525279876005</c:v>
                </c:pt>
                <c:pt idx="33">
                  <c:v>0.5054815870329965</c:v>
                </c:pt>
                <c:pt idx="34">
                  <c:v>0.4469042705865367</c:v>
                </c:pt>
                <c:pt idx="35">
                  <c:v>0.43766582389112596</c:v>
                </c:pt>
                <c:pt idx="36">
                  <c:v>0.2955352347992124</c:v>
                </c:pt>
                <c:pt idx="37">
                  <c:v>0.2232453646562842</c:v>
                </c:pt>
                <c:pt idx="38">
                  <c:v>0.13986603408532194</c:v>
                </c:pt>
                <c:pt idx="39">
                  <c:v>0.12208822576603118</c:v>
                </c:pt>
                <c:pt idx="40">
                  <c:v>0.12065695802439969</c:v>
                </c:pt>
                <c:pt idx="41">
                  <c:v>0.19878146759507231</c:v>
                </c:pt>
                <c:pt idx="42">
                  <c:v>0.22640337955466827</c:v>
                </c:pt>
                <c:pt idx="43">
                  <c:v>0.23926761958248033</c:v>
                </c:pt>
                <c:pt idx="44">
                  <c:v>0.27357595126815726</c:v>
                </c:pt>
                <c:pt idx="45">
                  <c:v>0.30153866176061728</c:v>
                </c:pt>
                <c:pt idx="46">
                  <c:v>0.34469381287194967</c:v>
                </c:pt>
                <c:pt idx="47">
                  <c:v>0.40101718466732517</c:v>
                </c:pt>
                <c:pt idx="48">
                  <c:v>0.52900198624024863</c:v>
                </c:pt>
                <c:pt idx="49">
                  <c:v>0.57493169476345396</c:v>
                </c:pt>
                <c:pt idx="50">
                  <c:v>0.68264140585174005</c:v>
                </c:pt>
                <c:pt idx="51">
                  <c:v>0.79488715906676766</c:v>
                </c:pt>
                <c:pt idx="52">
                  <c:v>0.80464763190080535</c:v>
                </c:pt>
                <c:pt idx="53">
                  <c:v>1.1055063339341475</c:v>
                </c:pt>
                <c:pt idx="54">
                  <c:v>1.7731342690940854</c:v>
                </c:pt>
                <c:pt idx="55">
                  <c:v>2.3343891160175225</c:v>
                </c:pt>
                <c:pt idx="56">
                  <c:v>2.5765228629918586</c:v>
                </c:pt>
                <c:pt idx="57">
                  <c:v>2.9216238818994986</c:v>
                </c:pt>
                <c:pt idx="58">
                  <c:v>3.1030128711531662</c:v>
                </c:pt>
                <c:pt idx="59">
                  <c:v>3.3496116072293356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B6-443B-AC24-3C5184B60C63}"/>
            </c:ext>
          </c:extLst>
        </c:ser>
        <c:ser>
          <c:idx val="1"/>
          <c:order val="1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1943-1995'!$A$338:$A$397</c:f>
              <c:numCache>
                <c:formatCode>mmm\-yy</c:formatCode>
                <c:ptCount val="60"/>
                <c:pt idx="0">
                  <c:v>25934</c:v>
                </c:pt>
                <c:pt idx="1">
                  <c:v>25965</c:v>
                </c:pt>
                <c:pt idx="2">
                  <c:v>25993</c:v>
                </c:pt>
                <c:pt idx="3">
                  <c:v>26024</c:v>
                </c:pt>
                <c:pt idx="4">
                  <c:v>26054</c:v>
                </c:pt>
                <c:pt idx="5">
                  <c:v>26085</c:v>
                </c:pt>
                <c:pt idx="6">
                  <c:v>26115</c:v>
                </c:pt>
                <c:pt idx="7">
                  <c:v>26146</c:v>
                </c:pt>
                <c:pt idx="8">
                  <c:v>26177</c:v>
                </c:pt>
                <c:pt idx="9">
                  <c:v>26207</c:v>
                </c:pt>
                <c:pt idx="10">
                  <c:v>26238</c:v>
                </c:pt>
                <c:pt idx="11">
                  <c:v>26268</c:v>
                </c:pt>
                <c:pt idx="12">
                  <c:v>26299</c:v>
                </c:pt>
                <c:pt idx="13">
                  <c:v>26330</c:v>
                </c:pt>
                <c:pt idx="14">
                  <c:v>26359</c:v>
                </c:pt>
                <c:pt idx="15">
                  <c:v>26390</c:v>
                </c:pt>
                <c:pt idx="16">
                  <c:v>26420</c:v>
                </c:pt>
                <c:pt idx="17">
                  <c:v>26451</c:v>
                </c:pt>
                <c:pt idx="18">
                  <c:v>26481</c:v>
                </c:pt>
                <c:pt idx="19">
                  <c:v>26512</c:v>
                </c:pt>
                <c:pt idx="20">
                  <c:v>26543</c:v>
                </c:pt>
                <c:pt idx="21">
                  <c:v>26573</c:v>
                </c:pt>
                <c:pt idx="22">
                  <c:v>26604</c:v>
                </c:pt>
                <c:pt idx="23">
                  <c:v>26634</c:v>
                </c:pt>
                <c:pt idx="24">
                  <c:v>26665</c:v>
                </c:pt>
                <c:pt idx="25">
                  <c:v>26696</c:v>
                </c:pt>
                <c:pt idx="26">
                  <c:v>26724</c:v>
                </c:pt>
                <c:pt idx="27">
                  <c:v>26755</c:v>
                </c:pt>
                <c:pt idx="28">
                  <c:v>26785</c:v>
                </c:pt>
                <c:pt idx="29">
                  <c:v>26816</c:v>
                </c:pt>
                <c:pt idx="30">
                  <c:v>26846</c:v>
                </c:pt>
                <c:pt idx="31">
                  <c:v>26877</c:v>
                </c:pt>
                <c:pt idx="32">
                  <c:v>26908</c:v>
                </c:pt>
                <c:pt idx="33">
                  <c:v>26938</c:v>
                </c:pt>
                <c:pt idx="34">
                  <c:v>26969</c:v>
                </c:pt>
                <c:pt idx="35">
                  <c:v>26999</c:v>
                </c:pt>
                <c:pt idx="36">
                  <c:v>27030</c:v>
                </c:pt>
                <c:pt idx="37">
                  <c:v>27061</c:v>
                </c:pt>
                <c:pt idx="38">
                  <c:v>27089</c:v>
                </c:pt>
                <c:pt idx="39">
                  <c:v>27120</c:v>
                </c:pt>
                <c:pt idx="40">
                  <c:v>27150</c:v>
                </c:pt>
                <c:pt idx="41">
                  <c:v>27181</c:v>
                </c:pt>
                <c:pt idx="42">
                  <c:v>27211</c:v>
                </c:pt>
                <c:pt idx="43">
                  <c:v>27242</c:v>
                </c:pt>
                <c:pt idx="44">
                  <c:v>27273</c:v>
                </c:pt>
                <c:pt idx="45">
                  <c:v>27303</c:v>
                </c:pt>
                <c:pt idx="46">
                  <c:v>27334</c:v>
                </c:pt>
                <c:pt idx="47">
                  <c:v>27364</c:v>
                </c:pt>
                <c:pt idx="48">
                  <c:v>27395</c:v>
                </c:pt>
                <c:pt idx="49">
                  <c:v>27426</c:v>
                </c:pt>
                <c:pt idx="50">
                  <c:v>27454</c:v>
                </c:pt>
                <c:pt idx="51">
                  <c:v>27485</c:v>
                </c:pt>
                <c:pt idx="52">
                  <c:v>27515</c:v>
                </c:pt>
                <c:pt idx="53">
                  <c:v>27546</c:v>
                </c:pt>
                <c:pt idx="54">
                  <c:v>27576</c:v>
                </c:pt>
                <c:pt idx="55">
                  <c:v>27607</c:v>
                </c:pt>
                <c:pt idx="56">
                  <c:v>27638</c:v>
                </c:pt>
                <c:pt idx="57">
                  <c:v>27668</c:v>
                </c:pt>
                <c:pt idx="58">
                  <c:v>27699</c:v>
                </c:pt>
                <c:pt idx="59">
                  <c:v>27729</c:v>
                </c:pt>
              </c:numCache>
            </c:numRef>
          </c:cat>
          <c:val>
            <c:numRef>
              <c:f>'indice 1943-1995'!$H$338:$H$397</c:f>
              <c:numCache>
                <c:formatCode>0.0%</c:formatCode>
                <c:ptCount val="60"/>
                <c:pt idx="0">
                  <c:v>0.22190743684768677</c:v>
                </c:pt>
                <c:pt idx="1">
                  <c:v>0.2307191789150238</c:v>
                </c:pt>
                <c:pt idx="2">
                  <c:v>0.23965957760810852</c:v>
                </c:pt>
                <c:pt idx="3">
                  <c:v>0.24869002401828766</c:v>
                </c:pt>
                <c:pt idx="4">
                  <c:v>0.25777578353881836</c:v>
                </c:pt>
                <c:pt idx="5">
                  <c:v>0.26688551902770996</c:v>
                </c:pt>
                <c:pt idx="6">
                  <c:v>0.27599218487739563</c:v>
                </c:pt>
                <c:pt idx="7">
                  <c:v>0.28507459163665771</c:v>
                </c:pt>
                <c:pt idx="8">
                  <c:v>0.29411947727203369</c:v>
                </c:pt>
                <c:pt idx="9">
                  <c:v>0.30312249064445496</c:v>
                </c:pt>
                <c:pt idx="10">
                  <c:v>0.31208634376525879</c:v>
                </c:pt>
                <c:pt idx="11">
                  <c:v>0.3210175633430481</c:v>
                </c:pt>
                <c:pt idx="12">
                  <c:v>0.3299257755279541</c:v>
                </c:pt>
                <c:pt idx="13">
                  <c:v>0.33882561326026917</c:v>
                </c:pt>
                <c:pt idx="14">
                  <c:v>0.34774118661880493</c:v>
                </c:pt>
                <c:pt idx="15">
                  <c:v>0.35670587420463562</c:v>
                </c:pt>
                <c:pt idx="16">
                  <c:v>0.36576494574546814</c:v>
                </c:pt>
                <c:pt idx="17">
                  <c:v>0.3749789297580719</c:v>
                </c:pt>
                <c:pt idx="18">
                  <c:v>0.38442224264144897</c:v>
                </c:pt>
                <c:pt idx="19">
                  <c:v>0.39418506622314453</c:v>
                </c:pt>
                <c:pt idx="20">
                  <c:v>0.40437331795692444</c:v>
                </c:pt>
                <c:pt idx="21">
                  <c:v>0.41510495543479919</c:v>
                </c:pt>
                <c:pt idx="22">
                  <c:v>0.42651110887527466</c:v>
                </c:pt>
                <c:pt idx="23">
                  <c:v>0.43873929977416992</c:v>
                </c:pt>
                <c:pt idx="24">
                  <c:v>0.45195519924163818</c:v>
                </c:pt>
                <c:pt idx="25">
                  <c:v>0.46633860468864441</c:v>
                </c:pt>
                <c:pt idx="26">
                  <c:v>0.48208174109458923</c:v>
                </c:pt>
                <c:pt idx="27">
                  <c:v>0.49939277768135071</c:v>
                </c:pt>
                <c:pt idx="28">
                  <c:v>0.51849955320358276</c:v>
                </c:pt>
                <c:pt idx="29">
                  <c:v>0.53964781761169434</c:v>
                </c:pt>
                <c:pt idx="30">
                  <c:v>0.56310230493545532</c:v>
                </c:pt>
                <c:pt idx="31">
                  <c:v>0.58913522958755493</c:v>
                </c:pt>
                <c:pt idx="32">
                  <c:v>0.6180192232131958</c:v>
                </c:pt>
                <c:pt idx="33">
                  <c:v>0.65002661943435669</c:v>
                </c:pt>
                <c:pt idx="34">
                  <c:v>0.6854252815246582</c:v>
                </c:pt>
                <c:pt idx="35">
                  <c:v>0.72447299957275391</c:v>
                </c:pt>
                <c:pt idx="36">
                  <c:v>0.76741105318069458</c:v>
                </c:pt>
                <c:pt idx="37">
                  <c:v>0.81446075439453125</c:v>
                </c:pt>
                <c:pt idx="38">
                  <c:v>0.86581075191497803</c:v>
                </c:pt>
                <c:pt idx="39">
                  <c:v>0.921608567237854</c:v>
                </c:pt>
                <c:pt idx="40">
                  <c:v>0.98195123672485352</c:v>
                </c:pt>
                <c:pt idx="41">
                  <c:v>1.0468803644180298</c:v>
                </c:pt>
                <c:pt idx="42">
                  <c:v>1.1163778305053711</c:v>
                </c:pt>
                <c:pt idx="43">
                  <c:v>1.1903663873672485</c:v>
                </c:pt>
                <c:pt idx="44">
                  <c:v>1.2687071561813354</c:v>
                </c:pt>
                <c:pt idx="45">
                  <c:v>1.351195216178894</c:v>
                </c:pt>
                <c:pt idx="46">
                  <c:v>1.4375563859939575</c:v>
                </c:pt>
                <c:pt idx="47">
                  <c:v>1.5274437665939331</c:v>
                </c:pt>
                <c:pt idx="48">
                  <c:v>1.6204345226287842</c:v>
                </c:pt>
                <c:pt idx="49">
                  <c:v>1.7160273790359497</c:v>
                </c:pt>
                <c:pt idx="50">
                  <c:v>1.8136457204818726</c:v>
                </c:pt>
                <c:pt idx="51">
                  <c:v>1.9126331806182861</c:v>
                </c:pt>
                <c:pt idx="52">
                  <c:v>2.0122551918029785</c:v>
                </c:pt>
                <c:pt idx="53">
                  <c:v>2.1116995811462402</c:v>
                </c:pt>
                <c:pt idx="54">
                  <c:v>2.2100701332092285</c:v>
                </c:pt>
                <c:pt idx="55">
                  <c:v>2.3064005374908447</c:v>
                </c:pt>
                <c:pt idx="56">
                  <c:v>2.3996949195861816</c:v>
                </c:pt>
                <c:pt idx="57">
                  <c:v>2.4889583587646484</c:v>
                </c:pt>
                <c:pt idx="58">
                  <c:v>2.5732090473175049</c:v>
                </c:pt>
                <c:pt idx="59">
                  <c:v>2.6514949798583984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B6-443B-AC24-3C5184B60C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0740384"/>
        <c:axId val="308694592"/>
      </c:lineChart>
      <c:dateAx>
        <c:axId val="67074038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08694592"/>
        <c:crosses val="autoZero"/>
        <c:auto val="1"/>
        <c:lblOffset val="100"/>
        <c:baseTimeUnit val="months"/>
      </c:dateAx>
      <c:valAx>
        <c:axId val="308694592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7074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b="1"/>
            </a:pPr>
            <a:r>
              <a:rPr lang="es-AR" b="1" dirty="0"/>
              <a:t>PIB  a precios de mercado (</a:t>
            </a:r>
            <a:r>
              <a:rPr lang="es-AR" b="1" dirty="0" err="1"/>
              <a:t>m$n</a:t>
            </a:r>
            <a:r>
              <a:rPr lang="es-AR" b="1" dirty="0"/>
              <a:t> constantes) y tendencia (entre 1930 y 2000)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spPr>
            <a:solidFill>
              <a:schemeClr val="accent1">
                <a:lumMod val="40000"/>
                <a:lumOff val="60000"/>
              </a:schemeClr>
            </a:solidFill>
            <a:ln w="25400">
              <a:noFill/>
            </a:ln>
          </c:spPr>
          <c:invertIfNegative val="0"/>
          <c:val>
            <c:numRef>
              <c:f>PIB!$E$48:$E$53</c:f>
              <c:numCache>
                <c:formatCode>General</c:formatCode>
                <c:ptCount val="6"/>
                <c:pt idx="0">
                  <c:v>300000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45-490D-BE3D-D1B58A43B1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62903040"/>
        <c:axId val="1"/>
      </c:barChart>
      <c:lineChart>
        <c:grouping val="standard"/>
        <c:varyColors val="0"/>
        <c:ser>
          <c:idx val="0"/>
          <c:order val="0"/>
          <c:tx>
            <c:strRef>
              <c:f>PIB!$B$1</c:f>
              <c:strCache>
                <c:ptCount val="1"/>
                <c:pt idx="0">
                  <c:v>PIBpm</c:v>
                </c:pt>
              </c:strCache>
            </c:strRef>
          </c:tx>
          <c:spPr>
            <a:ln w="5715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PIB!$A$48:$A$53</c:f>
              <c:numCache>
                <c:formatCode>0</c:formatCode>
                <c:ptCount val="6"/>
                <c:pt idx="0">
                  <c:v>1976</c:v>
                </c:pt>
                <c:pt idx="1">
                  <c:v>1977</c:v>
                </c:pt>
                <c:pt idx="2">
                  <c:v>1978</c:v>
                </c:pt>
                <c:pt idx="3">
                  <c:v>1979</c:v>
                </c:pt>
                <c:pt idx="4">
                  <c:v>1980</c:v>
                </c:pt>
                <c:pt idx="5">
                  <c:v>1981</c:v>
                </c:pt>
              </c:numCache>
            </c:numRef>
          </c:cat>
          <c:val>
            <c:numRef>
              <c:f>PIB!$B$48:$B$53</c:f>
              <c:numCache>
                <c:formatCode>General</c:formatCode>
                <c:ptCount val="6"/>
                <c:pt idx="0">
                  <c:v>185188.55213266029</c:v>
                </c:pt>
                <c:pt idx="1">
                  <c:v>197015.02691173065</c:v>
                </c:pt>
                <c:pt idx="2">
                  <c:v>190666.38605606163</c:v>
                </c:pt>
                <c:pt idx="3">
                  <c:v>203891.65176001663</c:v>
                </c:pt>
                <c:pt idx="4">
                  <c:v>207011.43217472488</c:v>
                </c:pt>
                <c:pt idx="5">
                  <c:v>195787.08557126726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45-490D-BE3D-D1B58A43B188}"/>
            </c:ext>
          </c:extLst>
        </c:ser>
        <c:ser>
          <c:idx val="1"/>
          <c:order val="1"/>
          <c:tx>
            <c:strRef>
              <c:f>PIB!$C$1</c:f>
              <c:strCache>
                <c:ptCount val="1"/>
                <c:pt idx="0">
                  <c:v>PIB_tent</c:v>
                </c:pt>
              </c:strCache>
            </c:strRef>
          </c:tx>
          <c:spPr>
            <a:ln w="381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PIB!$A$48:$A$53</c:f>
              <c:numCache>
                <c:formatCode>0</c:formatCode>
                <c:ptCount val="6"/>
                <c:pt idx="0">
                  <c:v>1976</c:v>
                </c:pt>
                <c:pt idx="1">
                  <c:v>1977</c:v>
                </c:pt>
                <c:pt idx="2">
                  <c:v>1978</c:v>
                </c:pt>
                <c:pt idx="3">
                  <c:v>1979</c:v>
                </c:pt>
                <c:pt idx="4">
                  <c:v>1980</c:v>
                </c:pt>
                <c:pt idx="5">
                  <c:v>1981</c:v>
                </c:pt>
              </c:numCache>
            </c:numRef>
          </c:cat>
          <c:val>
            <c:numRef>
              <c:f>PIB!$C$48:$C$53</c:f>
              <c:numCache>
                <c:formatCode>General</c:formatCode>
                <c:ptCount val="6"/>
                <c:pt idx="0">
                  <c:v>187643.859375</c:v>
                </c:pt>
                <c:pt idx="1">
                  <c:v>190535.671875</c:v>
                </c:pt>
                <c:pt idx="2">
                  <c:v>192763.84375</c:v>
                </c:pt>
                <c:pt idx="3">
                  <c:v>194361.625</c:v>
                </c:pt>
                <c:pt idx="4">
                  <c:v>195341.296875</c:v>
                </c:pt>
                <c:pt idx="5">
                  <c:v>195810.453125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945-490D-BE3D-D1B58A43B1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2903040"/>
        <c:axId val="1"/>
      </c:lineChart>
      <c:catAx>
        <c:axId val="86290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862903040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0" i="0" u="none" strike="noStrike" baseline="0">
          <a:solidFill>
            <a:schemeClr val="accent5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b="1"/>
            </a:pPr>
            <a:r>
              <a:rPr lang="es-AR" b="1" dirty="0"/>
              <a:t>Política</a:t>
            </a:r>
            <a:r>
              <a:rPr lang="es-AR" b="1" baseline="0" dirty="0"/>
              <a:t> Fiscal (como % PIB)</a:t>
            </a:r>
            <a:endParaRPr lang="es-AR" b="1" dirty="0"/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6.8615813056763675E-2"/>
          <c:y val="3.9398835894838724E-2"/>
          <c:w val="0.93138418694323633"/>
          <c:h val="0.81746262949617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fiscal!$B$1</c:f>
              <c:strCache>
                <c:ptCount val="1"/>
                <c:pt idx="0">
                  <c:v>ingresos (%PIB)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 w="25400">
              <a:noFill/>
            </a:ln>
          </c:spPr>
          <c:invertIfNegative val="0"/>
          <c:cat>
            <c:numRef>
              <c:f>fiscal!$A$48:$A$53</c:f>
              <c:numCache>
                <c:formatCode>General</c:formatCode>
                <c:ptCount val="6"/>
                <c:pt idx="0">
                  <c:v>1976</c:v>
                </c:pt>
                <c:pt idx="1">
                  <c:v>1977</c:v>
                </c:pt>
                <c:pt idx="2">
                  <c:v>1978</c:v>
                </c:pt>
                <c:pt idx="3">
                  <c:v>1979</c:v>
                </c:pt>
                <c:pt idx="4">
                  <c:v>1980</c:v>
                </c:pt>
                <c:pt idx="5">
                  <c:v>1981</c:v>
                </c:pt>
              </c:numCache>
            </c:numRef>
          </c:cat>
          <c:val>
            <c:numRef>
              <c:f>fiscal!$B$48:$B$53</c:f>
              <c:numCache>
                <c:formatCode>_ * #.##000_ ;_ * \-#.##000_ ;_ * "-"_ ;_ @_ </c:formatCode>
                <c:ptCount val="6"/>
                <c:pt idx="0">
                  <c:v>10.622940086679973</c:v>
                </c:pt>
                <c:pt idx="1">
                  <c:v>12.026978928369173</c:v>
                </c:pt>
                <c:pt idx="2">
                  <c:v>13.483049329070733</c:v>
                </c:pt>
                <c:pt idx="3">
                  <c:v>12.973713239219769</c:v>
                </c:pt>
                <c:pt idx="4">
                  <c:v>14.002464604934524</c:v>
                </c:pt>
                <c:pt idx="5">
                  <c:v>13.11486139425149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AC-4D89-A5CC-3128AA5EB800}"/>
            </c:ext>
          </c:extLst>
        </c:ser>
        <c:ser>
          <c:idx val="1"/>
          <c:order val="1"/>
          <c:tx>
            <c:strRef>
              <c:f>fiscal!$C$1</c:f>
              <c:strCache>
                <c:ptCount val="1"/>
                <c:pt idx="0">
                  <c:v>gastos (% PIB)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ln w="25400">
              <a:noFill/>
            </a:ln>
          </c:spPr>
          <c:invertIfNegative val="0"/>
          <c:cat>
            <c:numRef>
              <c:f>fiscal!$A$48:$A$53</c:f>
              <c:numCache>
                <c:formatCode>General</c:formatCode>
                <c:ptCount val="6"/>
                <c:pt idx="0">
                  <c:v>1976</c:v>
                </c:pt>
                <c:pt idx="1">
                  <c:v>1977</c:v>
                </c:pt>
                <c:pt idx="2">
                  <c:v>1978</c:v>
                </c:pt>
                <c:pt idx="3">
                  <c:v>1979</c:v>
                </c:pt>
                <c:pt idx="4">
                  <c:v>1980</c:v>
                </c:pt>
                <c:pt idx="5">
                  <c:v>1981</c:v>
                </c:pt>
              </c:numCache>
            </c:numRef>
          </c:cat>
          <c:val>
            <c:numRef>
              <c:f>fiscal!$C$48:$C$53</c:f>
              <c:numCache>
                <c:formatCode>_ * #.##000_ ;_ * \-#.##000_ ;_ * "-"_ ;_ @_ </c:formatCode>
                <c:ptCount val="6"/>
                <c:pt idx="0">
                  <c:v>13.03016196305914</c:v>
                </c:pt>
                <c:pt idx="1">
                  <c:v>12.558472746188359</c:v>
                </c:pt>
                <c:pt idx="2">
                  <c:v>14.842685854623973</c:v>
                </c:pt>
                <c:pt idx="3">
                  <c:v>14.477918575121645</c:v>
                </c:pt>
                <c:pt idx="4">
                  <c:v>15.151090985271249</c:v>
                </c:pt>
                <c:pt idx="5">
                  <c:v>17.050019240715599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AC-4D89-A5CC-3128AA5EB8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2901040"/>
        <c:axId val="1"/>
      </c:barChart>
      <c:lineChart>
        <c:grouping val="standard"/>
        <c:varyColors val="0"/>
        <c:ser>
          <c:idx val="2"/>
          <c:order val="2"/>
          <c:tx>
            <c:strRef>
              <c:f>fiscal!$D$1</c:f>
              <c:strCache>
                <c:ptCount val="1"/>
                <c:pt idx="0">
                  <c:v>resultado primario (% PIB)</c:v>
                </c:pt>
              </c:strCache>
            </c:strRef>
          </c:tx>
          <c:spPr>
            <a:ln w="5715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fiscal!$A$48:$A$53</c:f>
              <c:numCache>
                <c:formatCode>General</c:formatCode>
                <c:ptCount val="6"/>
                <c:pt idx="0">
                  <c:v>1976</c:v>
                </c:pt>
                <c:pt idx="1">
                  <c:v>1977</c:v>
                </c:pt>
                <c:pt idx="2">
                  <c:v>1978</c:v>
                </c:pt>
                <c:pt idx="3">
                  <c:v>1979</c:v>
                </c:pt>
                <c:pt idx="4">
                  <c:v>1980</c:v>
                </c:pt>
                <c:pt idx="5">
                  <c:v>1981</c:v>
                </c:pt>
              </c:numCache>
            </c:numRef>
          </c:cat>
          <c:val>
            <c:numRef>
              <c:f>fiscal!$D$48:$D$53</c:f>
              <c:numCache>
                <c:formatCode>_ * #.##000_ ;_ * \-#.##000_ ;_ * "-"_ ;_ @_ </c:formatCode>
                <c:ptCount val="6"/>
                <c:pt idx="0">
                  <c:v>-1.2329290506581836</c:v>
                </c:pt>
                <c:pt idx="1">
                  <c:v>0.37814858113734251</c:v>
                </c:pt>
                <c:pt idx="2">
                  <c:v>0.18659252829366529</c:v>
                </c:pt>
                <c:pt idx="3">
                  <c:v>0.12729580343392277</c:v>
                </c:pt>
                <c:pt idx="4">
                  <c:v>0.25468308383762367</c:v>
                </c:pt>
                <c:pt idx="5">
                  <c:v>-1.0482679977583795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FAC-4D89-A5CC-3128AA5EB8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2901040"/>
        <c:axId val="1"/>
      </c:lineChart>
      <c:catAx>
        <c:axId val="862901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862901040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0" i="0" u="none" strike="noStrike" baseline="0">
          <a:solidFill>
            <a:schemeClr val="accent5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b="1"/>
            </a:pPr>
            <a:r>
              <a:rPr lang="es-AR" b="1" dirty="0"/>
              <a:t>Variación de la base monetaria en términos reales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25400">
              <a:noFill/>
            </a:ln>
          </c:spPr>
          <c:invertIfNegative val="0"/>
          <c:cat>
            <c:numRef>
              <c:f>monet!$A$47:$A$53</c:f>
              <c:numCache>
                <c:formatCode>General</c:formatCode>
                <c:ptCount val="7"/>
                <c:pt idx="0">
                  <c:v>1975</c:v>
                </c:pt>
                <c:pt idx="1">
                  <c:v>1976</c:v>
                </c:pt>
                <c:pt idx="2">
                  <c:v>1977</c:v>
                </c:pt>
                <c:pt idx="3">
                  <c:v>1978</c:v>
                </c:pt>
                <c:pt idx="4">
                  <c:v>1979</c:v>
                </c:pt>
                <c:pt idx="5">
                  <c:v>1980</c:v>
                </c:pt>
                <c:pt idx="6">
                  <c:v>1981</c:v>
                </c:pt>
              </c:numCache>
            </c:numRef>
          </c:cat>
          <c:val>
            <c:numRef>
              <c:f>monet!$F$47:$F$53</c:f>
              <c:numCache>
                <c:formatCode>0%</c:formatCode>
                <c:ptCount val="7"/>
                <c:pt idx="0">
                  <c:v>0.15439569297443012</c:v>
                </c:pt>
                <c:pt idx="1">
                  <c:v>-0.19234196369640899</c:v>
                </c:pt>
                <c:pt idx="2">
                  <c:v>0.2101618521173878</c:v>
                </c:pt>
                <c:pt idx="3">
                  <c:v>-0.24913175238238272</c:v>
                </c:pt>
                <c:pt idx="4">
                  <c:v>-0.28665530068795175</c:v>
                </c:pt>
                <c:pt idx="5">
                  <c:v>-0.1080420456602692</c:v>
                </c:pt>
                <c:pt idx="6">
                  <c:v>6.3969896850936347E-2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E7-49E7-ADCB-EFE5F807B0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7318543"/>
        <c:axId val="1"/>
      </c:barChart>
      <c:catAx>
        <c:axId val="337318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337318543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0" i="0" u="none" strike="noStrike" baseline="0">
          <a:solidFill>
            <a:schemeClr val="accent5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salario!$B$1</c:f>
              <c:strCache>
                <c:ptCount val="1"/>
                <c:pt idx="0">
                  <c:v>salario real</c:v>
                </c:pt>
              </c:strCache>
            </c:strRef>
          </c:tx>
          <c:spPr>
            <a:ln w="5715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salario!$A$47:$A$53</c:f>
              <c:numCache>
                <c:formatCode>General</c:formatCode>
                <c:ptCount val="7"/>
                <c:pt idx="0">
                  <c:v>1975</c:v>
                </c:pt>
                <c:pt idx="1">
                  <c:v>1976</c:v>
                </c:pt>
                <c:pt idx="2">
                  <c:v>1977</c:v>
                </c:pt>
                <c:pt idx="3">
                  <c:v>1978</c:v>
                </c:pt>
                <c:pt idx="4">
                  <c:v>1979</c:v>
                </c:pt>
                <c:pt idx="5">
                  <c:v>1980</c:v>
                </c:pt>
                <c:pt idx="6">
                  <c:v>1981</c:v>
                </c:pt>
              </c:numCache>
            </c:numRef>
          </c:cat>
          <c:val>
            <c:numRef>
              <c:f>salario!$B$47:$B$53</c:f>
              <c:numCache>
                <c:formatCode>_ * #.##000_ ;_ * \-#.##000_ ;_ * "-"_ ;_ @_ </c:formatCode>
                <c:ptCount val="7"/>
                <c:pt idx="0">
                  <c:v>2029.8999542826884</c:v>
                </c:pt>
                <c:pt idx="1">
                  <c:v>1329.6505474462726</c:v>
                </c:pt>
                <c:pt idx="2">
                  <c:v>1268.5887312641289</c:v>
                </c:pt>
                <c:pt idx="3">
                  <c:v>1242.7927080261775</c:v>
                </c:pt>
                <c:pt idx="4">
                  <c:v>1448.8111932146996</c:v>
                </c:pt>
                <c:pt idx="5">
                  <c:v>1605.7352896848824</c:v>
                </c:pt>
                <c:pt idx="6">
                  <c:v>1440.3852461508957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27B-40CF-9381-3FDA0D3326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7312943"/>
        <c:axId val="1"/>
      </c:lineChart>
      <c:catAx>
        <c:axId val="337312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337312943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0" i="0" u="none" strike="noStrike" baseline="0">
          <a:solidFill>
            <a:schemeClr val="accent5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b="1"/>
            </a:pPr>
            <a:r>
              <a:rPr lang="es-AR" b="1"/>
              <a:t>TIPO DE CAMBIO</a:t>
            </a:r>
          </a:p>
        </c:rich>
      </c:tx>
      <c:overlay val="0"/>
      <c:spPr>
        <a:noFill/>
        <a:ln w="2540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4472C4"/>
            </a:solidFill>
            <a:ln w="25400">
              <a:noFill/>
            </a:ln>
          </c:spPr>
          <c:invertIfNegative val="0"/>
          <c:cat>
            <c:multiLvlStrRef>
              <c:f>'tipo de cambio mensual'!$A$398:$B$469</c:f>
              <c:multiLvlStrCache>
                <c:ptCount val="72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</c:lvl>
                <c:lvl>
                  <c:pt idx="0">
                    <c:v>1976 </c:v>
                  </c:pt>
                  <c:pt idx="12">
                    <c:v>1977 </c:v>
                  </c:pt>
                  <c:pt idx="24">
                    <c:v>1978 </c:v>
                  </c:pt>
                  <c:pt idx="36">
                    <c:v>1979 </c:v>
                  </c:pt>
                  <c:pt idx="48">
                    <c:v>1980 </c:v>
                  </c:pt>
                  <c:pt idx="60">
                    <c:v>1981 </c:v>
                  </c:pt>
                </c:lvl>
              </c:multiLvlStrCache>
            </c:multiLvlStrRef>
          </c:cat>
          <c:val>
            <c:numRef>
              <c:f>'tipo de cambio mensual'!$C$398:$C$469</c:f>
              <c:numCache>
                <c:formatCode>_ * #.##00000_ ;_ * \-#.##00000_ ;_ * "-"????_ ;_ @_ </c:formatCode>
                <c:ptCount val="72"/>
                <c:pt idx="0">
                  <c:v>197</c:v>
                </c:pt>
                <c:pt idx="1">
                  <c:v>242</c:v>
                </c:pt>
                <c:pt idx="2">
                  <c:v>293</c:v>
                </c:pt>
                <c:pt idx="3">
                  <c:v>240</c:v>
                </c:pt>
                <c:pt idx="4">
                  <c:v>252</c:v>
                </c:pt>
                <c:pt idx="5">
                  <c:v>252</c:v>
                </c:pt>
                <c:pt idx="6">
                  <c:v>252</c:v>
                </c:pt>
                <c:pt idx="7">
                  <c:v>244.5</c:v>
                </c:pt>
                <c:pt idx="8">
                  <c:v>252</c:v>
                </c:pt>
                <c:pt idx="9">
                  <c:v>252</c:v>
                </c:pt>
                <c:pt idx="10">
                  <c:v>264</c:v>
                </c:pt>
                <c:pt idx="11">
                  <c:v>277</c:v>
                </c:pt>
                <c:pt idx="12">
                  <c:v>295</c:v>
                </c:pt>
                <c:pt idx="13">
                  <c:v>315</c:v>
                </c:pt>
                <c:pt idx="14">
                  <c:v>339</c:v>
                </c:pt>
                <c:pt idx="15">
                  <c:v>355</c:v>
                </c:pt>
                <c:pt idx="16">
                  <c:v>375</c:v>
                </c:pt>
                <c:pt idx="17">
                  <c:v>393</c:v>
                </c:pt>
                <c:pt idx="18">
                  <c:v>417</c:v>
                </c:pt>
                <c:pt idx="19">
                  <c:v>440</c:v>
                </c:pt>
                <c:pt idx="20">
                  <c:v>475</c:v>
                </c:pt>
                <c:pt idx="21">
                  <c:v>515</c:v>
                </c:pt>
                <c:pt idx="22">
                  <c:v>559</c:v>
                </c:pt>
                <c:pt idx="23">
                  <c:v>599</c:v>
                </c:pt>
                <c:pt idx="24">
                  <c:v>643</c:v>
                </c:pt>
                <c:pt idx="25">
                  <c:v>683</c:v>
                </c:pt>
                <c:pt idx="26">
                  <c:v>723</c:v>
                </c:pt>
                <c:pt idx="27">
                  <c:v>763</c:v>
                </c:pt>
                <c:pt idx="28">
                  <c:v>780</c:v>
                </c:pt>
                <c:pt idx="29">
                  <c:v>792</c:v>
                </c:pt>
                <c:pt idx="30">
                  <c:v>809</c:v>
                </c:pt>
                <c:pt idx="31">
                  <c:v>834</c:v>
                </c:pt>
                <c:pt idx="32">
                  <c:v>870</c:v>
                </c:pt>
                <c:pt idx="33">
                  <c:v>911</c:v>
                </c:pt>
                <c:pt idx="34">
                  <c:v>961</c:v>
                </c:pt>
                <c:pt idx="35">
                  <c:v>1007</c:v>
                </c:pt>
                <c:pt idx="36">
                  <c:v>1059</c:v>
                </c:pt>
                <c:pt idx="37">
                  <c:v>1108</c:v>
                </c:pt>
                <c:pt idx="38">
                  <c:v>1160</c:v>
                </c:pt>
                <c:pt idx="39">
                  <c:v>1213</c:v>
                </c:pt>
                <c:pt idx="40">
                  <c:v>1267</c:v>
                </c:pt>
                <c:pt idx="41">
                  <c:v>1320</c:v>
                </c:pt>
                <c:pt idx="42">
                  <c:v>1373</c:v>
                </c:pt>
                <c:pt idx="43">
                  <c:v>1425</c:v>
                </c:pt>
                <c:pt idx="44">
                  <c:v>1476</c:v>
                </c:pt>
                <c:pt idx="45">
                  <c:v>1526</c:v>
                </c:pt>
                <c:pt idx="46">
                  <c:v>1575</c:v>
                </c:pt>
                <c:pt idx="47">
                  <c:v>1622</c:v>
                </c:pt>
                <c:pt idx="48">
                  <c:v>1667</c:v>
                </c:pt>
                <c:pt idx="49">
                  <c:v>1710</c:v>
                </c:pt>
                <c:pt idx="50">
                  <c:v>1751</c:v>
                </c:pt>
                <c:pt idx="51">
                  <c:v>1789</c:v>
                </c:pt>
                <c:pt idx="52">
                  <c:v>1825</c:v>
                </c:pt>
                <c:pt idx="53">
                  <c:v>1858</c:v>
                </c:pt>
                <c:pt idx="54">
                  <c:v>1888</c:v>
                </c:pt>
                <c:pt idx="55">
                  <c:v>1914</c:v>
                </c:pt>
                <c:pt idx="56">
                  <c:v>1937</c:v>
                </c:pt>
                <c:pt idx="57">
                  <c:v>1956</c:v>
                </c:pt>
                <c:pt idx="58">
                  <c:v>1976</c:v>
                </c:pt>
                <c:pt idx="59">
                  <c:v>1996</c:v>
                </c:pt>
                <c:pt idx="60">
                  <c:v>2026</c:v>
                </c:pt>
                <c:pt idx="61">
                  <c:v>2255</c:v>
                </c:pt>
                <c:pt idx="62">
                  <c:v>2363</c:v>
                </c:pt>
                <c:pt idx="63">
                  <c:v>3160</c:v>
                </c:pt>
                <c:pt idx="64">
                  <c:v>3274</c:v>
                </c:pt>
                <c:pt idx="65">
                  <c:v>6600</c:v>
                </c:pt>
                <c:pt idx="66">
                  <c:v>7300</c:v>
                </c:pt>
                <c:pt idx="67">
                  <c:v>7450</c:v>
                </c:pt>
                <c:pt idx="68">
                  <c:v>7670</c:v>
                </c:pt>
                <c:pt idx="69">
                  <c:v>9200</c:v>
                </c:pt>
                <c:pt idx="70">
                  <c:v>10650</c:v>
                </c:pt>
                <c:pt idx="71">
                  <c:v>10600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BB-4149-8E34-1BA385C540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7296543"/>
        <c:axId val="1"/>
      </c:barChart>
      <c:catAx>
        <c:axId val="33729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337296543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 b="0" i="0" u="none" strike="noStrike" baseline="0">
          <a:solidFill>
            <a:schemeClr val="accent5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b="1"/>
            </a:pPr>
            <a:r>
              <a:rPr lang="es-AR" b="1"/>
              <a:t>TIPO DE CAMBIO/IPC</a:t>
            </a:r>
          </a:p>
        </c:rich>
      </c:tx>
      <c:overlay val="0"/>
      <c:spPr>
        <a:noFill/>
        <a:ln w="2540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4472C4"/>
            </a:solidFill>
            <a:ln w="25400">
              <a:noFill/>
            </a:ln>
          </c:spPr>
          <c:invertIfNegative val="0"/>
          <c:cat>
            <c:multiLvlStrRef>
              <c:f>'tipo de cambio mensual'!$A$386:$B$469</c:f>
              <c:multiLvlStrCache>
                <c:ptCount val="84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 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 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</c:lvl>
                <c:lvl>
                  <c:pt idx="0">
                    <c:v>1975 </c:v>
                  </c:pt>
                  <c:pt idx="12">
                    <c:v>1976 </c:v>
                  </c:pt>
                  <c:pt idx="24">
                    <c:v>1977 </c:v>
                  </c:pt>
                  <c:pt idx="36">
                    <c:v>1978 </c:v>
                  </c:pt>
                  <c:pt idx="48">
                    <c:v>1979 </c:v>
                  </c:pt>
                  <c:pt idx="60">
                    <c:v>1980 </c:v>
                  </c:pt>
                  <c:pt idx="72">
                    <c:v>1981 </c:v>
                  </c:pt>
                </c:lvl>
              </c:multiLvlStrCache>
            </c:multiLvlStrRef>
          </c:cat>
          <c:val>
            <c:numRef>
              <c:f>'tipo de cambio mensual'!$J$386:$J$469</c:f>
              <c:numCache>
                <c:formatCode>0,000,000,000,000,000</c:formatCode>
                <c:ptCount val="84"/>
                <c:pt idx="0">
                  <c:v>7.7053581594999649E-11</c:v>
                </c:pt>
                <c:pt idx="1">
                  <c:v>7.3653506334581058E-11</c:v>
                </c:pt>
                <c:pt idx="2">
                  <c:v>1.0308086360155811E-10</c:v>
                </c:pt>
                <c:pt idx="3">
                  <c:v>9.3967827010622168E-11</c:v>
                </c:pt>
                <c:pt idx="4">
                  <c:v>9.04487000467399E-11</c:v>
                </c:pt>
                <c:pt idx="5">
                  <c:v>1.4878401721768071E-10</c:v>
                </c:pt>
                <c:pt idx="6">
                  <c:v>1.302842121277205E-10</c:v>
                </c:pt>
                <c:pt idx="7">
                  <c:v>1.8932302303150759E-10</c:v>
                </c:pt>
                <c:pt idx="8">
                  <c:v>1.8035052437914622E-10</c:v>
                </c:pt>
                <c:pt idx="9">
                  <c:v>1.6395459667137991E-10</c:v>
                </c:pt>
                <c:pt idx="10">
                  <c:v>1.6424510621549464E-10</c:v>
                </c:pt>
                <c:pt idx="11">
                  <c:v>1.5820205201745793E-10</c:v>
                </c:pt>
                <c:pt idx="12">
                  <c:v>3.3039688044429543E-10</c:v>
                </c:pt>
                <c:pt idx="13">
                  <c:v>3.4110699579990793E-10</c:v>
                </c:pt>
                <c:pt idx="14">
                  <c:v>3.0020465402142632E-10</c:v>
                </c:pt>
                <c:pt idx="15">
                  <c:v>1.8361363788999247E-10</c:v>
                </c:pt>
                <c:pt idx="16">
                  <c:v>1.7199635185918709E-10</c:v>
                </c:pt>
                <c:pt idx="17">
                  <c:v>1.6742273372343944E-10</c:v>
                </c:pt>
                <c:pt idx="18">
                  <c:v>1.6061179527666742E-10</c:v>
                </c:pt>
                <c:pt idx="19">
                  <c:v>1.4768717890556882E-10</c:v>
                </c:pt>
                <c:pt idx="20">
                  <c:v>1.3768388236516678E-10</c:v>
                </c:pt>
                <c:pt idx="21">
                  <c:v>1.2694442656499125E-10</c:v>
                </c:pt>
                <c:pt idx="22">
                  <c:v>1.23191228477409E-10</c:v>
                </c:pt>
                <c:pt idx="23">
                  <c:v>1.1304030943571965E-10</c:v>
                </c:pt>
                <c:pt idx="24">
                  <c:v>1.1143495209303957E-10</c:v>
                </c:pt>
                <c:pt idx="25">
                  <c:v>1.0991646983145917E-10</c:v>
                </c:pt>
                <c:pt idx="26">
                  <c:v>1.0999090313556212E-10</c:v>
                </c:pt>
                <c:pt idx="27">
                  <c:v>1.0865120364676312E-10</c:v>
                </c:pt>
                <c:pt idx="28">
                  <c:v>1.077716879425467E-10</c:v>
                </c:pt>
                <c:pt idx="29">
                  <c:v>1.0492113363001698E-10</c:v>
                </c:pt>
                <c:pt idx="30">
                  <c:v>1.0370466908184143E-10</c:v>
                </c:pt>
                <c:pt idx="31">
                  <c:v>9.8281744116759588E-11</c:v>
                </c:pt>
                <c:pt idx="32">
                  <c:v>9.7970914998164309E-11</c:v>
                </c:pt>
                <c:pt idx="33">
                  <c:v>9.4424356959041761E-11</c:v>
                </c:pt>
                <c:pt idx="34">
                  <c:v>9.3995925178770602E-11</c:v>
                </c:pt>
                <c:pt idx="35">
                  <c:v>9.386007152736915E-11</c:v>
                </c:pt>
                <c:pt idx="36">
                  <c:v>8.8881890130040004E-11</c:v>
                </c:pt>
                <c:pt idx="37">
                  <c:v>8.8895955999035187E-11</c:v>
                </c:pt>
                <c:pt idx="38">
                  <c:v>8.594426943233465E-11</c:v>
                </c:pt>
                <c:pt idx="39">
                  <c:v>8.1656160522758475E-11</c:v>
                </c:pt>
                <c:pt idx="40">
                  <c:v>7.6800328448226185E-11</c:v>
                </c:pt>
                <c:pt idx="41">
                  <c:v>7.3228483564052843E-11</c:v>
                </c:pt>
                <c:pt idx="42">
                  <c:v>7.0170574276021353E-11</c:v>
                </c:pt>
                <c:pt idx="43">
                  <c:v>6.7100187162313274E-11</c:v>
                </c:pt>
                <c:pt idx="44">
                  <c:v>6.5791365632917704E-11</c:v>
                </c:pt>
                <c:pt idx="45">
                  <c:v>6.27676413366711E-11</c:v>
                </c:pt>
                <c:pt idx="46">
                  <c:v>6.0860622467384867E-11</c:v>
                </c:pt>
                <c:pt idx="47">
                  <c:v>5.8474932600052116E-11</c:v>
                </c:pt>
                <c:pt idx="48">
                  <c:v>5.4530473968639819E-11</c:v>
                </c:pt>
                <c:pt idx="49">
                  <c:v>5.3101140581322529E-11</c:v>
                </c:pt>
                <c:pt idx="50">
                  <c:v>5.1594724626363855E-11</c:v>
                </c:pt>
                <c:pt idx="51">
                  <c:v>5.0421748958012371E-11</c:v>
                </c:pt>
                <c:pt idx="52">
                  <c:v>4.925754191109275E-11</c:v>
                </c:pt>
                <c:pt idx="53">
                  <c:v>4.6782473727876111E-11</c:v>
                </c:pt>
                <c:pt idx="54">
                  <c:v>4.5412973071500702E-11</c:v>
                </c:pt>
                <c:pt idx="55">
                  <c:v>4.2290566084160012E-11</c:v>
                </c:pt>
                <c:pt idx="56">
                  <c:v>4.0997634035428525E-11</c:v>
                </c:pt>
                <c:pt idx="57">
                  <c:v>4.0623161210081768E-11</c:v>
                </c:pt>
                <c:pt idx="58">
                  <c:v>3.9878072949401686E-11</c:v>
                </c:pt>
                <c:pt idx="59">
                  <c:v>3.9287913918236982E-11</c:v>
                </c:pt>
                <c:pt idx="60">
                  <c:v>3.7662513084274853E-11</c:v>
                </c:pt>
                <c:pt idx="61">
                  <c:v>3.6673645423243793E-11</c:v>
                </c:pt>
                <c:pt idx="62">
                  <c:v>3.5495631666414569E-11</c:v>
                </c:pt>
                <c:pt idx="63">
                  <c:v>3.4156472717758389E-11</c:v>
                </c:pt>
                <c:pt idx="64">
                  <c:v>3.2938424156964642E-11</c:v>
                </c:pt>
                <c:pt idx="65">
                  <c:v>3.1714353665104742E-11</c:v>
                </c:pt>
                <c:pt idx="66">
                  <c:v>3.0816886330981073E-11</c:v>
                </c:pt>
                <c:pt idx="67">
                  <c:v>3.0207553585832769E-11</c:v>
                </c:pt>
                <c:pt idx="68">
                  <c:v>2.9241817693225164E-11</c:v>
                </c:pt>
                <c:pt idx="69">
                  <c:v>2.7439186421197385E-11</c:v>
                </c:pt>
                <c:pt idx="70">
                  <c:v>2.6481106884697331E-11</c:v>
                </c:pt>
                <c:pt idx="71">
                  <c:v>2.576652512041924E-11</c:v>
                </c:pt>
                <c:pt idx="72">
                  <c:v>2.4932737606529833E-11</c:v>
                </c:pt>
                <c:pt idx="73">
                  <c:v>2.6638178073510772E-11</c:v>
                </c:pt>
                <c:pt idx="74">
                  <c:v>2.6336057560604417E-11</c:v>
                </c:pt>
                <c:pt idx="75">
                  <c:v>3.264420575343847E-11</c:v>
                </c:pt>
                <c:pt idx="76">
                  <c:v>3.1451413726868122E-11</c:v>
                </c:pt>
                <c:pt idx="77">
                  <c:v>5.7968105885376516E-11</c:v>
                </c:pt>
                <c:pt idx="78">
                  <c:v>5.8159758324591067E-11</c:v>
                </c:pt>
                <c:pt idx="79">
                  <c:v>5.4997661650345622E-11</c:v>
                </c:pt>
                <c:pt idx="80">
                  <c:v>5.2845194381909213E-11</c:v>
                </c:pt>
                <c:pt idx="81">
                  <c:v>5.989873626722552E-11</c:v>
                </c:pt>
                <c:pt idx="82">
                  <c:v>6.4677521916834506E-11</c:v>
                </c:pt>
                <c:pt idx="83">
                  <c:v>5.9165924433797915E-11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12-4045-B28D-64A76C9B68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7304543"/>
        <c:axId val="1"/>
      </c:barChart>
      <c:catAx>
        <c:axId val="337304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l"/>
        <c:numFmt formatCode="0,000,000,000,000,000" sourceLinked="1"/>
        <c:majorTickMark val="none"/>
        <c:minorTickMark val="none"/>
        <c:tickLblPos val="nextTo"/>
        <c:crossAx val="337304543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 b="0" i="0" u="none" strike="noStrike" baseline="0">
          <a:solidFill>
            <a:schemeClr val="accent5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b="1"/>
              <a:t>Inflación anual y tendencia. 1976-1982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5715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1943-1995'!$A$398:$A$481</c:f>
              <c:numCache>
                <c:formatCode>mmm\-yy</c:formatCode>
                <c:ptCount val="84"/>
                <c:pt idx="0">
                  <c:v>27760</c:v>
                </c:pt>
                <c:pt idx="1">
                  <c:v>27791</c:v>
                </c:pt>
                <c:pt idx="2">
                  <c:v>27820</c:v>
                </c:pt>
                <c:pt idx="3">
                  <c:v>27851</c:v>
                </c:pt>
                <c:pt idx="4">
                  <c:v>27881</c:v>
                </c:pt>
                <c:pt idx="5">
                  <c:v>27912</c:v>
                </c:pt>
                <c:pt idx="6">
                  <c:v>27942</c:v>
                </c:pt>
                <c:pt idx="7">
                  <c:v>27973</c:v>
                </c:pt>
                <c:pt idx="8">
                  <c:v>28004</c:v>
                </c:pt>
                <c:pt idx="9">
                  <c:v>28034</c:v>
                </c:pt>
                <c:pt idx="10">
                  <c:v>28065</c:v>
                </c:pt>
                <c:pt idx="11">
                  <c:v>28095</c:v>
                </c:pt>
                <c:pt idx="12">
                  <c:v>28126</c:v>
                </c:pt>
                <c:pt idx="13">
                  <c:v>28157</c:v>
                </c:pt>
                <c:pt idx="14">
                  <c:v>28185</c:v>
                </c:pt>
                <c:pt idx="15">
                  <c:v>28216</c:v>
                </c:pt>
                <c:pt idx="16">
                  <c:v>28246</c:v>
                </c:pt>
                <c:pt idx="17">
                  <c:v>28277</c:v>
                </c:pt>
                <c:pt idx="18">
                  <c:v>28307</c:v>
                </c:pt>
                <c:pt idx="19">
                  <c:v>28338</c:v>
                </c:pt>
                <c:pt idx="20">
                  <c:v>28369</c:v>
                </c:pt>
                <c:pt idx="21">
                  <c:v>28399</c:v>
                </c:pt>
                <c:pt idx="22">
                  <c:v>28430</c:v>
                </c:pt>
                <c:pt idx="23">
                  <c:v>28460</c:v>
                </c:pt>
                <c:pt idx="24">
                  <c:v>28491</c:v>
                </c:pt>
                <c:pt idx="25">
                  <c:v>28522</c:v>
                </c:pt>
                <c:pt idx="26">
                  <c:v>28550</c:v>
                </c:pt>
                <c:pt idx="27">
                  <c:v>28581</c:v>
                </c:pt>
                <c:pt idx="28">
                  <c:v>28611</c:v>
                </c:pt>
                <c:pt idx="29">
                  <c:v>28642</c:v>
                </c:pt>
                <c:pt idx="30">
                  <c:v>28672</c:v>
                </c:pt>
                <c:pt idx="31">
                  <c:v>28703</c:v>
                </c:pt>
                <c:pt idx="32">
                  <c:v>28734</c:v>
                </c:pt>
                <c:pt idx="33">
                  <c:v>28764</c:v>
                </c:pt>
                <c:pt idx="34">
                  <c:v>28795</c:v>
                </c:pt>
                <c:pt idx="35">
                  <c:v>28825</c:v>
                </c:pt>
                <c:pt idx="36">
                  <c:v>28856</c:v>
                </c:pt>
                <c:pt idx="37">
                  <c:v>28887</c:v>
                </c:pt>
                <c:pt idx="38">
                  <c:v>28915</c:v>
                </c:pt>
                <c:pt idx="39">
                  <c:v>28946</c:v>
                </c:pt>
                <c:pt idx="40">
                  <c:v>28976</c:v>
                </c:pt>
                <c:pt idx="41">
                  <c:v>29007</c:v>
                </c:pt>
                <c:pt idx="42">
                  <c:v>29037</c:v>
                </c:pt>
                <c:pt idx="43">
                  <c:v>29068</c:v>
                </c:pt>
                <c:pt idx="44">
                  <c:v>29099</c:v>
                </c:pt>
                <c:pt idx="45">
                  <c:v>29129</c:v>
                </c:pt>
                <c:pt idx="46">
                  <c:v>29160</c:v>
                </c:pt>
                <c:pt idx="47">
                  <c:v>29190</c:v>
                </c:pt>
                <c:pt idx="48">
                  <c:v>29221</c:v>
                </c:pt>
                <c:pt idx="49">
                  <c:v>29252</c:v>
                </c:pt>
                <c:pt idx="50">
                  <c:v>29281</c:v>
                </c:pt>
                <c:pt idx="51">
                  <c:v>29312</c:v>
                </c:pt>
                <c:pt idx="52">
                  <c:v>29342</c:v>
                </c:pt>
                <c:pt idx="53">
                  <c:v>29373</c:v>
                </c:pt>
                <c:pt idx="54">
                  <c:v>29403</c:v>
                </c:pt>
                <c:pt idx="55">
                  <c:v>29434</c:v>
                </c:pt>
                <c:pt idx="56">
                  <c:v>29465</c:v>
                </c:pt>
                <c:pt idx="57">
                  <c:v>29495</c:v>
                </c:pt>
                <c:pt idx="58">
                  <c:v>29526</c:v>
                </c:pt>
                <c:pt idx="59">
                  <c:v>29556</c:v>
                </c:pt>
                <c:pt idx="60">
                  <c:v>29587</c:v>
                </c:pt>
                <c:pt idx="61">
                  <c:v>29618</c:v>
                </c:pt>
                <c:pt idx="62">
                  <c:v>29646</c:v>
                </c:pt>
                <c:pt idx="63">
                  <c:v>29677</c:v>
                </c:pt>
                <c:pt idx="64">
                  <c:v>29707</c:v>
                </c:pt>
                <c:pt idx="65">
                  <c:v>29738</c:v>
                </c:pt>
                <c:pt idx="66">
                  <c:v>29768</c:v>
                </c:pt>
                <c:pt idx="67">
                  <c:v>29799</c:v>
                </c:pt>
                <c:pt idx="68">
                  <c:v>29830</c:v>
                </c:pt>
                <c:pt idx="69">
                  <c:v>29860</c:v>
                </c:pt>
                <c:pt idx="70">
                  <c:v>29891</c:v>
                </c:pt>
                <c:pt idx="71">
                  <c:v>29921</c:v>
                </c:pt>
                <c:pt idx="72">
                  <c:v>29952</c:v>
                </c:pt>
                <c:pt idx="73">
                  <c:v>29983</c:v>
                </c:pt>
                <c:pt idx="74">
                  <c:v>30011</c:v>
                </c:pt>
                <c:pt idx="75">
                  <c:v>30042</c:v>
                </c:pt>
                <c:pt idx="76">
                  <c:v>30072</c:v>
                </c:pt>
                <c:pt idx="77">
                  <c:v>30103</c:v>
                </c:pt>
                <c:pt idx="78">
                  <c:v>30133</c:v>
                </c:pt>
                <c:pt idx="79">
                  <c:v>30164</c:v>
                </c:pt>
                <c:pt idx="80">
                  <c:v>30195</c:v>
                </c:pt>
                <c:pt idx="81">
                  <c:v>30225</c:v>
                </c:pt>
                <c:pt idx="82">
                  <c:v>30256</c:v>
                </c:pt>
                <c:pt idx="83">
                  <c:v>30286</c:v>
                </c:pt>
              </c:numCache>
            </c:numRef>
          </c:cat>
          <c:val>
            <c:numRef>
              <c:f>'indice 1943-1995'!$F$398:$F$481</c:f>
              <c:numCache>
                <c:formatCode>#,#00%</c:formatCode>
                <c:ptCount val="84"/>
                <c:pt idx="0">
                  <c:v>3.6035469538368856</c:v>
                </c:pt>
                <c:pt idx="1">
                  <c:v>4.2358551684422689</c:v>
                </c:pt>
                <c:pt idx="2">
                  <c:v>5.6627159836202026</c:v>
                </c:pt>
                <c:pt idx="3">
                  <c:v>7.1340819423368735</c:v>
                </c:pt>
                <c:pt idx="4">
                  <c:v>7.7762035522318289</c:v>
                </c:pt>
                <c:pt idx="5">
                  <c:v>6.442523330680749</c:v>
                </c:pt>
                <c:pt idx="6">
                  <c:v>4.7581973081328757</c:v>
                </c:pt>
                <c:pt idx="7">
                  <c:v>3.9608932016133744</c:v>
                </c:pt>
                <c:pt idx="8">
                  <c:v>3.9496458858130126</c:v>
                </c:pt>
                <c:pt idx="9">
                  <c:v>3.7176351962170555</c:v>
                </c:pt>
                <c:pt idx="10">
                  <c:v>3.6743540374652959</c:v>
                </c:pt>
                <c:pt idx="11">
                  <c:v>3.475487663667943</c:v>
                </c:pt>
                <c:pt idx="12">
                  <c:v>3.4398704411055032</c:v>
                </c:pt>
                <c:pt idx="13">
                  <c:v>3.0394574938304704</c:v>
                </c:pt>
                <c:pt idx="14">
                  <c:v>2.1578589702590341</c:v>
                </c:pt>
                <c:pt idx="15">
                  <c:v>1.4996977814922876</c:v>
                </c:pt>
                <c:pt idx="16">
                  <c:v>1.3748997260565798</c:v>
                </c:pt>
                <c:pt idx="17">
                  <c:v>1.4885333437016013</c:v>
                </c:pt>
                <c:pt idx="18">
                  <c:v>1.5627995598684574</c:v>
                </c:pt>
                <c:pt idx="19">
                  <c:v>1.7042307873588949</c:v>
                </c:pt>
                <c:pt idx="20">
                  <c:v>1.6489820062510487</c:v>
                </c:pt>
                <c:pt idx="21">
                  <c:v>1.7474910759691138</c:v>
                </c:pt>
                <c:pt idx="22">
                  <c:v>1.7751000177505905</c:v>
                </c:pt>
                <c:pt idx="23">
                  <c:v>1.6043509671358884</c:v>
                </c:pt>
                <c:pt idx="24">
                  <c:v>1.7327324008009977</c:v>
                </c:pt>
                <c:pt idx="25">
                  <c:v>1.6809635962643288</c:v>
                </c:pt>
                <c:pt idx="26">
                  <c:v>1.7294707393951669</c:v>
                </c:pt>
                <c:pt idx="27">
                  <c:v>1.8598402302213253</c:v>
                </c:pt>
                <c:pt idx="28">
                  <c:v>1.918804065683323</c:v>
                </c:pt>
                <c:pt idx="29">
                  <c:v>1.887457261674431</c:v>
                </c:pt>
                <c:pt idx="30">
                  <c:v>1.867185197493296</c:v>
                </c:pt>
                <c:pt idx="31">
                  <c:v>1.7762750969782868</c:v>
                </c:pt>
                <c:pt idx="32">
                  <c:v>1.7274318390995371</c:v>
                </c:pt>
                <c:pt idx="33">
                  <c:v>1.6610888463264892</c:v>
                </c:pt>
                <c:pt idx="34">
                  <c:v>1.6551203831266812</c:v>
                </c:pt>
                <c:pt idx="35">
                  <c:v>1.6984464194285454</c:v>
                </c:pt>
                <c:pt idx="36">
                  <c:v>1.684472728008144</c:v>
                </c:pt>
                <c:pt idx="37">
                  <c:v>1.7157964225412909</c:v>
                </c:pt>
                <c:pt idx="38">
                  <c:v>1.6725837120860771</c:v>
                </c:pt>
                <c:pt idx="39">
                  <c:v>1.5745854623458371</c:v>
                </c:pt>
                <c:pt idx="40">
                  <c:v>1.5326335401340683</c:v>
                </c:pt>
                <c:pt idx="41">
                  <c:v>1.6088289669477387</c:v>
                </c:pt>
                <c:pt idx="42">
                  <c:v>1.622388981480698</c:v>
                </c:pt>
                <c:pt idx="43">
                  <c:v>1.7109970611200702</c:v>
                </c:pt>
                <c:pt idx="44">
                  <c:v>1.7225584457254128</c:v>
                </c:pt>
                <c:pt idx="45">
                  <c:v>1.5882024831572048</c:v>
                </c:pt>
                <c:pt idx="46">
                  <c:v>1.5012632190156157</c:v>
                </c:pt>
                <c:pt idx="47">
                  <c:v>1.3973538440625743</c:v>
                </c:pt>
                <c:pt idx="48">
                  <c:v>1.2791327232730305</c:v>
                </c:pt>
                <c:pt idx="49">
                  <c:v>1.2346325364845789</c:v>
                </c:pt>
                <c:pt idx="50">
                  <c:v>1.1941107568165545</c:v>
                </c:pt>
                <c:pt idx="51">
                  <c:v>1.1771804706378424</c:v>
                </c:pt>
                <c:pt idx="52">
                  <c:v>1.1540519428317908</c:v>
                </c:pt>
                <c:pt idx="53">
                  <c:v>1.0763429894911503</c:v>
                </c:pt>
                <c:pt idx="54">
                  <c:v>1.0263881226832363</c:v>
                </c:pt>
                <c:pt idx="55">
                  <c:v>0.88042065529828251</c:v>
                </c:pt>
                <c:pt idx="56">
                  <c:v>0.8399147136554328</c:v>
                </c:pt>
                <c:pt idx="57">
                  <c:v>0.89765300637964751</c:v>
                </c:pt>
                <c:pt idx="58">
                  <c:v>0.88931516863020121</c:v>
                </c:pt>
                <c:pt idx="59">
                  <c:v>0.87634547052486345</c:v>
                </c:pt>
                <c:pt idx="60">
                  <c:v>0.8358752636137059</c:v>
                </c:pt>
                <c:pt idx="61">
                  <c:v>0.81551566167272593</c:v>
                </c:pt>
                <c:pt idx="62">
                  <c:v>0.81887025991911089</c:v>
                </c:pt>
                <c:pt idx="63">
                  <c:v>0.84817738182475022</c:v>
                </c:pt>
                <c:pt idx="64">
                  <c:v>0.87879091948529298</c:v>
                </c:pt>
                <c:pt idx="65">
                  <c:v>0.94341245112541627</c:v>
                </c:pt>
                <c:pt idx="66">
                  <c:v>1.0487408804881251</c:v>
                </c:pt>
                <c:pt idx="67">
                  <c:v>1.137891541412412</c:v>
                </c:pt>
                <c:pt idx="68">
                  <c:v>1.1911121582024062</c:v>
                </c:pt>
                <c:pt idx="69">
                  <c:v>1.1546292305482009</c:v>
                </c:pt>
                <c:pt idx="70">
                  <c:v>1.2067108479406037</c:v>
                </c:pt>
                <c:pt idx="71">
                  <c:v>1.3127544605954764</c:v>
                </c:pt>
                <c:pt idx="72">
                  <c:v>1.4676509422638335</c:v>
                </c:pt>
                <c:pt idx="73">
                  <c:v>1.4938933056803783</c:v>
                </c:pt>
                <c:pt idx="74">
                  <c:v>1.4638547668224806</c:v>
                </c:pt>
                <c:pt idx="75">
                  <c:v>1.3794145800796014</c:v>
                </c:pt>
                <c:pt idx="76">
                  <c:v>1.2803466854064185</c:v>
                </c:pt>
                <c:pt idx="77">
                  <c:v>1.2495074102629999</c:v>
                </c:pt>
                <c:pt idx="78">
                  <c:v>1.372304464389789</c:v>
                </c:pt>
                <c:pt idx="79">
                  <c:v>1.5210613479262673</c:v>
                </c:pt>
                <c:pt idx="80">
                  <c:v>1.7544773361110173</c:v>
                </c:pt>
                <c:pt idx="81">
                  <c:v>1.9331936241823842</c:v>
                </c:pt>
                <c:pt idx="82">
                  <c:v>2.0463807605733919</c:v>
                </c:pt>
                <c:pt idx="83">
                  <c:v>2.0972887630662025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E3-4F65-A6E5-403E0E213C54}"/>
            </c:ext>
          </c:extLst>
        </c:ser>
        <c:ser>
          <c:idx val="1"/>
          <c:order val="1"/>
          <c:spPr>
            <a:ln w="381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1943-1995'!$A$398:$A$481</c:f>
              <c:numCache>
                <c:formatCode>mmm\-yy</c:formatCode>
                <c:ptCount val="84"/>
                <c:pt idx="0">
                  <c:v>27760</c:v>
                </c:pt>
                <c:pt idx="1">
                  <c:v>27791</c:v>
                </c:pt>
                <c:pt idx="2">
                  <c:v>27820</c:v>
                </c:pt>
                <c:pt idx="3">
                  <c:v>27851</c:v>
                </c:pt>
                <c:pt idx="4">
                  <c:v>27881</c:v>
                </c:pt>
                <c:pt idx="5">
                  <c:v>27912</c:v>
                </c:pt>
                <c:pt idx="6">
                  <c:v>27942</c:v>
                </c:pt>
                <c:pt idx="7">
                  <c:v>27973</c:v>
                </c:pt>
                <c:pt idx="8">
                  <c:v>28004</c:v>
                </c:pt>
                <c:pt idx="9">
                  <c:v>28034</c:v>
                </c:pt>
                <c:pt idx="10">
                  <c:v>28065</c:v>
                </c:pt>
                <c:pt idx="11">
                  <c:v>28095</c:v>
                </c:pt>
                <c:pt idx="12">
                  <c:v>28126</c:v>
                </c:pt>
                <c:pt idx="13">
                  <c:v>28157</c:v>
                </c:pt>
                <c:pt idx="14">
                  <c:v>28185</c:v>
                </c:pt>
                <c:pt idx="15">
                  <c:v>28216</c:v>
                </c:pt>
                <c:pt idx="16">
                  <c:v>28246</c:v>
                </c:pt>
                <c:pt idx="17">
                  <c:v>28277</c:v>
                </c:pt>
                <c:pt idx="18">
                  <c:v>28307</c:v>
                </c:pt>
                <c:pt idx="19">
                  <c:v>28338</c:v>
                </c:pt>
                <c:pt idx="20">
                  <c:v>28369</c:v>
                </c:pt>
                <c:pt idx="21">
                  <c:v>28399</c:v>
                </c:pt>
                <c:pt idx="22">
                  <c:v>28430</c:v>
                </c:pt>
                <c:pt idx="23">
                  <c:v>28460</c:v>
                </c:pt>
                <c:pt idx="24">
                  <c:v>28491</c:v>
                </c:pt>
                <c:pt idx="25">
                  <c:v>28522</c:v>
                </c:pt>
                <c:pt idx="26">
                  <c:v>28550</c:v>
                </c:pt>
                <c:pt idx="27">
                  <c:v>28581</c:v>
                </c:pt>
                <c:pt idx="28">
                  <c:v>28611</c:v>
                </c:pt>
                <c:pt idx="29">
                  <c:v>28642</c:v>
                </c:pt>
                <c:pt idx="30">
                  <c:v>28672</c:v>
                </c:pt>
                <c:pt idx="31">
                  <c:v>28703</c:v>
                </c:pt>
                <c:pt idx="32">
                  <c:v>28734</c:v>
                </c:pt>
                <c:pt idx="33">
                  <c:v>28764</c:v>
                </c:pt>
                <c:pt idx="34">
                  <c:v>28795</c:v>
                </c:pt>
                <c:pt idx="35">
                  <c:v>28825</c:v>
                </c:pt>
                <c:pt idx="36">
                  <c:v>28856</c:v>
                </c:pt>
                <c:pt idx="37">
                  <c:v>28887</c:v>
                </c:pt>
                <c:pt idx="38">
                  <c:v>28915</c:v>
                </c:pt>
                <c:pt idx="39">
                  <c:v>28946</c:v>
                </c:pt>
                <c:pt idx="40">
                  <c:v>28976</c:v>
                </c:pt>
                <c:pt idx="41">
                  <c:v>29007</c:v>
                </c:pt>
                <c:pt idx="42">
                  <c:v>29037</c:v>
                </c:pt>
                <c:pt idx="43">
                  <c:v>29068</c:v>
                </c:pt>
                <c:pt idx="44">
                  <c:v>29099</c:v>
                </c:pt>
                <c:pt idx="45">
                  <c:v>29129</c:v>
                </c:pt>
                <c:pt idx="46">
                  <c:v>29160</c:v>
                </c:pt>
                <c:pt idx="47">
                  <c:v>29190</c:v>
                </c:pt>
                <c:pt idx="48">
                  <c:v>29221</c:v>
                </c:pt>
                <c:pt idx="49">
                  <c:v>29252</c:v>
                </c:pt>
                <c:pt idx="50">
                  <c:v>29281</c:v>
                </c:pt>
                <c:pt idx="51">
                  <c:v>29312</c:v>
                </c:pt>
                <c:pt idx="52">
                  <c:v>29342</c:v>
                </c:pt>
                <c:pt idx="53">
                  <c:v>29373</c:v>
                </c:pt>
                <c:pt idx="54">
                  <c:v>29403</c:v>
                </c:pt>
                <c:pt idx="55">
                  <c:v>29434</c:v>
                </c:pt>
                <c:pt idx="56">
                  <c:v>29465</c:v>
                </c:pt>
                <c:pt idx="57">
                  <c:v>29495</c:v>
                </c:pt>
                <c:pt idx="58">
                  <c:v>29526</c:v>
                </c:pt>
                <c:pt idx="59">
                  <c:v>29556</c:v>
                </c:pt>
                <c:pt idx="60">
                  <c:v>29587</c:v>
                </c:pt>
                <c:pt idx="61">
                  <c:v>29618</c:v>
                </c:pt>
                <c:pt idx="62">
                  <c:v>29646</c:v>
                </c:pt>
                <c:pt idx="63">
                  <c:v>29677</c:v>
                </c:pt>
                <c:pt idx="64">
                  <c:v>29707</c:v>
                </c:pt>
                <c:pt idx="65">
                  <c:v>29738</c:v>
                </c:pt>
                <c:pt idx="66">
                  <c:v>29768</c:v>
                </c:pt>
                <c:pt idx="67">
                  <c:v>29799</c:v>
                </c:pt>
                <c:pt idx="68">
                  <c:v>29830</c:v>
                </c:pt>
                <c:pt idx="69">
                  <c:v>29860</c:v>
                </c:pt>
                <c:pt idx="70">
                  <c:v>29891</c:v>
                </c:pt>
                <c:pt idx="71">
                  <c:v>29921</c:v>
                </c:pt>
                <c:pt idx="72">
                  <c:v>29952</c:v>
                </c:pt>
                <c:pt idx="73">
                  <c:v>29983</c:v>
                </c:pt>
                <c:pt idx="74">
                  <c:v>30011</c:v>
                </c:pt>
                <c:pt idx="75">
                  <c:v>30042</c:v>
                </c:pt>
                <c:pt idx="76">
                  <c:v>30072</c:v>
                </c:pt>
                <c:pt idx="77">
                  <c:v>30103</c:v>
                </c:pt>
                <c:pt idx="78">
                  <c:v>30133</c:v>
                </c:pt>
                <c:pt idx="79">
                  <c:v>30164</c:v>
                </c:pt>
                <c:pt idx="80">
                  <c:v>30195</c:v>
                </c:pt>
                <c:pt idx="81">
                  <c:v>30225</c:v>
                </c:pt>
                <c:pt idx="82">
                  <c:v>30256</c:v>
                </c:pt>
                <c:pt idx="83">
                  <c:v>30286</c:v>
                </c:pt>
              </c:numCache>
            </c:numRef>
          </c:cat>
          <c:val>
            <c:numRef>
              <c:f>'indice 1943-1995'!$H$398:$H$481</c:f>
              <c:numCache>
                <c:formatCode>#,#00%</c:formatCode>
                <c:ptCount val="84"/>
                <c:pt idx="0">
                  <c:v>2.722900390625</c:v>
                </c:pt>
                <c:pt idx="1">
                  <c:v>2.7865588665008545</c:v>
                </c:pt>
                <c:pt idx="2">
                  <c:v>2.8416645526885986</c:v>
                </c:pt>
                <c:pt idx="3">
                  <c:v>2.8875124454498291</c:v>
                </c:pt>
                <c:pt idx="4">
                  <c:v>2.9235935211181641</c:v>
                </c:pt>
                <c:pt idx="5">
                  <c:v>2.9496934413909912</c:v>
                </c:pt>
                <c:pt idx="6">
                  <c:v>2.9659349918365479</c:v>
                </c:pt>
                <c:pt idx="7">
                  <c:v>2.9726834297180176</c:v>
                </c:pt>
                <c:pt idx="8">
                  <c:v>2.9704289436340332</c:v>
                </c:pt>
                <c:pt idx="9">
                  <c:v>2.9597294330596924</c:v>
                </c:pt>
                <c:pt idx="10">
                  <c:v>2.941211462020874</c:v>
                </c:pt>
                <c:pt idx="11">
                  <c:v>2.9155542850494385</c:v>
                </c:pt>
                <c:pt idx="12">
                  <c:v>2.8834877014160156</c:v>
                </c:pt>
                <c:pt idx="13">
                  <c:v>2.8457803726196289</c:v>
                </c:pt>
                <c:pt idx="14">
                  <c:v>2.8032402992248535</c:v>
                </c:pt>
                <c:pt idx="15">
                  <c:v>2.7566878795623779</c:v>
                </c:pt>
                <c:pt idx="16">
                  <c:v>2.7068996429443359</c:v>
                </c:pt>
                <c:pt idx="17">
                  <c:v>2.6545639038085938</c:v>
                </c:pt>
                <c:pt idx="18">
                  <c:v>2.6002776622772217</c:v>
                </c:pt>
                <c:pt idx="19">
                  <c:v>2.5445556640625</c:v>
                </c:pt>
                <c:pt idx="20">
                  <c:v>2.4878416061401367</c:v>
                </c:pt>
                <c:pt idx="21">
                  <c:v>2.4305200576782227</c:v>
                </c:pt>
                <c:pt idx="22">
                  <c:v>2.3729181289672852</c:v>
                </c:pt>
                <c:pt idx="23">
                  <c:v>2.3153150081634521</c:v>
                </c:pt>
                <c:pt idx="24">
                  <c:v>2.2579481601715088</c:v>
                </c:pt>
                <c:pt idx="25">
                  <c:v>2.2010059356689453</c:v>
                </c:pt>
                <c:pt idx="26">
                  <c:v>2.1446406841278076</c:v>
                </c:pt>
                <c:pt idx="27">
                  <c:v>2.0889678001403809</c:v>
                </c:pt>
                <c:pt idx="28">
                  <c:v>2.0340743064880371</c:v>
                </c:pt>
                <c:pt idx="29">
                  <c:v>1.9800314903259277</c:v>
                </c:pt>
                <c:pt idx="30">
                  <c:v>1.9269020557403564</c:v>
                </c:pt>
                <c:pt idx="31">
                  <c:v>1.8747427463531494</c:v>
                </c:pt>
                <c:pt idx="32">
                  <c:v>1.8236061334609985</c:v>
                </c:pt>
                <c:pt idx="33">
                  <c:v>1.7735376358032227</c:v>
                </c:pt>
                <c:pt idx="34">
                  <c:v>1.7245762348175049</c:v>
                </c:pt>
                <c:pt idx="35">
                  <c:v>1.6767531633377075</c:v>
                </c:pt>
                <c:pt idx="36">
                  <c:v>1.6300947666168213</c:v>
                </c:pt>
                <c:pt idx="37">
                  <c:v>1.584628701210022</c:v>
                </c:pt>
                <c:pt idx="38">
                  <c:v>1.5403867959976196</c:v>
                </c:pt>
                <c:pt idx="39">
                  <c:v>1.497409462928772</c:v>
                </c:pt>
                <c:pt idx="40">
                  <c:v>1.4557467699050903</c:v>
                </c:pt>
                <c:pt idx="41">
                  <c:v>1.4154539108276367</c:v>
                </c:pt>
                <c:pt idx="42">
                  <c:v>1.3765915632247925</c:v>
                </c:pt>
                <c:pt idx="43">
                  <c:v>1.3392336368560791</c:v>
                </c:pt>
                <c:pt idx="44">
                  <c:v>1.3034710884094238</c:v>
                </c:pt>
                <c:pt idx="45">
                  <c:v>1.2694211006164551</c:v>
                </c:pt>
                <c:pt idx="46">
                  <c:v>1.237229585647583</c:v>
                </c:pt>
                <c:pt idx="47">
                  <c:v>1.2070645093917847</c:v>
                </c:pt>
                <c:pt idx="48">
                  <c:v>1.179112434387207</c:v>
                </c:pt>
                <c:pt idx="49">
                  <c:v>1.1535731554031372</c:v>
                </c:pt>
                <c:pt idx="50">
                  <c:v>1.1306532621383667</c:v>
                </c:pt>
                <c:pt idx="51">
                  <c:v>1.1105649471282959</c:v>
                </c:pt>
                <c:pt idx="52">
                  <c:v>1.0935249328613281</c:v>
                </c:pt>
                <c:pt idx="53">
                  <c:v>1.0797544717788696</c:v>
                </c:pt>
                <c:pt idx="54">
                  <c:v>1.06947922706604</c:v>
                </c:pt>
                <c:pt idx="55">
                  <c:v>1.0629241466522217</c:v>
                </c:pt>
                <c:pt idx="56">
                  <c:v>1.0603117942810059</c:v>
                </c:pt>
                <c:pt idx="57">
                  <c:v>1.0618517398834229</c:v>
                </c:pt>
                <c:pt idx="58">
                  <c:v>1.0677380561828613</c:v>
                </c:pt>
                <c:pt idx="59">
                  <c:v>1.0781538486480713</c:v>
                </c:pt>
                <c:pt idx="60">
                  <c:v>1.0932694673538208</c:v>
                </c:pt>
                <c:pt idx="61">
                  <c:v>1.1132415533065796</c:v>
                </c:pt>
                <c:pt idx="62">
                  <c:v>1.1382085084915161</c:v>
                </c:pt>
                <c:pt idx="63">
                  <c:v>1.1682884693145752</c:v>
                </c:pt>
                <c:pt idx="64">
                  <c:v>1.2035771608352661</c:v>
                </c:pt>
                <c:pt idx="65">
                  <c:v>1.2441480159759521</c:v>
                </c:pt>
                <c:pt idx="66">
                  <c:v>1.290052056312561</c:v>
                </c:pt>
                <c:pt idx="67">
                  <c:v>1.3413193225860596</c:v>
                </c:pt>
                <c:pt idx="68">
                  <c:v>1.3979631662368774</c:v>
                </c:pt>
                <c:pt idx="69">
                  <c:v>1.4599828720092773</c:v>
                </c:pt>
                <c:pt idx="70">
                  <c:v>1.5273633003234863</c:v>
                </c:pt>
                <c:pt idx="71">
                  <c:v>1.6000678539276123</c:v>
                </c:pt>
                <c:pt idx="72">
                  <c:v>1.6780381202697754</c:v>
                </c:pt>
                <c:pt idx="73">
                  <c:v>1.7611955404281616</c:v>
                </c:pt>
                <c:pt idx="74">
                  <c:v>1.8494466543197632</c:v>
                </c:pt>
                <c:pt idx="75">
                  <c:v>1.9426800012588501</c:v>
                </c:pt>
                <c:pt idx="76">
                  <c:v>2.0407569408416748</c:v>
                </c:pt>
                <c:pt idx="77">
                  <c:v>2.1434996128082275</c:v>
                </c:pt>
                <c:pt idx="78">
                  <c:v>2.2506778240203857</c:v>
                </c:pt>
                <c:pt idx="79">
                  <c:v>2.3619990348815918</c:v>
                </c:pt>
                <c:pt idx="80">
                  <c:v>2.477109432220459</c:v>
                </c:pt>
                <c:pt idx="81">
                  <c:v>2.595597505569458</c:v>
                </c:pt>
                <c:pt idx="82">
                  <c:v>2.7170007228851318</c:v>
                </c:pt>
                <c:pt idx="83">
                  <c:v>2.8408112525939941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E3-4F65-A6E5-403E0E213C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0740384"/>
        <c:axId val="308694592"/>
      </c:lineChart>
      <c:dateAx>
        <c:axId val="67074038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08694592"/>
        <c:crosses val="autoZero"/>
        <c:auto val="1"/>
        <c:lblOffset val="100"/>
        <c:baseTimeUnit val="months"/>
      </c:dateAx>
      <c:valAx>
        <c:axId val="308694592"/>
        <c:scaling>
          <c:orientation val="minMax"/>
        </c:scaling>
        <c:delete val="0"/>
        <c:axPos val="l"/>
        <c:numFmt formatCode="#,#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7074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5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sz="1800" b="1" i="0" baseline="0" dirty="0">
                <a:effectLst/>
              </a:rPr>
              <a:t>PIB  a precios de mercado (</a:t>
            </a:r>
            <a:r>
              <a:rPr lang="es-AR" sz="1800" b="1" i="0" baseline="0" dirty="0" err="1">
                <a:effectLst/>
              </a:rPr>
              <a:t>m$n</a:t>
            </a:r>
            <a:r>
              <a:rPr lang="es-AR" sz="1800" b="1" i="0" baseline="0" dirty="0">
                <a:effectLst/>
              </a:rPr>
              <a:t> constantes) y tendencia (entre 1930 y 2000)</a:t>
            </a:r>
            <a:endParaRPr lang="es-AR" dirty="0">
              <a:effectLst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spPr>
            <a:solidFill>
              <a:schemeClr val="accent1">
                <a:lumMod val="40000"/>
                <a:lumOff val="60000"/>
              </a:schemeClr>
            </a:solidFill>
            <a:ln w="25400">
              <a:noFill/>
            </a:ln>
          </c:spPr>
          <c:invertIfNegative val="0"/>
          <c:val>
            <c:numRef>
              <c:f>PIB!$E$54:$E$60</c:f>
              <c:numCache>
                <c:formatCode>General</c:formatCode>
                <c:ptCount val="7"/>
                <c:pt idx="3">
                  <c:v>300000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F7-4162-A51A-926F5669B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7300543"/>
        <c:axId val="1"/>
      </c:barChart>
      <c:lineChart>
        <c:grouping val="standard"/>
        <c:varyColors val="0"/>
        <c:ser>
          <c:idx val="0"/>
          <c:order val="0"/>
          <c:tx>
            <c:strRef>
              <c:f>PIB!$B$1</c:f>
              <c:strCache>
                <c:ptCount val="1"/>
                <c:pt idx="0">
                  <c:v>PIBpm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PIB!$A$54:$A$60</c:f>
              <c:numCache>
                <c:formatCode>0</c:formatCode>
                <c:ptCount val="7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</c:numCache>
            </c:numRef>
          </c:cat>
          <c:val>
            <c:numRef>
              <c:f>PIB!$B$54:$B$60</c:f>
              <c:numCache>
                <c:formatCode>General</c:formatCode>
                <c:ptCount val="7"/>
                <c:pt idx="0">
                  <c:v>189602.24152446413</c:v>
                </c:pt>
                <c:pt idx="1">
                  <c:v>197400.61051265232</c:v>
                </c:pt>
                <c:pt idx="2">
                  <c:v>201349.02459711238</c:v>
                </c:pt>
                <c:pt idx="3">
                  <c:v>187351.74596487361</c:v>
                </c:pt>
                <c:pt idx="4">
                  <c:v>200726.11957615431</c:v>
                </c:pt>
                <c:pt idx="5">
                  <c:v>205926.37181563661</c:v>
                </c:pt>
                <c:pt idx="6">
                  <c:v>202022.16389395422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F7-4162-A51A-926F5669B2B3}"/>
            </c:ext>
          </c:extLst>
        </c:ser>
        <c:ser>
          <c:idx val="1"/>
          <c:order val="1"/>
          <c:tx>
            <c:strRef>
              <c:f>PIB!$C$1</c:f>
              <c:strCache>
                <c:ptCount val="1"/>
                <c:pt idx="0">
                  <c:v>PIB_tent</c:v>
                </c:pt>
              </c:strCache>
            </c:strRef>
          </c:tx>
          <c:spPr>
            <a:ln w="3810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PIB!$A$54:$A$60</c:f>
              <c:numCache>
                <c:formatCode>0</c:formatCode>
                <c:ptCount val="7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</c:numCache>
            </c:numRef>
          </c:cat>
          <c:val>
            <c:numRef>
              <c:f>PIB!$C$54:$C$60</c:f>
              <c:numCache>
                <c:formatCode>General</c:formatCode>
                <c:ptCount val="7"/>
                <c:pt idx="0">
                  <c:v>195993.359375</c:v>
                </c:pt>
                <c:pt idx="1">
                  <c:v>196114.078125</c:v>
                </c:pt>
                <c:pt idx="2">
                  <c:v>196332.734375</c:v>
                </c:pt>
                <c:pt idx="3">
                  <c:v>196822.359375</c:v>
                </c:pt>
                <c:pt idx="4">
                  <c:v>197806.09375</c:v>
                </c:pt>
                <c:pt idx="5">
                  <c:v>199412.40625</c:v>
                </c:pt>
                <c:pt idx="6">
                  <c:v>201798.96875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F7-4162-A51A-926F5669B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7300543"/>
        <c:axId val="1"/>
      </c:lineChart>
      <c:catAx>
        <c:axId val="337300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337300543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0" i="0" u="none" strike="noStrike" baseline="0">
          <a:solidFill>
            <a:schemeClr val="accent1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sz="1800" b="1" i="0" baseline="0" dirty="0">
                <a:effectLst/>
              </a:rPr>
              <a:t>Política Fiscal (como % PIB)</a:t>
            </a:r>
            <a:endParaRPr lang="es-AR" dirty="0">
              <a:effectLst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fiscal!$B$1</c:f>
              <c:strCache>
                <c:ptCount val="1"/>
                <c:pt idx="0">
                  <c:v>ingresos (%PIB)</c:v>
                </c:pt>
              </c:strCache>
            </c:strRef>
          </c:tx>
          <c:spPr>
            <a:solidFill>
              <a:schemeClr val="accent1"/>
            </a:solidFill>
            <a:ln w="25400">
              <a:noFill/>
            </a:ln>
          </c:spPr>
          <c:invertIfNegative val="0"/>
          <c:cat>
            <c:numRef>
              <c:f>fiscal!$A$54:$A$60</c:f>
              <c:numCache>
                <c:formatCode>General</c:formatCode>
                <c:ptCount val="7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</c:numCache>
            </c:numRef>
          </c:cat>
          <c:val>
            <c:numRef>
              <c:f>fiscal!$B$54:$B$60</c:f>
              <c:numCache>
                <c:formatCode>_ * #.##000_ ;_ * \-#.##000_ ;_ * "-"_ ;_ @_ </c:formatCode>
                <c:ptCount val="7"/>
                <c:pt idx="0">
                  <c:v>11.238103004199667</c:v>
                </c:pt>
                <c:pt idx="1">
                  <c:v>11.286722555962561</c:v>
                </c:pt>
                <c:pt idx="2">
                  <c:v>11.663720835685414</c:v>
                </c:pt>
                <c:pt idx="3">
                  <c:v>18.343148301725741</c:v>
                </c:pt>
                <c:pt idx="4">
                  <c:v>16.996118674265414</c:v>
                </c:pt>
                <c:pt idx="5">
                  <c:v>15.606257316473156</c:v>
                </c:pt>
                <c:pt idx="6">
                  <c:v>10.592873174070924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EB-49C2-A17D-A9271F46E1A2}"/>
            </c:ext>
          </c:extLst>
        </c:ser>
        <c:ser>
          <c:idx val="1"/>
          <c:order val="1"/>
          <c:tx>
            <c:strRef>
              <c:f>fiscal!$C$1</c:f>
              <c:strCache>
                <c:ptCount val="1"/>
                <c:pt idx="0">
                  <c:v>gastos (% PIB)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 w="25400">
              <a:noFill/>
            </a:ln>
          </c:spPr>
          <c:invertIfNegative val="0"/>
          <c:cat>
            <c:numRef>
              <c:f>fiscal!$A$54:$A$60</c:f>
              <c:numCache>
                <c:formatCode>General</c:formatCode>
                <c:ptCount val="7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</c:numCache>
            </c:numRef>
          </c:cat>
          <c:val>
            <c:numRef>
              <c:f>fiscal!$C$54:$C$60</c:f>
              <c:numCache>
                <c:formatCode>_ * #.##000_ ;_ * \-#.##000_ ;_ * "-"_ ;_ @_ </c:formatCode>
                <c:ptCount val="7"/>
                <c:pt idx="0">
                  <c:v>15.879649713323859</c:v>
                </c:pt>
                <c:pt idx="1">
                  <c:v>14.17031596341945</c:v>
                </c:pt>
                <c:pt idx="2">
                  <c:v>13.050309315656378</c:v>
                </c:pt>
                <c:pt idx="3">
                  <c:v>14.747479010554571</c:v>
                </c:pt>
                <c:pt idx="4">
                  <c:v>13.693605475866951</c:v>
                </c:pt>
                <c:pt idx="5">
                  <c:v>13.721930689088616</c:v>
                </c:pt>
                <c:pt idx="6">
                  <c:v>12.340096633599696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EB-49C2-A17D-A9271F46E1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7318143"/>
        <c:axId val="1"/>
      </c:barChart>
      <c:lineChart>
        <c:grouping val="standard"/>
        <c:varyColors val="0"/>
        <c:ser>
          <c:idx val="2"/>
          <c:order val="2"/>
          <c:tx>
            <c:strRef>
              <c:f>fiscal!$D$1</c:f>
              <c:strCache>
                <c:ptCount val="1"/>
                <c:pt idx="0">
                  <c:v>resultado primario (% PIB)</c:v>
                </c:pt>
              </c:strCache>
            </c:strRef>
          </c:tx>
          <c:spPr>
            <a:ln w="5715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fiscal!$A$54:$A$60</c:f>
              <c:numCache>
                <c:formatCode>General</c:formatCode>
                <c:ptCount val="7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</c:numCache>
            </c:numRef>
          </c:cat>
          <c:val>
            <c:numRef>
              <c:f>fiscal!$D$54:$D$60</c:f>
              <c:numCache>
                <c:formatCode>_ * #.##000_ ;_ * \-#.##000_ ;_ * "-"_ ;_ @_ </c:formatCode>
                <c:ptCount val="7"/>
                <c:pt idx="0">
                  <c:v>-0.13132409460273795</c:v>
                </c:pt>
                <c:pt idx="1">
                  <c:v>-0.62867567787172762</c:v>
                </c:pt>
                <c:pt idx="2">
                  <c:v>0.73235180980680914</c:v>
                </c:pt>
                <c:pt idx="3">
                  <c:v>5.9378326336188927</c:v>
                </c:pt>
                <c:pt idx="4">
                  <c:v>5.1769479586468199</c:v>
                </c:pt>
                <c:pt idx="5">
                  <c:v>3.4283822338715506</c:v>
                </c:pt>
                <c:pt idx="6">
                  <c:v>-0.81703142130394857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7EB-49C2-A17D-A9271F46E1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7318143"/>
        <c:axId val="1"/>
      </c:lineChart>
      <c:catAx>
        <c:axId val="337318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337318143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0" i="0" u="none" strike="noStrike" baseline="0">
          <a:solidFill>
            <a:schemeClr val="accent1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AR" sz="1800" b="1" i="0" baseline="0" dirty="0">
                <a:effectLst/>
              </a:rPr>
              <a:t>Variación de la base monetaria en términos reales</a:t>
            </a:r>
            <a:endParaRPr lang="es-AR" dirty="0">
              <a:effectLst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4472C4"/>
            </a:solidFill>
            <a:ln w="25400">
              <a:noFill/>
            </a:ln>
          </c:spPr>
          <c:invertIfNegative val="0"/>
          <c:cat>
            <c:numRef>
              <c:f>monet!$A$54:$A$60</c:f>
              <c:numCache>
                <c:formatCode>General</c:formatCode>
                <c:ptCount val="7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</c:numCache>
            </c:numRef>
          </c:cat>
          <c:val>
            <c:numRef>
              <c:f>monet!$F$54:$F$60</c:f>
              <c:numCache>
                <c:formatCode>0%</c:formatCode>
                <c:ptCount val="7"/>
                <c:pt idx="0">
                  <c:v>2.1860582009712828</c:v>
                </c:pt>
                <c:pt idx="1">
                  <c:v>2.8259686794303907E-2</c:v>
                </c:pt>
                <c:pt idx="2">
                  <c:v>-0.26288402972812475</c:v>
                </c:pt>
                <c:pt idx="3">
                  <c:v>-0.36943962872755554</c:v>
                </c:pt>
                <c:pt idx="4">
                  <c:v>-0.29134074551052747</c:v>
                </c:pt>
                <c:pt idx="5">
                  <c:v>-0.15827570177727157</c:v>
                </c:pt>
                <c:pt idx="6">
                  <c:v>0.16889426748862357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D7-4E91-BBA3-F7F5249128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7318543"/>
        <c:axId val="1"/>
      </c:barChart>
      <c:catAx>
        <c:axId val="337318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337318543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0" i="0" u="none" strike="noStrike" baseline="0">
          <a:solidFill>
            <a:schemeClr val="accent1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txPr>
        <a:bodyPr/>
        <a:lstStyle/>
        <a:p>
          <a:pPr>
            <a:defRPr b="1"/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salario!$B$1</c:f>
              <c:strCache>
                <c:ptCount val="1"/>
                <c:pt idx="0">
                  <c:v>salario real</c:v>
                </c:pt>
              </c:strCache>
            </c:strRef>
          </c:tx>
          <c:spPr>
            <a:ln w="571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salario!$A$54:$A$60</c:f>
              <c:numCache>
                <c:formatCode>General</c:formatCode>
                <c:ptCount val="7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</c:numCache>
            </c:numRef>
          </c:cat>
          <c:val>
            <c:numRef>
              <c:f>salario!$B$54:$B$60</c:f>
              <c:numCache>
                <c:formatCode>_ * #.##000_ ;_ * \-#.##000_ ;_ * "-"_ ;_ @_ </c:formatCode>
                <c:ptCount val="7"/>
                <c:pt idx="0">
                  <c:v>1288.9466877794191</c:v>
                </c:pt>
                <c:pt idx="1">
                  <c:v>1667.6896814742131</c:v>
                </c:pt>
                <c:pt idx="2">
                  <c:v>2028.1167294851605</c:v>
                </c:pt>
                <c:pt idx="3">
                  <c:v>1651.7108126231117</c:v>
                </c:pt>
                <c:pt idx="4">
                  <c:v>1731.1785297150643</c:v>
                </c:pt>
                <c:pt idx="5">
                  <c:v>1594.2058228144731</c:v>
                </c:pt>
                <c:pt idx="6">
                  <c:v>1509.1741689841538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AC-4F27-A467-03F4096FC8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7312943"/>
        <c:axId val="1"/>
      </c:lineChart>
      <c:catAx>
        <c:axId val="337312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lumMod val="50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.##000_ ;_ * \-#.##000_ ;_ * &quot;-&quot;_ ;_ @_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337312943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0" i="0" u="none" strike="noStrike" baseline="0">
          <a:solidFill>
            <a:schemeClr val="accent1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b="1"/>
            </a:pPr>
            <a:r>
              <a:rPr lang="es-AR" b="1"/>
              <a:t>TIPO DE CAMBIO</a:t>
            </a:r>
          </a:p>
        </c:rich>
      </c:tx>
      <c:overlay val="0"/>
      <c:spPr>
        <a:noFill/>
        <a:ln w="2540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4472C4"/>
            </a:solidFill>
            <a:ln w="25400">
              <a:noFill/>
            </a:ln>
          </c:spPr>
          <c:invertIfNegative val="0"/>
          <c:cat>
            <c:multiLvlStrRef>
              <c:f>'tipo de cambio mensual'!$A$482:$B$553</c:f>
              <c:multiLvlStrCache>
                <c:ptCount val="72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 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</c:lvl>
                <c:lvl>
                  <c:pt idx="0">
                    <c:v>1983 </c:v>
                  </c:pt>
                  <c:pt idx="12">
                    <c:v>1984 </c:v>
                  </c:pt>
                  <c:pt idx="24">
                    <c:v>1985 </c:v>
                  </c:pt>
                  <c:pt idx="36">
                    <c:v>1986 </c:v>
                  </c:pt>
                  <c:pt idx="48">
                    <c:v>1987 </c:v>
                  </c:pt>
                  <c:pt idx="60">
                    <c:v>1988 </c:v>
                  </c:pt>
                </c:lvl>
              </c:multiLvlStrCache>
            </c:multiLvlStrRef>
          </c:cat>
          <c:val>
            <c:numRef>
              <c:f>'tipo de cambio mensual'!$D$482:$D$553</c:f>
              <c:numCache>
                <c:formatCode>_ * #.##00000_ ;_ * \-#.##00000_ ;_ * "-"????_ ;_ @_ </c:formatCode>
                <c:ptCount val="72"/>
                <c:pt idx="0">
                  <c:v>5.407</c:v>
                </c:pt>
                <c:pt idx="1">
                  <c:v>6.0330000000000004</c:v>
                </c:pt>
                <c:pt idx="2">
                  <c:v>6.6369999999999996</c:v>
                </c:pt>
                <c:pt idx="3">
                  <c:v>7.4409999999999998</c:v>
                </c:pt>
                <c:pt idx="4">
                  <c:v>8.1129999999999995</c:v>
                </c:pt>
                <c:pt idx="5">
                  <c:v>8.891</c:v>
                </c:pt>
                <c:pt idx="6">
                  <c:v>9.9710000000000001</c:v>
                </c:pt>
                <c:pt idx="7">
                  <c:v>11.282</c:v>
                </c:pt>
                <c:pt idx="8">
                  <c:v>13.086</c:v>
                </c:pt>
                <c:pt idx="9">
                  <c:v>15.817</c:v>
                </c:pt>
                <c:pt idx="10">
                  <c:v>19.292000000000002</c:v>
                </c:pt>
                <c:pt idx="11">
                  <c:v>23.271000000000001</c:v>
                </c:pt>
                <c:pt idx="12">
                  <c:v>26.314</c:v>
                </c:pt>
                <c:pt idx="13">
                  <c:v>29.071999999999999</c:v>
                </c:pt>
                <c:pt idx="14">
                  <c:v>32.734000000000002</c:v>
                </c:pt>
                <c:pt idx="15">
                  <c:v>37.536000000000001</c:v>
                </c:pt>
                <c:pt idx="16">
                  <c:v>44.003999999999998</c:v>
                </c:pt>
                <c:pt idx="17">
                  <c:v>51.267000000000003</c:v>
                </c:pt>
                <c:pt idx="18">
                  <c:v>61.771000000000001</c:v>
                </c:pt>
                <c:pt idx="19">
                  <c:v>74.42</c:v>
                </c:pt>
                <c:pt idx="20">
                  <c:v>91.834000000000003</c:v>
                </c:pt>
                <c:pt idx="21">
                  <c:v>120.124</c:v>
                </c:pt>
                <c:pt idx="22">
                  <c:v>148.72</c:v>
                </c:pt>
                <c:pt idx="23">
                  <c:v>178.81</c:v>
                </c:pt>
                <c:pt idx="24">
                  <c:v>223.48</c:v>
                </c:pt>
                <c:pt idx="25">
                  <c:v>268.14999999999998</c:v>
                </c:pt>
                <c:pt idx="26">
                  <c:v>342.89</c:v>
                </c:pt>
                <c:pt idx="27">
                  <c:v>448.65</c:v>
                </c:pt>
                <c:pt idx="28">
                  <c:v>601.98</c:v>
                </c:pt>
                <c:pt idx="29">
                  <c:v>801</c:v>
                </c:pt>
                <c:pt idx="30">
                  <c:v>801</c:v>
                </c:pt>
                <c:pt idx="31">
                  <c:v>801</c:v>
                </c:pt>
                <c:pt idx="32">
                  <c:v>801</c:v>
                </c:pt>
                <c:pt idx="33">
                  <c:v>801</c:v>
                </c:pt>
                <c:pt idx="34">
                  <c:v>801</c:v>
                </c:pt>
                <c:pt idx="35">
                  <c:v>801</c:v>
                </c:pt>
                <c:pt idx="36">
                  <c:v>801</c:v>
                </c:pt>
                <c:pt idx="37">
                  <c:v>801</c:v>
                </c:pt>
                <c:pt idx="38">
                  <c:v>801</c:v>
                </c:pt>
                <c:pt idx="39">
                  <c:v>841</c:v>
                </c:pt>
                <c:pt idx="40">
                  <c:v>861</c:v>
                </c:pt>
                <c:pt idx="41">
                  <c:v>891</c:v>
                </c:pt>
                <c:pt idx="42">
                  <c:v>921</c:v>
                </c:pt>
                <c:pt idx="43">
                  <c:v>1008</c:v>
                </c:pt>
                <c:pt idx="44">
                  <c:v>1070</c:v>
                </c:pt>
                <c:pt idx="45">
                  <c:v>1131</c:v>
                </c:pt>
                <c:pt idx="46">
                  <c:v>1181</c:v>
                </c:pt>
                <c:pt idx="47">
                  <c:v>1259</c:v>
                </c:pt>
                <c:pt idx="48">
                  <c:v>1332</c:v>
                </c:pt>
                <c:pt idx="49">
                  <c:v>1541</c:v>
                </c:pt>
                <c:pt idx="50">
                  <c:v>1541</c:v>
                </c:pt>
                <c:pt idx="51">
                  <c:v>1541</c:v>
                </c:pt>
                <c:pt idx="52">
                  <c:v>1622</c:v>
                </c:pt>
                <c:pt idx="53">
                  <c:v>1802</c:v>
                </c:pt>
                <c:pt idx="54">
                  <c:v>1977</c:v>
                </c:pt>
                <c:pt idx="55">
                  <c:v>2270.5</c:v>
                </c:pt>
                <c:pt idx="56">
                  <c:v>2635.5</c:v>
                </c:pt>
                <c:pt idx="57">
                  <c:v>3130</c:v>
                </c:pt>
                <c:pt idx="58">
                  <c:v>4350</c:v>
                </c:pt>
                <c:pt idx="59">
                  <c:v>5120</c:v>
                </c:pt>
                <c:pt idx="60">
                  <c:v>5540</c:v>
                </c:pt>
                <c:pt idx="61">
                  <c:v>6170</c:v>
                </c:pt>
                <c:pt idx="62">
                  <c:v>6620</c:v>
                </c:pt>
                <c:pt idx="63">
                  <c:v>7490</c:v>
                </c:pt>
                <c:pt idx="64">
                  <c:v>9200</c:v>
                </c:pt>
                <c:pt idx="65">
                  <c:v>11210</c:v>
                </c:pt>
                <c:pt idx="66">
                  <c:v>12960</c:v>
                </c:pt>
                <c:pt idx="67">
                  <c:v>14410</c:v>
                </c:pt>
                <c:pt idx="68">
                  <c:v>14990</c:v>
                </c:pt>
                <c:pt idx="69">
                  <c:v>15110</c:v>
                </c:pt>
                <c:pt idx="70">
                  <c:v>15670</c:v>
                </c:pt>
                <c:pt idx="71">
                  <c:v>16540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D6-4A2B-B96F-9226FBE858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7296543"/>
        <c:axId val="1"/>
      </c:barChart>
      <c:catAx>
        <c:axId val="33729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337296543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 b="0" i="0" u="none" strike="noStrike" baseline="0">
          <a:solidFill>
            <a:schemeClr val="accent1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b="1"/>
            </a:pPr>
            <a:r>
              <a:rPr lang="es-AR" b="1"/>
              <a:t>TIPO DE CAMBIO/IPC</a:t>
            </a:r>
          </a:p>
        </c:rich>
      </c:tx>
      <c:overlay val="0"/>
      <c:spPr>
        <a:noFill/>
        <a:ln w="2540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4472C4"/>
            </a:solidFill>
            <a:ln w="25400">
              <a:noFill/>
            </a:ln>
          </c:spPr>
          <c:invertIfNegative val="0"/>
          <c:cat>
            <c:multiLvlStrRef>
              <c:f>'tipo de cambio mensual'!$A$482:$B$553</c:f>
              <c:multiLvlStrCache>
                <c:ptCount val="72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 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</c:lvl>
                <c:lvl>
                  <c:pt idx="0">
                    <c:v>1983 </c:v>
                  </c:pt>
                  <c:pt idx="12">
                    <c:v>1984 </c:v>
                  </c:pt>
                  <c:pt idx="24">
                    <c:v>1985 </c:v>
                  </c:pt>
                  <c:pt idx="36">
                    <c:v>1986 </c:v>
                  </c:pt>
                  <c:pt idx="48">
                    <c:v>1987 </c:v>
                  </c:pt>
                  <c:pt idx="60">
                    <c:v>1988 </c:v>
                  </c:pt>
                </c:lvl>
              </c:multiLvlStrCache>
            </c:multiLvlStrRef>
          </c:cat>
          <c:val>
            <c:numRef>
              <c:f>'tipo de cambio mensual'!$J$482:$J$553</c:f>
              <c:numCache>
                <c:formatCode>0,000,000,000,000,000</c:formatCode>
                <c:ptCount val="72"/>
                <c:pt idx="0">
                  <c:v>8.4015333196932509E-11</c:v>
                </c:pt>
                <c:pt idx="1">
                  <c:v>8.2931808656128077E-11</c:v>
                </c:pt>
                <c:pt idx="2">
                  <c:v>8.2001314337016915E-11</c:v>
                </c:pt>
                <c:pt idx="3">
                  <c:v>8.3371743803549584E-11</c:v>
                </c:pt>
                <c:pt idx="4">
                  <c:v>8.3351080341709065E-11</c:v>
                </c:pt>
                <c:pt idx="5">
                  <c:v>7.8860565146488216E-11</c:v>
                </c:pt>
                <c:pt idx="6">
                  <c:v>7.8647483641902891E-11</c:v>
                </c:pt>
                <c:pt idx="7">
                  <c:v>7.5899224328562895E-11</c:v>
                </c:pt>
                <c:pt idx="8">
                  <c:v>7.253691937132015E-11</c:v>
                </c:pt>
                <c:pt idx="9">
                  <c:v>7.4954010469147218E-11</c:v>
                </c:pt>
                <c:pt idx="10">
                  <c:v>7.6673146370347978E-11</c:v>
                </c:pt>
                <c:pt idx="11">
                  <c:v>7.8579149489417005E-11</c:v>
                </c:pt>
                <c:pt idx="12">
                  <c:v>7.8954321631864687E-11</c:v>
                </c:pt>
                <c:pt idx="13">
                  <c:v>7.4587529441205188E-11</c:v>
                </c:pt>
                <c:pt idx="14">
                  <c:v>6.9827243622820522E-11</c:v>
                </c:pt>
                <c:pt idx="15">
                  <c:v>6.7563086614173238E-11</c:v>
                </c:pt>
                <c:pt idx="16">
                  <c:v>6.7654223965089362E-11</c:v>
                </c:pt>
                <c:pt idx="17">
                  <c:v>6.6849687654211073E-11</c:v>
                </c:pt>
                <c:pt idx="18">
                  <c:v>6.809538334453376E-11</c:v>
                </c:pt>
                <c:pt idx="19">
                  <c:v>6.6784014372368644E-11</c:v>
                </c:pt>
                <c:pt idx="20">
                  <c:v>6.4613375513411322E-11</c:v>
                </c:pt>
                <c:pt idx="21">
                  <c:v>7.0830091778048731E-11</c:v>
                </c:pt>
                <c:pt idx="22">
                  <c:v>7.6270395822182672E-11</c:v>
                </c:pt>
                <c:pt idx="23">
                  <c:v>7.6624635976250743E-11</c:v>
                </c:pt>
                <c:pt idx="24">
                  <c:v>7.6528249503164722E-11</c:v>
                </c:pt>
                <c:pt idx="25">
                  <c:v>7.6078050378426247E-11</c:v>
                </c:pt>
                <c:pt idx="26">
                  <c:v>7.6916367585603336E-11</c:v>
                </c:pt>
                <c:pt idx="27">
                  <c:v>7.7729532711464857E-11</c:v>
                </c:pt>
                <c:pt idx="28">
                  <c:v>8.3378633779603077E-11</c:v>
                </c:pt>
                <c:pt idx="29">
                  <c:v>8.499143535767511E-11</c:v>
                </c:pt>
                <c:pt idx="30">
                  <c:v>8.0039106746911629E-11</c:v>
                </c:pt>
                <c:pt idx="31">
                  <c:v>7.7652816638378158E-11</c:v>
                </c:pt>
                <c:pt idx="32">
                  <c:v>7.6135583564336255E-11</c:v>
                </c:pt>
                <c:pt idx="33">
                  <c:v>7.4687370230413496E-11</c:v>
                </c:pt>
                <c:pt idx="34">
                  <c:v>7.2957560533574986E-11</c:v>
                </c:pt>
                <c:pt idx="35">
                  <c:v>7.0712031153130826E-11</c:v>
                </c:pt>
                <c:pt idx="36">
                  <c:v>6.8636437299411606E-11</c:v>
                </c:pt>
                <c:pt idx="37">
                  <c:v>6.7491627046906795E-11</c:v>
                </c:pt>
                <c:pt idx="38">
                  <c:v>6.4496516477129942E-11</c:v>
                </c:pt>
                <c:pt idx="39">
                  <c:v>6.465754892072575E-11</c:v>
                </c:pt>
                <c:pt idx="40">
                  <c:v>6.3632991284790574E-11</c:v>
                </c:pt>
                <c:pt idx="41">
                  <c:v>6.2986723046000983E-11</c:v>
                </c:pt>
                <c:pt idx="42">
                  <c:v>6.0979195404525725E-11</c:v>
                </c:pt>
                <c:pt idx="43">
                  <c:v>6.1352553964522354E-11</c:v>
                </c:pt>
                <c:pt idx="44">
                  <c:v>6.073608608151391E-11</c:v>
                </c:pt>
                <c:pt idx="45">
                  <c:v>6.0531425595890624E-11</c:v>
                </c:pt>
                <c:pt idx="46">
                  <c:v>6.0028077468419708E-11</c:v>
                </c:pt>
                <c:pt idx="47">
                  <c:v>6.1098849293411253E-11</c:v>
                </c:pt>
                <c:pt idx="48">
                  <c:v>6.0086958090419111E-11</c:v>
                </c:pt>
                <c:pt idx="49">
                  <c:v>6.5298720603430462E-11</c:v>
                </c:pt>
                <c:pt idx="50">
                  <c:v>6.0317739281487428E-11</c:v>
                </c:pt>
                <c:pt idx="51">
                  <c:v>5.8370064839102986E-11</c:v>
                </c:pt>
                <c:pt idx="52">
                  <c:v>5.8988591749139807E-11</c:v>
                </c:pt>
                <c:pt idx="53">
                  <c:v>6.0663990214910767E-11</c:v>
                </c:pt>
                <c:pt idx="54">
                  <c:v>6.0451523732832291E-11</c:v>
                </c:pt>
                <c:pt idx="55">
                  <c:v>6.1042331025711628E-11</c:v>
                </c:pt>
                <c:pt idx="56">
                  <c:v>6.3453331082826501E-11</c:v>
                </c:pt>
                <c:pt idx="57">
                  <c:v>6.3021992772835291E-11</c:v>
                </c:pt>
                <c:pt idx="58">
                  <c:v>7.942964575764052E-11</c:v>
                </c:pt>
                <c:pt idx="59">
                  <c:v>9.0422538219714927E-11</c:v>
                </c:pt>
                <c:pt idx="60">
                  <c:v>8.9686677719880014E-11</c:v>
                </c:pt>
                <c:pt idx="61">
                  <c:v>9.0458482053482041E-11</c:v>
                </c:pt>
                <c:pt idx="62">
                  <c:v>8.457472772585672E-11</c:v>
                </c:pt>
                <c:pt idx="63">
                  <c:v>8.162292782738096E-11</c:v>
                </c:pt>
                <c:pt idx="64">
                  <c:v>8.6645728458570651E-11</c:v>
                </c:pt>
                <c:pt idx="65">
                  <c:v>8.9495378056377498E-11</c:v>
                </c:pt>
                <c:pt idx="66">
                  <c:v>8.2347464906572466E-11</c:v>
                </c:pt>
                <c:pt idx="67">
                  <c:v>7.1743501031929108E-11</c:v>
                </c:pt>
                <c:pt idx="68">
                  <c:v>6.6816323420720847E-11</c:v>
                </c:pt>
                <c:pt idx="69">
                  <c:v>6.1795252901990512E-11</c:v>
                </c:pt>
                <c:pt idx="70">
                  <c:v>6.0623720873191069E-11</c:v>
                </c:pt>
                <c:pt idx="71">
                  <c:v>5.9889993819421143E-11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F8-4EFD-9317-42CEBC0982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7304543"/>
        <c:axId val="1"/>
      </c:barChart>
      <c:catAx>
        <c:axId val="337304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l"/>
        <c:numFmt formatCode="0,000,000,000,000,000" sourceLinked="1"/>
        <c:majorTickMark val="none"/>
        <c:minorTickMark val="none"/>
        <c:tickLblPos val="nextTo"/>
        <c:crossAx val="337304543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 b="0" i="0" u="none" strike="noStrike" baseline="0">
          <a:solidFill>
            <a:schemeClr val="accent1">
              <a:lumMod val="50000"/>
            </a:schemeClr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b="1" dirty="0"/>
              <a:t>Inflación anual y tendencia. 1983-1988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1943-1995'!$A$482:$A$553</c:f>
              <c:numCache>
                <c:formatCode>mmm\-yy</c:formatCode>
                <c:ptCount val="72"/>
                <c:pt idx="0">
                  <c:v>30317</c:v>
                </c:pt>
                <c:pt idx="1">
                  <c:v>30348</c:v>
                </c:pt>
                <c:pt idx="2">
                  <c:v>30376</c:v>
                </c:pt>
                <c:pt idx="3">
                  <c:v>30407</c:v>
                </c:pt>
                <c:pt idx="4">
                  <c:v>30437</c:v>
                </c:pt>
                <c:pt idx="5">
                  <c:v>30468</c:v>
                </c:pt>
                <c:pt idx="6">
                  <c:v>30498</c:v>
                </c:pt>
                <c:pt idx="7">
                  <c:v>30529</c:v>
                </c:pt>
                <c:pt idx="8">
                  <c:v>30560</c:v>
                </c:pt>
                <c:pt idx="9">
                  <c:v>30590</c:v>
                </c:pt>
                <c:pt idx="10">
                  <c:v>30621</c:v>
                </c:pt>
                <c:pt idx="11">
                  <c:v>30651</c:v>
                </c:pt>
                <c:pt idx="12">
                  <c:v>30682</c:v>
                </c:pt>
                <c:pt idx="13">
                  <c:v>30713</c:v>
                </c:pt>
                <c:pt idx="14">
                  <c:v>30742</c:v>
                </c:pt>
                <c:pt idx="15">
                  <c:v>30773</c:v>
                </c:pt>
                <c:pt idx="16">
                  <c:v>30803</c:v>
                </c:pt>
                <c:pt idx="17">
                  <c:v>30834</c:v>
                </c:pt>
                <c:pt idx="18">
                  <c:v>30864</c:v>
                </c:pt>
                <c:pt idx="19">
                  <c:v>30895</c:v>
                </c:pt>
                <c:pt idx="20">
                  <c:v>30926</c:v>
                </c:pt>
                <c:pt idx="21">
                  <c:v>30956</c:v>
                </c:pt>
                <c:pt idx="22">
                  <c:v>30987</c:v>
                </c:pt>
                <c:pt idx="23">
                  <c:v>31017</c:v>
                </c:pt>
                <c:pt idx="24">
                  <c:v>31048</c:v>
                </c:pt>
                <c:pt idx="25">
                  <c:v>31079</c:v>
                </c:pt>
                <c:pt idx="26">
                  <c:v>31107</c:v>
                </c:pt>
                <c:pt idx="27">
                  <c:v>31138</c:v>
                </c:pt>
                <c:pt idx="28">
                  <c:v>31168</c:v>
                </c:pt>
                <c:pt idx="29">
                  <c:v>31199</c:v>
                </c:pt>
                <c:pt idx="30">
                  <c:v>31229</c:v>
                </c:pt>
                <c:pt idx="31">
                  <c:v>31260</c:v>
                </c:pt>
                <c:pt idx="32">
                  <c:v>31291</c:v>
                </c:pt>
                <c:pt idx="33">
                  <c:v>31321</c:v>
                </c:pt>
                <c:pt idx="34">
                  <c:v>31352</c:v>
                </c:pt>
                <c:pt idx="35">
                  <c:v>31382</c:v>
                </c:pt>
                <c:pt idx="36">
                  <c:v>31413</c:v>
                </c:pt>
                <c:pt idx="37">
                  <c:v>31444</c:v>
                </c:pt>
                <c:pt idx="38">
                  <c:v>31472</c:v>
                </c:pt>
                <c:pt idx="39">
                  <c:v>31503</c:v>
                </c:pt>
                <c:pt idx="40">
                  <c:v>31533</c:v>
                </c:pt>
                <c:pt idx="41">
                  <c:v>31564</c:v>
                </c:pt>
                <c:pt idx="42">
                  <c:v>31594</c:v>
                </c:pt>
                <c:pt idx="43">
                  <c:v>31625</c:v>
                </c:pt>
                <c:pt idx="44">
                  <c:v>31656</c:v>
                </c:pt>
                <c:pt idx="45">
                  <c:v>31686</c:v>
                </c:pt>
                <c:pt idx="46">
                  <c:v>31717</c:v>
                </c:pt>
                <c:pt idx="47">
                  <c:v>31747</c:v>
                </c:pt>
                <c:pt idx="48">
                  <c:v>31778</c:v>
                </c:pt>
                <c:pt idx="49">
                  <c:v>31809</c:v>
                </c:pt>
                <c:pt idx="50">
                  <c:v>31837</c:v>
                </c:pt>
                <c:pt idx="51">
                  <c:v>31868</c:v>
                </c:pt>
                <c:pt idx="52">
                  <c:v>31898</c:v>
                </c:pt>
                <c:pt idx="53">
                  <c:v>31929</c:v>
                </c:pt>
                <c:pt idx="54">
                  <c:v>31959</c:v>
                </c:pt>
                <c:pt idx="55">
                  <c:v>31990</c:v>
                </c:pt>
                <c:pt idx="56">
                  <c:v>32021</c:v>
                </c:pt>
                <c:pt idx="57">
                  <c:v>32051</c:v>
                </c:pt>
                <c:pt idx="58">
                  <c:v>32082</c:v>
                </c:pt>
                <c:pt idx="59">
                  <c:v>32112</c:v>
                </c:pt>
                <c:pt idx="60">
                  <c:v>32143</c:v>
                </c:pt>
                <c:pt idx="61">
                  <c:v>32174</c:v>
                </c:pt>
                <c:pt idx="62">
                  <c:v>32203</c:v>
                </c:pt>
                <c:pt idx="63">
                  <c:v>32234</c:v>
                </c:pt>
                <c:pt idx="64">
                  <c:v>32264</c:v>
                </c:pt>
                <c:pt idx="65">
                  <c:v>32295</c:v>
                </c:pt>
                <c:pt idx="66">
                  <c:v>32325</c:v>
                </c:pt>
                <c:pt idx="67">
                  <c:v>32356</c:v>
                </c:pt>
                <c:pt idx="68">
                  <c:v>32387</c:v>
                </c:pt>
                <c:pt idx="69">
                  <c:v>32417</c:v>
                </c:pt>
                <c:pt idx="70">
                  <c:v>32448</c:v>
                </c:pt>
                <c:pt idx="71">
                  <c:v>32478</c:v>
                </c:pt>
              </c:numCache>
            </c:numRef>
          </c:cat>
          <c:val>
            <c:numRef>
              <c:f>'indice 1943-1995'!$F$482:$F$553</c:f>
              <c:numCache>
                <c:formatCode>#,#00%</c:formatCode>
                <c:ptCount val="72"/>
                <c:pt idx="0">
                  <c:v>2.2095534585076368</c:v>
                </c:pt>
                <c:pt idx="1">
                  <c:v>2.4458176442052255</c:v>
                </c:pt>
                <c:pt idx="2">
                  <c:v>2.6611956761526585</c:v>
                </c:pt>
                <c:pt idx="3">
                  <c:v>2.8749073662368456</c:v>
                </c:pt>
                <c:pt idx="4">
                  <c:v>3.1004437687471746</c:v>
                </c:pt>
                <c:pt idx="5">
                  <c:v>3.4019841194279952</c:v>
                </c:pt>
                <c:pt idx="6">
                  <c:v>3.2577797431865836</c:v>
                </c:pt>
                <c:pt idx="7">
                  <c:v>3.3526454837558015</c:v>
                </c:pt>
                <c:pt idx="8">
                  <c:v>3.5125158582999907</c:v>
                </c:pt>
                <c:pt idx="9">
                  <c:v>3.6840156747277488</c:v>
                </c:pt>
                <c:pt idx="10">
                  <c:v>4.015954033716385</c:v>
                </c:pt>
                <c:pt idx="11">
                  <c:v>4.336933785660297</c:v>
                </c:pt>
                <c:pt idx="12">
                  <c:v>4.1786093176927039</c:v>
                </c:pt>
                <c:pt idx="13">
                  <c:v>4.3579233873670944</c:v>
                </c:pt>
                <c:pt idx="14">
                  <c:v>4.7919282727371328</c:v>
                </c:pt>
                <c:pt idx="15">
                  <c:v>5.2248098443783881</c:v>
                </c:pt>
                <c:pt idx="16">
                  <c:v>5.682315805295989</c:v>
                </c:pt>
                <c:pt idx="17">
                  <c:v>5.8021749380350292</c:v>
                </c:pt>
                <c:pt idx="18">
                  <c:v>6.1550566811430851</c:v>
                </c:pt>
                <c:pt idx="19">
                  <c:v>6.4966698819530571</c:v>
                </c:pt>
                <c:pt idx="20">
                  <c:v>6.8783135721970821</c:v>
                </c:pt>
                <c:pt idx="21">
                  <c:v>7.0367922348047145</c:v>
                </c:pt>
                <c:pt idx="22">
                  <c:v>6.7496021754847062</c:v>
                </c:pt>
                <c:pt idx="23">
                  <c:v>6.8798083811035715</c:v>
                </c:pt>
                <c:pt idx="24">
                  <c:v>7.7620538784588593</c:v>
                </c:pt>
                <c:pt idx="25">
                  <c:v>8.0429418683216145</c:v>
                </c:pt>
                <c:pt idx="26">
                  <c:v>8.509591777287671</c:v>
                </c:pt>
                <c:pt idx="27">
                  <c:v>9.3892239222605518</c:v>
                </c:pt>
                <c:pt idx="28">
                  <c:v>10.100180701662307</c:v>
                </c:pt>
                <c:pt idx="29">
                  <c:v>11.289064685981737</c:v>
                </c:pt>
                <c:pt idx="30">
                  <c:v>10.032230316389345</c:v>
                </c:pt>
                <c:pt idx="31">
                  <c:v>8.256741971342791</c:v>
                </c:pt>
                <c:pt idx="32">
                  <c:v>6.4022502599225195</c:v>
                </c:pt>
                <c:pt idx="33">
                  <c:v>5.3237307046400879</c:v>
                </c:pt>
                <c:pt idx="34">
                  <c:v>4.6305242780609568</c:v>
                </c:pt>
                <c:pt idx="35">
                  <c:v>3.8541794235724627</c:v>
                </c:pt>
                <c:pt idx="36">
                  <c:v>2.996325923946626</c:v>
                </c:pt>
                <c:pt idx="37">
                  <c:v>2.3671633943519712</c:v>
                </c:pt>
                <c:pt idx="38">
                  <c:v>1.785865879006673</c:v>
                </c:pt>
                <c:pt idx="39">
                  <c:v>1.2534874485648868</c:v>
                </c:pt>
                <c:pt idx="40">
                  <c:v>0.87410329501087514</c:v>
                </c:pt>
                <c:pt idx="41">
                  <c:v>0.50096766848816032</c:v>
                </c:pt>
                <c:pt idx="42">
                  <c:v>0.50920299212982134</c:v>
                </c:pt>
                <c:pt idx="43">
                  <c:v>0.59276822482045843</c:v>
                </c:pt>
                <c:pt idx="44">
                  <c:v>0.67452694621881482</c:v>
                </c:pt>
                <c:pt idx="45">
                  <c:v>0.74219336179965367</c:v>
                </c:pt>
                <c:pt idx="46">
                  <c:v>0.79198038405671589</c:v>
                </c:pt>
                <c:pt idx="47">
                  <c:v>0.8190871047737136</c:v>
                </c:pt>
                <c:pt idx="48">
                  <c:v>0.89953028884728536</c:v>
                </c:pt>
                <c:pt idx="49">
                  <c:v>0.98845308294466938</c:v>
                </c:pt>
                <c:pt idx="50">
                  <c:v>1.0571280472480526</c:v>
                </c:pt>
                <c:pt idx="51">
                  <c:v>1.0297180051517207</c:v>
                </c:pt>
                <c:pt idx="52">
                  <c:v>1.0321792348781385</c:v>
                </c:pt>
                <c:pt idx="53">
                  <c:v>1.0998831272258403</c:v>
                </c:pt>
                <c:pt idx="54">
                  <c:v>1.1653169559826408</c:v>
                </c:pt>
                <c:pt idx="55">
                  <c:v>1.2639274773812068</c:v>
                </c:pt>
                <c:pt idx="56">
                  <c:v>1.3576081209393225</c:v>
                </c:pt>
                <c:pt idx="57">
                  <c:v>1.6580950292855574</c:v>
                </c:pt>
                <c:pt idx="58">
                  <c:v>1.7836278184306025</c:v>
                </c:pt>
                <c:pt idx="59">
                  <c:v>1.747897747578238</c:v>
                </c:pt>
                <c:pt idx="60">
                  <c:v>1.7864921350786491</c:v>
                </c:pt>
                <c:pt idx="61">
                  <c:v>1.8902665840049595</c:v>
                </c:pt>
                <c:pt idx="62">
                  <c:v>2.0637956705990144</c:v>
                </c:pt>
                <c:pt idx="63">
                  <c:v>2.4758192633095653</c:v>
                </c:pt>
                <c:pt idx="64">
                  <c:v>2.8615160866943348</c:v>
                </c:pt>
                <c:pt idx="65">
                  <c:v>3.2167824131080796</c:v>
                </c:pt>
                <c:pt idx="66">
                  <c:v>3.8123294412383126</c:v>
                </c:pt>
                <c:pt idx="67">
                  <c:v>4.3999659101338686</c:v>
                </c:pt>
                <c:pt idx="68">
                  <c:v>4.4014512833759962</c:v>
                </c:pt>
                <c:pt idx="69">
                  <c:v>3.9233095701015337</c:v>
                </c:pt>
                <c:pt idx="70">
                  <c:v>3.7197584954050011</c:v>
                </c:pt>
                <c:pt idx="71">
                  <c:v>3.8773954610051247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3C-4D4A-97CC-8CB66B9FB999}"/>
            </c:ext>
          </c:extLst>
        </c:ser>
        <c:ser>
          <c:idx val="1"/>
          <c:order val="1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1943-1995'!$A$482:$A$553</c:f>
              <c:numCache>
                <c:formatCode>mmm\-yy</c:formatCode>
                <c:ptCount val="72"/>
                <c:pt idx="0">
                  <c:v>30317</c:v>
                </c:pt>
                <c:pt idx="1">
                  <c:v>30348</c:v>
                </c:pt>
                <c:pt idx="2">
                  <c:v>30376</c:v>
                </c:pt>
                <c:pt idx="3">
                  <c:v>30407</c:v>
                </c:pt>
                <c:pt idx="4">
                  <c:v>30437</c:v>
                </c:pt>
                <c:pt idx="5">
                  <c:v>30468</c:v>
                </c:pt>
                <c:pt idx="6">
                  <c:v>30498</c:v>
                </c:pt>
                <c:pt idx="7">
                  <c:v>30529</c:v>
                </c:pt>
                <c:pt idx="8">
                  <c:v>30560</c:v>
                </c:pt>
                <c:pt idx="9">
                  <c:v>30590</c:v>
                </c:pt>
                <c:pt idx="10">
                  <c:v>30621</c:v>
                </c:pt>
                <c:pt idx="11">
                  <c:v>30651</c:v>
                </c:pt>
                <c:pt idx="12">
                  <c:v>30682</c:v>
                </c:pt>
                <c:pt idx="13">
                  <c:v>30713</c:v>
                </c:pt>
                <c:pt idx="14">
                  <c:v>30742</c:v>
                </c:pt>
                <c:pt idx="15">
                  <c:v>30773</c:v>
                </c:pt>
                <c:pt idx="16">
                  <c:v>30803</c:v>
                </c:pt>
                <c:pt idx="17">
                  <c:v>30834</c:v>
                </c:pt>
                <c:pt idx="18">
                  <c:v>30864</c:v>
                </c:pt>
                <c:pt idx="19">
                  <c:v>30895</c:v>
                </c:pt>
                <c:pt idx="20">
                  <c:v>30926</c:v>
                </c:pt>
                <c:pt idx="21">
                  <c:v>30956</c:v>
                </c:pt>
                <c:pt idx="22">
                  <c:v>30987</c:v>
                </c:pt>
                <c:pt idx="23">
                  <c:v>31017</c:v>
                </c:pt>
                <c:pt idx="24">
                  <c:v>31048</c:v>
                </c:pt>
                <c:pt idx="25">
                  <c:v>31079</c:v>
                </c:pt>
                <c:pt idx="26">
                  <c:v>31107</c:v>
                </c:pt>
                <c:pt idx="27">
                  <c:v>31138</c:v>
                </c:pt>
                <c:pt idx="28">
                  <c:v>31168</c:v>
                </c:pt>
                <c:pt idx="29">
                  <c:v>31199</c:v>
                </c:pt>
                <c:pt idx="30">
                  <c:v>31229</c:v>
                </c:pt>
                <c:pt idx="31">
                  <c:v>31260</c:v>
                </c:pt>
                <c:pt idx="32">
                  <c:v>31291</c:v>
                </c:pt>
                <c:pt idx="33">
                  <c:v>31321</c:v>
                </c:pt>
                <c:pt idx="34">
                  <c:v>31352</c:v>
                </c:pt>
                <c:pt idx="35">
                  <c:v>31382</c:v>
                </c:pt>
                <c:pt idx="36">
                  <c:v>31413</c:v>
                </c:pt>
                <c:pt idx="37">
                  <c:v>31444</c:v>
                </c:pt>
                <c:pt idx="38">
                  <c:v>31472</c:v>
                </c:pt>
                <c:pt idx="39">
                  <c:v>31503</c:v>
                </c:pt>
                <c:pt idx="40">
                  <c:v>31533</c:v>
                </c:pt>
                <c:pt idx="41">
                  <c:v>31564</c:v>
                </c:pt>
                <c:pt idx="42">
                  <c:v>31594</c:v>
                </c:pt>
                <c:pt idx="43">
                  <c:v>31625</c:v>
                </c:pt>
                <c:pt idx="44">
                  <c:v>31656</c:v>
                </c:pt>
                <c:pt idx="45">
                  <c:v>31686</c:v>
                </c:pt>
                <c:pt idx="46">
                  <c:v>31717</c:v>
                </c:pt>
                <c:pt idx="47">
                  <c:v>31747</c:v>
                </c:pt>
                <c:pt idx="48">
                  <c:v>31778</c:v>
                </c:pt>
                <c:pt idx="49">
                  <c:v>31809</c:v>
                </c:pt>
                <c:pt idx="50">
                  <c:v>31837</c:v>
                </c:pt>
                <c:pt idx="51">
                  <c:v>31868</c:v>
                </c:pt>
                <c:pt idx="52">
                  <c:v>31898</c:v>
                </c:pt>
                <c:pt idx="53">
                  <c:v>31929</c:v>
                </c:pt>
                <c:pt idx="54">
                  <c:v>31959</c:v>
                </c:pt>
                <c:pt idx="55">
                  <c:v>31990</c:v>
                </c:pt>
                <c:pt idx="56">
                  <c:v>32021</c:v>
                </c:pt>
                <c:pt idx="57">
                  <c:v>32051</c:v>
                </c:pt>
                <c:pt idx="58">
                  <c:v>32082</c:v>
                </c:pt>
                <c:pt idx="59">
                  <c:v>32112</c:v>
                </c:pt>
                <c:pt idx="60">
                  <c:v>32143</c:v>
                </c:pt>
                <c:pt idx="61">
                  <c:v>32174</c:v>
                </c:pt>
                <c:pt idx="62">
                  <c:v>32203</c:v>
                </c:pt>
                <c:pt idx="63">
                  <c:v>32234</c:v>
                </c:pt>
                <c:pt idx="64">
                  <c:v>32264</c:v>
                </c:pt>
                <c:pt idx="65">
                  <c:v>32295</c:v>
                </c:pt>
                <c:pt idx="66">
                  <c:v>32325</c:v>
                </c:pt>
                <c:pt idx="67">
                  <c:v>32356</c:v>
                </c:pt>
                <c:pt idx="68">
                  <c:v>32387</c:v>
                </c:pt>
                <c:pt idx="69">
                  <c:v>32417</c:v>
                </c:pt>
                <c:pt idx="70">
                  <c:v>32448</c:v>
                </c:pt>
                <c:pt idx="71">
                  <c:v>32478</c:v>
                </c:pt>
              </c:numCache>
            </c:numRef>
          </c:cat>
          <c:val>
            <c:numRef>
              <c:f>'indice 1943-1995'!$H$482:$H$553</c:f>
              <c:numCache>
                <c:formatCode>#,#00%</c:formatCode>
                <c:ptCount val="72"/>
                <c:pt idx="0">
                  <c:v>2.9664742946624756</c:v>
                </c:pt>
                <c:pt idx="1">
                  <c:v>3.0933835506439209</c:v>
                </c:pt>
                <c:pt idx="2">
                  <c:v>3.2208800315856934</c:v>
                </c:pt>
                <c:pt idx="3">
                  <c:v>3.3482599258422852</c:v>
                </c:pt>
                <c:pt idx="4">
                  <c:v>3.4747805595397949</c:v>
                </c:pt>
                <c:pt idx="5">
                  <c:v>3.5996663570404053</c:v>
                </c:pt>
                <c:pt idx="6">
                  <c:v>3.7221157550811768</c:v>
                </c:pt>
                <c:pt idx="7">
                  <c:v>3.8413131237030029</c:v>
                </c:pt>
                <c:pt idx="8">
                  <c:v>3.9564113616943359</c:v>
                </c:pt>
                <c:pt idx="9">
                  <c:v>4.0665287971496582</c:v>
                </c:pt>
                <c:pt idx="10">
                  <c:v>4.1707525253295898</c:v>
                </c:pt>
                <c:pt idx="11">
                  <c:v>4.2681446075439453</c:v>
                </c:pt>
                <c:pt idx="12">
                  <c:v>4.357755184173584</c:v>
                </c:pt>
                <c:pt idx="13">
                  <c:v>4.4386386871337891</c:v>
                </c:pt>
                <c:pt idx="14">
                  <c:v>4.5098385810852051</c:v>
                </c:pt>
                <c:pt idx="15">
                  <c:v>4.5703916549682617</c:v>
                </c:pt>
                <c:pt idx="16">
                  <c:v>4.619354248046875</c:v>
                </c:pt>
                <c:pt idx="17">
                  <c:v>4.6558294296264648</c:v>
                </c:pt>
                <c:pt idx="18">
                  <c:v>4.6789917945861816</c:v>
                </c:pt>
                <c:pt idx="19">
                  <c:v>4.6880984306335449</c:v>
                </c:pt>
                <c:pt idx="20">
                  <c:v>4.6825060844421387</c:v>
                </c:pt>
                <c:pt idx="21">
                  <c:v>4.6616992950439453</c:v>
                </c:pt>
                <c:pt idx="22">
                  <c:v>4.6253137588500977</c:v>
                </c:pt>
                <c:pt idx="23">
                  <c:v>4.573150634765625</c:v>
                </c:pt>
                <c:pt idx="24">
                  <c:v>4.5051584243774414</c:v>
                </c:pt>
                <c:pt idx="25">
                  <c:v>4.4214458465576172</c:v>
                </c:pt>
                <c:pt idx="26">
                  <c:v>4.3223481178283691</c:v>
                </c:pt>
                <c:pt idx="27">
                  <c:v>4.2084517478942871</c:v>
                </c:pt>
                <c:pt idx="28">
                  <c:v>4.0806336402893066</c:v>
                </c:pt>
                <c:pt idx="29">
                  <c:v>3.9401309490203857</c:v>
                </c:pt>
                <c:pt idx="30">
                  <c:v>3.7885987758636475</c:v>
                </c:pt>
                <c:pt idx="31">
                  <c:v>3.6282024383544922</c:v>
                </c:pt>
                <c:pt idx="32">
                  <c:v>3.461540699005127</c:v>
                </c:pt>
                <c:pt idx="33">
                  <c:v>3.2915339469909668</c:v>
                </c:pt>
                <c:pt idx="34">
                  <c:v>3.1213071346282959</c:v>
                </c:pt>
                <c:pt idx="35">
                  <c:v>2.9541256427764893</c:v>
                </c:pt>
                <c:pt idx="36">
                  <c:v>2.7933602333068848</c:v>
                </c:pt>
                <c:pt idx="37">
                  <c:v>2.6424436569213867</c:v>
                </c:pt>
                <c:pt idx="38">
                  <c:v>2.5048234462738037</c:v>
                </c:pt>
                <c:pt idx="39">
                  <c:v>2.3839271068572998</c:v>
                </c:pt>
                <c:pt idx="40">
                  <c:v>2.2831330299377441</c:v>
                </c:pt>
                <c:pt idx="41">
                  <c:v>2.2057409286499023</c:v>
                </c:pt>
                <c:pt idx="42">
                  <c:v>2.1549520492553711</c:v>
                </c:pt>
                <c:pt idx="43">
                  <c:v>2.1338503360748291</c:v>
                </c:pt>
                <c:pt idx="44">
                  <c:v>2.1454043388366699</c:v>
                </c:pt>
                <c:pt idx="45">
                  <c:v>2.1924762725830078</c:v>
                </c:pt>
                <c:pt idx="46">
                  <c:v>2.2778260707855225</c:v>
                </c:pt>
                <c:pt idx="47">
                  <c:v>2.4041128158569336</c:v>
                </c:pt>
                <c:pt idx="48">
                  <c:v>2.5738928318023682</c:v>
                </c:pt>
                <c:pt idx="49">
                  <c:v>2.7896115779876709</c:v>
                </c:pt>
                <c:pt idx="50">
                  <c:v>3.0535988807678223</c:v>
                </c:pt>
                <c:pt idx="51">
                  <c:v>3.3680593967437744</c:v>
                </c:pt>
                <c:pt idx="52">
                  <c:v>3.7350587844848633</c:v>
                </c:pt>
                <c:pt idx="53">
                  <c:v>4.1565008163452148</c:v>
                </c:pt>
                <c:pt idx="54">
                  <c:v>4.634101390838623</c:v>
                </c:pt>
                <c:pt idx="55">
                  <c:v>5.1693639755249023</c:v>
                </c:pt>
                <c:pt idx="56">
                  <c:v>5.7635512351989746</c:v>
                </c:pt>
                <c:pt idx="57">
                  <c:v>6.4176545143127441</c:v>
                </c:pt>
                <c:pt idx="58">
                  <c:v>7.132359504699707</c:v>
                </c:pt>
                <c:pt idx="59">
                  <c:v>7.9080214500427246</c:v>
                </c:pt>
                <c:pt idx="60">
                  <c:v>8.7446231842041016</c:v>
                </c:pt>
                <c:pt idx="61">
                  <c:v>9.6417207717895508</c:v>
                </c:pt>
                <c:pt idx="62">
                  <c:v>10.598386764526367</c:v>
                </c:pt>
                <c:pt idx="63">
                  <c:v>11.613156318664551</c:v>
                </c:pt>
                <c:pt idx="64">
                  <c:v>12.683969497680664</c:v>
                </c:pt>
                <c:pt idx="65">
                  <c:v>13.808134078979492</c:v>
                </c:pt>
                <c:pt idx="66">
                  <c:v>14.982275009155273</c:v>
                </c:pt>
                <c:pt idx="67">
                  <c:v>16.202281951904297</c:v>
                </c:pt>
                <c:pt idx="68">
                  <c:v>17.463268280029297</c:v>
                </c:pt>
                <c:pt idx="69">
                  <c:v>18.759527206420898</c:v>
                </c:pt>
                <c:pt idx="70">
                  <c:v>20.084447860717773</c:v>
                </c:pt>
                <c:pt idx="71">
                  <c:v>21.430383682250977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3C-4D4A-97CC-8CB66B9FB9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0740384"/>
        <c:axId val="308694592"/>
      </c:lineChart>
      <c:dateAx>
        <c:axId val="67074038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08694592"/>
        <c:crosses val="autoZero"/>
        <c:auto val="1"/>
        <c:lblOffset val="100"/>
        <c:baseTimeUnit val="months"/>
      </c:dateAx>
      <c:valAx>
        <c:axId val="308694592"/>
        <c:scaling>
          <c:orientation val="minMax"/>
        </c:scaling>
        <c:delete val="0"/>
        <c:axPos val="l"/>
        <c:numFmt formatCode="#,#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7074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C3E8D-FAC2-4946-B068-25D983F0B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A0FA89-DFD0-4F31-8DC3-0B59DF52D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652BA9-CB3D-4111-92E6-CA5204031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2523-4DAE-4A94-8B75-17BD87BA95FB}" type="datetimeFigureOut">
              <a:rPr lang="es-AR" smtClean="0"/>
              <a:t>15/10/2019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3128FB-9325-4D9E-AAD4-3079675C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C2BC77-91D2-4D90-A71A-54512AAB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551D-CA55-4398-BC1D-355BB11484D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1853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E9F57-D620-4371-A4EB-7D60F32D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4C6C4E-602A-4908-9835-6F6696473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332B22-C2E2-4241-8913-D83E9BC5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2523-4DAE-4A94-8B75-17BD87BA95FB}" type="datetimeFigureOut">
              <a:rPr lang="es-AR" smtClean="0"/>
              <a:t>15/10/2019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634BE8-60DA-422B-A64D-A213A653D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5A57F0-336E-476A-AA99-FBAF5791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551D-CA55-4398-BC1D-355BB11484D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698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2917C-77BA-4E21-B6DE-408156EFE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916013-1979-4A5B-B091-A11567F45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B31DA1-4E74-4E85-9AB5-9EB7AB34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2523-4DAE-4A94-8B75-17BD87BA95FB}" type="datetimeFigureOut">
              <a:rPr lang="es-AR" smtClean="0"/>
              <a:t>15/10/2019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1437B8-9844-4E19-A713-391946AC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C55084-E920-4081-8B0F-9FF2AB250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551D-CA55-4398-BC1D-355BB11484D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963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B847C-AB4A-4DC0-9B2C-17C8DEDA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4AA427-C182-42DD-BE41-C7CD5F148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787C1C-430F-43BF-8CC0-DB470249E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D08EF3-558D-48A2-AF12-E9B945B2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2523-4DAE-4A94-8B75-17BD87BA95FB}" type="datetimeFigureOut">
              <a:rPr lang="es-AR" smtClean="0"/>
              <a:t>15/10/2019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C8F19-EB9C-4241-AEB0-2B44F5307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AAB6E6-5E4C-4B99-881D-CDE995F0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551D-CA55-4398-BC1D-355BB11484D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3726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23477-B822-403B-90D5-F3A2C978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B3FE88-6077-46B1-94EB-B2F1E9A3B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133169-F0D9-452C-91D9-CE5CA2500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C7A7C6-4EFD-41BF-B275-86EB826BC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6549A3F-3236-45E1-A1CB-FF923EBD1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CA2A268-21A0-4E70-A5DD-CB342BAA9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2523-4DAE-4A94-8B75-17BD87BA95FB}" type="datetimeFigureOut">
              <a:rPr lang="es-AR" smtClean="0"/>
              <a:t>15/10/2019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E9A89BC-843A-4873-980A-4FC16CA2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4A645CE-A201-4FAB-B929-F7C28E9F3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551D-CA55-4398-BC1D-355BB11484D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747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30C8E-ADD8-4E25-9FA0-C9B3DBE4E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79B9D93-0AA6-4361-A038-2CBF8A901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2523-4DAE-4A94-8B75-17BD87BA95FB}" type="datetimeFigureOut">
              <a:rPr lang="es-AR" smtClean="0"/>
              <a:t>15/10/2019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EAA226-D5B0-406F-B853-5C0A6575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3AE4C4-6487-47B3-8BE0-C19A59DA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551D-CA55-4398-BC1D-355BB11484D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9417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334AC60-B344-47AF-9483-858DFD6B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2523-4DAE-4A94-8B75-17BD87BA95FB}" type="datetimeFigureOut">
              <a:rPr lang="es-AR" smtClean="0"/>
              <a:t>15/10/2019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F19562-C244-4EF7-AEE0-0836B1998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4FFDE8-1F30-4482-9A28-93B5B71C3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551D-CA55-4398-BC1D-355BB11484D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883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BE19B-ABD7-40F9-856D-9F0C54F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266804-50AB-4824-83BF-906868D7D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4CE31B-ACB3-4F97-99A0-698573AF4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3F947D-CB3C-4A31-A1F0-B1ACA6D3C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2523-4DAE-4A94-8B75-17BD87BA95FB}" type="datetimeFigureOut">
              <a:rPr lang="es-AR" smtClean="0"/>
              <a:t>15/10/2019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13C74A-F512-42F8-AC64-2ACD9DC8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76B080-642C-4032-9AF5-E0240EAED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551D-CA55-4398-BC1D-355BB11484D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14153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5BED8-367F-4F47-A897-211EF5E66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A0E174E-F49E-43DE-AAF8-03B910C2B9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7ED838-B4FC-400D-B5B6-3B81A1097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61BD39-CD05-4CCB-9F8D-CA8902AAA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2523-4DAE-4A94-8B75-17BD87BA95FB}" type="datetimeFigureOut">
              <a:rPr lang="es-AR" smtClean="0"/>
              <a:t>15/10/2019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699B5B-A269-4C14-8A1C-BB5363D48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1842BF-86EE-4375-B7BE-F974C4E6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551D-CA55-4398-BC1D-355BB11484D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6701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C91F4-5421-49DB-BBAF-A3D87287D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6F51C4-59E9-4509-A752-F49B1164F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D72AE1-DA9A-4922-B5A0-8B281A1A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2523-4DAE-4A94-8B75-17BD87BA95FB}" type="datetimeFigureOut">
              <a:rPr lang="es-AR" smtClean="0"/>
              <a:t>15/10/2019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D3A113-A4B8-4215-B59A-8C076CDF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DDBFC0-959E-4F9E-AC36-EAC77EB3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551D-CA55-4398-BC1D-355BB11484D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73336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A71A4C-3AE6-4281-A14C-1CBB15EE15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8ED2C3-A37F-4AD5-BB6E-BDB19BBD1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D321B-3933-45BB-A7CB-CEBEA0FC1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B2523-4DAE-4A94-8B75-17BD87BA95FB}" type="datetimeFigureOut">
              <a:rPr lang="es-AR" smtClean="0"/>
              <a:t>15/10/2019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62037F-EAB2-4856-B84B-54EC5D74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C61572-66D7-49B8-998A-4CD0CD0C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551D-CA55-4398-BC1D-355BB11484D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34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8729394-AA20-41C6-A98B-A90232F63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6EA2C8-F730-4AD5-80B2-286AE317C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FC3AAB-2EB9-46AF-BB38-872D88F6E0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B2523-4DAE-4A94-8B75-17BD87BA95FB}" type="datetimeFigureOut">
              <a:rPr lang="es-AR" smtClean="0"/>
              <a:t>15/10/2019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CD5674-BD2D-4FB4-93C2-159DDA5AF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E91B1D-0528-41EB-BD9E-E12C01421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3551D-CA55-4398-BC1D-355BB11484D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202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9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12192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60121C-229F-42DF-BBAD-BF2E003FA26A}"/>
              </a:ext>
            </a:extLst>
          </p:cNvPr>
          <p:cNvSpPr txBox="1"/>
          <p:nvPr/>
        </p:nvSpPr>
        <p:spPr>
          <a:xfrm>
            <a:off x="3143672" y="1556793"/>
            <a:ext cx="116891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3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B68376-3601-4F72-98F3-FDAD011EED1E}"/>
              </a:ext>
            </a:extLst>
          </p:cNvPr>
          <p:cNvSpPr txBox="1"/>
          <p:nvPr/>
        </p:nvSpPr>
        <p:spPr>
          <a:xfrm>
            <a:off x="4272827" y="1893398"/>
            <a:ext cx="422181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PAN ANTI-INFLACIONARIO DE 1973 </a:t>
            </a:r>
          </a:p>
          <a:p>
            <a:r>
              <a:rPr lang="es-AR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su comparación </a:t>
            </a:r>
          </a:p>
          <a:p>
            <a:r>
              <a:rPr lang="es-AR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los planes previos</a:t>
            </a:r>
          </a:p>
          <a:p>
            <a:endParaRPr lang="es-AR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Plus: Planes </a:t>
            </a:r>
            <a:r>
              <a:rPr lang="es-AR" sz="28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Martinez</a:t>
            </a:r>
            <a:r>
              <a:rPr lang="es-AR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Hoz y Austral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01B6B2D-81F1-4DBD-A9F9-E9C7F8AF5674}"/>
              </a:ext>
            </a:extLst>
          </p:cNvPr>
          <p:cNvCxnSpPr>
            <a:cxnSpLocks/>
          </p:cNvCxnSpPr>
          <p:nvPr/>
        </p:nvCxnSpPr>
        <p:spPr>
          <a:xfrm flipV="1">
            <a:off x="4285389" y="2056472"/>
            <a:ext cx="0" cy="2931148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FD80F71-DBB2-4A82-A91E-887EF10BED05}"/>
              </a:ext>
            </a:extLst>
          </p:cNvPr>
          <p:cNvSpPr/>
          <p:nvPr/>
        </p:nvSpPr>
        <p:spPr>
          <a:xfrm>
            <a:off x="0" y="2610678"/>
            <a:ext cx="12192000" cy="14179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5400" b="1" dirty="0">
                <a:solidFill>
                  <a:schemeClr val="accent1">
                    <a:lumMod val="50000"/>
                  </a:schemeClr>
                </a:solidFill>
              </a:rPr>
              <a:t>PLAN DE 1952</a:t>
            </a:r>
          </a:p>
        </p:txBody>
      </p:sp>
    </p:spTree>
    <p:extLst>
      <p:ext uri="{BB962C8B-B14F-4D97-AF65-F5344CB8AC3E}">
        <p14:creationId xmlns:p14="http://schemas.microsoft.com/office/powerpoint/2010/main" val="3482837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F45ADAB-6EB1-4CCF-868E-07A40615D737}"/>
              </a:ext>
            </a:extLst>
          </p:cNvPr>
          <p:cNvSpPr/>
          <p:nvPr/>
        </p:nvSpPr>
        <p:spPr>
          <a:xfrm>
            <a:off x="1308651" y="1533375"/>
            <a:ext cx="4267200" cy="42794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Congelamiento de salarios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D2BA316-B102-4330-87FA-EE14F118037E}"/>
              </a:ext>
            </a:extLst>
          </p:cNvPr>
          <p:cNvSpPr/>
          <p:nvPr/>
        </p:nvSpPr>
        <p:spPr>
          <a:xfrm>
            <a:off x="6264964" y="2151821"/>
            <a:ext cx="4376532" cy="154553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Recorte fiscal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Modificación de impuestos</a:t>
            </a:r>
          </a:p>
          <a:p>
            <a:pPr algn="ctr"/>
            <a:r>
              <a:rPr lang="es-AR" sz="2000" b="1" i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Esta situación continúa, en cierta medida, en 1953 y 1954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1679E0C-BE79-47F0-923E-3D48FE35AA27}"/>
              </a:ext>
            </a:extLst>
          </p:cNvPr>
          <p:cNvSpPr/>
          <p:nvPr/>
        </p:nvSpPr>
        <p:spPr>
          <a:xfrm>
            <a:off x="831572" y="3531064"/>
            <a:ext cx="4744279" cy="1165956"/>
          </a:xfrm>
          <a:prstGeom prst="roundRect">
            <a:avLst>
              <a:gd name="adj" fmla="val 1408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Menor financiación del BCRA al estado</a:t>
            </a:r>
          </a:p>
          <a:p>
            <a:pPr algn="ctr"/>
            <a:r>
              <a:rPr lang="es-AR" sz="2000" b="1" i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La política monetaria se relaja en 1953, con miras al segundo plan quinquenal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9214E46-5B2B-47B2-90D6-79DF8C6A66F0}"/>
              </a:ext>
            </a:extLst>
          </p:cNvPr>
          <p:cNvSpPr/>
          <p:nvPr/>
        </p:nvSpPr>
        <p:spPr>
          <a:xfrm>
            <a:off x="2418521" y="6266761"/>
            <a:ext cx="7692887" cy="4108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>
                <a:solidFill>
                  <a:schemeClr val="accent1">
                    <a:lumMod val="50000"/>
                  </a:schemeClr>
                </a:solidFill>
              </a:rPr>
              <a:t>EN 1953 EMPIEZA A DISMINUIR EL ESFUERZO ANTIINFLACIONARIO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3E02D8B-BD05-44C7-8197-E6A656EA45D0}"/>
              </a:ext>
            </a:extLst>
          </p:cNvPr>
          <p:cNvSpPr txBox="1">
            <a:spLocks/>
          </p:cNvSpPr>
          <p:nvPr/>
        </p:nvSpPr>
        <p:spPr>
          <a:xfrm>
            <a:off x="10111410" y="0"/>
            <a:ext cx="2093843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>
                <a:solidFill>
                  <a:schemeClr val="accent1">
                    <a:lumMod val="50000"/>
                  </a:schemeClr>
                </a:solidFill>
              </a:rPr>
              <a:t>1952</a:t>
            </a:r>
            <a:endParaRPr lang="es-A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404FDFD-7447-44C8-ACC1-F51B0B836D01}"/>
              </a:ext>
            </a:extLst>
          </p:cNvPr>
          <p:cNvSpPr/>
          <p:nvPr/>
        </p:nvSpPr>
        <p:spPr>
          <a:xfrm>
            <a:off x="6264964" y="5056165"/>
            <a:ext cx="4267200" cy="85145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Ciertas intervenciones en los  mercados de bienes</a:t>
            </a:r>
          </a:p>
        </p:txBody>
      </p:sp>
    </p:spTree>
    <p:extLst>
      <p:ext uri="{BB962C8B-B14F-4D97-AF65-F5344CB8AC3E}">
        <p14:creationId xmlns:p14="http://schemas.microsoft.com/office/powerpoint/2010/main" val="2613490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F812-31E3-40B3-9A37-982EAFF5A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1410" y="0"/>
            <a:ext cx="2093843" cy="958228"/>
          </a:xfrm>
        </p:spPr>
        <p:txBody>
          <a:bodyPr/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1952</a:t>
            </a: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6B51E6A8-5460-43DF-B33D-E58F656C919F}"/>
              </a:ext>
            </a:extLst>
          </p:cNvPr>
          <p:cNvGraphicFramePr>
            <a:graphicFrameLocks/>
          </p:cNvGraphicFramePr>
          <p:nvPr/>
        </p:nvGraphicFramePr>
        <p:xfrm>
          <a:off x="-1" y="814387"/>
          <a:ext cx="12205253" cy="6043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7083286" y="2949886"/>
            <a:ext cx="1345097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PIB/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potencial: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2,3%</a:t>
            </a:r>
          </a:p>
        </p:txBody>
      </p:sp>
    </p:spTree>
    <p:extLst>
      <p:ext uri="{BB962C8B-B14F-4D97-AF65-F5344CB8AC3E}">
        <p14:creationId xmlns:p14="http://schemas.microsoft.com/office/powerpoint/2010/main" val="3660202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F812-31E3-40B3-9A37-982EAFF5A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1410" y="0"/>
            <a:ext cx="2093843" cy="958228"/>
          </a:xfrm>
        </p:spPr>
        <p:txBody>
          <a:bodyPr/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1952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6B90C090-D3DA-4112-92CC-D1B4ABE4DF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7223020"/>
              </p:ext>
            </p:extLst>
          </p:nvPr>
        </p:nvGraphicFramePr>
        <p:xfrm>
          <a:off x="0" y="808383"/>
          <a:ext cx="12192000" cy="6049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8004313" y="5334000"/>
            <a:ext cx="1961322" cy="622851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Achica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0,6 </a:t>
            </a:r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pp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el déficit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B0442B7-D8EE-4A7F-B020-6F003D94D188}"/>
              </a:ext>
            </a:extLst>
          </p:cNvPr>
          <p:cNvSpPr/>
          <p:nvPr/>
        </p:nvSpPr>
        <p:spPr>
          <a:xfrm>
            <a:off x="5367131" y="5459896"/>
            <a:ext cx="1961322" cy="622851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Déficit: 2.8% PIB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E4B99E9-9CCC-499D-AA47-BB4CC3C11A65}"/>
              </a:ext>
            </a:extLst>
          </p:cNvPr>
          <p:cNvCxnSpPr/>
          <p:nvPr/>
        </p:nvCxnSpPr>
        <p:spPr>
          <a:xfrm flipH="1">
            <a:off x="7354957" y="5334000"/>
            <a:ext cx="371060" cy="40419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28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F812-31E3-40B3-9A37-982EAFF5A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1410" y="0"/>
            <a:ext cx="2093843" cy="958228"/>
          </a:xfrm>
        </p:spPr>
        <p:txBody>
          <a:bodyPr/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1952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9C0D88F0-E966-45B4-A9DD-344EA626A3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7362936"/>
              </p:ext>
            </p:extLst>
          </p:nvPr>
        </p:nvGraphicFramePr>
        <p:xfrm>
          <a:off x="0" y="958228"/>
          <a:ext cx="12192000" cy="5899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8163338" y="3429000"/>
            <a:ext cx="1431236" cy="868017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contrae BM real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E0A1EA0-2DFC-4349-BC2D-08C397964EAA}"/>
              </a:ext>
            </a:extLst>
          </p:cNvPr>
          <p:cNvSpPr/>
          <p:nvPr/>
        </p:nvSpPr>
        <p:spPr>
          <a:xfrm>
            <a:off x="4797284" y="3074505"/>
            <a:ext cx="2014333" cy="1003851"/>
          </a:xfrm>
          <a:prstGeom prst="roundRect">
            <a:avLst>
              <a:gd name="adj" fmla="val 1119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El crecimiento real ya se había frenado en 1949</a:t>
            </a:r>
          </a:p>
        </p:txBody>
      </p:sp>
    </p:spTree>
    <p:extLst>
      <p:ext uri="{BB962C8B-B14F-4D97-AF65-F5344CB8AC3E}">
        <p14:creationId xmlns:p14="http://schemas.microsoft.com/office/powerpoint/2010/main" val="66580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F812-31E3-40B3-9A37-982EAFF5A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1410" y="0"/>
            <a:ext cx="2093843" cy="958228"/>
          </a:xfrm>
        </p:spPr>
        <p:txBody>
          <a:bodyPr/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1952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754CE364-74AF-42FA-9C3E-E5FAF615D6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7833505"/>
              </p:ext>
            </p:extLst>
          </p:nvPr>
        </p:nvGraphicFramePr>
        <p:xfrm>
          <a:off x="0" y="811696"/>
          <a:ext cx="12192000" cy="60463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8494642" y="3150705"/>
            <a:ext cx="1431236" cy="868017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1950-1952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-16,5%</a:t>
            </a:r>
          </a:p>
        </p:txBody>
      </p:sp>
    </p:spTree>
    <p:extLst>
      <p:ext uri="{BB962C8B-B14F-4D97-AF65-F5344CB8AC3E}">
        <p14:creationId xmlns:p14="http://schemas.microsoft.com/office/powerpoint/2010/main" val="3761920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F812-31E3-40B3-9A37-982EAFF5A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1410" y="0"/>
            <a:ext cx="2093843" cy="958228"/>
          </a:xfrm>
        </p:spPr>
        <p:txBody>
          <a:bodyPr/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1952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3C7AD6D1-0B30-458F-B28A-4AF725DE60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7984674"/>
              </p:ext>
            </p:extLst>
          </p:nvPr>
        </p:nvGraphicFramePr>
        <p:xfrm>
          <a:off x="-19879" y="1275522"/>
          <a:ext cx="5811079" cy="5582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1053547" y="288615"/>
            <a:ext cx="4061792" cy="986907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Constante durante el plan.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Hubo una devaluación antes (Aumento TC 1949-51: 198%)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99C4288E-4BAD-4963-AF64-4CA46C1657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090712"/>
              </p:ext>
            </p:extLst>
          </p:nvPr>
        </p:nvGraphicFramePr>
        <p:xfrm>
          <a:off x="5996608" y="1275522"/>
          <a:ext cx="6195392" cy="5582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80EE1A1C-7661-40B0-9C1C-1E924541FDE6}"/>
              </a:ext>
            </a:extLst>
          </p:cNvPr>
          <p:cNvSpPr/>
          <p:nvPr/>
        </p:nvSpPr>
        <p:spPr>
          <a:xfrm>
            <a:off x="10230678" y="2570922"/>
            <a:ext cx="1126435" cy="1179443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09233D-E313-4304-B498-D9E6707C0F81}"/>
              </a:ext>
            </a:extLst>
          </p:cNvPr>
          <p:cNvSpPr txBox="1"/>
          <p:nvPr/>
        </p:nvSpPr>
        <p:spPr>
          <a:xfrm>
            <a:off x="10436086" y="1493704"/>
            <a:ext cx="11264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i="1" dirty="0">
                <a:solidFill>
                  <a:schemeClr val="accent1">
                    <a:lumMod val="50000"/>
                  </a:schemeClr>
                </a:solidFill>
              </a:rPr>
              <a:t>Menor que al inicio del peronismo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880754E-8B19-4141-8646-F7A34B17B4F7}"/>
              </a:ext>
            </a:extLst>
          </p:cNvPr>
          <p:cNvSpPr/>
          <p:nvPr/>
        </p:nvSpPr>
        <p:spPr>
          <a:xfrm>
            <a:off x="6788424" y="1797705"/>
            <a:ext cx="1467679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Desv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. </a:t>
            </a:r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Est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.: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0,57</a:t>
            </a:r>
          </a:p>
        </p:txBody>
      </p:sp>
    </p:spTree>
    <p:extLst>
      <p:ext uri="{BB962C8B-B14F-4D97-AF65-F5344CB8AC3E}">
        <p14:creationId xmlns:p14="http://schemas.microsoft.com/office/powerpoint/2010/main" val="2972084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F812-31E3-40B3-9A37-982EAFF5A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1410" y="0"/>
            <a:ext cx="2093843" cy="958228"/>
          </a:xfrm>
        </p:spPr>
        <p:txBody>
          <a:bodyPr/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1952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28ADAD8F-09D7-4BCE-B079-DC085CC6D0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1534158"/>
              </p:ext>
            </p:extLst>
          </p:nvPr>
        </p:nvGraphicFramePr>
        <p:xfrm>
          <a:off x="0" y="768626"/>
          <a:ext cx="12192000" cy="6089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4D9B93D6-67ED-4EAE-B4FF-21FAC4D5726A}"/>
              </a:ext>
            </a:extLst>
          </p:cNvPr>
          <p:cNvSpPr/>
          <p:nvPr/>
        </p:nvSpPr>
        <p:spPr>
          <a:xfrm>
            <a:off x="8441636" y="1726853"/>
            <a:ext cx="808381" cy="513114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687DE28F-DB75-48FC-B46F-4A6CA29662B5}"/>
              </a:ext>
            </a:extLst>
          </p:cNvPr>
          <p:cNvSpPr/>
          <p:nvPr/>
        </p:nvSpPr>
        <p:spPr>
          <a:xfrm>
            <a:off x="1755914" y="1285461"/>
            <a:ext cx="5830955" cy="1901448"/>
          </a:xfrm>
          <a:prstGeom prst="rightArrow">
            <a:avLst>
              <a:gd name="adj1" fmla="val 58878"/>
              <a:gd name="adj2" fmla="val 50000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Previo al plan: </a:t>
            </a:r>
          </a:p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Devaluación</a:t>
            </a:r>
          </a:p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salarios y de algunas tarifas.</a:t>
            </a:r>
          </a:p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Algunos controles de precios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9786729" y="1400140"/>
            <a:ext cx="1325218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INICIO.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FEB-52: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54%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3B7C22F-6C6D-461C-A34F-3262567E52FF}"/>
              </a:ext>
            </a:extLst>
          </p:cNvPr>
          <p:cNvSpPr/>
          <p:nvPr/>
        </p:nvSpPr>
        <p:spPr>
          <a:xfrm>
            <a:off x="9780105" y="2470772"/>
            <a:ext cx="1325218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MIN.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FEB-54: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-7%</a:t>
            </a:r>
          </a:p>
        </p:txBody>
      </p:sp>
    </p:spTree>
    <p:extLst>
      <p:ext uri="{BB962C8B-B14F-4D97-AF65-F5344CB8AC3E}">
        <p14:creationId xmlns:p14="http://schemas.microsoft.com/office/powerpoint/2010/main" val="125860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FD80F71-DBB2-4A82-A91E-887EF10BED05}"/>
              </a:ext>
            </a:extLst>
          </p:cNvPr>
          <p:cNvSpPr/>
          <p:nvPr/>
        </p:nvSpPr>
        <p:spPr>
          <a:xfrm>
            <a:off x="0" y="2610678"/>
            <a:ext cx="12192000" cy="14179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5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 DEL FMI</a:t>
            </a:r>
          </a:p>
        </p:txBody>
      </p:sp>
    </p:spTree>
    <p:extLst>
      <p:ext uri="{BB962C8B-B14F-4D97-AF65-F5344CB8AC3E}">
        <p14:creationId xmlns:p14="http://schemas.microsoft.com/office/powerpoint/2010/main" val="1164767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F45ADAB-6EB1-4CCF-868E-07A40615D737}"/>
              </a:ext>
            </a:extLst>
          </p:cNvPr>
          <p:cNvSpPr/>
          <p:nvPr/>
        </p:nvSpPr>
        <p:spPr>
          <a:xfrm>
            <a:off x="854764" y="1279784"/>
            <a:ext cx="9044609" cy="73454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tarifas y finalización de la mayoría de los controles de precios.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mantuvieron intervenidos los alquileres.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D2BA316-B102-4330-87FA-EE14F118037E}"/>
              </a:ext>
            </a:extLst>
          </p:cNvPr>
          <p:cNvSpPr/>
          <p:nvPr/>
        </p:nvSpPr>
        <p:spPr>
          <a:xfrm>
            <a:off x="2418521" y="2197071"/>
            <a:ext cx="9521686" cy="773074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Los salarios se revisaban una vez al año, por medio de paritarias.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limitaron los aumentos de empleados públicos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1679E0C-BE79-47F0-923E-3D48FE35AA27}"/>
              </a:ext>
            </a:extLst>
          </p:cNvPr>
          <p:cNvSpPr/>
          <p:nvPr/>
        </p:nvSpPr>
        <p:spPr>
          <a:xfrm>
            <a:off x="1000539" y="3124391"/>
            <a:ext cx="9919252" cy="73454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tomaron acciones para bajar gastos y aumentar ingresos públicos </a:t>
            </a:r>
            <a:r>
              <a:rPr lang="es-AR" sz="2000" b="1" i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(más que en 1952)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llevaron a cabo privatizaciones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9214E46-5B2B-47B2-90D6-79DF8C6A66F0}"/>
              </a:ext>
            </a:extLst>
          </p:cNvPr>
          <p:cNvSpPr/>
          <p:nvPr/>
        </p:nvSpPr>
        <p:spPr>
          <a:xfrm>
            <a:off x="2418521" y="6266761"/>
            <a:ext cx="7692887" cy="4108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>
                <a:solidFill>
                  <a:schemeClr val="accent1">
                    <a:lumMod val="50000"/>
                  </a:schemeClr>
                </a:solidFill>
              </a:rPr>
              <a:t>A PARTIR DEL 61 LOS SÍNTOMAS DE CRISIS APARECEN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3F88F50-F283-4206-A51E-29B72C716DF1}"/>
              </a:ext>
            </a:extLst>
          </p:cNvPr>
          <p:cNvSpPr/>
          <p:nvPr/>
        </p:nvSpPr>
        <p:spPr>
          <a:xfrm>
            <a:off x="2418521" y="3997611"/>
            <a:ext cx="9521686" cy="861771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Política monetaria fue fuertemente restrictiva,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tanto en base monetaria como en crédito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7626099-DB69-44B7-9898-27911E998A67}"/>
              </a:ext>
            </a:extLst>
          </p:cNvPr>
          <p:cNvSpPr/>
          <p:nvPr/>
        </p:nvSpPr>
        <p:spPr>
          <a:xfrm>
            <a:off x="881265" y="5025077"/>
            <a:ext cx="4823791" cy="861771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unificó y liberalizó el tipo de cambio: devaluación 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731641F-873B-4E74-BE73-C7BB83780761}"/>
              </a:ext>
            </a:extLst>
          </p:cNvPr>
          <p:cNvSpPr/>
          <p:nvPr/>
        </p:nvSpPr>
        <p:spPr>
          <a:xfrm>
            <a:off x="7079977" y="5025077"/>
            <a:ext cx="4230758" cy="861771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Fuerte liberalización del comercio exterior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3B120646-B774-4AA5-B0C2-C76C73907F37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1959-1960</a:t>
            </a:r>
          </a:p>
        </p:txBody>
      </p:sp>
    </p:spTree>
    <p:extLst>
      <p:ext uri="{BB962C8B-B14F-4D97-AF65-F5344CB8AC3E}">
        <p14:creationId xmlns:p14="http://schemas.microsoft.com/office/powerpoint/2010/main" val="451219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F812-31E3-40B3-9A37-982EAFF5A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7410" y="0"/>
            <a:ext cx="3617844" cy="958228"/>
          </a:xfrm>
        </p:spPr>
        <p:txBody>
          <a:bodyPr>
            <a:norm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1959-1960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51D87020-F44F-48A7-88C7-00C1621B34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7640860"/>
              </p:ext>
            </p:extLst>
          </p:nvPr>
        </p:nvGraphicFramePr>
        <p:xfrm>
          <a:off x="0" y="734874"/>
          <a:ext cx="12205254" cy="6123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5121964" y="3429000"/>
            <a:ext cx="1345097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PIB/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potencial: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5,7%</a:t>
            </a:r>
          </a:p>
        </p:txBody>
      </p:sp>
    </p:spTree>
    <p:extLst>
      <p:ext uri="{BB962C8B-B14F-4D97-AF65-F5344CB8AC3E}">
        <p14:creationId xmlns:p14="http://schemas.microsoft.com/office/powerpoint/2010/main" val="2640575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68DC11DA-F10E-4147-81CA-F127EA7CB3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5233323"/>
              </p:ext>
            </p:extLst>
          </p:nvPr>
        </p:nvGraphicFramePr>
        <p:xfrm>
          <a:off x="0" y="1099930"/>
          <a:ext cx="12205253" cy="5758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5804452" y="5605670"/>
            <a:ext cx="4306958" cy="351181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 </a:t>
            </a:r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def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de 5,9% a </a:t>
            </a:r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sup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de 2,2%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300CA6E-26EE-48AF-9D40-B2C6E272E62E}"/>
              </a:ext>
            </a:extLst>
          </p:cNvPr>
          <p:cNvCxnSpPr>
            <a:cxnSpLocks/>
          </p:cNvCxnSpPr>
          <p:nvPr/>
        </p:nvCxnSpPr>
        <p:spPr>
          <a:xfrm flipV="1">
            <a:off x="5658678" y="2451652"/>
            <a:ext cx="4585252" cy="1166192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9C15624-B8E4-4897-8FE6-71AD896D5936}"/>
              </a:ext>
            </a:extLst>
          </p:cNvPr>
          <p:cNvCxnSpPr>
            <a:cxnSpLocks/>
          </p:cNvCxnSpPr>
          <p:nvPr/>
        </p:nvCxnSpPr>
        <p:spPr>
          <a:xfrm>
            <a:off x="6003235" y="2703443"/>
            <a:ext cx="4585252" cy="10601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ítulo 1">
            <a:extLst>
              <a:ext uri="{FF2B5EF4-FFF2-40B4-BE49-F238E27FC236}">
                <a16:creationId xmlns:a16="http://schemas.microsoft.com/office/drawing/2014/main" id="{C1646C07-93FE-4E0E-A140-927E3850AB0C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>
                <a:solidFill>
                  <a:schemeClr val="accent1">
                    <a:lumMod val="50000"/>
                  </a:schemeClr>
                </a:solidFill>
              </a:rPr>
              <a:t>1959-1960</a:t>
            </a:r>
            <a:endParaRPr lang="es-AR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121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C008CFFF-8349-493D-8BE8-9DB82F3F08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5853856"/>
              </p:ext>
            </p:extLst>
          </p:nvPr>
        </p:nvGraphicFramePr>
        <p:xfrm>
          <a:off x="0" y="958228"/>
          <a:ext cx="12192000" cy="5899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6811616" y="6003235"/>
            <a:ext cx="4770784" cy="40087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contrae BM real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151EC02-D830-4B22-98A8-96FC7E240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7410" y="0"/>
            <a:ext cx="3617844" cy="958228"/>
          </a:xfrm>
        </p:spPr>
        <p:txBody>
          <a:bodyPr>
            <a:norm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1959-1960</a:t>
            </a:r>
          </a:p>
        </p:txBody>
      </p:sp>
    </p:spTree>
    <p:extLst>
      <p:ext uri="{BB962C8B-B14F-4D97-AF65-F5344CB8AC3E}">
        <p14:creationId xmlns:p14="http://schemas.microsoft.com/office/powerpoint/2010/main" val="673667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D209A45E-B139-4505-87B6-67A58E2BC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7410" y="0"/>
            <a:ext cx="3617844" cy="958228"/>
          </a:xfrm>
        </p:spPr>
        <p:txBody>
          <a:bodyPr>
            <a:norm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1959-1960</a:t>
            </a: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40F547F3-C4BD-4671-B9B0-F386D9D8D7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5789220"/>
              </p:ext>
            </p:extLst>
          </p:nvPr>
        </p:nvGraphicFramePr>
        <p:xfrm>
          <a:off x="0" y="649358"/>
          <a:ext cx="12192000" cy="6208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6361042" y="3959087"/>
            <a:ext cx="1431236" cy="868017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1957-1959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-20%</a:t>
            </a:r>
          </a:p>
        </p:txBody>
      </p:sp>
    </p:spTree>
    <p:extLst>
      <p:ext uri="{BB962C8B-B14F-4D97-AF65-F5344CB8AC3E}">
        <p14:creationId xmlns:p14="http://schemas.microsoft.com/office/powerpoint/2010/main" val="2975968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D604D1E8-C3E0-40F9-9477-B099949F8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7410" y="0"/>
            <a:ext cx="3617844" cy="958228"/>
          </a:xfrm>
        </p:spPr>
        <p:txBody>
          <a:bodyPr>
            <a:norm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1959-1960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01090650-F59A-41A3-838E-E67B0DF454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5574107"/>
              </p:ext>
            </p:extLst>
          </p:nvPr>
        </p:nvGraphicFramePr>
        <p:xfrm>
          <a:off x="0" y="1733842"/>
          <a:ext cx="6096000" cy="51241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4A24AC61-1E29-49F5-9169-4386F7BD44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2243115"/>
              </p:ext>
            </p:extLst>
          </p:nvPr>
        </p:nvGraphicFramePr>
        <p:xfrm>
          <a:off x="6096000" y="1733843"/>
          <a:ext cx="6096000" cy="5124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2244510" y="479114"/>
            <a:ext cx="2720162" cy="871330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del TC de 125% durante 1958 y 1959</a:t>
            </a:r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09B598E3-663A-4F07-82C3-6123EF356002}"/>
              </a:ext>
            </a:extLst>
          </p:cNvPr>
          <p:cNvSpPr/>
          <p:nvPr/>
        </p:nvSpPr>
        <p:spPr>
          <a:xfrm>
            <a:off x="9382539" y="3233530"/>
            <a:ext cx="1126435" cy="1179443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3B1E743-338A-4620-B50D-5FE0711F05E7}"/>
              </a:ext>
            </a:extLst>
          </p:cNvPr>
          <p:cNvSpPr txBox="1"/>
          <p:nvPr/>
        </p:nvSpPr>
        <p:spPr>
          <a:xfrm>
            <a:off x="9607825" y="2648755"/>
            <a:ext cx="1126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i="1" dirty="0">
                <a:solidFill>
                  <a:schemeClr val="accent1">
                    <a:lumMod val="50000"/>
                  </a:schemeClr>
                </a:solidFill>
              </a:rPr>
              <a:t>No evitó la caída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012EBD7-7F01-43D5-82E7-5E268F21FB82}"/>
              </a:ext>
            </a:extLst>
          </p:cNvPr>
          <p:cNvSpPr/>
          <p:nvPr/>
        </p:nvSpPr>
        <p:spPr>
          <a:xfrm>
            <a:off x="6586330" y="1519410"/>
            <a:ext cx="1394791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Desv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. </a:t>
            </a:r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Est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.: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1,06</a:t>
            </a:r>
          </a:p>
        </p:txBody>
      </p:sp>
    </p:spTree>
    <p:extLst>
      <p:ext uri="{BB962C8B-B14F-4D97-AF65-F5344CB8AC3E}">
        <p14:creationId xmlns:p14="http://schemas.microsoft.com/office/powerpoint/2010/main" val="4006670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FA764302-3FB6-4B12-A9A9-98D2A34E19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6448740"/>
              </p:ext>
            </p:extLst>
          </p:nvPr>
        </p:nvGraphicFramePr>
        <p:xfrm>
          <a:off x="1" y="1119358"/>
          <a:ext cx="12192000" cy="5738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4D9B93D6-67ED-4EAE-B4FF-21FAC4D5726A}"/>
              </a:ext>
            </a:extLst>
          </p:cNvPr>
          <p:cNvSpPr/>
          <p:nvPr/>
        </p:nvSpPr>
        <p:spPr>
          <a:xfrm>
            <a:off x="5618922" y="1974574"/>
            <a:ext cx="3313043" cy="408166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5DC4235B-8A96-4618-A2A1-BA1ED0EE4515}"/>
              </a:ext>
            </a:extLst>
          </p:cNvPr>
          <p:cNvSpPr/>
          <p:nvPr/>
        </p:nvSpPr>
        <p:spPr>
          <a:xfrm>
            <a:off x="755374" y="1669774"/>
            <a:ext cx="4731026" cy="2902225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Previo al plan: </a:t>
            </a:r>
          </a:p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salarios y de algunas tarifas.</a:t>
            </a:r>
          </a:p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Algunos controles de precios.</a:t>
            </a:r>
          </a:p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había iniciado algún esfuerzo fiscal y monetario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559355C-AB57-4C9B-828A-9F644489C8C2}"/>
              </a:ext>
            </a:extLst>
          </p:cNvPr>
          <p:cNvSpPr/>
          <p:nvPr/>
        </p:nvSpPr>
        <p:spPr>
          <a:xfrm>
            <a:off x="9409044" y="1789044"/>
            <a:ext cx="1258956" cy="958227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INICIO.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DIC-58: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51%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AD17258-F4BD-49A6-9174-4B8B2DB21A9F}"/>
              </a:ext>
            </a:extLst>
          </p:cNvPr>
          <p:cNvSpPr/>
          <p:nvPr/>
        </p:nvSpPr>
        <p:spPr>
          <a:xfrm>
            <a:off x="9409044" y="2937843"/>
            <a:ext cx="1325218" cy="95822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MIN.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ENE-61: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8%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39540E4-E166-4211-B5C0-1E0D9C555641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1959-1960</a:t>
            </a:r>
          </a:p>
        </p:txBody>
      </p:sp>
    </p:spTree>
    <p:extLst>
      <p:ext uri="{BB962C8B-B14F-4D97-AF65-F5344CB8AC3E}">
        <p14:creationId xmlns:p14="http://schemas.microsoft.com/office/powerpoint/2010/main" val="2729665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FD80F71-DBB2-4A82-A91E-887EF10BED05}"/>
              </a:ext>
            </a:extLst>
          </p:cNvPr>
          <p:cNvSpPr/>
          <p:nvPr/>
        </p:nvSpPr>
        <p:spPr>
          <a:xfrm>
            <a:off x="0" y="2610678"/>
            <a:ext cx="12192000" cy="14179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5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 K-V</a:t>
            </a:r>
          </a:p>
        </p:txBody>
      </p:sp>
    </p:spTree>
    <p:extLst>
      <p:ext uri="{BB962C8B-B14F-4D97-AF65-F5344CB8AC3E}">
        <p14:creationId xmlns:p14="http://schemas.microsoft.com/office/powerpoint/2010/main" val="163193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F45ADAB-6EB1-4CCF-868E-07A40615D737}"/>
              </a:ext>
            </a:extLst>
          </p:cNvPr>
          <p:cNvSpPr/>
          <p:nvPr/>
        </p:nvSpPr>
        <p:spPr>
          <a:xfrm>
            <a:off x="472104" y="1133372"/>
            <a:ext cx="6811619" cy="1207309"/>
          </a:xfrm>
          <a:prstGeom prst="roundRect">
            <a:avLst>
              <a:gd name="adj" fmla="val 754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Acuerdo de precios.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Regulación de márgenes, precios y abastecimiento.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prohibiría el traslado a precios de aumentos de salario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D2BA316-B102-4330-87FA-EE14F118037E}"/>
              </a:ext>
            </a:extLst>
          </p:cNvPr>
          <p:cNvSpPr/>
          <p:nvPr/>
        </p:nvSpPr>
        <p:spPr>
          <a:xfrm>
            <a:off x="3578087" y="2836197"/>
            <a:ext cx="8153396" cy="1497264"/>
          </a:xfrm>
          <a:prstGeom prst="roundRect">
            <a:avLst>
              <a:gd name="adj" fmla="val 788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otorgó un aumento de salario y se congeló por dos años.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otorgaron algunos beneficios: asignaciones, disminución de aportes.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aumentaron los salarios al cabo de dos años,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volverían a aumentar antes de cumplirse un año más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9214E46-5B2B-47B2-90D6-79DF8C6A66F0}"/>
              </a:ext>
            </a:extLst>
          </p:cNvPr>
          <p:cNvSpPr/>
          <p:nvPr/>
        </p:nvSpPr>
        <p:spPr>
          <a:xfrm>
            <a:off x="2418521" y="6266761"/>
            <a:ext cx="7692887" cy="4108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>
                <a:solidFill>
                  <a:schemeClr val="accent1">
                    <a:lumMod val="50000"/>
                  </a:schemeClr>
                </a:solidFill>
              </a:rPr>
              <a:t>A PARTIR DE 1970 SALDRÍAN A LA LUZ FALLAS TÉCNICAS DEL PLAN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7626099-DB69-44B7-9898-27911E998A67}"/>
              </a:ext>
            </a:extLst>
          </p:cNvPr>
          <p:cNvSpPr/>
          <p:nvPr/>
        </p:nvSpPr>
        <p:spPr>
          <a:xfrm>
            <a:off x="1252331" y="4928679"/>
            <a:ext cx="5665304" cy="795949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devaluó la moneda y se compensó  con aumento de retenciones y baja de aranceles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96A2F48-BE8C-4B63-BA5E-5B1D7A41417B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1967-1969</a:t>
            </a:r>
          </a:p>
        </p:txBody>
      </p:sp>
    </p:spTree>
    <p:extLst>
      <p:ext uri="{BB962C8B-B14F-4D97-AF65-F5344CB8AC3E}">
        <p14:creationId xmlns:p14="http://schemas.microsoft.com/office/powerpoint/2010/main" val="4081367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F812-31E3-40B3-9A37-982EAFF5A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7410" y="0"/>
            <a:ext cx="3617844" cy="958228"/>
          </a:xfrm>
        </p:spPr>
        <p:txBody>
          <a:bodyPr>
            <a:norm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1967-1969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A39562F2-23BB-426E-99FC-5ABC82E3F8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8028210"/>
              </p:ext>
            </p:extLst>
          </p:nvPr>
        </p:nvGraphicFramePr>
        <p:xfrm>
          <a:off x="0" y="1117289"/>
          <a:ext cx="12192000" cy="5740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4573324" y="3429000"/>
            <a:ext cx="1345097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PIB/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potencial: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-1,6%</a:t>
            </a:r>
          </a:p>
        </p:txBody>
      </p:sp>
      <p:sp>
        <p:nvSpPr>
          <p:cNvPr id="3" name="Flecha: hacia la izquierda 2">
            <a:extLst>
              <a:ext uri="{FF2B5EF4-FFF2-40B4-BE49-F238E27FC236}">
                <a16:creationId xmlns:a16="http://schemas.microsoft.com/office/drawing/2014/main" id="{550237D6-CEF6-4E05-9173-B938BB68BF84}"/>
              </a:ext>
            </a:extLst>
          </p:cNvPr>
          <p:cNvSpPr/>
          <p:nvPr/>
        </p:nvSpPr>
        <p:spPr>
          <a:xfrm>
            <a:off x="6096000" y="3482388"/>
            <a:ext cx="2597426" cy="851452"/>
          </a:xfrm>
          <a:prstGeom prst="lef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DIFERENTE</a:t>
            </a:r>
          </a:p>
        </p:txBody>
      </p:sp>
    </p:spTree>
    <p:extLst>
      <p:ext uri="{BB962C8B-B14F-4D97-AF65-F5344CB8AC3E}">
        <p14:creationId xmlns:p14="http://schemas.microsoft.com/office/powerpoint/2010/main" val="234213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F5CD4B36-4A80-4586-BC83-42E6647CA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7410" y="0"/>
            <a:ext cx="3617844" cy="958228"/>
          </a:xfrm>
        </p:spPr>
        <p:txBody>
          <a:bodyPr>
            <a:norm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1967-1969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D7459DB1-1A4F-4838-9D0B-293CCCBF62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2481873"/>
              </p:ext>
            </p:extLst>
          </p:nvPr>
        </p:nvGraphicFramePr>
        <p:xfrm>
          <a:off x="0" y="958228"/>
          <a:ext cx="12205254" cy="5899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6208644" y="5724181"/>
            <a:ext cx="4187688" cy="351181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Superávit primario promedio: 1% PIB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65C0F040-B4B1-4A4D-850E-16CA3D635A48}"/>
              </a:ext>
            </a:extLst>
          </p:cNvPr>
          <p:cNvSpPr/>
          <p:nvPr/>
        </p:nvSpPr>
        <p:spPr>
          <a:xfrm>
            <a:off x="6208644" y="1815548"/>
            <a:ext cx="218660" cy="212035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Triángulo isósceles 10">
            <a:extLst>
              <a:ext uri="{FF2B5EF4-FFF2-40B4-BE49-F238E27FC236}">
                <a16:creationId xmlns:a16="http://schemas.microsoft.com/office/drawing/2014/main" id="{1CD9C58B-7BA9-4D07-8C48-28E6643725FA}"/>
              </a:ext>
            </a:extLst>
          </p:cNvPr>
          <p:cNvSpPr/>
          <p:nvPr/>
        </p:nvSpPr>
        <p:spPr>
          <a:xfrm>
            <a:off x="6579704" y="1967948"/>
            <a:ext cx="218660" cy="212035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Flecha: hacia la izquierda 2">
            <a:extLst>
              <a:ext uri="{FF2B5EF4-FFF2-40B4-BE49-F238E27FC236}">
                <a16:creationId xmlns:a16="http://schemas.microsoft.com/office/drawing/2014/main" id="{0EDDF13A-B200-41DF-9057-5E1AD85D73C8}"/>
              </a:ext>
            </a:extLst>
          </p:cNvPr>
          <p:cNvSpPr/>
          <p:nvPr/>
        </p:nvSpPr>
        <p:spPr>
          <a:xfrm rot="20983479">
            <a:off x="6839043" y="1311528"/>
            <a:ext cx="2517913" cy="682487"/>
          </a:xfrm>
          <a:prstGeom prst="lef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NO CONTRACTIVO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83C99690-770F-4E46-8017-32ED3875068C}"/>
              </a:ext>
            </a:extLst>
          </p:cNvPr>
          <p:cNvSpPr/>
          <p:nvPr/>
        </p:nvSpPr>
        <p:spPr>
          <a:xfrm rot="1634124">
            <a:off x="3996951" y="1848677"/>
            <a:ext cx="1232452" cy="662609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DÉFICIT</a:t>
            </a:r>
          </a:p>
        </p:txBody>
      </p:sp>
    </p:spTree>
    <p:extLst>
      <p:ext uri="{BB962C8B-B14F-4D97-AF65-F5344CB8AC3E}">
        <p14:creationId xmlns:p14="http://schemas.microsoft.com/office/powerpoint/2010/main" val="136343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85BAD060-F8A9-4FAA-B758-F2D476A3CB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8865629"/>
              </p:ext>
            </p:extLst>
          </p:nvPr>
        </p:nvGraphicFramePr>
        <p:xfrm>
          <a:off x="148051" y="958227"/>
          <a:ext cx="12043949" cy="5899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ítulo 1">
            <a:extLst>
              <a:ext uri="{FF2B5EF4-FFF2-40B4-BE49-F238E27FC236}">
                <a16:creationId xmlns:a16="http://schemas.microsoft.com/office/drawing/2014/main" id="{5D422F94-84B8-4D42-99F4-330CD2037367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1967-1969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5658678" y="2120347"/>
            <a:ext cx="1550505" cy="102041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El primer año del plan, crece</a:t>
            </a:r>
          </a:p>
        </p:txBody>
      </p:sp>
    </p:spTree>
    <p:extLst>
      <p:ext uri="{BB962C8B-B14F-4D97-AF65-F5344CB8AC3E}">
        <p14:creationId xmlns:p14="http://schemas.microsoft.com/office/powerpoint/2010/main" val="787358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16C9FAA0-1570-40C0-9C6E-B6DAC23176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8324446"/>
              </p:ext>
            </p:extLst>
          </p:nvPr>
        </p:nvGraphicFramePr>
        <p:xfrm>
          <a:off x="0" y="1099930"/>
          <a:ext cx="12192000" cy="57580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6361041" y="3283226"/>
            <a:ext cx="1431236" cy="868017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1967-1968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-7,4%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E6D53CE-B3B2-4085-A797-35DA7DB47A2E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1967-1969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BA9C8D2-93B1-4B6D-B6E1-0801D57924A2}"/>
              </a:ext>
            </a:extLst>
          </p:cNvPr>
          <p:cNvSpPr/>
          <p:nvPr/>
        </p:nvSpPr>
        <p:spPr>
          <a:xfrm>
            <a:off x="9833112" y="1563757"/>
            <a:ext cx="2179981" cy="738809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Más alto que al inicio del Plan</a:t>
            </a:r>
          </a:p>
        </p:txBody>
      </p:sp>
    </p:spTree>
    <p:extLst>
      <p:ext uri="{BB962C8B-B14F-4D97-AF65-F5344CB8AC3E}">
        <p14:creationId xmlns:p14="http://schemas.microsoft.com/office/powerpoint/2010/main" val="2963872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028FEE23-0638-411F-97F2-ABADF649E5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1380639"/>
              </p:ext>
            </p:extLst>
          </p:nvPr>
        </p:nvGraphicFramePr>
        <p:xfrm>
          <a:off x="0" y="1417983"/>
          <a:ext cx="6095999" cy="5440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750A4A5B-0D8B-4688-9DD5-6FF1DCED6646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1967-1969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1576959" y="2676940"/>
            <a:ext cx="2902276" cy="936062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Abril-67: 42% de aumento TC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“última devaluación”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47B791CC-7AD5-412C-9441-8F08E4D143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6379112"/>
              </p:ext>
            </p:extLst>
          </p:nvPr>
        </p:nvGraphicFramePr>
        <p:xfrm>
          <a:off x="6009863" y="1417983"/>
          <a:ext cx="6195391" cy="5463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CDE7315-67AF-4649-9BA7-DE19BA1EEE21}"/>
              </a:ext>
            </a:extLst>
          </p:cNvPr>
          <p:cNvSpPr/>
          <p:nvPr/>
        </p:nvSpPr>
        <p:spPr>
          <a:xfrm>
            <a:off x="7262192" y="1943480"/>
            <a:ext cx="1325218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Desv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. </a:t>
            </a:r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Est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.: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0,25</a:t>
            </a:r>
          </a:p>
        </p:txBody>
      </p:sp>
    </p:spTree>
    <p:extLst>
      <p:ext uri="{BB962C8B-B14F-4D97-AF65-F5344CB8AC3E}">
        <p14:creationId xmlns:p14="http://schemas.microsoft.com/office/powerpoint/2010/main" val="3102816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496B25D3-3418-40D4-8373-07D1446B9B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7582769"/>
              </p:ext>
            </p:extLst>
          </p:nvPr>
        </p:nvGraphicFramePr>
        <p:xfrm>
          <a:off x="0" y="958228"/>
          <a:ext cx="12192000" cy="5899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Rectángulo 13">
            <a:extLst>
              <a:ext uri="{FF2B5EF4-FFF2-40B4-BE49-F238E27FC236}">
                <a16:creationId xmlns:a16="http://schemas.microsoft.com/office/drawing/2014/main" id="{793559E2-9A69-4F92-8B60-C16CE53A9A33}"/>
              </a:ext>
            </a:extLst>
          </p:cNvPr>
          <p:cNvSpPr/>
          <p:nvPr/>
        </p:nvSpPr>
        <p:spPr>
          <a:xfrm>
            <a:off x="6705600" y="1974574"/>
            <a:ext cx="3962399" cy="408166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780D04B-75CC-43AA-8C68-9955F374F250}"/>
              </a:ext>
            </a:extLst>
          </p:cNvPr>
          <p:cNvSpPr/>
          <p:nvPr/>
        </p:nvSpPr>
        <p:spPr>
          <a:xfrm>
            <a:off x="2683566" y="4941544"/>
            <a:ext cx="1258956" cy="95822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INICIO.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MAR-67: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27%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3062120-506B-4898-A750-E8B8B779000A}"/>
              </a:ext>
            </a:extLst>
          </p:cNvPr>
          <p:cNvSpPr/>
          <p:nvPr/>
        </p:nvSpPr>
        <p:spPr>
          <a:xfrm>
            <a:off x="4293705" y="4941544"/>
            <a:ext cx="1325218" cy="95822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MIN.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FEB-69: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6%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A5D50AF-A0C7-4151-B300-40E45E318E9B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1967-1969</a:t>
            </a:r>
          </a:p>
        </p:txBody>
      </p:sp>
    </p:spTree>
    <p:extLst>
      <p:ext uri="{BB962C8B-B14F-4D97-AF65-F5344CB8AC3E}">
        <p14:creationId xmlns:p14="http://schemas.microsoft.com/office/powerpoint/2010/main" val="303265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1967-1969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51A01B0-9169-4FF9-A5C0-967C2E417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189309"/>
              </p:ext>
            </p:extLst>
          </p:nvPr>
        </p:nvGraphicFramePr>
        <p:xfrm>
          <a:off x="2686050" y="3167269"/>
          <a:ext cx="68199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429999254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195205340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68130354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41656145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47009884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AR" sz="2000" b="1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Etiquetas de fila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1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1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Salarios y asignaciones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1" u="none" strike="noStrike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Tarifas públicas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1" u="none" strike="noStrike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general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1078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AR" sz="2000" b="1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"El Plan"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0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0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AR" sz="2000" b="0" u="none" strike="noStrike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0" u="none" strike="noStrike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889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AR" sz="2000" b="1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Otras medidas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AR" sz="2000" b="0" u="none" strike="noStrike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AR" sz="2000" b="0" u="none" strike="noStrike" kern="12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0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0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36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AR" sz="2000" b="1" u="none" strike="noStrike" kern="12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general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0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0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0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2000" b="0" u="none" strike="noStrike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785589"/>
                  </a:ext>
                </a:extLst>
              </a:tr>
            </a:tbl>
          </a:graphicData>
        </a:graphic>
      </p:graphicFrame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050AC92-F74D-4F85-97C6-44B8693904E6}"/>
              </a:ext>
            </a:extLst>
          </p:cNvPr>
          <p:cNvSpPr/>
          <p:nvPr/>
        </p:nvSpPr>
        <p:spPr>
          <a:xfrm>
            <a:off x="3597967" y="2115192"/>
            <a:ext cx="4989443" cy="517964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CANTIDAD DE NORMAS DE REGULACIÓN</a:t>
            </a:r>
          </a:p>
        </p:txBody>
      </p:sp>
    </p:spTree>
    <p:extLst>
      <p:ext uri="{BB962C8B-B14F-4D97-AF65-F5344CB8AC3E}">
        <p14:creationId xmlns:p14="http://schemas.microsoft.com/office/powerpoint/2010/main" val="4044866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FD80F71-DBB2-4A82-A91E-887EF10BED05}"/>
              </a:ext>
            </a:extLst>
          </p:cNvPr>
          <p:cNvSpPr/>
          <p:nvPr/>
        </p:nvSpPr>
        <p:spPr>
          <a:xfrm>
            <a:off x="0" y="2610678"/>
            <a:ext cx="12192000" cy="14179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5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 DE 1973</a:t>
            </a:r>
          </a:p>
        </p:txBody>
      </p:sp>
    </p:spTree>
    <p:extLst>
      <p:ext uri="{BB962C8B-B14F-4D97-AF65-F5344CB8AC3E}">
        <p14:creationId xmlns:p14="http://schemas.microsoft.com/office/powerpoint/2010/main" val="1791513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F45ADAB-6EB1-4CCF-868E-07A40615D737}"/>
              </a:ext>
            </a:extLst>
          </p:cNvPr>
          <p:cNvSpPr/>
          <p:nvPr/>
        </p:nvSpPr>
        <p:spPr>
          <a:xfrm>
            <a:off x="715616" y="905011"/>
            <a:ext cx="10827027" cy="958228"/>
          </a:xfrm>
          <a:prstGeom prst="roundRect">
            <a:avLst>
              <a:gd name="adj" fmla="val 9183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Pacto social: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Abrumadora cantidad de normativa sobre control, prohibición, regulación de precios y cantidades.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Los controles irían “relajándose” hasta caer en la flexibilización de precios 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D2BA316-B102-4330-87FA-EE14F118037E}"/>
              </a:ext>
            </a:extLst>
          </p:cNvPr>
          <p:cNvSpPr/>
          <p:nvPr/>
        </p:nvSpPr>
        <p:spPr>
          <a:xfrm>
            <a:off x="715616" y="2372689"/>
            <a:ext cx="11314043" cy="1748134"/>
          </a:xfrm>
          <a:prstGeom prst="roundRect">
            <a:avLst>
              <a:gd name="adj" fmla="val 6151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 el pacto social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elevaron los salarios y todos los componentes del ingreso salarial (con la promesa de dejarlos fijos).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Las Convenciones Colectivas de Trabajo solo negociaban clausulas “no salariales”.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aumentaron 3 veces los salarios en 1974 (el congelamiento no existió).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En 1975 vuelven las convenciones colectivas de trabajo.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9214E46-5B2B-47B2-90D6-79DF8C6A66F0}"/>
              </a:ext>
            </a:extLst>
          </p:cNvPr>
          <p:cNvSpPr/>
          <p:nvPr/>
        </p:nvSpPr>
        <p:spPr>
          <a:xfrm>
            <a:off x="2418521" y="6266761"/>
            <a:ext cx="7692887" cy="4108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>
                <a:solidFill>
                  <a:schemeClr val="accent1">
                    <a:lumMod val="50000"/>
                  </a:schemeClr>
                </a:solidFill>
              </a:rPr>
              <a:t>EN 1975 SE PRODUCIRÍA UNA EXPLOSIÓN INFLACIONARIA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7D86EE3-C442-44A2-9876-BA820690F982}"/>
              </a:ext>
            </a:extLst>
          </p:cNvPr>
          <p:cNvSpPr/>
          <p:nvPr/>
        </p:nvSpPr>
        <p:spPr>
          <a:xfrm>
            <a:off x="2935358" y="4723112"/>
            <a:ext cx="5652052" cy="1137111"/>
          </a:xfrm>
          <a:prstGeom prst="roundRect">
            <a:avLst>
              <a:gd name="adj" fmla="val 9183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Regulación de tasas de interés: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Primero bajan (reales positivas)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LUEGO SUBIRÍAN (no alcanza, reales negativas)</a:t>
            </a:r>
          </a:p>
        </p:txBody>
      </p:sp>
    </p:spTree>
    <p:extLst>
      <p:ext uri="{BB962C8B-B14F-4D97-AF65-F5344CB8AC3E}">
        <p14:creationId xmlns:p14="http://schemas.microsoft.com/office/powerpoint/2010/main" val="372599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E224974D-4275-4925-A011-4A8BFA3AAB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5335236"/>
              </p:ext>
            </p:extLst>
          </p:nvPr>
        </p:nvGraphicFramePr>
        <p:xfrm>
          <a:off x="0" y="958228"/>
          <a:ext cx="12192000" cy="5899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1618089" y="4581939"/>
            <a:ext cx="1345097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PIB/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potencial: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0,3%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2110B72-AC31-472D-84E3-7776E3D6F0E7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9CAB7E9-B913-4F47-9A2F-CAEEF0EE6B57}"/>
              </a:ext>
            </a:extLst>
          </p:cNvPr>
          <p:cNvSpPr txBox="1"/>
          <p:nvPr/>
        </p:nvSpPr>
        <p:spPr>
          <a:xfrm>
            <a:off x="3108960" y="4893836"/>
            <a:ext cx="2319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¿Qué dice </a:t>
            </a:r>
            <a:r>
              <a:rPr lang="es-AR" b="1" dirty="0" err="1">
                <a:solidFill>
                  <a:schemeClr val="accent1">
                    <a:lumMod val="50000"/>
                  </a:schemeClr>
                </a:solidFill>
              </a:rPr>
              <a:t>Arnaudo</a:t>
            </a:r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?</a:t>
            </a:r>
          </a:p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¿Había presiones?</a:t>
            </a:r>
          </a:p>
        </p:txBody>
      </p:sp>
    </p:spTree>
    <p:extLst>
      <p:ext uri="{BB962C8B-B14F-4D97-AF65-F5344CB8AC3E}">
        <p14:creationId xmlns:p14="http://schemas.microsoft.com/office/powerpoint/2010/main" val="617712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6FA45401-32B6-4D35-B405-B8395E824C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995464"/>
              </p:ext>
            </p:extLst>
          </p:nvPr>
        </p:nvGraphicFramePr>
        <p:xfrm>
          <a:off x="0" y="958228"/>
          <a:ext cx="12205254" cy="5899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1623392" y="5548591"/>
            <a:ext cx="4187688" cy="351181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 superávit a déficit del 1% PIB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6017D016-C096-420D-9392-D6FCA3C850A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  <p:sp>
        <p:nvSpPr>
          <p:cNvPr id="14" name="Triángulo isósceles 13">
            <a:extLst>
              <a:ext uri="{FF2B5EF4-FFF2-40B4-BE49-F238E27FC236}">
                <a16:creationId xmlns:a16="http://schemas.microsoft.com/office/drawing/2014/main" id="{DB238413-1E21-4719-99F6-71CFAB39B95E}"/>
              </a:ext>
            </a:extLst>
          </p:cNvPr>
          <p:cNvSpPr/>
          <p:nvPr/>
        </p:nvSpPr>
        <p:spPr>
          <a:xfrm>
            <a:off x="5413512" y="1967948"/>
            <a:ext cx="218660" cy="212035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362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2974B080-E88F-48E9-BB2F-4801218A6F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9444168"/>
              </p:ext>
            </p:extLst>
          </p:nvPr>
        </p:nvGraphicFramePr>
        <p:xfrm>
          <a:off x="0" y="958228"/>
          <a:ext cx="12205254" cy="5899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ítulo 1">
            <a:extLst>
              <a:ext uri="{FF2B5EF4-FFF2-40B4-BE49-F238E27FC236}">
                <a16:creationId xmlns:a16="http://schemas.microsoft.com/office/drawing/2014/main" id="{5D422F94-84B8-4D42-99F4-330CD2037367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4465982" y="5539407"/>
            <a:ext cx="7010401" cy="477079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Crecimiento de base monetaria</a:t>
            </a:r>
          </a:p>
        </p:txBody>
      </p:sp>
    </p:spTree>
    <p:extLst>
      <p:ext uri="{BB962C8B-B14F-4D97-AF65-F5344CB8AC3E}">
        <p14:creationId xmlns:p14="http://schemas.microsoft.com/office/powerpoint/2010/main" val="12784206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FC21D4EF-7A19-4C31-BD91-8E0EDBC5AB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932956"/>
              </p:ext>
            </p:extLst>
          </p:nvPr>
        </p:nvGraphicFramePr>
        <p:xfrm>
          <a:off x="146692" y="1208240"/>
          <a:ext cx="12045308" cy="5649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6954331" y="4338303"/>
            <a:ext cx="1431236" cy="868017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1972-1974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+19%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E6D53CE-B3B2-4085-A797-35DA7DB47A2E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</p:spTree>
    <p:extLst>
      <p:ext uri="{BB962C8B-B14F-4D97-AF65-F5344CB8AC3E}">
        <p14:creationId xmlns:p14="http://schemas.microsoft.com/office/powerpoint/2010/main" val="2479726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664C18D1-FFE7-42BE-8586-B7C1472EDB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6567001"/>
              </p:ext>
            </p:extLst>
          </p:nvPr>
        </p:nvGraphicFramePr>
        <p:xfrm>
          <a:off x="0" y="1563757"/>
          <a:ext cx="6096000" cy="5294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750A4A5B-0D8B-4688-9DD5-6FF1DCED6646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1683001" y="3359426"/>
            <a:ext cx="2729998" cy="806853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Constante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durante el plan</a:t>
            </a: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49CBF8CC-D826-442F-A0A6-D7308AE590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5987527"/>
              </p:ext>
            </p:extLst>
          </p:nvPr>
        </p:nvGraphicFramePr>
        <p:xfrm>
          <a:off x="6109254" y="1563757"/>
          <a:ext cx="6096000" cy="5294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3FB2C4C-9044-41C4-B32A-56EDE66B68C8}"/>
              </a:ext>
            </a:extLst>
          </p:cNvPr>
          <p:cNvSpPr/>
          <p:nvPr/>
        </p:nvSpPr>
        <p:spPr>
          <a:xfrm>
            <a:off x="8839201" y="2208524"/>
            <a:ext cx="1325218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Desv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. </a:t>
            </a:r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Est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.: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0,45</a:t>
            </a:r>
          </a:p>
        </p:txBody>
      </p:sp>
    </p:spTree>
    <p:extLst>
      <p:ext uri="{BB962C8B-B14F-4D97-AF65-F5344CB8AC3E}">
        <p14:creationId xmlns:p14="http://schemas.microsoft.com/office/powerpoint/2010/main" val="8745131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7539A51-5C75-4ADA-9CD6-CBEB57FE0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9511573"/>
              </p:ext>
            </p:extLst>
          </p:nvPr>
        </p:nvGraphicFramePr>
        <p:xfrm>
          <a:off x="0" y="958228"/>
          <a:ext cx="12192000" cy="5899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Rectángulo 13">
            <a:extLst>
              <a:ext uri="{FF2B5EF4-FFF2-40B4-BE49-F238E27FC236}">
                <a16:creationId xmlns:a16="http://schemas.microsoft.com/office/drawing/2014/main" id="{793559E2-9A69-4F92-8B60-C16CE53A9A33}"/>
              </a:ext>
            </a:extLst>
          </p:cNvPr>
          <p:cNvSpPr/>
          <p:nvPr/>
        </p:nvSpPr>
        <p:spPr>
          <a:xfrm>
            <a:off x="6202018" y="1974574"/>
            <a:ext cx="4465982" cy="408166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C0A4EED-48FC-4F64-A33F-BBAAE76A90E8}"/>
              </a:ext>
            </a:extLst>
          </p:cNvPr>
          <p:cNvSpPr/>
          <p:nvPr/>
        </p:nvSpPr>
        <p:spPr>
          <a:xfrm>
            <a:off x="4412975" y="1974574"/>
            <a:ext cx="1258956" cy="1043609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INICIO.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MAY-73: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79%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0B69C61-FA8B-407B-8714-B309BBC20B4C}"/>
              </a:ext>
            </a:extLst>
          </p:cNvPr>
          <p:cNvSpPr/>
          <p:nvPr/>
        </p:nvSpPr>
        <p:spPr>
          <a:xfrm>
            <a:off x="4353340" y="3244746"/>
            <a:ext cx="1325218" cy="95822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MIN.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MAR-74: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12%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8ADFFC0-8EF1-49E3-840A-9DDF78DAA924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</p:spTree>
    <p:extLst>
      <p:ext uri="{BB962C8B-B14F-4D97-AF65-F5344CB8AC3E}">
        <p14:creationId xmlns:p14="http://schemas.microsoft.com/office/powerpoint/2010/main" val="1003058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A5739F5-C6EC-4CD7-BB15-F049720CE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836876"/>
              </p:ext>
            </p:extLst>
          </p:nvPr>
        </p:nvGraphicFramePr>
        <p:xfrm>
          <a:off x="2689087" y="3019632"/>
          <a:ext cx="6807201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44097">
                  <a:extLst>
                    <a:ext uri="{9D8B030D-6E8A-4147-A177-3AD203B41FA5}">
                      <a16:colId xmlns:a16="http://schemas.microsoft.com/office/drawing/2014/main" val="1873454786"/>
                    </a:ext>
                  </a:extLst>
                </a:gridCol>
                <a:gridCol w="858647">
                  <a:extLst>
                    <a:ext uri="{9D8B030D-6E8A-4147-A177-3AD203B41FA5}">
                      <a16:colId xmlns:a16="http://schemas.microsoft.com/office/drawing/2014/main" val="1190830899"/>
                    </a:ext>
                  </a:extLst>
                </a:gridCol>
                <a:gridCol w="858837">
                  <a:extLst>
                    <a:ext uri="{9D8B030D-6E8A-4147-A177-3AD203B41FA5}">
                      <a16:colId xmlns:a16="http://schemas.microsoft.com/office/drawing/2014/main" val="2127788311"/>
                    </a:ext>
                  </a:extLst>
                </a:gridCol>
                <a:gridCol w="726059">
                  <a:extLst>
                    <a:ext uri="{9D8B030D-6E8A-4147-A177-3AD203B41FA5}">
                      <a16:colId xmlns:a16="http://schemas.microsoft.com/office/drawing/2014/main" val="2087426162"/>
                    </a:ext>
                  </a:extLst>
                </a:gridCol>
                <a:gridCol w="719561">
                  <a:extLst>
                    <a:ext uri="{9D8B030D-6E8A-4147-A177-3AD203B41FA5}">
                      <a16:colId xmlns:a16="http://schemas.microsoft.com/office/drawing/2014/main" val="1232883163"/>
                    </a:ext>
                  </a:extLst>
                </a:gridCol>
              </a:tblGrid>
              <a:tr h="424755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ETAPA PLAN</a:t>
                      </a:r>
                      <a:endParaRPr lang="es-AR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Precios </a:t>
                      </a:r>
                    </a:p>
                    <a:p>
                      <a:pPr algn="ctr" fontAlgn="b"/>
                      <a:r>
                        <a:rPr lang="es-AR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y </a:t>
                      </a:r>
                      <a:r>
                        <a:rPr lang="es-AR" sz="2000" b="1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alq</a:t>
                      </a:r>
                      <a:endParaRPr lang="es-AR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Salarios</a:t>
                      </a:r>
                      <a:endParaRPr lang="es-AR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Tarifas</a:t>
                      </a:r>
                      <a:endParaRPr lang="es-AR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Total</a:t>
                      </a:r>
                      <a:endParaRPr lang="es-AR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4053144"/>
                  </a:ext>
                </a:extLst>
              </a:tr>
              <a:tr h="141585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Pacto Social</a:t>
                      </a:r>
                      <a:endParaRPr lang="es-AR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92</a:t>
                      </a:r>
                      <a:endParaRPr lang="es-AR" sz="2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21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7</a:t>
                      </a:r>
                      <a:endParaRPr lang="es-AR" sz="2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120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0188315"/>
                  </a:ext>
                </a:extLst>
              </a:tr>
              <a:tr h="283170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Acta del 27 de Marzo de 1974</a:t>
                      </a:r>
                      <a:endParaRPr lang="es-ES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13</a:t>
                      </a:r>
                      <a:endParaRPr lang="es-AR" sz="2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108217"/>
                  </a:ext>
                </a:extLst>
              </a:tr>
              <a:tr h="141585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Acta 24 de julio 1974</a:t>
                      </a:r>
                      <a:endParaRPr lang="es-AR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5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11</a:t>
                      </a:r>
                      <a:endParaRPr lang="es-AR" sz="2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 </a:t>
                      </a:r>
                      <a:endParaRPr lang="es-AR" sz="2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16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245614"/>
                  </a:ext>
                </a:extLst>
              </a:tr>
              <a:tr h="283170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Acta del 1 de noviembre de 1974</a:t>
                      </a:r>
                      <a:endParaRPr lang="es-ES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lang="es-AR" sz="2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12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s-AR" sz="2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15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792120"/>
                  </a:ext>
                </a:extLst>
              </a:tr>
              <a:tr h="283170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Acta del 28 de febrero de 1975</a:t>
                      </a:r>
                      <a:endParaRPr lang="es-ES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 </a:t>
                      </a:r>
                      <a:endParaRPr lang="es-AR" sz="2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8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 </a:t>
                      </a:r>
                      <a:endParaRPr lang="es-AR" sz="2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8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190658"/>
                  </a:ext>
                </a:extLst>
              </a:tr>
              <a:tr h="141585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RODRIGAZO</a:t>
                      </a:r>
                      <a:endParaRPr lang="es-AR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es-AR" sz="2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11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lang="es-AR" sz="2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14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732585"/>
                  </a:ext>
                </a:extLst>
              </a:tr>
              <a:tr h="141585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TOTAL</a:t>
                      </a:r>
                      <a:endParaRPr lang="es-AR" sz="20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105</a:t>
                      </a:r>
                      <a:endParaRPr lang="es-AR" sz="2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76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11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2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192</a:t>
                      </a:r>
                      <a:endParaRPr lang="es-AR" sz="2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053420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5B98B4F-E6C9-46AF-B971-574F35E6668B}"/>
              </a:ext>
            </a:extLst>
          </p:cNvPr>
          <p:cNvSpPr/>
          <p:nvPr/>
        </p:nvSpPr>
        <p:spPr>
          <a:xfrm>
            <a:off x="3597967" y="2115192"/>
            <a:ext cx="4989443" cy="517964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CANTIDAD DE NORMAS DE REGULACIÓN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3EB30A1-1B11-4129-9A59-95E74B230FAC}"/>
              </a:ext>
            </a:extLst>
          </p:cNvPr>
          <p:cNvSpPr/>
          <p:nvPr/>
        </p:nvSpPr>
        <p:spPr>
          <a:xfrm>
            <a:off x="9733723" y="5418623"/>
            <a:ext cx="1325218" cy="95822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+270% respecto a plan KV</a:t>
            </a:r>
          </a:p>
        </p:txBody>
      </p:sp>
    </p:spTree>
    <p:extLst>
      <p:ext uri="{BB962C8B-B14F-4D97-AF65-F5344CB8AC3E}">
        <p14:creationId xmlns:p14="http://schemas.microsoft.com/office/powerpoint/2010/main" val="1741245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77489AB-12FF-4E2A-8C34-B8074878F235}"/>
              </a:ext>
            </a:extLst>
          </p:cNvPr>
          <p:cNvSpPr/>
          <p:nvPr/>
        </p:nvSpPr>
        <p:spPr>
          <a:xfrm>
            <a:off x="887895" y="2537033"/>
            <a:ext cx="10416209" cy="2042955"/>
          </a:xfrm>
          <a:prstGeom prst="roundRect">
            <a:avLst>
              <a:gd name="adj" fmla="val 436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Arnaudo</a:t>
            </a:r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sobre la inflación:</a:t>
            </a:r>
          </a:p>
          <a:p>
            <a:pPr algn="ctr"/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Desde 1970: inflación más “desordenada”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aumentos “</a:t>
            </a:r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anunciativos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” (anticipando aumentos de costos)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Los salarios se “atrasan” (presiones y aumentos frecuentes)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Variaciones de precios relativos</a:t>
            </a:r>
          </a:p>
        </p:txBody>
      </p:sp>
    </p:spTree>
    <p:extLst>
      <p:ext uri="{BB962C8B-B14F-4D97-AF65-F5344CB8AC3E}">
        <p14:creationId xmlns:p14="http://schemas.microsoft.com/office/powerpoint/2010/main" val="36468405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77489AB-12FF-4E2A-8C34-B8074878F235}"/>
              </a:ext>
            </a:extLst>
          </p:cNvPr>
          <p:cNvSpPr/>
          <p:nvPr/>
        </p:nvSpPr>
        <p:spPr>
          <a:xfrm>
            <a:off x="887895" y="2113342"/>
            <a:ext cx="10416209" cy="2763837"/>
          </a:xfrm>
          <a:prstGeom prst="roundRect">
            <a:avLst>
              <a:gd name="adj" fmla="val 436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PLAN. Primeras medidas:</a:t>
            </a:r>
          </a:p>
          <a:p>
            <a:pPr algn="ctr"/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Aumento de salarios y asignaciones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Congelamiento de precios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Mantenimiento de salario real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Aumento de tarifas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Baja de tasa de interés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Tipo de cambio estable</a:t>
            </a:r>
          </a:p>
        </p:txBody>
      </p:sp>
    </p:spTree>
    <p:extLst>
      <p:ext uri="{BB962C8B-B14F-4D97-AF65-F5344CB8AC3E}">
        <p14:creationId xmlns:p14="http://schemas.microsoft.com/office/powerpoint/2010/main" val="12366052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77489AB-12FF-4E2A-8C34-B8074878F235}"/>
              </a:ext>
            </a:extLst>
          </p:cNvPr>
          <p:cNvSpPr/>
          <p:nvPr/>
        </p:nvSpPr>
        <p:spPr>
          <a:xfrm>
            <a:off x="397566" y="2113341"/>
            <a:ext cx="5539409" cy="2763837"/>
          </a:xfrm>
          <a:prstGeom prst="roundRect">
            <a:avLst>
              <a:gd name="adj" fmla="val 436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Plan de 1967:</a:t>
            </a:r>
          </a:p>
          <a:p>
            <a:pPr algn="ctr"/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1ero se fijaron salarios, tipo de cambio y tarifas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(Marzo y Abril)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Los precios se ajustaron a ellos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(Mayo)</a:t>
            </a:r>
          </a:p>
          <a:p>
            <a:pPr algn="ctr"/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D1C1E0F-953C-432A-9F2F-A1A55D151FAA}"/>
              </a:ext>
            </a:extLst>
          </p:cNvPr>
          <p:cNvSpPr/>
          <p:nvPr/>
        </p:nvSpPr>
        <p:spPr>
          <a:xfrm>
            <a:off x="6255027" y="2113342"/>
            <a:ext cx="5539407" cy="2763837"/>
          </a:xfrm>
          <a:prstGeom prst="roundRect">
            <a:avLst>
              <a:gd name="adj" fmla="val 436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Plan de 1973:</a:t>
            </a:r>
          </a:p>
          <a:p>
            <a:pPr algn="ctr"/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1ero se congelaron precios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(Mayo y junio)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Salarios y tarifas se ajustarían a ellos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(junio y julio)</a:t>
            </a:r>
          </a:p>
          <a:p>
            <a:pPr algn="ctr"/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F12C8ED-96E7-4EEE-A482-654C1E8581EB}"/>
              </a:ext>
            </a:extLst>
          </p:cNvPr>
          <p:cNvSpPr/>
          <p:nvPr/>
        </p:nvSpPr>
        <p:spPr>
          <a:xfrm>
            <a:off x="3379304" y="958228"/>
            <a:ext cx="4240695" cy="5830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¿EN QUÉ SE DIFERENCIA EL ARRANQUE DE LOS DOS PLANES “HETERODOXOS”?</a:t>
            </a:r>
          </a:p>
        </p:txBody>
      </p:sp>
    </p:spTree>
    <p:extLst>
      <p:ext uri="{BB962C8B-B14F-4D97-AF65-F5344CB8AC3E}">
        <p14:creationId xmlns:p14="http://schemas.microsoft.com/office/powerpoint/2010/main" val="103839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2BF4919-4558-4EB5-8847-6B3BA5F4F6C9}"/>
              </a:ext>
            </a:extLst>
          </p:cNvPr>
          <p:cNvSpPr/>
          <p:nvPr/>
        </p:nvSpPr>
        <p:spPr>
          <a:xfrm>
            <a:off x="887895" y="2471340"/>
            <a:ext cx="10416209" cy="1915319"/>
          </a:xfrm>
          <a:prstGeom prst="roundRect">
            <a:avLst>
              <a:gd name="adj" fmla="val 436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Medidas de Marzo del 74:</a:t>
            </a:r>
          </a:p>
          <a:p>
            <a:pPr algn="ctr"/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Aumento de salarios y asignaciones (3 meses antes de lo acordado)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ADMINISTRACIÓN de precios (“política de precios como instrumento selectivo”)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Nuevo aumento de tarifas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Baja tasas de interés (selectivamente)</a:t>
            </a:r>
          </a:p>
        </p:txBody>
      </p:sp>
    </p:spTree>
    <p:extLst>
      <p:ext uri="{BB962C8B-B14F-4D97-AF65-F5344CB8AC3E}">
        <p14:creationId xmlns:p14="http://schemas.microsoft.com/office/powerpoint/2010/main" val="16371134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2BF4919-4558-4EB5-8847-6B3BA5F4F6C9}"/>
              </a:ext>
            </a:extLst>
          </p:cNvPr>
          <p:cNvSpPr/>
          <p:nvPr/>
        </p:nvSpPr>
        <p:spPr>
          <a:xfrm>
            <a:off x="887895" y="2471340"/>
            <a:ext cx="10416209" cy="1915319"/>
          </a:xfrm>
          <a:prstGeom prst="roundRect">
            <a:avLst>
              <a:gd name="adj" fmla="val 436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Luego:</a:t>
            </a:r>
          </a:p>
          <a:p>
            <a:pPr algn="ctr"/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Aumento de salarios y asignaciones (julio 74, noviembre 74, febrero 75…)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Se pasa a una flexibilización de precios, con ajustes “implementados” por la Comisión Nacional de Precios, Ingresos y Nivel de Vida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Aumentos de tasa de interés</a:t>
            </a:r>
          </a:p>
        </p:txBody>
      </p:sp>
    </p:spTree>
    <p:extLst>
      <p:ext uri="{BB962C8B-B14F-4D97-AF65-F5344CB8AC3E}">
        <p14:creationId xmlns:p14="http://schemas.microsoft.com/office/powerpoint/2010/main" val="31830979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1973-1974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2BF4919-4558-4EB5-8847-6B3BA5F4F6C9}"/>
              </a:ext>
            </a:extLst>
          </p:cNvPr>
          <p:cNvSpPr/>
          <p:nvPr/>
        </p:nvSpPr>
        <p:spPr>
          <a:xfrm>
            <a:off x="2756452" y="1752600"/>
            <a:ext cx="6679095" cy="3352800"/>
          </a:xfrm>
          <a:prstGeom prst="roundRect">
            <a:avLst>
              <a:gd name="adj" fmla="val 436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¿Entonces?:</a:t>
            </a:r>
          </a:p>
          <a:p>
            <a:pPr algn="ctr"/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Las convenciones colectivas seguían discutiendo clausulas no salariales, lo que implicaba aumentos de costos.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Se siguieron dando aumentos de salario.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Al pasar a la administración y luego a la flexibilización de precios, se inició una “carrera” de aumentos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La tasa de interés quedó alta primero y baja después.</a:t>
            </a:r>
          </a:p>
          <a:p>
            <a:pPr algn="ctr"/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sym typeface="Wingdings" panose="05000000000000000000" pitchFamily="2" charset="2"/>
            </a:endParaRP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“RODRIGAZO”</a:t>
            </a:r>
          </a:p>
        </p:txBody>
      </p:sp>
    </p:spTree>
    <p:extLst>
      <p:ext uri="{BB962C8B-B14F-4D97-AF65-F5344CB8AC3E}">
        <p14:creationId xmlns:p14="http://schemas.microsoft.com/office/powerpoint/2010/main" val="3087978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FD80F71-DBB2-4A82-A91E-887EF10BED05}"/>
              </a:ext>
            </a:extLst>
          </p:cNvPr>
          <p:cNvSpPr/>
          <p:nvPr/>
        </p:nvSpPr>
        <p:spPr>
          <a:xfrm>
            <a:off x="0" y="2610678"/>
            <a:ext cx="12192000" cy="14179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5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 DE M. </a:t>
            </a:r>
            <a:r>
              <a:rPr lang="es-AR" sz="5400" b="1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</a:rPr>
              <a:t>de HOZ</a:t>
            </a:r>
            <a:endParaRPr kumimoji="0" lang="es-AR" sz="54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2763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F45ADAB-6EB1-4CCF-868E-07A40615D737}"/>
              </a:ext>
            </a:extLst>
          </p:cNvPr>
          <p:cNvSpPr/>
          <p:nvPr/>
        </p:nvSpPr>
        <p:spPr>
          <a:xfrm>
            <a:off x="412476" y="413619"/>
            <a:ext cx="4649857" cy="3710494"/>
          </a:xfrm>
          <a:prstGeom prst="roundRect">
            <a:avLst>
              <a:gd name="adj" fmla="val 452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Caída de Salario real: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Fundamentalmente en 1976.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Hacia la unificación del tipo de cambio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Liberalización y aumento de precios de bienes y servicios. Eliminación de controles.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limitaron los aumentos salariales y los otorgaba el Poder Ejecutivo.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 partir de 1977 se iría ampliando el “margen de flexibilidad laboral” que permitía aumentos por encima de las disposiciones generales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9214E46-5B2B-47B2-90D6-79DF8C6A66F0}"/>
              </a:ext>
            </a:extLst>
          </p:cNvPr>
          <p:cNvSpPr/>
          <p:nvPr/>
        </p:nvSpPr>
        <p:spPr>
          <a:xfrm>
            <a:off x="2418520" y="6409813"/>
            <a:ext cx="7692887" cy="4108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i="1" dirty="0">
                <a:solidFill>
                  <a:schemeClr val="accent1">
                    <a:lumMod val="50000"/>
                  </a:schemeClr>
                </a:solidFill>
              </a:rPr>
              <a:t>EL “PLAN” FUE ECLÉCTICO Y DESORDENADO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1976-1980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ECB2130-EB2A-4E00-BB93-1457D862CFD5}"/>
              </a:ext>
            </a:extLst>
          </p:cNvPr>
          <p:cNvSpPr/>
          <p:nvPr/>
        </p:nvSpPr>
        <p:spPr>
          <a:xfrm>
            <a:off x="5393635" y="1031491"/>
            <a:ext cx="4172776" cy="1900103"/>
          </a:xfrm>
          <a:prstGeom prst="roundRect">
            <a:avLst>
              <a:gd name="adj" fmla="val 9183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Tregua de  precios: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En 1977 se congelaron precios de 700 empresas líderes. También se </a:t>
            </a:r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desindexaron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tarifas.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En 1978 se permitió la modificación de precios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0ABE8CA-6FD4-4C3B-99EC-52E313E2C668}"/>
              </a:ext>
            </a:extLst>
          </p:cNvPr>
          <p:cNvSpPr/>
          <p:nvPr/>
        </p:nvSpPr>
        <p:spPr>
          <a:xfrm>
            <a:off x="352840" y="5217294"/>
            <a:ext cx="11314043" cy="1034983"/>
          </a:xfrm>
          <a:prstGeom prst="roundRect">
            <a:avLst>
              <a:gd name="adj" fmla="val 9183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Política Monetaria: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Desde 1976 hubo intentos de controlar agregados monetarios, crédito, liberar tasas; pero esto coincidía con intentos de controlar el tipo de cambio (lo que se aplica desde 1978).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47F3B03-EBCF-45AB-BD9F-4501463C2C21}"/>
              </a:ext>
            </a:extLst>
          </p:cNvPr>
          <p:cNvSpPr/>
          <p:nvPr/>
        </p:nvSpPr>
        <p:spPr>
          <a:xfrm>
            <a:off x="5393636" y="3046221"/>
            <a:ext cx="4172775" cy="2013537"/>
          </a:xfrm>
          <a:prstGeom prst="roundRect">
            <a:avLst>
              <a:gd name="adj" fmla="val 9183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Tablitas: 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Escalas de aumentos para: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Tipo de cambio comprador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Tarifas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Salarios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Diferentes etapas desde 1978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8238562-8070-402E-9467-2AF8E3F58ACB}"/>
              </a:ext>
            </a:extLst>
          </p:cNvPr>
          <p:cNvSpPr/>
          <p:nvPr/>
        </p:nvSpPr>
        <p:spPr>
          <a:xfrm>
            <a:off x="9897713" y="1697683"/>
            <a:ext cx="1981202" cy="2467821"/>
          </a:xfrm>
          <a:prstGeom prst="roundRect">
            <a:avLst>
              <a:gd name="adj" fmla="val 9183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Apertura de la economía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Desde 1976 se flexibilizaron trabas a importaciones y exportaciones</a:t>
            </a:r>
          </a:p>
        </p:txBody>
      </p:sp>
    </p:spTree>
    <p:extLst>
      <p:ext uri="{BB962C8B-B14F-4D97-AF65-F5344CB8AC3E}">
        <p14:creationId xmlns:p14="http://schemas.microsoft.com/office/powerpoint/2010/main" val="20635782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A2110B72-AC31-472D-84E3-7776E3D6F0E7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1976-1980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FE9BFA4-2083-4B56-9FCA-14DD2A53DF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6764093"/>
              </p:ext>
            </p:extLst>
          </p:nvPr>
        </p:nvGraphicFramePr>
        <p:xfrm>
          <a:off x="251791" y="1317833"/>
          <a:ext cx="11675166" cy="528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1366298" y="4316895"/>
            <a:ext cx="1345097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PIB/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potencial: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-1,3%</a:t>
            </a:r>
          </a:p>
        </p:txBody>
      </p:sp>
    </p:spTree>
    <p:extLst>
      <p:ext uri="{BB962C8B-B14F-4D97-AF65-F5344CB8AC3E}">
        <p14:creationId xmlns:p14="http://schemas.microsoft.com/office/powerpoint/2010/main" val="9305926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5725B433-A588-4142-9998-90ED978F7430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1976-1980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B2575D84-FCEA-426B-B4D4-57560ECE44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5380351"/>
              </p:ext>
            </p:extLst>
          </p:nvPr>
        </p:nvGraphicFramePr>
        <p:xfrm>
          <a:off x="622853" y="1152939"/>
          <a:ext cx="10946296" cy="5512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4399722" y="5347254"/>
            <a:ext cx="4187688" cy="351181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Casi equilibrio </a:t>
            </a:r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(hay algún errorcito en los datos)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0182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D422F94-84B8-4D42-99F4-330CD2037367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1976-1980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39F9DF93-EF89-4C23-84D3-39EF6CB8AE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0102723"/>
              </p:ext>
            </p:extLst>
          </p:nvPr>
        </p:nvGraphicFramePr>
        <p:xfrm>
          <a:off x="715617" y="1126435"/>
          <a:ext cx="10760766" cy="5473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3246783" y="5493025"/>
            <a:ext cx="5340627" cy="477079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En 1976 se toma una PM activa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4DE6559-ACB1-4EC3-A617-46CD51A94889}"/>
              </a:ext>
            </a:extLst>
          </p:cNvPr>
          <p:cNvSpPr/>
          <p:nvPr/>
        </p:nvSpPr>
        <p:spPr>
          <a:xfrm>
            <a:off x="8587410" y="5493024"/>
            <a:ext cx="3617844" cy="477079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va abandonando</a:t>
            </a:r>
          </a:p>
        </p:txBody>
      </p:sp>
    </p:spTree>
    <p:extLst>
      <p:ext uri="{BB962C8B-B14F-4D97-AF65-F5344CB8AC3E}">
        <p14:creationId xmlns:p14="http://schemas.microsoft.com/office/powerpoint/2010/main" val="32659707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F2FB024B-DAEB-44A5-ADAF-560A4C1ACC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0537590"/>
              </p:ext>
            </p:extLst>
          </p:nvPr>
        </p:nvGraphicFramePr>
        <p:xfrm>
          <a:off x="702365" y="1060173"/>
          <a:ext cx="11317357" cy="5406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3150957" y="3763616"/>
            <a:ext cx="1431236" cy="868017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1975-1975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-34%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E6D53CE-B3B2-4085-A797-35DA7DB47A2E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1976-1980</a:t>
            </a:r>
          </a:p>
        </p:txBody>
      </p:sp>
    </p:spTree>
    <p:extLst>
      <p:ext uri="{BB962C8B-B14F-4D97-AF65-F5344CB8AC3E}">
        <p14:creationId xmlns:p14="http://schemas.microsoft.com/office/powerpoint/2010/main" val="25690442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9DF93912-59C5-4D9F-962B-4D921A6A51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6541984"/>
              </p:ext>
            </p:extLst>
          </p:nvPr>
        </p:nvGraphicFramePr>
        <p:xfrm>
          <a:off x="0" y="1563757"/>
          <a:ext cx="5964701" cy="5294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750A4A5B-0D8B-4688-9DD5-6FF1DCED6646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1976-1980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2186583" y="3531704"/>
            <a:ext cx="2729998" cy="806853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Tablita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(en parte junto con </a:t>
            </a:r>
          </a:p>
          <a:p>
            <a:pPr algn="ctr"/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pol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monetaria)</a:t>
            </a: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0DFD1369-8626-487A-92C4-2AE8A41121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4809461"/>
              </p:ext>
            </p:extLst>
          </p:nvPr>
        </p:nvGraphicFramePr>
        <p:xfrm>
          <a:off x="6096000" y="1563757"/>
          <a:ext cx="6123702" cy="5294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5F4434F-BDAE-4930-ACC9-31D3494A9132}"/>
              </a:ext>
            </a:extLst>
          </p:cNvPr>
          <p:cNvSpPr/>
          <p:nvPr/>
        </p:nvSpPr>
        <p:spPr>
          <a:xfrm>
            <a:off x="8289209" y="3531703"/>
            <a:ext cx="2729998" cy="806853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Fuerte apreciación real</a:t>
            </a:r>
          </a:p>
        </p:txBody>
      </p:sp>
    </p:spTree>
    <p:extLst>
      <p:ext uri="{BB962C8B-B14F-4D97-AF65-F5344CB8AC3E}">
        <p14:creationId xmlns:p14="http://schemas.microsoft.com/office/powerpoint/2010/main" val="1051060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F4DA42DD-7137-491A-9B77-0DE13313E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1435970"/>
              </p:ext>
            </p:extLst>
          </p:nvPr>
        </p:nvGraphicFramePr>
        <p:xfrm>
          <a:off x="324678" y="1298713"/>
          <a:ext cx="11867322" cy="5559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Rectángulo 13">
            <a:extLst>
              <a:ext uri="{FF2B5EF4-FFF2-40B4-BE49-F238E27FC236}">
                <a16:creationId xmlns:a16="http://schemas.microsoft.com/office/drawing/2014/main" id="{793559E2-9A69-4F92-8B60-C16CE53A9A33}"/>
              </a:ext>
            </a:extLst>
          </p:cNvPr>
          <p:cNvSpPr/>
          <p:nvPr/>
        </p:nvSpPr>
        <p:spPr>
          <a:xfrm>
            <a:off x="1391478" y="1974574"/>
            <a:ext cx="8998226" cy="408166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C0A4EED-48FC-4F64-A33F-BBAAE76A90E8}"/>
              </a:ext>
            </a:extLst>
          </p:cNvPr>
          <p:cNvSpPr/>
          <p:nvPr/>
        </p:nvSpPr>
        <p:spPr>
          <a:xfrm>
            <a:off x="4386471" y="2173237"/>
            <a:ext cx="1258956" cy="95822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INICIO.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MAR-76: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566%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0B69C61-FA8B-407B-8714-B309BBC20B4C}"/>
              </a:ext>
            </a:extLst>
          </p:cNvPr>
          <p:cNvSpPr/>
          <p:nvPr/>
        </p:nvSpPr>
        <p:spPr>
          <a:xfrm>
            <a:off x="4353340" y="3244746"/>
            <a:ext cx="1325218" cy="95822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MIN.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MAR-81: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82%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8ADFFC0-8EF1-49E3-840A-9DDF78DAA924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1976-1980</a:t>
            </a:r>
          </a:p>
        </p:txBody>
      </p:sp>
      <p:sp>
        <p:nvSpPr>
          <p:cNvPr id="2" name="Flecha: hacia la izquierda 1">
            <a:extLst>
              <a:ext uri="{FF2B5EF4-FFF2-40B4-BE49-F238E27FC236}">
                <a16:creationId xmlns:a16="http://schemas.microsoft.com/office/drawing/2014/main" id="{AA0C5B52-D00F-4AB3-BE7F-9AC34E2D3E2B}"/>
              </a:ext>
            </a:extLst>
          </p:cNvPr>
          <p:cNvSpPr/>
          <p:nvPr/>
        </p:nvSpPr>
        <p:spPr>
          <a:xfrm>
            <a:off x="1974575" y="2478157"/>
            <a:ext cx="1696277" cy="1194730"/>
          </a:xfrm>
          <a:prstGeom prst="lef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Libera precios</a:t>
            </a:r>
          </a:p>
        </p:txBody>
      </p:sp>
    </p:spTree>
    <p:extLst>
      <p:ext uri="{BB962C8B-B14F-4D97-AF65-F5344CB8AC3E}">
        <p14:creationId xmlns:p14="http://schemas.microsoft.com/office/powerpoint/2010/main" val="32988871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1976-1980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C37F8B9-07A0-4F9D-8D39-54CD23A881B4}"/>
              </a:ext>
            </a:extLst>
          </p:cNvPr>
          <p:cNvSpPr/>
          <p:nvPr/>
        </p:nvSpPr>
        <p:spPr>
          <a:xfrm>
            <a:off x="543339" y="1690688"/>
            <a:ext cx="11105321" cy="4427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b="1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Apreciaciones finales</a:t>
            </a:r>
            <a:endParaRPr lang="es-ES" sz="1400" kern="100" dirty="0">
              <a:solidFill>
                <a:schemeClr val="accent1">
                  <a:lumMod val="50000"/>
                </a:schemeClr>
              </a:solidFill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s-ES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se dijo al principio, la estrategia de Martínez de Hoz no fue del todo coherente y se aplicaron medidas que intentaron atacar diversos frentes, pero con poca coordinación y con giros bruscos en los objetivos perseguidos.</a:t>
            </a:r>
            <a:endParaRPr lang="es-ES" sz="1400" kern="100" dirty="0">
              <a:solidFill>
                <a:schemeClr val="accent1">
                  <a:lumMod val="50000"/>
                </a:schemeClr>
              </a:solidFill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es-ES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Desde un principio el gobierno tuvo la intención de </a:t>
            </a:r>
            <a:r>
              <a:rPr lang="es-ES" b="1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contener la financiación del déficit fiscal </a:t>
            </a:r>
            <a:r>
              <a:rPr lang="es-ES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 la política monetaria. Sin embargo, </a:t>
            </a:r>
            <a:r>
              <a:rPr lang="es-ES" b="1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 modificación se dio de manera gradual</a:t>
            </a:r>
            <a:r>
              <a:rPr lang="es-ES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400" kern="100" dirty="0">
              <a:solidFill>
                <a:schemeClr val="accent1">
                  <a:lumMod val="50000"/>
                </a:schemeClr>
              </a:solidFill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es-ES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por eso que, inicialmente, se </a:t>
            </a:r>
            <a:r>
              <a:rPr lang="es-ES" b="1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contuvieron los salarios reales </a:t>
            </a:r>
            <a:r>
              <a:rPr lang="es-ES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frenar las presiones de demanda. Posteriormente se implementó una </a:t>
            </a:r>
            <a:r>
              <a:rPr lang="es-ES" b="1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tregua de precios </a:t>
            </a:r>
            <a:r>
              <a:rPr lang="es-ES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contener las expectativas y se recurrió a cierta </a:t>
            </a:r>
            <a:r>
              <a:rPr lang="es-ES" b="1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apertura económica para bajar los precios </a:t>
            </a:r>
            <a:r>
              <a:rPr lang="es-ES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internos. En </a:t>
            </a:r>
            <a:r>
              <a:rPr lang="es-ES" b="1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1977 cobraron fuerza las medidas restrictivas de política monetaria, atacando </a:t>
            </a:r>
            <a:r>
              <a:rPr lang="es-ES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lleno las presiones inflacionarias.</a:t>
            </a:r>
            <a:endParaRPr lang="es-ES" sz="1400" kern="100" dirty="0">
              <a:solidFill>
                <a:schemeClr val="accent1">
                  <a:lumMod val="50000"/>
                </a:schemeClr>
              </a:solidFill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es-ES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Hacia 1978 quedó de manifiesto que las intenciones de control monetario chocaban con el manejo del tipo de cambio. Finalmente, </a:t>
            </a:r>
            <a:r>
              <a:rPr lang="es-ES" b="1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triunfó el segundo frente y se aplicaron las “tablitas” </a:t>
            </a:r>
            <a:r>
              <a:rPr lang="es-ES" kern="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(entre ellas la del tipo de cambio) con la intención de contener, nuevamente, las expectativas inflacionarias.</a:t>
            </a:r>
            <a:endParaRPr lang="es-ES" sz="1400" kern="100" dirty="0">
              <a:solidFill>
                <a:schemeClr val="accent1">
                  <a:lumMod val="50000"/>
                </a:schemeClr>
              </a:solidFill>
              <a:effectLst/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5518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FD80F71-DBB2-4A82-A91E-887EF10BED05}"/>
              </a:ext>
            </a:extLst>
          </p:cNvPr>
          <p:cNvSpPr/>
          <p:nvPr/>
        </p:nvSpPr>
        <p:spPr>
          <a:xfrm>
            <a:off x="0" y="2610678"/>
            <a:ext cx="12192000" cy="14179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5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 AUSTRAL</a:t>
            </a:r>
          </a:p>
        </p:txBody>
      </p:sp>
    </p:spTree>
    <p:extLst>
      <p:ext uri="{BB962C8B-B14F-4D97-AF65-F5344CB8AC3E}">
        <p14:creationId xmlns:p14="http://schemas.microsoft.com/office/powerpoint/2010/main" val="38191831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F45ADAB-6EB1-4CCF-868E-07A40615D737}"/>
              </a:ext>
            </a:extLst>
          </p:cNvPr>
          <p:cNvSpPr/>
          <p:nvPr/>
        </p:nvSpPr>
        <p:spPr>
          <a:xfrm>
            <a:off x="412476" y="1261758"/>
            <a:ext cx="3920985" cy="2517975"/>
          </a:xfrm>
          <a:prstGeom prst="roundRect">
            <a:avLst>
              <a:gd name="adj" fmla="val 452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Plan austral I. Hasta junio 86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Congelamiento de precios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salarios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tasa de interés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Tipo de cambio fijo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ingresos fiscales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Regulaciones sobre crédito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Creación del Austral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1985-1987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CC9AC59-66D9-470C-903E-A84534C54813}"/>
              </a:ext>
            </a:extLst>
          </p:cNvPr>
          <p:cNvSpPr/>
          <p:nvPr/>
        </p:nvSpPr>
        <p:spPr>
          <a:xfrm>
            <a:off x="412475" y="4064950"/>
            <a:ext cx="3920985" cy="1842948"/>
          </a:xfrm>
          <a:prstGeom prst="roundRect">
            <a:avLst>
              <a:gd name="adj" fmla="val 452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Plan austral II. Hasta </a:t>
            </a:r>
            <a:r>
              <a:rPr lang="es-AR" sz="2000" b="1" u="sng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sep</a:t>
            </a:r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86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salarios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tarifas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tipo de cambio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autorizó aumento de precios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Leve relajación de PM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A2D5264-7DF5-4D0C-BDA7-0A31FC3ED33E}"/>
              </a:ext>
            </a:extLst>
          </p:cNvPr>
          <p:cNvSpPr/>
          <p:nvPr/>
        </p:nvSpPr>
        <p:spPr>
          <a:xfrm>
            <a:off x="4593537" y="1886010"/>
            <a:ext cx="5252826" cy="1893723"/>
          </a:xfrm>
          <a:prstGeom prst="roundRect">
            <a:avLst>
              <a:gd name="adj" fmla="val 452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Plan austral III. Hasta feb 87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Baja de gasto y aumento de ingreso fiscal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salarios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tarifas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tipo de cambio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autorizaron aumentos de precios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012AF7A-07C4-485B-90B3-905647436E1D}"/>
              </a:ext>
            </a:extLst>
          </p:cNvPr>
          <p:cNvSpPr/>
          <p:nvPr/>
        </p:nvSpPr>
        <p:spPr>
          <a:xfrm>
            <a:off x="4593538" y="3979682"/>
            <a:ext cx="4166150" cy="1282163"/>
          </a:xfrm>
          <a:prstGeom prst="roundRect">
            <a:avLst>
              <a:gd name="adj" fmla="val 452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Plan austral IV. Hasta May 87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Nuevo congelamiento de precios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y congelamiento de tarifas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tipo de cambio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49B892A8-8842-420A-BC7F-26C8187DEC1D}"/>
              </a:ext>
            </a:extLst>
          </p:cNvPr>
          <p:cNvSpPr/>
          <p:nvPr/>
        </p:nvSpPr>
        <p:spPr>
          <a:xfrm>
            <a:off x="8837960" y="4064950"/>
            <a:ext cx="3116743" cy="806484"/>
          </a:xfrm>
          <a:prstGeom prst="roundRect">
            <a:avLst>
              <a:gd name="adj" fmla="val 452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Plan austral V. Hasta Oct 87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Aumentos de salarios</a:t>
            </a:r>
          </a:p>
        </p:txBody>
      </p:sp>
    </p:spTree>
    <p:extLst>
      <p:ext uri="{BB962C8B-B14F-4D97-AF65-F5344CB8AC3E}">
        <p14:creationId xmlns:p14="http://schemas.microsoft.com/office/powerpoint/2010/main" val="23842916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F45ADAB-6EB1-4CCF-868E-07A40615D737}"/>
              </a:ext>
            </a:extLst>
          </p:cNvPr>
          <p:cNvSpPr/>
          <p:nvPr/>
        </p:nvSpPr>
        <p:spPr>
          <a:xfrm>
            <a:off x="398394" y="1646321"/>
            <a:ext cx="11395211" cy="1842948"/>
          </a:xfrm>
          <a:prstGeom prst="roundRect">
            <a:avLst>
              <a:gd name="adj" fmla="val 452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Plan Octubre 1987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Numerosa normativa para aumentar ingresos y disminuir gastos fiscales (más que en plan austral)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establecieron nuevos controles de precios. Desde 1988 se autorizaron aumentos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Aumentos de salarios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Desdoblamiento de tipo de cambio y aumento de aranceles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Contracción monetaria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B6D55DB-72F8-4710-BFC2-D62CAF5C717F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1987-1988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9874F65-81CF-4CC7-B5F7-48428AF32B79}"/>
              </a:ext>
            </a:extLst>
          </p:cNvPr>
          <p:cNvSpPr/>
          <p:nvPr/>
        </p:nvSpPr>
        <p:spPr>
          <a:xfrm>
            <a:off x="398394" y="4177363"/>
            <a:ext cx="11395211" cy="1842948"/>
          </a:xfrm>
          <a:prstGeom prst="roundRect">
            <a:avLst>
              <a:gd name="adj" fmla="val 4529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Plan Primavera (ago-88)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Disminución de gastos fiscales, emisión de deuda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Nuevo congelamiento de precios con pautas de aumento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Nuevos aumentos de salarios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Más desdoblamientos cambiarios (estableciendo qué se comerciaba en cada segmento)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tarifas</a:t>
            </a:r>
          </a:p>
        </p:txBody>
      </p:sp>
    </p:spTree>
    <p:extLst>
      <p:ext uri="{BB962C8B-B14F-4D97-AF65-F5344CB8AC3E}">
        <p14:creationId xmlns:p14="http://schemas.microsoft.com/office/powerpoint/2010/main" val="34875929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A2110B72-AC31-472D-84E3-7776E3D6F0E7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1985-1988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1B1D3E80-49EA-4865-A3C9-67EA116392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7784252"/>
              </p:ext>
            </p:extLst>
          </p:nvPr>
        </p:nvGraphicFramePr>
        <p:xfrm>
          <a:off x="0" y="1364975"/>
          <a:ext cx="12192000" cy="5493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5779272" y="4111488"/>
            <a:ext cx="1345097" cy="95822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PIB/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potencial: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-4,8%</a:t>
            </a:r>
          </a:p>
        </p:txBody>
      </p:sp>
    </p:spTree>
    <p:extLst>
      <p:ext uri="{BB962C8B-B14F-4D97-AF65-F5344CB8AC3E}">
        <p14:creationId xmlns:p14="http://schemas.microsoft.com/office/powerpoint/2010/main" val="18797299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E4F43C86-D389-4545-8B5F-0FABD15ABC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7328653"/>
              </p:ext>
            </p:extLst>
          </p:nvPr>
        </p:nvGraphicFramePr>
        <p:xfrm>
          <a:off x="0" y="821636"/>
          <a:ext cx="12205254" cy="6036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5725B433-A588-4142-9998-90ED978F7430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1982-1988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3061252" y="5365853"/>
            <a:ext cx="4187688" cy="351181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 alcanza el Superávit fiscal en 1985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F02E8AA-B283-430F-B3F3-4D1ABE0014EF}"/>
              </a:ext>
            </a:extLst>
          </p:cNvPr>
          <p:cNvSpPr/>
          <p:nvPr/>
        </p:nvSpPr>
        <p:spPr>
          <a:xfrm>
            <a:off x="7401339" y="5486401"/>
            <a:ext cx="4187688" cy="549964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Luego empieza a caer y vuelve al déficit en 1988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0AC4BBB-C3ED-439F-817A-52CF299BA9B0}"/>
              </a:ext>
            </a:extLst>
          </p:cNvPr>
          <p:cNvSpPr/>
          <p:nvPr/>
        </p:nvSpPr>
        <p:spPr>
          <a:xfrm>
            <a:off x="9276524" y="1419257"/>
            <a:ext cx="2623928" cy="607047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Inicia un intento de mayor esfuerzo fiscal</a:t>
            </a:r>
          </a:p>
        </p:txBody>
      </p:sp>
    </p:spTree>
    <p:extLst>
      <p:ext uri="{BB962C8B-B14F-4D97-AF65-F5344CB8AC3E}">
        <p14:creationId xmlns:p14="http://schemas.microsoft.com/office/powerpoint/2010/main" val="28119820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94520DEA-124F-42FB-850A-D9882186DD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391852"/>
              </p:ext>
            </p:extLst>
          </p:nvPr>
        </p:nvGraphicFramePr>
        <p:xfrm>
          <a:off x="1" y="958228"/>
          <a:ext cx="12192000" cy="5899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ítulo 1">
            <a:extLst>
              <a:ext uri="{FF2B5EF4-FFF2-40B4-BE49-F238E27FC236}">
                <a16:creationId xmlns:a16="http://schemas.microsoft.com/office/drawing/2014/main" id="{5D422F94-84B8-4D42-99F4-330CD2037367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1985-1988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1921567" y="2339008"/>
            <a:ext cx="1749286" cy="894522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Crecimiento de la mano de la reforma del 82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4DE6559-ACB1-4EC3-A617-46CD51A94889}"/>
              </a:ext>
            </a:extLst>
          </p:cNvPr>
          <p:cNvSpPr/>
          <p:nvPr/>
        </p:nvSpPr>
        <p:spPr>
          <a:xfrm>
            <a:off x="5784574" y="4446103"/>
            <a:ext cx="4883425" cy="477079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Caída real de la Base Monetaria</a:t>
            </a:r>
          </a:p>
        </p:txBody>
      </p:sp>
    </p:spTree>
    <p:extLst>
      <p:ext uri="{BB962C8B-B14F-4D97-AF65-F5344CB8AC3E}">
        <p14:creationId xmlns:p14="http://schemas.microsoft.com/office/powerpoint/2010/main" val="29616586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5F4F5E94-3D30-4269-AA1E-3588770530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5837673"/>
              </p:ext>
            </p:extLst>
          </p:nvPr>
        </p:nvGraphicFramePr>
        <p:xfrm>
          <a:off x="0" y="1341782"/>
          <a:ext cx="12192000" cy="5516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4436418" y="4099890"/>
            <a:ext cx="1431236" cy="868017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1984-1985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-19%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E6D53CE-B3B2-4085-A797-35DA7DB47A2E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1982-1988</a:t>
            </a:r>
          </a:p>
        </p:txBody>
      </p:sp>
    </p:spTree>
    <p:extLst>
      <p:ext uri="{BB962C8B-B14F-4D97-AF65-F5344CB8AC3E}">
        <p14:creationId xmlns:p14="http://schemas.microsoft.com/office/powerpoint/2010/main" val="15275006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44DC677-6C4D-4DB6-B580-8EAAD04941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2751872"/>
              </p:ext>
            </p:extLst>
          </p:nvPr>
        </p:nvGraphicFramePr>
        <p:xfrm>
          <a:off x="0" y="1762539"/>
          <a:ext cx="6096000" cy="5095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4EBA2260-E3E4-4F98-B232-3209D78BFC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7141798"/>
              </p:ext>
            </p:extLst>
          </p:nvPr>
        </p:nvGraphicFramePr>
        <p:xfrm>
          <a:off x="6096000" y="1762539"/>
          <a:ext cx="6096000" cy="5095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750A4A5B-0D8B-4688-9DD5-6FF1DCED6646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1985-1988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8E9372-8A00-4574-82A7-1652653858E2}"/>
              </a:ext>
            </a:extLst>
          </p:cNvPr>
          <p:cNvSpPr/>
          <p:nvPr/>
        </p:nvSpPr>
        <p:spPr>
          <a:xfrm>
            <a:off x="1318579" y="2929623"/>
            <a:ext cx="3458842" cy="1840268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Devaluación durante el plan: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1985: 348%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1986: 57%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1987: 307%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1988: 223%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5F4434F-BDAE-4930-ACC9-31D3494A9132}"/>
              </a:ext>
            </a:extLst>
          </p:cNvPr>
          <p:cNvSpPr/>
          <p:nvPr/>
        </p:nvSpPr>
        <p:spPr>
          <a:xfrm>
            <a:off x="8587410" y="4437695"/>
            <a:ext cx="2604101" cy="664393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Apreciación real entre 1985 y 1987</a:t>
            </a:r>
          </a:p>
        </p:txBody>
      </p:sp>
    </p:spTree>
    <p:extLst>
      <p:ext uri="{BB962C8B-B14F-4D97-AF65-F5344CB8AC3E}">
        <p14:creationId xmlns:p14="http://schemas.microsoft.com/office/powerpoint/2010/main" val="20597738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5BABDAD4-70A4-42A7-B0A2-53BCFB6F54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795658"/>
              </p:ext>
            </p:extLst>
          </p:nvPr>
        </p:nvGraphicFramePr>
        <p:xfrm>
          <a:off x="0" y="1126436"/>
          <a:ext cx="12205254" cy="5731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Rectángulo 13">
            <a:extLst>
              <a:ext uri="{FF2B5EF4-FFF2-40B4-BE49-F238E27FC236}">
                <a16:creationId xmlns:a16="http://schemas.microsoft.com/office/drawing/2014/main" id="{793559E2-9A69-4F92-8B60-C16CE53A9A33}"/>
              </a:ext>
            </a:extLst>
          </p:cNvPr>
          <p:cNvSpPr/>
          <p:nvPr/>
        </p:nvSpPr>
        <p:spPr>
          <a:xfrm>
            <a:off x="5327374" y="1951383"/>
            <a:ext cx="6679096" cy="408166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C0A4EED-48FC-4F64-A33F-BBAAE76A90E8}"/>
              </a:ext>
            </a:extLst>
          </p:cNvPr>
          <p:cNvSpPr/>
          <p:nvPr/>
        </p:nvSpPr>
        <p:spPr>
          <a:xfrm>
            <a:off x="6400802" y="2159985"/>
            <a:ext cx="1258956" cy="95822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INICIO.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JUN-85: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1.129%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0B69C61-FA8B-407B-8714-B309BBC20B4C}"/>
              </a:ext>
            </a:extLst>
          </p:cNvPr>
          <p:cNvSpPr/>
          <p:nvPr/>
        </p:nvSpPr>
        <p:spPr>
          <a:xfrm>
            <a:off x="6367671" y="3286421"/>
            <a:ext cx="1325218" cy="95822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MIN.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JUN-86: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50%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8ADFFC0-8EF1-49E3-840A-9DDF78DAA924}"/>
              </a:ext>
            </a:extLst>
          </p:cNvPr>
          <p:cNvSpPr txBox="1">
            <a:spLocks/>
          </p:cNvSpPr>
          <p:nvPr/>
        </p:nvSpPr>
        <p:spPr>
          <a:xfrm>
            <a:off x="8587410" y="0"/>
            <a:ext cx="3617844" cy="9582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1983-1988</a:t>
            </a: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89BAC162-96DE-4F80-BCA4-A6FE298D25C8}"/>
              </a:ext>
            </a:extLst>
          </p:cNvPr>
          <p:cNvSpPr/>
          <p:nvPr/>
        </p:nvSpPr>
        <p:spPr>
          <a:xfrm rot="1551320">
            <a:off x="493466" y="1766491"/>
            <a:ext cx="4956315" cy="2703443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Previo al plan:</a:t>
            </a:r>
          </a:p>
          <a:p>
            <a:pPr algn="ctr"/>
            <a:r>
              <a:rPr lang="es-AR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Tipo de Cambio</a:t>
            </a:r>
          </a:p>
          <a:p>
            <a:pPr algn="ctr"/>
            <a:r>
              <a:rPr lang="es-AR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tarifas</a:t>
            </a:r>
          </a:p>
          <a:p>
            <a:pPr algn="ctr"/>
            <a:r>
              <a:rPr lang="es-AR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 de salario según aumento de precios</a:t>
            </a:r>
          </a:p>
          <a:p>
            <a:pPr algn="ctr"/>
            <a:r>
              <a:rPr lang="es-AR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Reducción Fiscal (leve)</a:t>
            </a:r>
          </a:p>
          <a:p>
            <a:pPr algn="ctr"/>
            <a:r>
              <a:rPr lang="es-AR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Aumentos retenciones y aranceles</a:t>
            </a:r>
          </a:p>
        </p:txBody>
      </p:sp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5B898CA5-11AB-4213-8A1B-D12167F5D99F}"/>
              </a:ext>
            </a:extLst>
          </p:cNvPr>
          <p:cNvSpPr/>
          <p:nvPr/>
        </p:nvSpPr>
        <p:spPr>
          <a:xfrm>
            <a:off x="9713842" y="4673228"/>
            <a:ext cx="1987827" cy="742122"/>
          </a:xfrm>
          <a:prstGeom prst="down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Pierde “potencia”</a:t>
            </a:r>
          </a:p>
        </p:txBody>
      </p:sp>
    </p:spTree>
    <p:extLst>
      <p:ext uri="{BB962C8B-B14F-4D97-AF65-F5344CB8AC3E}">
        <p14:creationId xmlns:p14="http://schemas.microsoft.com/office/powerpoint/2010/main" val="3069461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2167</Words>
  <Application>Microsoft Office PowerPoint</Application>
  <PresentationFormat>Panorámica</PresentationFormat>
  <Paragraphs>450</Paragraphs>
  <Slides>59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59</vt:i4>
      </vt:variant>
    </vt:vector>
  </HeadingPairs>
  <TitlesOfParts>
    <vt:vector size="64" baseType="lpstr">
      <vt:lpstr>Batang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1952</vt:lpstr>
      <vt:lpstr>1952</vt:lpstr>
      <vt:lpstr>1952</vt:lpstr>
      <vt:lpstr>1952</vt:lpstr>
      <vt:lpstr>1952</vt:lpstr>
      <vt:lpstr>1952</vt:lpstr>
      <vt:lpstr>Presentación de PowerPoint</vt:lpstr>
      <vt:lpstr>Presentación de PowerPoint</vt:lpstr>
      <vt:lpstr>1959-1960</vt:lpstr>
      <vt:lpstr>Presentación de PowerPoint</vt:lpstr>
      <vt:lpstr>1959-1960</vt:lpstr>
      <vt:lpstr>1959-1960</vt:lpstr>
      <vt:lpstr>1959-1960</vt:lpstr>
      <vt:lpstr>Presentación de PowerPoint</vt:lpstr>
      <vt:lpstr>Presentación de PowerPoint</vt:lpstr>
      <vt:lpstr>Presentación de PowerPoint</vt:lpstr>
      <vt:lpstr>1967-1969</vt:lpstr>
      <vt:lpstr>1967-1969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1952</dc:title>
  <dc:creator>Lucas Tossolini</dc:creator>
  <cp:lastModifiedBy>Lucas Tossolini</cp:lastModifiedBy>
  <cp:revision>59</cp:revision>
  <dcterms:created xsi:type="dcterms:W3CDTF">2018-10-22T22:08:07Z</dcterms:created>
  <dcterms:modified xsi:type="dcterms:W3CDTF">2019-10-15T20:12:40Z</dcterms:modified>
</cp:coreProperties>
</file>