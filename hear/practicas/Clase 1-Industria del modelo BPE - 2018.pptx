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2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11" r:id="rId3"/>
    <p:sldId id="312" r:id="rId4"/>
    <p:sldId id="280" r:id="rId5"/>
    <p:sldId id="313" r:id="rId6"/>
    <p:sldId id="309" r:id="rId7"/>
    <p:sldId id="304" r:id="rId8"/>
    <p:sldId id="257" r:id="rId9"/>
    <p:sldId id="283" r:id="rId10"/>
    <p:sldId id="284" r:id="rId11"/>
    <p:sldId id="259" r:id="rId12"/>
    <p:sldId id="281" r:id="rId13"/>
    <p:sldId id="260" r:id="rId14"/>
    <p:sldId id="286" r:id="rId15"/>
    <p:sldId id="287" r:id="rId16"/>
    <p:sldId id="295" r:id="rId17"/>
    <p:sldId id="261" r:id="rId18"/>
    <p:sldId id="289" r:id="rId19"/>
    <p:sldId id="262" r:id="rId20"/>
    <p:sldId id="290" r:id="rId21"/>
    <p:sldId id="288" r:id="rId22"/>
    <p:sldId id="263" r:id="rId23"/>
    <p:sldId id="301" r:id="rId24"/>
    <p:sldId id="302" r:id="rId25"/>
    <p:sldId id="303" r:id="rId26"/>
    <p:sldId id="298" r:id="rId27"/>
    <p:sldId id="264" r:id="rId28"/>
    <p:sldId id="265" r:id="rId29"/>
    <p:sldId id="266" r:id="rId30"/>
    <p:sldId id="285" r:id="rId31"/>
    <p:sldId id="267" r:id="rId32"/>
    <p:sldId id="268" r:id="rId33"/>
    <p:sldId id="269" r:id="rId34"/>
    <p:sldId id="293" r:id="rId35"/>
    <p:sldId id="294" r:id="rId36"/>
    <p:sldId id="299" r:id="rId37"/>
    <p:sldId id="270" r:id="rId38"/>
    <p:sldId id="297" r:id="rId39"/>
    <p:sldId id="271" r:id="rId40"/>
    <p:sldId id="300" r:id="rId41"/>
    <p:sldId id="273" r:id="rId42"/>
    <p:sldId id="306" r:id="rId43"/>
    <p:sldId id="274" r:id="rId44"/>
    <p:sldId id="275" r:id="rId45"/>
    <p:sldId id="279" r:id="rId46"/>
    <p:sldId id="305" r:id="rId47"/>
    <p:sldId id="308" r:id="rId48"/>
    <p:sldId id="276" r:id="rId49"/>
    <p:sldId id="277" r:id="rId50"/>
    <p:sldId id="278" r:id="rId51"/>
    <p:sldId id="307" r:id="rId52"/>
    <p:sldId id="291" r:id="rId53"/>
    <p:sldId id="292" r:id="rId5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Tossolini" initials="LT" lastIdx="1" clrIdx="0">
    <p:extLst>
      <p:ext uri="{19B8F6BF-5375-455C-9EA6-DF929625EA0E}">
        <p15:presenceInfo xmlns:p15="http://schemas.microsoft.com/office/powerpoint/2012/main" userId="82ff3cc4fadd8f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F4C6D-1218-42A3-AF89-DB548F3C0C19}" v="1" dt="2020-04-13T16:42:57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>
      <p:cViewPr varScale="1">
        <p:scale>
          <a:sx n="72" d="100"/>
          <a:sy n="72" d="100"/>
        </p:scale>
        <p:origin x="1350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B92BDAA4-53A0-49A3-B042-A5E670851850}"/>
    <pc:docChg chg="modSld">
      <pc:chgData name="Lucas Tossolini" userId="82ff3cc4fadd8f44" providerId="LiveId" clId="{B92BDAA4-53A0-49A3-B042-A5E670851850}" dt="2019-08-15T00:35:34.158" v="6" actId="20577"/>
      <pc:docMkLst>
        <pc:docMk/>
      </pc:docMkLst>
      <pc:sldChg chg="modSp">
        <pc:chgData name="Lucas Tossolini" userId="82ff3cc4fadd8f44" providerId="LiveId" clId="{B92BDAA4-53A0-49A3-B042-A5E670851850}" dt="2019-08-15T00:35:34.158" v="6" actId="20577"/>
        <pc:sldMkLst>
          <pc:docMk/>
          <pc:sldMk cId="1705691251" sldId="311"/>
        </pc:sldMkLst>
        <pc:spChg chg="mod">
          <ac:chgData name="Lucas Tossolini" userId="82ff3cc4fadd8f44" providerId="LiveId" clId="{B92BDAA4-53A0-49A3-B042-A5E670851850}" dt="2019-08-15T00:35:34.158" v="6" actId="20577"/>
          <ac:spMkLst>
            <pc:docMk/>
            <pc:sldMk cId="1705691251" sldId="311"/>
            <ac:spMk id="7" creationId="{53F9DD09-2AC6-45FC-B665-8FC1C7B662A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datos%20crecimiento%20s%20XiX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datos%20crecimiento%20s%20XiX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datos%20crecimiento%20s%20XiX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datos%20crecimiento%20s%20XiX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722858929262732E-2"/>
          <c:y val="3.4061960958696083E-2"/>
          <c:w val="0.8512679149767225"/>
          <c:h val="0.7826952392162676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Hoja1!$E$4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193-414A-925E-3543A93295BE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93-414A-925E-3543A93295BE}"/>
              </c:ext>
            </c:extLst>
          </c:dPt>
          <c:dPt>
            <c:idx val="2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193-414A-925E-3543A93295BE}"/>
              </c:ext>
            </c:extLst>
          </c:dPt>
          <c:dPt>
            <c:idx val="2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93-414A-925E-3543A93295BE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193-414A-925E-3543A93295BE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93-414A-925E-3543A93295BE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93-414A-925E-3543A93295BE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193-414A-925E-3543A93295BE}"/>
              </c:ext>
            </c:extLst>
          </c:dPt>
          <c:dPt>
            <c:idx val="29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193-414A-925E-3543A93295BE}"/>
              </c:ext>
            </c:extLst>
          </c:dPt>
          <c:dPt>
            <c:idx val="3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93-414A-925E-3543A93295BE}"/>
              </c:ext>
            </c:extLst>
          </c:dPt>
          <c:dPt>
            <c:idx val="3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193-414A-925E-3543A93295BE}"/>
              </c:ext>
            </c:extLst>
          </c:dPt>
          <c:dPt>
            <c:idx val="3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93-414A-925E-3543A93295BE}"/>
              </c:ext>
            </c:extLst>
          </c:dPt>
          <c:val>
            <c:numRef>
              <c:f>Hoja1!$E$5:$E$38</c:f>
              <c:numCache>
                <c:formatCode>#,##0.00\ \ </c:formatCode>
                <c:ptCount val="34"/>
                <c:pt idx="0">
                  <c:v>4.1485769416304876</c:v>
                </c:pt>
                <c:pt idx="1">
                  <c:v>8.4901109503135537</c:v>
                </c:pt>
                <c:pt idx="2">
                  <c:v>7.4288470815243599</c:v>
                </c:pt>
                <c:pt idx="3">
                  <c:v>-13.410516160154366</c:v>
                </c:pt>
                <c:pt idx="4">
                  <c:v>7.5253256150506518</c:v>
                </c:pt>
                <c:pt idx="5">
                  <c:v>14.664737095996138</c:v>
                </c:pt>
                <c:pt idx="6">
                  <c:v>80.366618427399914</c:v>
                </c:pt>
                <c:pt idx="7">
                  <c:v>164.01350699469367</c:v>
                </c:pt>
                <c:pt idx="8">
                  <c:v>18.716835504100331</c:v>
                </c:pt>
                <c:pt idx="9">
                  <c:v>-54.220935841775209</c:v>
                </c:pt>
                <c:pt idx="10">
                  <c:v>12.252773757838881</c:v>
                </c:pt>
                <c:pt idx="11">
                  <c:v>5.7887120115774229</c:v>
                </c:pt>
                <c:pt idx="12">
                  <c:v>-21.418234442836471</c:v>
                </c:pt>
                <c:pt idx="13">
                  <c:v>-20.93584177520502</c:v>
                </c:pt>
                <c:pt idx="14">
                  <c:v>3.859141341051616</c:v>
                </c:pt>
                <c:pt idx="15">
                  <c:v>1.7366136034732271</c:v>
                </c:pt>
                <c:pt idx="16">
                  <c:v>-2.7013989387361317</c:v>
                </c:pt>
                <c:pt idx="17">
                  <c:v>21.22527737578389</c:v>
                </c:pt>
                <c:pt idx="18">
                  <c:v>36.951278340569225</c:v>
                </c:pt>
                <c:pt idx="19">
                  <c:v>9.8503262121018285</c:v>
                </c:pt>
                <c:pt idx="20" formatCode="#,##0.00000\ \ ">
                  <c:v>6.753497346840328E-3</c:v>
                </c:pt>
                <c:pt idx="21">
                  <c:v>5.6295224312590451</c:v>
                </c:pt>
                <c:pt idx="22">
                  <c:v>24.013506994693682</c:v>
                </c:pt>
                <c:pt idx="23">
                  <c:v>22.493005306319343</c:v>
                </c:pt>
                <c:pt idx="24">
                  <c:v>30.668624696718169</c:v>
                </c:pt>
                <c:pt idx="25">
                  <c:v>16.109521167634007</c:v>
                </c:pt>
                <c:pt idx="26">
                  <c:v>19.284947399060254</c:v>
                </c:pt>
                <c:pt idx="27">
                  <c:v>27.697056066802997</c:v>
                </c:pt>
                <c:pt idx="28">
                  <c:v>64.029435071574639</c:v>
                </c:pt>
                <c:pt idx="29">
                  <c:v>34.106429269536392</c:v>
                </c:pt>
                <c:pt idx="30">
                  <c:v>9.3935018663047174</c:v>
                </c:pt>
                <c:pt idx="31">
                  <c:v>34.263349493918518</c:v>
                </c:pt>
                <c:pt idx="32">
                  <c:v>3.392337052260717</c:v>
                </c:pt>
                <c:pt idx="33">
                  <c:v>-12.572234500574053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93-414A-925E-3543A9329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8868528"/>
        <c:axId val="608864264"/>
      </c:barChart>
      <c:lineChart>
        <c:grouping val="standard"/>
        <c:varyColors val="0"/>
        <c:ser>
          <c:idx val="0"/>
          <c:order val="0"/>
          <c:tx>
            <c:strRef>
              <c:f>Hoja1!$B$4</c:f>
              <c:strCache>
                <c:ptCount val="1"/>
                <c:pt idx="0">
                  <c:v>Exportaciones</c:v>
                </c:pt>
              </c:strCache>
            </c:strRef>
          </c:tx>
          <c:spPr>
            <a:ln w="57150" cap="rnd">
              <a:solidFill>
                <a:schemeClr val="accent1">
                  <a:lumMod val="75000"/>
                  <a:alpha val="72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Hoja1!$A$5:$A$38</c:f>
              <c:numCache>
                <c:formatCode>General</c:formatCode>
                <c:ptCount val="34"/>
                <c:pt idx="0">
                  <c:v>1881</c:v>
                </c:pt>
                <c:pt idx="1">
                  <c:v>1882</c:v>
                </c:pt>
                <c:pt idx="2">
                  <c:v>1883</c:v>
                </c:pt>
                <c:pt idx="3">
                  <c:v>1884</c:v>
                </c:pt>
                <c:pt idx="4">
                  <c:v>1885</c:v>
                </c:pt>
                <c:pt idx="5">
                  <c:v>1886</c:v>
                </c:pt>
                <c:pt idx="6">
                  <c:v>1887</c:v>
                </c:pt>
                <c:pt idx="7">
                  <c:v>1888</c:v>
                </c:pt>
                <c:pt idx="8">
                  <c:v>1889</c:v>
                </c:pt>
                <c:pt idx="9">
                  <c:v>1890</c:v>
                </c:pt>
                <c:pt idx="10">
                  <c:v>1891</c:v>
                </c:pt>
                <c:pt idx="11">
                  <c:v>1892</c:v>
                </c:pt>
                <c:pt idx="12">
                  <c:v>1893</c:v>
                </c:pt>
                <c:pt idx="13">
                  <c:v>1894</c:v>
                </c:pt>
                <c:pt idx="14">
                  <c:v>1895</c:v>
                </c:pt>
                <c:pt idx="15">
                  <c:v>1896</c:v>
                </c:pt>
                <c:pt idx="16">
                  <c:v>1897</c:v>
                </c:pt>
                <c:pt idx="17">
                  <c:v>1898</c:v>
                </c:pt>
                <c:pt idx="18">
                  <c:v>1899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Hoja1!$B$5:$B$38</c:f>
              <c:numCache>
                <c:formatCode>#,##0.00\ \ </c:formatCode>
                <c:ptCount val="34"/>
                <c:pt idx="0">
                  <c:v>55.897995176073323</c:v>
                </c:pt>
                <c:pt idx="1">
                  <c:v>58.262362759286063</c:v>
                </c:pt>
                <c:pt idx="2">
                  <c:v>58.087772310660881</c:v>
                </c:pt>
                <c:pt idx="3">
                  <c:v>65.634188133140384</c:v>
                </c:pt>
                <c:pt idx="4">
                  <c:v>80.925325615050653</c:v>
                </c:pt>
                <c:pt idx="5">
                  <c:v>67.375630487216597</c:v>
                </c:pt>
                <c:pt idx="6">
                  <c:v>81.448933912204538</c:v>
                </c:pt>
                <c:pt idx="7">
                  <c:v>96.586495899662324</c:v>
                </c:pt>
                <c:pt idx="8">
                  <c:v>86.970916546068494</c:v>
                </c:pt>
                <c:pt idx="9">
                  <c:v>97.268685962373382</c:v>
                </c:pt>
                <c:pt idx="10">
                  <c:v>99.584177520501683</c:v>
                </c:pt>
                <c:pt idx="11">
                  <c:v>109.37803859141341</c:v>
                </c:pt>
                <c:pt idx="12">
                  <c:v>90.776805595754951</c:v>
                </c:pt>
                <c:pt idx="13">
                  <c:v>98.107077665219492</c:v>
                </c:pt>
                <c:pt idx="14">
                  <c:v>115.83964302942596</c:v>
                </c:pt>
                <c:pt idx="15">
                  <c:v>112.68887216594308</c:v>
                </c:pt>
                <c:pt idx="16">
                  <c:v>97.60665605402798</c:v>
                </c:pt>
                <c:pt idx="17">
                  <c:v>129.11669850458273</c:v>
                </c:pt>
                <c:pt idx="18">
                  <c:v>178.40572214182345</c:v>
                </c:pt>
                <c:pt idx="19">
                  <c:v>152.28644907253425</c:v>
                </c:pt>
                <c:pt idx="20">
                  <c:v>167.351361852373</c:v>
                </c:pt>
                <c:pt idx="21">
                  <c:v>177.65148439263805</c:v>
                </c:pt>
                <c:pt idx="22">
                  <c:v>213.77922261729026</c:v>
                </c:pt>
                <c:pt idx="23">
                  <c:v>255.77317956181835</c:v>
                </c:pt>
                <c:pt idx="24">
                  <c:v>312.3173700424382</c:v>
                </c:pt>
                <c:pt idx="25">
                  <c:v>283.46077038592523</c:v>
                </c:pt>
                <c:pt idx="26">
                  <c:v>279.92168881296516</c:v>
                </c:pt>
                <c:pt idx="27">
                  <c:v>354.38835143605144</c:v>
                </c:pt>
                <c:pt idx="28">
                  <c:v>384.73864391002047</c:v>
                </c:pt>
                <c:pt idx="29">
                  <c:v>373.5281083935285</c:v>
                </c:pt>
                <c:pt idx="30">
                  <c:v>328.54466554054056</c:v>
                </c:pt>
                <c:pt idx="31">
                  <c:v>481.87021300874852</c:v>
                </c:pt>
                <c:pt idx="32">
                  <c:v>497.84811181434583</c:v>
                </c:pt>
                <c:pt idx="33">
                  <c:v>388.22372584745762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93-414A-925E-3543A93295BE}"/>
            </c:ext>
          </c:extLst>
        </c:ser>
        <c:ser>
          <c:idx val="1"/>
          <c:order val="1"/>
          <c:tx>
            <c:strRef>
              <c:f>Hoja1!$C$4</c:f>
              <c:strCache>
                <c:ptCount val="1"/>
                <c:pt idx="0">
                  <c:v>Importaciones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  <a:alpha val="66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Hoja1!$A$5:$A$38</c:f>
              <c:numCache>
                <c:formatCode>General</c:formatCode>
                <c:ptCount val="34"/>
                <c:pt idx="0">
                  <c:v>1881</c:v>
                </c:pt>
                <c:pt idx="1">
                  <c:v>1882</c:v>
                </c:pt>
                <c:pt idx="2">
                  <c:v>1883</c:v>
                </c:pt>
                <c:pt idx="3">
                  <c:v>1884</c:v>
                </c:pt>
                <c:pt idx="4">
                  <c:v>1885</c:v>
                </c:pt>
                <c:pt idx="5">
                  <c:v>1886</c:v>
                </c:pt>
                <c:pt idx="6">
                  <c:v>1887</c:v>
                </c:pt>
                <c:pt idx="7">
                  <c:v>1888</c:v>
                </c:pt>
                <c:pt idx="8">
                  <c:v>1889</c:v>
                </c:pt>
                <c:pt idx="9">
                  <c:v>1890</c:v>
                </c:pt>
                <c:pt idx="10">
                  <c:v>1891</c:v>
                </c:pt>
                <c:pt idx="11">
                  <c:v>1892</c:v>
                </c:pt>
                <c:pt idx="12">
                  <c:v>1893</c:v>
                </c:pt>
                <c:pt idx="13">
                  <c:v>1894</c:v>
                </c:pt>
                <c:pt idx="14">
                  <c:v>1895</c:v>
                </c:pt>
                <c:pt idx="15">
                  <c:v>1896</c:v>
                </c:pt>
                <c:pt idx="16">
                  <c:v>1897</c:v>
                </c:pt>
                <c:pt idx="17">
                  <c:v>1898</c:v>
                </c:pt>
                <c:pt idx="18">
                  <c:v>1899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Hoja1!$C$5:$C$38</c:f>
              <c:numCache>
                <c:formatCode>#,##0.00\ \ </c:formatCode>
                <c:ptCount val="34"/>
                <c:pt idx="0">
                  <c:v>49.482886391037368</c:v>
                </c:pt>
                <c:pt idx="1">
                  <c:v>54.404104730819078</c:v>
                </c:pt>
                <c:pt idx="2">
                  <c:v>71.450151770978025</c:v>
                </c:pt>
                <c:pt idx="3">
                  <c:v>83.548910117428818</c:v>
                </c:pt>
                <c:pt idx="4">
                  <c:v>81.919635136576574</c:v>
                </c:pt>
                <c:pt idx="5">
                  <c:v>84.750408866662497</c:v>
                </c:pt>
                <c:pt idx="6">
                  <c:v>104.24244208559379</c:v>
                </c:pt>
                <c:pt idx="7">
                  <c:v>114.06689005217332</c:v>
                </c:pt>
                <c:pt idx="8">
                  <c:v>146.18539376174817</c:v>
                </c:pt>
                <c:pt idx="9">
                  <c:v>126.35075510663177</c:v>
                </c:pt>
                <c:pt idx="10">
                  <c:v>59.699840240228554</c:v>
                </c:pt>
                <c:pt idx="11">
                  <c:v>81.261586323641495</c:v>
                </c:pt>
                <c:pt idx="12">
                  <c:v>85.474259363055637</c:v>
                </c:pt>
                <c:pt idx="13">
                  <c:v>82.422988657123881</c:v>
                </c:pt>
                <c:pt idx="14">
                  <c:v>84.472990418889012</c:v>
                </c:pt>
                <c:pt idx="15">
                  <c:v>99.633531467195269</c:v>
                </c:pt>
                <c:pt idx="16">
                  <c:v>87.308857590298814</c:v>
                </c:pt>
                <c:pt idx="17">
                  <c:v>95.427763975889249</c:v>
                </c:pt>
                <c:pt idx="18">
                  <c:v>103.7970066957056</c:v>
                </c:pt>
                <c:pt idx="19">
                  <c:v>102.92295924194458</c:v>
                </c:pt>
                <c:pt idx="20">
                  <c:v>104.69571328123521</c:v>
                </c:pt>
                <c:pt idx="21">
                  <c:v>93.89925401148983</c:v>
                </c:pt>
                <c:pt idx="22">
                  <c:v>116.86440175032128</c:v>
                </c:pt>
                <c:pt idx="23">
                  <c:v>166.98080802415114</c:v>
                </c:pt>
                <c:pt idx="24">
                  <c:v>182.72898283877595</c:v>
                </c:pt>
                <c:pt idx="25">
                  <c:v>241.08601767684158</c:v>
                </c:pt>
                <c:pt idx="26">
                  <c:v>248.72671950120443</c:v>
                </c:pt>
                <c:pt idx="27">
                  <c:v>243.35160416507225</c:v>
                </c:pt>
                <c:pt idx="28">
                  <c:v>269.9030770201278</c:v>
                </c:pt>
                <c:pt idx="29">
                  <c:v>335.32035591885665</c:v>
                </c:pt>
                <c:pt idx="30">
                  <c:v>357.90273040555212</c:v>
                </c:pt>
                <c:pt idx="31">
                  <c:v>395.19510046934482</c:v>
                </c:pt>
                <c:pt idx="32">
                  <c:v>438.12937885862772</c:v>
                </c:pt>
                <c:pt idx="33">
                  <c:v>285.97516133468224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93-414A-925E-3543A93295BE}"/>
            </c:ext>
          </c:extLst>
        </c:ser>
        <c:ser>
          <c:idx val="2"/>
          <c:order val="2"/>
          <c:tx>
            <c:strRef>
              <c:f>Hoja1!$D$4</c:f>
              <c:strCache>
                <c:ptCount val="1"/>
                <c:pt idx="0">
                  <c:v>Cuenta capital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Hoja1!$A$5:$A$38</c:f>
              <c:numCache>
                <c:formatCode>General</c:formatCode>
                <c:ptCount val="34"/>
                <c:pt idx="0">
                  <c:v>1881</c:v>
                </c:pt>
                <c:pt idx="1">
                  <c:v>1882</c:v>
                </c:pt>
                <c:pt idx="2">
                  <c:v>1883</c:v>
                </c:pt>
                <c:pt idx="3">
                  <c:v>1884</c:v>
                </c:pt>
                <c:pt idx="4">
                  <c:v>1885</c:v>
                </c:pt>
                <c:pt idx="5">
                  <c:v>1886</c:v>
                </c:pt>
                <c:pt idx="6">
                  <c:v>1887</c:v>
                </c:pt>
                <c:pt idx="7">
                  <c:v>1888</c:v>
                </c:pt>
                <c:pt idx="8">
                  <c:v>1889</c:v>
                </c:pt>
                <c:pt idx="9">
                  <c:v>1890</c:v>
                </c:pt>
                <c:pt idx="10">
                  <c:v>1891</c:v>
                </c:pt>
                <c:pt idx="11">
                  <c:v>1892</c:v>
                </c:pt>
                <c:pt idx="12">
                  <c:v>1893</c:v>
                </c:pt>
                <c:pt idx="13">
                  <c:v>1894</c:v>
                </c:pt>
                <c:pt idx="14">
                  <c:v>1895</c:v>
                </c:pt>
                <c:pt idx="15">
                  <c:v>1896</c:v>
                </c:pt>
                <c:pt idx="16">
                  <c:v>1897</c:v>
                </c:pt>
                <c:pt idx="17">
                  <c:v>1898</c:v>
                </c:pt>
                <c:pt idx="18">
                  <c:v>1899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Hoja1!$D$5:$D$38</c:f>
              <c:numCache>
                <c:formatCode>#,##0.00\ \ </c:formatCode>
                <c:ptCount val="34"/>
                <c:pt idx="0">
                  <c:v>2.0260492040520983</c:v>
                </c:pt>
                <c:pt idx="1">
                  <c:v>9.261939218523878</c:v>
                </c:pt>
                <c:pt idx="2">
                  <c:v>26.917510853835022</c:v>
                </c:pt>
                <c:pt idx="3">
                  <c:v>11.673902556681139</c:v>
                </c:pt>
                <c:pt idx="4">
                  <c:v>15.533043897732757</c:v>
                </c:pt>
                <c:pt idx="5">
                  <c:v>39.363241678726482</c:v>
                </c:pt>
                <c:pt idx="6">
                  <c:v>112.10805595754945</c:v>
                </c:pt>
                <c:pt idx="7">
                  <c:v>191.31693198263389</c:v>
                </c:pt>
                <c:pt idx="8">
                  <c:v>90.4968644476604</c:v>
                </c:pt>
                <c:pt idx="9">
                  <c:v>-14.278822961890981</c:v>
                </c:pt>
                <c:pt idx="10">
                  <c:v>-22.479498311625665</c:v>
                </c:pt>
                <c:pt idx="11">
                  <c:v>-15.340086830680175</c:v>
                </c:pt>
                <c:pt idx="12">
                  <c:v>-19.392185238784371</c:v>
                </c:pt>
                <c:pt idx="13">
                  <c:v>-29.522431259044865</c:v>
                </c:pt>
                <c:pt idx="14">
                  <c:v>-20.260492040520983</c:v>
                </c:pt>
                <c:pt idx="15">
                  <c:v>-2.7013989387361312</c:v>
                </c:pt>
                <c:pt idx="16">
                  <c:v>-5.4992764109985535</c:v>
                </c:pt>
                <c:pt idx="17">
                  <c:v>-4.2450554751567777</c:v>
                </c:pt>
                <c:pt idx="18">
                  <c:v>-28.654124457308249</c:v>
                </c:pt>
                <c:pt idx="19">
                  <c:v>-30.634514519636689</c:v>
                </c:pt>
                <c:pt idx="20">
                  <c:v>115.77424023154849</c:v>
                </c:pt>
                <c:pt idx="21">
                  <c:v>115.77424023154849</c:v>
                </c:pt>
                <c:pt idx="22">
                  <c:v>115.77424023154849</c:v>
                </c:pt>
                <c:pt idx="23">
                  <c:v>115.77424023154849</c:v>
                </c:pt>
                <c:pt idx="24">
                  <c:v>115.94943174562636</c:v>
                </c:pt>
                <c:pt idx="25">
                  <c:v>116.25128030044384</c:v>
                </c:pt>
                <c:pt idx="26">
                  <c:v>113.26874298307622</c:v>
                </c:pt>
                <c:pt idx="27">
                  <c:v>116.05316973415133</c:v>
                </c:pt>
                <c:pt idx="28">
                  <c:v>116.05316973415133</c:v>
                </c:pt>
                <c:pt idx="29">
                  <c:v>241.15072451451155</c:v>
                </c:pt>
                <c:pt idx="30">
                  <c:v>240.71089243298269</c:v>
                </c:pt>
                <c:pt idx="31">
                  <c:v>241.34558135578806</c:v>
                </c:pt>
                <c:pt idx="32">
                  <c:v>238.02533344518079</c:v>
                </c:pt>
                <c:pt idx="33">
                  <c:v>124.44956536001311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93-414A-925E-3543A9329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8860656"/>
        <c:axId val="608863608"/>
      </c:lineChart>
      <c:catAx>
        <c:axId val="60886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63608"/>
        <c:crosses val="autoZero"/>
        <c:auto val="1"/>
        <c:lblAlgn val="ctr"/>
        <c:lblOffset val="100"/>
        <c:noMultiLvlLbl val="0"/>
      </c:catAx>
      <c:valAx>
        <c:axId val="6088636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accen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60656"/>
        <c:crosses val="autoZero"/>
        <c:crossBetween val="between"/>
      </c:valAx>
      <c:valAx>
        <c:axId val="608864264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68528"/>
        <c:crosses val="max"/>
        <c:crossBetween val="between"/>
      </c:valAx>
      <c:catAx>
        <c:axId val="608868528"/>
        <c:scaling>
          <c:orientation val="minMax"/>
        </c:scaling>
        <c:delete val="1"/>
        <c:axPos val="b"/>
        <c:majorTickMark val="out"/>
        <c:minorTickMark val="none"/>
        <c:tickLblPos val="nextTo"/>
        <c:crossAx val="6088642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99989057718568E-2"/>
          <c:y val="0.91387146276282694"/>
          <c:w val="0.89999991246174849"/>
          <c:h val="7.2286937453407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54647856517936"/>
          <c:y val="3.40368405108031E-2"/>
          <c:w val="0.88317574365704288"/>
          <c:h val="0.8274263428475278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Hoja5!$B$2</c:f>
              <c:strCache>
                <c:ptCount val="1"/>
                <c:pt idx="0">
                  <c:v>Productos de la ganadería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Hoja5!$B$3:$B$53</c:f>
              <c:numCache>
                <c:formatCode>#,##0.00\ \ </c:formatCode>
                <c:ptCount val="51"/>
                <c:pt idx="0">
                  <c:v>20.887016957735</c:v>
                </c:pt>
                <c:pt idx="1">
                  <c:v>24.372157555107972</c:v>
                </c:pt>
                <c:pt idx="2">
                  <c:v>25.308921690303904</c:v>
                </c:pt>
                <c:pt idx="3">
                  <c:v>31.73253430838194</c:v>
                </c:pt>
                <c:pt idx="4">
                  <c:v>28.481581798170019</c:v>
                </c:pt>
                <c:pt idx="5">
                  <c:v>31.107815296695314</c:v>
                </c:pt>
                <c:pt idx="6">
                  <c:v>29.056885325171912</c:v>
                </c:pt>
                <c:pt idx="7">
                  <c:v>25.600773625483566</c:v>
                </c:pt>
                <c:pt idx="8">
                  <c:v>45.142890776045398</c:v>
                </c:pt>
                <c:pt idx="9">
                  <c:v>45.029729513369823</c:v>
                </c:pt>
                <c:pt idx="10">
                  <c:v>42.315730712527674</c:v>
                </c:pt>
                <c:pt idx="11">
                  <c:v>49.525320338639659</c:v>
                </c:pt>
                <c:pt idx="12">
                  <c:v>45.599342147007171</c:v>
                </c:pt>
                <c:pt idx="13">
                  <c:v>42.459097879401831</c:v>
                </c:pt>
                <c:pt idx="14">
                  <c:v>34.372914628686566</c:v>
                </c:pt>
                <c:pt idx="15">
                  <c:v>44.238467324650259</c:v>
                </c:pt>
                <c:pt idx="16">
                  <c:v>52.667464356193733</c:v>
                </c:pt>
                <c:pt idx="17">
                  <c:v>53.047197422093582</c:v>
                </c:pt>
                <c:pt idx="18">
                  <c:v>53.251799561987454</c:v>
                </c:pt>
                <c:pt idx="19">
                  <c:v>52.785949245617054</c:v>
                </c:pt>
                <c:pt idx="20">
                  <c:v>55.972942855719978</c:v>
                </c:pt>
                <c:pt idx="21">
                  <c:v>70.795990778794121</c:v>
                </c:pt>
                <c:pt idx="22">
                  <c:v>59.484790880605644</c:v>
                </c:pt>
                <c:pt idx="23">
                  <c:v>62.222007748304414</c:v>
                </c:pt>
                <c:pt idx="24">
                  <c:v>76.343817118295974</c:v>
                </c:pt>
                <c:pt idx="25">
                  <c:v>72.101137573977269</c:v>
                </c:pt>
                <c:pt idx="26">
                  <c:v>69.574804344714622</c:v>
                </c:pt>
                <c:pt idx="27">
                  <c:v>64.296090591314893</c:v>
                </c:pt>
                <c:pt idx="28">
                  <c:v>69.98017792465555</c:v>
                </c:pt>
                <c:pt idx="29">
                  <c:v>56.207992386689014</c:v>
                </c:pt>
                <c:pt idx="30">
                  <c:v>63.326316268513075</c:v>
                </c:pt>
                <c:pt idx="31">
                  <c:v>75.607910719804977</c:v>
                </c:pt>
                <c:pt idx="32">
                  <c:v>72.346255930535463</c:v>
                </c:pt>
                <c:pt idx="33">
                  <c:v>71.936105511818624</c:v>
                </c:pt>
                <c:pt idx="34">
                  <c:v>88.70317187264834</c:v>
                </c:pt>
                <c:pt idx="35">
                  <c:v>112.75241639363243</c:v>
                </c:pt>
                <c:pt idx="36">
                  <c:v>71.29666853449109</c:v>
                </c:pt>
                <c:pt idx="37">
                  <c:v>91.260860133140397</c:v>
                </c:pt>
                <c:pt idx="38">
                  <c:v>104.24602957452966</c:v>
                </c:pt>
                <c:pt idx="39">
                  <c:v>103.82967987264834</c:v>
                </c:pt>
                <c:pt idx="40">
                  <c:v>107.29408396044383</c:v>
                </c:pt>
                <c:pt idx="41">
                  <c:v>142.6555515465509</c:v>
                </c:pt>
                <c:pt idx="42">
                  <c:v>125.1688452110802</c:v>
                </c:pt>
                <c:pt idx="43">
                  <c:v>126.46353158998599</c:v>
                </c:pt>
                <c:pt idx="44">
                  <c:v>117.93858082703275</c:v>
                </c:pt>
                <c:pt idx="45">
                  <c:v>154.09449142495302</c:v>
                </c:pt>
                <c:pt idx="46">
                  <c:v>171.17069341399522</c:v>
                </c:pt>
                <c:pt idx="47">
                  <c:v>179.4751577875806</c:v>
                </c:pt>
                <c:pt idx="48">
                  <c:v>202.45266351960535</c:v>
                </c:pt>
                <c:pt idx="49">
                  <c:v>191.48250775941617</c:v>
                </c:pt>
                <c:pt idx="50">
                  <c:v>185.15547974413644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CB-44D9-BBE3-6A731DB6397E}"/>
            </c:ext>
          </c:extLst>
        </c:ser>
        <c:ser>
          <c:idx val="1"/>
          <c:order val="1"/>
          <c:tx>
            <c:strRef>
              <c:f>Hoja5!$C$2</c:f>
              <c:strCache>
                <c:ptCount val="1"/>
                <c:pt idx="0">
                  <c:v>Productos de la agricultura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Hoja5!$C$3:$C$53</c:f>
              <c:numCache>
                <c:formatCode>#,##0.0000\ \ </c:formatCode>
                <c:ptCount val="51"/>
                <c:pt idx="0">
                  <c:v>4.3154993714328516E-2</c:v>
                </c:pt>
                <c:pt idx="1">
                  <c:v>2.5203885786047538E-2</c:v>
                </c:pt>
                <c:pt idx="2">
                  <c:v>2.5799104679208876E-2</c:v>
                </c:pt>
                <c:pt idx="3">
                  <c:v>3.2020720795541815E-2</c:v>
                </c:pt>
                <c:pt idx="4">
                  <c:v>4.2949443611389346E-2</c:v>
                </c:pt>
                <c:pt idx="5">
                  <c:v>4.6909731644356009E-2</c:v>
                </c:pt>
                <c:pt idx="6">
                  <c:v>5.8230231112568968E-2</c:v>
                </c:pt>
                <c:pt idx="7">
                  <c:v>2.6043513352475657E-2</c:v>
                </c:pt>
                <c:pt idx="8">
                  <c:v>4.5598879571763035E-2</c:v>
                </c:pt>
                <c:pt idx="9" formatCode="#,##0.000\ \ ">
                  <c:v>0.13714638430467965</c:v>
                </c:pt>
                <c:pt idx="10" formatCode="#,##0.000\ \ ">
                  <c:v>0.12888039810922136</c:v>
                </c:pt>
                <c:pt idx="11" formatCode="#,##0.000\ \ ">
                  <c:v>0.10035525904486253</c:v>
                </c:pt>
                <c:pt idx="12" formatCode="#,##0.000\ \ ">
                  <c:v>0.41749143369589475</c:v>
                </c:pt>
                <c:pt idx="13" formatCode="#,##0.000\ \ ">
                  <c:v>0.38874046888567299</c:v>
                </c:pt>
                <c:pt idx="14" formatCode="#,##0.000\ \ ">
                  <c:v>0.49254944196684952</c:v>
                </c:pt>
                <c:pt idx="15" formatCode="#,##0.00\ \ ">
                  <c:v>2.5714501997105641</c:v>
                </c:pt>
                <c:pt idx="16" formatCode="#,##0.000\ \ ">
                  <c:v>0.84402987750310476</c:v>
                </c:pt>
                <c:pt idx="17" formatCode="#,##0.00\ \ ">
                  <c:v>1.3974498794018329</c:v>
                </c:pt>
                <c:pt idx="18" formatCode="#,##0.00\ \ ">
                  <c:v>3.7870535793535938</c:v>
                </c:pt>
                <c:pt idx="19" formatCode="#,##0.00\ \ ">
                  <c:v>4.0068542331656509</c:v>
                </c:pt>
                <c:pt idx="20" formatCode="#,##0.00\ \ ">
                  <c:v>8.0149049629082576</c:v>
                </c:pt>
                <c:pt idx="21" formatCode="#,##0.00\ \ ">
                  <c:v>9.4772665001360554</c:v>
                </c:pt>
                <c:pt idx="22" formatCode="#,##0.00\ \ ">
                  <c:v>7.283851944563958</c:v>
                </c:pt>
                <c:pt idx="23" formatCode="#,##0.00\ \ ">
                  <c:v>18.324544166712684</c:v>
                </c:pt>
                <c:pt idx="24" formatCode="#,##0.00\ \ ">
                  <c:v>17.158080109920054</c:v>
                </c:pt>
                <c:pt idx="25" formatCode="#,##0.00\ \ ">
                  <c:v>12.189760668981767</c:v>
                </c:pt>
                <c:pt idx="26" formatCode="#,##0.00\ \ ">
                  <c:v>26.236308900939875</c:v>
                </c:pt>
                <c:pt idx="27" formatCode="#,##0.00\ \ ">
                  <c:v>33.792829008458526</c:v>
                </c:pt>
                <c:pt idx="28" formatCode="#,##0.00\ \ ">
                  <c:v>36.024010720157058</c:v>
                </c:pt>
                <c:pt idx="29" formatCode="#,##0.00\ \ ">
                  <c:v>30.797669949895099</c:v>
                </c:pt>
                <c:pt idx="30" formatCode="#,##0.00\ \ ">
                  <c:v>31.955433440111211</c:v>
                </c:pt>
                <c:pt idx="31" formatCode="#,##0.00\ \ ">
                  <c:v>37.572738507548337</c:v>
                </c:pt>
                <c:pt idx="32" formatCode="#,##0.00\ \ ">
                  <c:v>35.722372476603958</c:v>
                </c:pt>
                <c:pt idx="33" formatCode="#,##0.00\ \ ">
                  <c:v>17.276378121562953</c:v>
                </c:pt>
                <c:pt idx="34" formatCode="#,##0.00\ \ ">
                  <c:v>35.1197419932465</c:v>
                </c:pt>
                <c:pt idx="35" formatCode="#,##0.00\ \ ">
                  <c:v>60.479539806078144</c:v>
                </c:pt>
                <c:pt idx="36" formatCode="#,##0.00\ \ ">
                  <c:v>72.191605796430309</c:v>
                </c:pt>
                <c:pt idx="37" formatCode="#,##0.00\ \ ">
                  <c:v>62.782293850458281</c:v>
                </c:pt>
                <c:pt idx="38" formatCode="#,##0.00\ \ ">
                  <c:v>59.742325918958031</c:v>
                </c:pt>
                <c:pt idx="39" formatCode="#,##0.00\ \ ">
                  <c:v>102.55046410419682</c:v>
                </c:pt>
                <c:pt idx="40" formatCode="#,##0.00\ \ ">
                  <c:v>140.42527378195854</c:v>
                </c:pt>
                <c:pt idx="41" formatCode="#,##0.00\ \ ">
                  <c:v>160.72110174240234</c:v>
                </c:pt>
                <c:pt idx="42" formatCode="#,##0.00\ \ ">
                  <c:v>149.81492313981059</c:v>
                </c:pt>
                <c:pt idx="43" formatCode="#,##0.00\ \ ">
                  <c:v>151.92598761481537</c:v>
                </c:pt>
                <c:pt idx="44" formatCode="#,##0.00\ \ ">
                  <c:v>226.34320452134128</c:v>
                </c:pt>
                <c:pt idx="45" formatCode="#,##0.00\ \ ">
                  <c:v>216.19227155142661</c:v>
                </c:pt>
                <c:pt idx="46" formatCode="#,##0.00\ \ ">
                  <c:v>189.81738815682007</c:v>
                </c:pt>
                <c:pt idx="47" formatCode="#,##0.00\ \ ">
                  <c:v>134.67439429928743</c:v>
                </c:pt>
                <c:pt idx="48" formatCode="#,##0.00\ \ ">
                  <c:v>268.52270902441103</c:v>
                </c:pt>
                <c:pt idx="49" formatCode="#,##0.00\ \ ">
                  <c:v>286.94299974834325</c:v>
                </c:pt>
                <c:pt idx="50" formatCode="#,##0.00\ \ ">
                  <c:v>167.15436034115135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CB-44D9-BBE3-6A731DB6397E}"/>
            </c:ext>
          </c:extLst>
        </c:ser>
        <c:ser>
          <c:idx val="2"/>
          <c:order val="2"/>
          <c:tx>
            <c:strRef>
              <c:f>Hoja5!$D$2</c:f>
              <c:strCache>
                <c:ptCount val="1"/>
                <c:pt idx="0">
                  <c:v>Productos forestales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Hoja5!$D$3:$D$53</c:f>
              <c:numCache>
                <c:formatCode>#,##0.00\ \ 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#,##0.00000\ \ ">
                  <c:v>6.4041441591083633E-3</c:v>
                </c:pt>
                <c:pt idx="4" formatCode="#,##0.00000\ \ ">
                  <c:v>2.8657761935311924E-3</c:v>
                </c:pt>
                <c:pt idx="5" formatCode="#,##0.00000\ \ ">
                  <c:v>3.1300240675453906E-3</c:v>
                </c:pt>
                <c:pt idx="6">
                  <c:v>0</c:v>
                </c:pt>
                <c:pt idx="7" formatCode="#,##0.00000\ \ ">
                  <c:v>2.6043513352475658E-3</c:v>
                </c:pt>
                <c:pt idx="8" formatCode="#,##0.00000\ \ ">
                  <c:v>4.5598879571763029E-3</c:v>
                </c:pt>
                <c:pt idx="9" formatCode="#,##0.0000\ \ ">
                  <c:v>1.3714638430467965E-2</c:v>
                </c:pt>
                <c:pt idx="10" formatCode="#,##0.0000\ \ ">
                  <c:v>1.2888039810922135E-2</c:v>
                </c:pt>
                <c:pt idx="11" formatCode="#,##0.0000\ \ ">
                  <c:v>5.0177629522431266E-2</c:v>
                </c:pt>
                <c:pt idx="12" formatCode="#,##0.00000\ \ ">
                  <c:v>9.2775874154643282E-3</c:v>
                </c:pt>
                <c:pt idx="13" formatCode="#,##0.0000\ \ ">
                  <c:v>4.3193385431741442E-2</c:v>
                </c:pt>
                <c:pt idx="14" formatCode="#,##0.0000\ \ ">
                  <c:v>3.5182102997632109E-2</c:v>
                </c:pt>
                <c:pt idx="15" formatCode="#,##0.0000\ \ ">
                  <c:v>4.761944814278822E-2</c:v>
                </c:pt>
                <c:pt idx="16" formatCode="#,##0.000\ \ ">
                  <c:v>0.11253731700041397</c:v>
                </c:pt>
                <c:pt idx="17" formatCode="#,##0.000\ \ ">
                  <c:v>0.27948997588036656</c:v>
                </c:pt>
                <c:pt idx="18" formatCode="#,##0.000\ \ ">
                  <c:v>0.23304945103714425</c:v>
                </c:pt>
                <c:pt idx="19" formatCode="#,##0.000\ \ ">
                  <c:v>0.29035175602649643</c:v>
                </c:pt>
                <c:pt idx="20" formatCode="#,##0.000\ \ ">
                  <c:v>0.45987159623244106</c:v>
                </c:pt>
                <c:pt idx="21" formatCode="#,##0.000\ \ ">
                  <c:v>0.32400911111576258</c:v>
                </c:pt>
                <c:pt idx="22" formatCode="#,##0.000\ \ ">
                  <c:v>0.20232922068233214</c:v>
                </c:pt>
                <c:pt idx="23" formatCode="#,##0.000\ \ ">
                  <c:v>0.2443272555561691</c:v>
                </c:pt>
                <c:pt idx="24" formatCode="#,##0.000\ \ ">
                  <c:v>0.77114966786157546</c:v>
                </c:pt>
                <c:pt idx="25" formatCode="#,##0.000\ \ ">
                  <c:v>0.60516542328278278</c:v>
                </c:pt>
                <c:pt idx="26" formatCode="#,##0.000\ \ ">
                  <c:v>0.6802006011354782</c:v>
                </c:pt>
                <c:pt idx="27" formatCode="#,##0.000\ \ ">
                  <c:v>0.69778702967318484</c:v>
                </c:pt>
                <c:pt idx="28">
                  <c:v>1.3060064309422497</c:v>
                </c:pt>
                <c:pt idx="29">
                  <c:v>2.424306380895533</c:v>
                </c:pt>
                <c:pt idx="30">
                  <c:v>1.4613765292733787</c:v>
                </c:pt>
                <c:pt idx="31">
                  <c:v>1.9653432450102208</c:v>
                </c:pt>
                <c:pt idx="32">
                  <c:v>1.1268887216594308</c:v>
                </c:pt>
                <c:pt idx="33">
                  <c:v>1.7569198089725038</c:v>
                </c:pt>
                <c:pt idx="34">
                  <c:v>1.936750477568741</c:v>
                </c:pt>
                <c:pt idx="35">
                  <c:v>2.1408686657018814</c:v>
                </c:pt>
                <c:pt idx="36">
                  <c:v>3.2814366271104687</c:v>
                </c:pt>
                <c:pt idx="37">
                  <c:v>2.5889605711529193</c:v>
                </c:pt>
                <c:pt idx="38">
                  <c:v>3.2901570795947896</c:v>
                </c:pt>
                <c:pt idx="39">
                  <c:v>3.4112420492040521</c:v>
                </c:pt>
                <c:pt idx="40">
                  <c:v>4.5873955137481923</c:v>
                </c:pt>
                <c:pt idx="41">
                  <c:v>6.8524500742884724</c:v>
                </c:pt>
                <c:pt idx="42">
                  <c:v>5.5384444783663795</c:v>
                </c:pt>
                <c:pt idx="43">
                  <c:v>5.0924912049658779</c:v>
                </c:pt>
                <c:pt idx="44">
                  <c:v>6.3559714218161361</c:v>
                </c:pt>
                <c:pt idx="45">
                  <c:v>8.4330318690272801</c:v>
                </c:pt>
                <c:pt idx="46">
                  <c:v>10.202237886256466</c:v>
                </c:pt>
                <c:pt idx="47">
                  <c:v>11.813442908042076</c:v>
                </c:pt>
                <c:pt idx="48">
                  <c:v>8.6825567746874199</c:v>
                </c:pt>
                <c:pt idx="49">
                  <c:v>10.121543494673267</c:v>
                </c:pt>
                <c:pt idx="50">
                  <c:v>8.6096227652944073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CB-44D9-BBE3-6A731DB6397E}"/>
            </c:ext>
          </c:extLst>
        </c:ser>
        <c:ser>
          <c:idx val="3"/>
          <c:order val="3"/>
          <c:tx>
            <c:strRef>
              <c:f>Hoja5!$E$2</c:f>
              <c:strCache>
                <c:ptCount val="1"/>
                <c:pt idx="0">
                  <c:v>Productos de la minería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Hoja5!$E$3:$E$53</c:f>
              <c:numCache>
                <c:formatCode>#,##0.000\ \ </c:formatCode>
                <c:ptCount val="51"/>
                <c:pt idx="0">
                  <c:v>0.25892996228597109</c:v>
                </c:pt>
                <c:pt idx="1">
                  <c:v>0.50407771572095084</c:v>
                </c:pt>
                <c:pt idx="2">
                  <c:v>0.23219194211287991</c:v>
                </c:pt>
                <c:pt idx="3" formatCode="#,##0.0000\ \ ">
                  <c:v>9.6062162386625433E-2</c:v>
                </c:pt>
                <c:pt idx="4" formatCode="#,##0.0000\ \ ">
                  <c:v>4.2986642902967873E-2</c:v>
                </c:pt>
                <c:pt idx="5" formatCode="#,##0.0000\ \ ">
                  <c:v>4.6950361013180855E-2</c:v>
                </c:pt>
                <c:pt idx="6" formatCode="#,##0.00\ \ ">
                  <c:v>0</c:v>
                </c:pt>
                <c:pt idx="7">
                  <c:v>0.23439162017228088</c:v>
                </c:pt>
                <c:pt idx="8">
                  <c:v>0.18239551828705214</c:v>
                </c:pt>
                <c:pt idx="9">
                  <c:v>0.3200082300442525</c:v>
                </c:pt>
                <c:pt idx="10">
                  <c:v>0.30072092892151647</c:v>
                </c:pt>
                <c:pt idx="11">
                  <c:v>0.20071051808972507</c:v>
                </c:pt>
                <c:pt idx="12">
                  <c:v>0.18555174830928656</c:v>
                </c:pt>
                <c:pt idx="13">
                  <c:v>0.17277354172696577</c:v>
                </c:pt>
                <c:pt idx="14" formatCode="#,##0.00\ \ ">
                  <c:v>1.1258272959242275</c:v>
                </c:pt>
                <c:pt idx="15">
                  <c:v>0.33333613699951758</c:v>
                </c:pt>
                <c:pt idx="16" formatCode="#,##0.00\ \ ">
                  <c:v>1.9694030475072446</c:v>
                </c:pt>
                <c:pt idx="17">
                  <c:v>0.39128596623251322</c:v>
                </c:pt>
                <c:pt idx="18">
                  <c:v>0.52436126483357448</c:v>
                </c:pt>
                <c:pt idx="19">
                  <c:v>0.52263316084769351</c:v>
                </c:pt>
                <c:pt idx="20">
                  <c:v>0.91974319246488212</c:v>
                </c:pt>
                <c:pt idx="21" formatCode="#,##0.0000\ \ ">
                  <c:v>8.1002277778940646E-2</c:v>
                </c:pt>
                <c:pt idx="22">
                  <c:v>0.13488614712155478</c:v>
                </c:pt>
                <c:pt idx="23">
                  <c:v>0.16288483703744611</c:v>
                </c:pt>
                <c:pt idx="24" formatCode="#,##0.00\ \ ">
                  <c:v>1.6386930442058476</c:v>
                </c:pt>
                <c:pt idx="25" formatCode="#,##0.00\ \ ">
                  <c:v>1.2967830498916773</c:v>
                </c:pt>
                <c:pt idx="26">
                  <c:v>0.48585757223962733</c:v>
                </c:pt>
                <c:pt idx="27">
                  <c:v>0.39873544552753426</c:v>
                </c:pt>
                <c:pt idx="28">
                  <c:v>0.76183708471631228</c:v>
                </c:pt>
                <c:pt idx="29">
                  <c:v>0.26936737565505914</c:v>
                </c:pt>
                <c:pt idx="30">
                  <c:v>0.2922753058546757</c:v>
                </c:pt>
                <c:pt idx="31">
                  <c:v>0.34682527853121542</c:v>
                </c:pt>
                <c:pt idx="32">
                  <c:v>0.33806661649782926</c:v>
                </c:pt>
                <c:pt idx="33">
                  <c:v>0.39042662421611196</c:v>
                </c:pt>
                <c:pt idx="34">
                  <c:v>0.38735009551374816</c:v>
                </c:pt>
                <c:pt idx="35">
                  <c:v>0.17840572214182346</c:v>
                </c:pt>
                <c:pt idx="36">
                  <c:v>0.29831242064640623</c:v>
                </c:pt>
                <c:pt idx="37">
                  <c:v>0.48543010709117235</c:v>
                </c:pt>
                <c:pt idx="38">
                  <c:v>0.34633232416787268</c:v>
                </c:pt>
                <c:pt idx="39">
                  <c:v>0.42640525615050651</c:v>
                </c:pt>
                <c:pt idx="40">
                  <c:v>0.509710612638688</c:v>
                </c:pt>
                <c:pt idx="41">
                  <c:v>0.31147500337674872</c:v>
                </c:pt>
                <c:pt idx="42">
                  <c:v>0.276922223918319</c:v>
                </c:pt>
                <c:pt idx="43" formatCode="#,##0.00\ \ ">
                  <c:v>1.4145808902682995</c:v>
                </c:pt>
                <c:pt idx="44" formatCode="#,##0.00\ \ ">
                  <c:v>1.7655476171711491</c:v>
                </c:pt>
                <c:pt idx="45" formatCode="#,##0.00\ \ ">
                  <c:v>3.0665570432826477</c:v>
                </c:pt>
                <c:pt idx="46">
                  <c:v>0.54263281070077396</c:v>
                </c:pt>
                <c:pt idx="47">
                  <c:v>0.54498600271462505</c:v>
                </c:pt>
                <c:pt idx="48">
                  <c:v>0.27572722633324831</c:v>
                </c:pt>
                <c:pt idx="49">
                  <c:v>0.18558719906048149</c:v>
                </c:pt>
                <c:pt idx="50" formatCode="#,##0.0000\ \ ">
                  <c:v>7.8159750697064129E-2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CB-44D9-BBE3-6A731DB6397E}"/>
            </c:ext>
          </c:extLst>
        </c:ser>
        <c:ser>
          <c:idx val="4"/>
          <c:order val="4"/>
          <c:tx>
            <c:strRef>
              <c:f>Hoja5!$F$2</c:f>
              <c:strCache>
                <c:ptCount val="1"/>
                <c:pt idx="0">
                  <c:v>Productos de la caza y pesca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Hoja5!$F$3:$F$53</c:f>
              <c:numCache>
                <c:formatCode>#,##0.000\ \ </c:formatCode>
                <c:ptCount val="51"/>
                <c:pt idx="0">
                  <c:v>0.32366245285746387</c:v>
                </c:pt>
                <c:pt idx="1">
                  <c:v>0.17642720050233276</c:v>
                </c:pt>
                <c:pt idx="2">
                  <c:v>0.18059373275446211</c:v>
                </c:pt>
                <c:pt idx="3">
                  <c:v>0.12808288318216726</c:v>
                </c:pt>
                <c:pt idx="4" formatCode="#,##0.0000\ \ ">
                  <c:v>7.8780945853423892E-2</c:v>
                </c:pt>
                <c:pt idx="5" formatCode="#,##0.0000\ \ ">
                  <c:v>8.6045189830879609E-2</c:v>
                </c:pt>
                <c:pt idx="6" formatCode="#,##0.0000\ \ ">
                  <c:v>4.3672673334426725E-2</c:v>
                </c:pt>
                <c:pt idx="7">
                  <c:v>0.13021756676237828</c:v>
                </c:pt>
                <c:pt idx="8">
                  <c:v>0.18239551828705214</c:v>
                </c:pt>
                <c:pt idx="9">
                  <c:v>0.18286184573957287</c:v>
                </c:pt>
                <c:pt idx="10">
                  <c:v>0.17184053081229514</c:v>
                </c:pt>
                <c:pt idx="11">
                  <c:v>0.25088814761215628</c:v>
                </c:pt>
                <c:pt idx="12">
                  <c:v>0.13916381123196492</c:v>
                </c:pt>
                <c:pt idx="13">
                  <c:v>0.12958015629522432</c:v>
                </c:pt>
                <c:pt idx="14">
                  <c:v>0.14072841199052843</c:v>
                </c:pt>
                <c:pt idx="15">
                  <c:v>0.33333613699951758</c:v>
                </c:pt>
                <c:pt idx="16">
                  <c:v>0.56268658500206992</c:v>
                </c:pt>
                <c:pt idx="17">
                  <c:v>0.67077594211287983</c:v>
                </c:pt>
                <c:pt idx="18">
                  <c:v>0.40783653931500236</c:v>
                </c:pt>
                <c:pt idx="19">
                  <c:v>0.46456280964239427</c:v>
                </c:pt>
                <c:pt idx="20">
                  <c:v>0.26278376927568065</c:v>
                </c:pt>
                <c:pt idx="21">
                  <c:v>0.24300683333682194</c:v>
                </c:pt>
                <c:pt idx="22">
                  <c:v>0.20232922068233214</c:v>
                </c:pt>
                <c:pt idx="23">
                  <c:v>0.48865451111233821</c:v>
                </c:pt>
                <c:pt idx="24">
                  <c:v>0.48196854241348464</c:v>
                </c:pt>
                <c:pt idx="25">
                  <c:v>0.25935660997833548</c:v>
                </c:pt>
                <c:pt idx="26">
                  <c:v>0.19434302889585092</c:v>
                </c:pt>
                <c:pt idx="27">
                  <c:v>0.2990515841456507</c:v>
                </c:pt>
                <c:pt idx="28">
                  <c:v>0.65300321547112483</c:v>
                </c:pt>
                <c:pt idx="29">
                  <c:v>0.71831300174682455</c:v>
                </c:pt>
                <c:pt idx="30">
                  <c:v>0.38970040780623438</c:v>
                </c:pt>
                <c:pt idx="31">
                  <c:v>0.11560842617707183</c:v>
                </c:pt>
                <c:pt idx="32">
                  <c:v>0.22537774433188618</c:v>
                </c:pt>
                <c:pt idx="33" formatCode="#,##0.00\ \ ">
                  <c:v>1.0736732165943079</c:v>
                </c:pt>
                <c:pt idx="34">
                  <c:v>0.77470019102749632</c:v>
                </c:pt>
                <c:pt idx="35">
                  <c:v>0.71362288856729383</c:v>
                </c:pt>
                <c:pt idx="36">
                  <c:v>0.89493726193921852</c:v>
                </c:pt>
                <c:pt idx="37">
                  <c:v>0.97086021418234469</c:v>
                </c:pt>
                <c:pt idx="38">
                  <c:v>0.69266464833574537</c:v>
                </c:pt>
                <c:pt idx="39">
                  <c:v>0.63960788422575976</c:v>
                </c:pt>
                <c:pt idx="40">
                  <c:v>0.509710612638688</c:v>
                </c:pt>
                <c:pt idx="41">
                  <c:v>0.62295000675349743</c:v>
                </c:pt>
                <c:pt idx="42" formatCode="#,##0.00\ \ ">
                  <c:v>1.107688895673276</c:v>
                </c:pt>
                <c:pt idx="43">
                  <c:v>0.84874853416097973</c:v>
                </c:pt>
                <c:pt idx="44">
                  <c:v>0.70621904686845971</c:v>
                </c:pt>
                <c:pt idx="45" formatCode="#,##0.00\ \ ">
                  <c:v>1.5332785216413238</c:v>
                </c:pt>
                <c:pt idx="46">
                  <c:v>0.97373238781664251</c:v>
                </c:pt>
                <c:pt idx="47" formatCode="#,##0.00\ \ ">
                  <c:v>1.05261791652528</c:v>
                </c:pt>
                <c:pt idx="48" formatCode="#,##0.00\ \ ">
                  <c:v>1.2786297524878796</c:v>
                </c:pt>
                <c:pt idx="49" formatCode="#,##0.00\ \ ">
                  <c:v>1.3035085143863769</c:v>
                </c:pt>
                <c:pt idx="50">
                  <c:v>0.8293915040183697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CB-44D9-BBE3-6A731DB6397E}"/>
            </c:ext>
          </c:extLst>
        </c:ser>
        <c:ser>
          <c:idx val="5"/>
          <c:order val="5"/>
          <c:tx>
            <c:strRef>
              <c:f>Hoja5!$G$2</c:f>
              <c:strCache>
                <c:ptCount val="1"/>
                <c:pt idx="0">
                  <c:v>Artículos diversos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Hoja5!$A$3:$A$53</c:f>
              <c:numCache>
                <c:formatCode>General</c:formatCode>
                <c:ptCount val="51"/>
                <c:pt idx="0">
                  <c:v>1864</c:v>
                </c:pt>
                <c:pt idx="1">
                  <c:v>1865</c:v>
                </c:pt>
                <c:pt idx="2">
                  <c:v>1866</c:v>
                </c:pt>
                <c:pt idx="3">
                  <c:v>1867</c:v>
                </c:pt>
                <c:pt idx="4">
                  <c:v>1868</c:v>
                </c:pt>
                <c:pt idx="5">
                  <c:v>1869</c:v>
                </c:pt>
                <c:pt idx="6">
                  <c:v>1870</c:v>
                </c:pt>
                <c:pt idx="7">
                  <c:v>1871</c:v>
                </c:pt>
                <c:pt idx="8">
                  <c:v>1872</c:v>
                </c:pt>
                <c:pt idx="9">
                  <c:v>1873</c:v>
                </c:pt>
                <c:pt idx="10">
                  <c:v>1874</c:v>
                </c:pt>
                <c:pt idx="11">
                  <c:v>1875</c:v>
                </c:pt>
                <c:pt idx="12">
                  <c:v>1876</c:v>
                </c:pt>
                <c:pt idx="13">
                  <c:v>1877</c:v>
                </c:pt>
                <c:pt idx="14">
                  <c:v>1878</c:v>
                </c:pt>
                <c:pt idx="15">
                  <c:v>1879</c:v>
                </c:pt>
                <c:pt idx="16">
                  <c:v>1880</c:v>
                </c:pt>
                <c:pt idx="17">
                  <c:v>1881</c:v>
                </c:pt>
                <c:pt idx="18">
                  <c:v>1882</c:v>
                </c:pt>
                <c:pt idx="19">
                  <c:v>1883</c:v>
                </c:pt>
                <c:pt idx="20">
                  <c:v>1884</c:v>
                </c:pt>
                <c:pt idx="21">
                  <c:v>1885</c:v>
                </c:pt>
                <c:pt idx="22">
                  <c:v>1886</c:v>
                </c:pt>
                <c:pt idx="23">
                  <c:v>1887</c:v>
                </c:pt>
                <c:pt idx="24">
                  <c:v>1888</c:v>
                </c:pt>
                <c:pt idx="25">
                  <c:v>1889</c:v>
                </c:pt>
                <c:pt idx="26">
                  <c:v>1890</c:v>
                </c:pt>
                <c:pt idx="27">
                  <c:v>1891</c:v>
                </c:pt>
                <c:pt idx="28">
                  <c:v>1892</c:v>
                </c:pt>
                <c:pt idx="29">
                  <c:v>1893</c:v>
                </c:pt>
                <c:pt idx="30">
                  <c:v>1894</c:v>
                </c:pt>
                <c:pt idx="31">
                  <c:v>1895</c:v>
                </c:pt>
                <c:pt idx="32">
                  <c:v>1896</c:v>
                </c:pt>
                <c:pt idx="33">
                  <c:v>1897</c:v>
                </c:pt>
                <c:pt idx="34">
                  <c:v>1898</c:v>
                </c:pt>
                <c:pt idx="35">
                  <c:v>1899</c:v>
                </c:pt>
                <c:pt idx="36">
                  <c:v>1900</c:v>
                </c:pt>
                <c:pt idx="37">
                  <c:v>1901</c:v>
                </c:pt>
                <c:pt idx="38">
                  <c:v>1902</c:v>
                </c:pt>
                <c:pt idx="39">
                  <c:v>1903</c:v>
                </c:pt>
                <c:pt idx="40">
                  <c:v>1904</c:v>
                </c:pt>
                <c:pt idx="41">
                  <c:v>1905</c:v>
                </c:pt>
                <c:pt idx="42">
                  <c:v>1906</c:v>
                </c:pt>
                <c:pt idx="43">
                  <c:v>1907</c:v>
                </c:pt>
                <c:pt idx="44">
                  <c:v>1908</c:v>
                </c:pt>
                <c:pt idx="45">
                  <c:v>1909</c:v>
                </c:pt>
                <c:pt idx="46">
                  <c:v>1910</c:v>
                </c:pt>
                <c:pt idx="47">
                  <c:v>1911</c:v>
                </c:pt>
                <c:pt idx="48">
                  <c:v>1912</c:v>
                </c:pt>
                <c:pt idx="49">
                  <c:v>1913</c:v>
                </c:pt>
                <c:pt idx="50">
                  <c:v>1914</c:v>
                </c:pt>
              </c:numCache>
            </c:numRef>
          </c:cat>
          <c:val>
            <c:numRef>
              <c:f>Hoja5!$G$3:$G$53</c:f>
              <c:numCache>
                <c:formatCode>#,##0.000\ \ </c:formatCode>
                <c:ptCount val="51"/>
                <c:pt idx="0" formatCode="#,##0.0000\ \ ">
                  <c:v>6.4732490571492773E-2</c:v>
                </c:pt>
                <c:pt idx="1">
                  <c:v>0.12601942893023771</c:v>
                </c:pt>
                <c:pt idx="2" formatCode="#,##0.0000\ \ ">
                  <c:v>5.1598209358417753E-2</c:v>
                </c:pt>
                <c:pt idx="3" formatCode="#,##0.0000\ \ ">
                  <c:v>3.2020720795541815E-2</c:v>
                </c:pt>
                <c:pt idx="4" formatCode="#,##0.0000\ \ ">
                  <c:v>1.4328880967655961E-2</c:v>
                </c:pt>
                <c:pt idx="5" formatCode="#,##0.0000\ \ ">
                  <c:v>1.5650120337726954E-2</c:v>
                </c:pt>
                <c:pt idx="6" formatCode="#,##0.00\ \ ">
                  <c:v>0</c:v>
                </c:pt>
                <c:pt idx="7" formatCode="#,##0.0000\ \ ">
                  <c:v>5.2087026704951314E-2</c:v>
                </c:pt>
                <c:pt idx="8" formatCode="#,##0.0000\ \ ">
                  <c:v>4.5598879571763035E-2</c:v>
                </c:pt>
                <c:pt idx="9" formatCode="#,##0.0000\ \ ">
                  <c:v>4.5715461434893218E-2</c:v>
                </c:pt>
                <c:pt idx="10" formatCode="#,##0.0000\ \ ">
                  <c:v>4.2960132703073785E-2</c:v>
                </c:pt>
                <c:pt idx="11" formatCode="#,##0.0000\ \ ">
                  <c:v>5.0177629522431266E-2</c:v>
                </c:pt>
                <c:pt idx="12" formatCode="#,##0.0000\ \ ">
                  <c:v>4.6387937077321639E-2</c:v>
                </c:pt>
                <c:pt idx="13" formatCode="#,##0.00\ \ ">
                  <c:v>0</c:v>
                </c:pt>
                <c:pt idx="14" formatCode="#,##0.0000\ \ ">
                  <c:v>3.5182102997632109E-2</c:v>
                </c:pt>
                <c:pt idx="15" formatCode="#,##0.0000\ \ ">
                  <c:v>9.5238896285576441E-2</c:v>
                </c:pt>
                <c:pt idx="16">
                  <c:v>0.16880597550062093</c:v>
                </c:pt>
                <c:pt idx="17">
                  <c:v>0.11179599035214663</c:v>
                </c:pt>
                <c:pt idx="18" formatCode="#,##0.0000\ \ ">
                  <c:v>5.8262362759286063E-2</c:v>
                </c:pt>
                <c:pt idx="19" formatCode="#,##0.0000\ \ ">
                  <c:v>1.7421105361589785E-2</c:v>
                </c:pt>
                <c:pt idx="20" formatCode="#,##0.00000\ \ ">
                  <c:v>3.9417565391352098E-3</c:v>
                </c:pt>
                <c:pt idx="21" formatCode="#,##0.00000\ \ ">
                  <c:v>4.0501138889470325E-3</c:v>
                </c:pt>
                <c:pt idx="22" formatCode="#,##0.0000\ \ ">
                  <c:v>6.7443073560777389E-2</c:v>
                </c:pt>
                <c:pt idx="23" formatCode="#,##0.00000\ \ ">
                  <c:v>6.5153934814978429E-3</c:v>
                </c:pt>
                <c:pt idx="24">
                  <c:v>0.19278741696539387</c:v>
                </c:pt>
                <c:pt idx="25">
                  <c:v>0.51871321995667097</c:v>
                </c:pt>
                <c:pt idx="26" formatCode="#,##0.0000\ \ ">
                  <c:v>9.7171514447925461E-2</c:v>
                </c:pt>
                <c:pt idx="27" formatCode="#,##0.0000\ \ ">
                  <c:v>9.9683861381883565E-2</c:v>
                </c:pt>
                <c:pt idx="28">
                  <c:v>0.65300321547112483</c:v>
                </c:pt>
                <c:pt idx="29">
                  <c:v>0.35915650087341228</c:v>
                </c:pt>
                <c:pt idx="30">
                  <c:v>0.68197571366090992</c:v>
                </c:pt>
                <c:pt idx="31">
                  <c:v>0.23121685235414366</c:v>
                </c:pt>
                <c:pt idx="32" formatCode="#,##0.00\ \ ">
                  <c:v>2.9299106763145204</c:v>
                </c:pt>
                <c:pt idx="33" formatCode="#,##0.00\ \ ">
                  <c:v>5.1731527708634824</c:v>
                </c:pt>
                <c:pt idx="34" formatCode="#,##0.00\ \ ">
                  <c:v>2.1949838745779062</c:v>
                </c:pt>
                <c:pt idx="35" formatCode="#,##0.00\ \ ">
                  <c:v>2.1408686657018814</c:v>
                </c:pt>
                <c:pt idx="36" formatCode="#,##0.00\ \ ">
                  <c:v>1.1932496825856249</c:v>
                </c:pt>
                <c:pt idx="37" formatCode="#,##0.00\ \ ">
                  <c:v>3.721630821032321</c:v>
                </c:pt>
                <c:pt idx="38" formatCode="#,##0.00\ \ ">
                  <c:v>4.8486525383502164</c:v>
                </c:pt>
                <c:pt idx="39" formatCode="#,##0.00\ \ ">
                  <c:v>2.345228908827786</c:v>
                </c:pt>
                <c:pt idx="40" formatCode="#,##0.00\ \ ">
                  <c:v>1.5291318379160637</c:v>
                </c:pt>
                <c:pt idx="41">
                  <c:v>0.31147500337674872</c:v>
                </c:pt>
                <c:pt idx="42" formatCode="#,##0.0000\ \ ">
                  <c:v>5.5384444783663792E-2</c:v>
                </c:pt>
                <c:pt idx="43" formatCode="#,##0.00\ \ ">
                  <c:v>0</c:v>
                </c:pt>
                <c:pt idx="44" formatCode="#,##0.00\ \ ">
                  <c:v>0</c:v>
                </c:pt>
                <c:pt idx="45" formatCode="#,##0.00\ \ ">
                  <c:v>0</c:v>
                </c:pt>
                <c:pt idx="46" formatCode="#,##0.00\ \ ">
                  <c:v>3.0435771044924569</c:v>
                </c:pt>
                <c:pt idx="47" formatCode="#,##0.00\ \ ">
                  <c:v>2.4333644384119446</c:v>
                </c:pt>
                <c:pt idx="48" formatCode="#,##0.00\ \ ">
                  <c:v>3.6703840265373819</c:v>
                </c:pt>
                <c:pt idx="49" formatCode="#,##0.00\ \ ">
                  <c:v>4.8468433856220114</c:v>
                </c:pt>
                <c:pt idx="50" formatCode="#,##0.00\ \ ">
                  <c:v>13.852825569952435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BCB-44D9-BBE3-6A731DB63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5988656"/>
        <c:axId val="725989312"/>
      </c:barChart>
      <c:catAx>
        <c:axId val="72598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25989312"/>
        <c:crosses val="autoZero"/>
        <c:auto val="1"/>
        <c:lblAlgn val="ctr"/>
        <c:lblOffset val="100"/>
        <c:noMultiLvlLbl val="0"/>
      </c:catAx>
      <c:valAx>
        <c:axId val="72598931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25988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781386701662295"/>
          <c:y val="7.5211731924394939E-2"/>
          <c:w val="0.34853893263342084"/>
          <c:h val="0.392279687439589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Hoja6!$B$6</c:f>
              <c:strCache>
                <c:ptCount val="1"/>
                <c:pt idx="0">
                  <c:v>Reino Unido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Hoja6!$B$7:$B$40</c:f>
              <c:numCache>
                <c:formatCode>#,##0.00\ \ </c:formatCode>
                <c:ptCount val="34"/>
                <c:pt idx="0">
                  <c:v>3.8550341500740224</c:v>
                </c:pt>
                <c:pt idx="1">
                  <c:v>7.2226069536305033</c:v>
                </c:pt>
                <c:pt idx="2">
                  <c:v>5.8087772310660881</c:v>
                </c:pt>
                <c:pt idx="3">
                  <c:v>6.7564605431173925</c:v>
                </c:pt>
                <c:pt idx="4">
                  <c:v>10.597364068637585</c:v>
                </c:pt>
                <c:pt idx="5">
                  <c:v>9.6250900696023702</c:v>
                </c:pt>
                <c:pt idx="6">
                  <c:v>16.386176053342925</c:v>
                </c:pt>
                <c:pt idx="7">
                  <c:v>16.902636782440908</c:v>
                </c:pt>
                <c:pt idx="8">
                  <c:v>10.606209334886401</c:v>
                </c:pt>
                <c:pt idx="9">
                  <c:v>18.29806963648608</c:v>
                </c:pt>
                <c:pt idx="10">
                  <c:v>15.952805136779395</c:v>
                </c:pt>
                <c:pt idx="11">
                  <c:v>19.273663187914259</c:v>
                </c:pt>
                <c:pt idx="12">
                  <c:v>17.865647909802835</c:v>
                </c:pt>
                <c:pt idx="13">
                  <c:v>19.331443874920097</c:v>
                </c:pt>
                <c:pt idx="14">
                  <c:v>14.479955378678246</c:v>
                </c:pt>
                <c:pt idx="15">
                  <c:v>13.965714926548502</c:v>
                </c:pt>
                <c:pt idx="16">
                  <c:v>12.563232957449147</c:v>
                </c:pt>
                <c:pt idx="17">
                  <c:v>18.307591579007997</c:v>
                </c:pt>
                <c:pt idx="18">
                  <c:v>20.733637978644346</c:v>
                </c:pt>
                <c:pt idx="19">
                  <c:v>23.579837275747238</c:v>
                </c:pt>
                <c:pt idx="20">
                  <c:v>29.973378242216061</c:v>
                </c:pt>
                <c:pt idx="21">
                  <c:v>35.134416133362954</c:v>
                </c:pt>
                <c:pt idx="22">
                  <c:v>34.823764770237325</c:v>
                </c:pt>
                <c:pt idx="23">
                  <c:v>35.362579750024125</c:v>
                </c:pt>
                <c:pt idx="24">
                  <c:v>43.028244479530962</c:v>
                </c:pt>
                <c:pt idx="25">
                  <c:v>41.671155988358237</c:v>
                </c:pt>
                <c:pt idx="26">
                  <c:v>50.593953890181197</c:v>
                </c:pt>
                <c:pt idx="27">
                  <c:v>75.525386371617515</c:v>
                </c:pt>
                <c:pt idx="28">
                  <c:v>77.915624741526159</c:v>
                </c:pt>
                <c:pt idx="29">
                  <c:v>80.978752164913615</c:v>
                </c:pt>
                <c:pt idx="30">
                  <c:v>92.905827702702709</c:v>
                </c:pt>
                <c:pt idx="31">
                  <c:v>121.71336798951859</c:v>
                </c:pt>
                <c:pt idx="32">
                  <c:v>123.96919831223626</c:v>
                </c:pt>
                <c:pt idx="33">
                  <c:v>113.52118644067797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C-4623-90C5-B61937B60309}"/>
            </c:ext>
          </c:extLst>
        </c:ser>
        <c:ser>
          <c:idx val="1"/>
          <c:order val="1"/>
          <c:tx>
            <c:strRef>
              <c:f>Hoja6!$C$6</c:f>
              <c:strCache>
                <c:ptCount val="1"/>
                <c:pt idx="0">
                  <c:v>Países Bajos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Hoja6!$C$7:$C$40</c:f>
              <c:numCache>
                <c:formatCode>#,##0.00\ \ 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1.498668912110803</c:v>
                </c:pt>
                <c:pt idx="21">
                  <c:v>2.9691055887348976</c:v>
                </c:pt>
                <c:pt idx="22">
                  <c:v>4.3529705962796656</c:v>
                </c:pt>
                <c:pt idx="23">
                  <c:v>3.3909323047968343</c:v>
                </c:pt>
                <c:pt idx="24">
                  <c:v>3.3842439478282778</c:v>
                </c:pt>
                <c:pt idx="25">
                  <c:v>2.9072899526761562</c:v>
                </c:pt>
                <c:pt idx="26">
                  <c:v>3.7827255244995293</c:v>
                </c:pt>
                <c:pt idx="27">
                  <c:v>5.3255080133832866</c:v>
                </c:pt>
                <c:pt idx="28">
                  <c:v>5.8073757571323839</c:v>
                </c:pt>
                <c:pt idx="29">
                  <c:v>4.3103958095720865</c:v>
                </c:pt>
                <c:pt idx="30">
                  <c:v>6.5152027027027035</c:v>
                </c:pt>
                <c:pt idx="31">
                  <c:v>16.072017243565359</c:v>
                </c:pt>
                <c:pt idx="32">
                  <c:v>23.300843881856533</c:v>
                </c:pt>
                <c:pt idx="33">
                  <c:v>12.416949152542372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C-4623-90C5-B61937B60309}"/>
            </c:ext>
          </c:extLst>
        </c:ser>
        <c:ser>
          <c:idx val="2"/>
          <c:order val="2"/>
          <c:tx>
            <c:strRef>
              <c:f>Hoja6!$D$6</c:f>
              <c:strCache>
                <c:ptCount val="1"/>
                <c:pt idx="0">
                  <c:v>Bélgica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Hoja6!$D$7:$D$40</c:f>
              <c:numCache>
                <c:formatCode>#,##0.00\ \ </c:formatCode>
                <c:ptCount val="34"/>
                <c:pt idx="0">
                  <c:v>12.528860987740572</c:v>
                </c:pt>
                <c:pt idx="1">
                  <c:v>13.000692516534908</c:v>
                </c:pt>
                <c:pt idx="2">
                  <c:v>11.617554462132176</c:v>
                </c:pt>
                <c:pt idx="3">
                  <c:v>13.99552541074317</c:v>
                </c:pt>
                <c:pt idx="4">
                  <c:v>14.450951002687615</c:v>
                </c:pt>
                <c:pt idx="5">
                  <c:v>10.10634457308249</c:v>
                </c:pt>
                <c:pt idx="6">
                  <c:v>11.566712508242064</c:v>
                </c:pt>
                <c:pt idx="7">
                  <c:v>15.936771823444284</c:v>
                </c:pt>
                <c:pt idx="8">
                  <c:v>11.66683026837504</c:v>
                </c:pt>
                <c:pt idx="9">
                  <c:v>11.556675559885948</c:v>
                </c:pt>
                <c:pt idx="10">
                  <c:v>17.403060149213886</c:v>
                </c:pt>
                <c:pt idx="11">
                  <c:v>13.973405811237836</c:v>
                </c:pt>
                <c:pt idx="12">
                  <c:v>10.139962327185394</c:v>
                </c:pt>
                <c:pt idx="13">
                  <c:v>12.082152421825061</c:v>
                </c:pt>
                <c:pt idx="14">
                  <c:v>14.96262055796752</c:v>
                </c:pt>
                <c:pt idx="15">
                  <c:v>11.55783304266083</c:v>
                </c:pt>
                <c:pt idx="16">
                  <c:v>8.6976228166955636</c:v>
                </c:pt>
                <c:pt idx="17">
                  <c:v>13.008025595610947</c:v>
                </c:pt>
                <c:pt idx="18">
                  <c:v>23.144526115696014</c:v>
                </c:pt>
                <c:pt idx="19">
                  <c:v>12.281165247785019</c:v>
                </c:pt>
                <c:pt idx="20">
                  <c:v>12.988463904960293</c:v>
                </c:pt>
                <c:pt idx="21">
                  <c:v>13.360975149307041</c:v>
                </c:pt>
                <c:pt idx="22">
                  <c:v>19.346535983465181</c:v>
                </c:pt>
                <c:pt idx="23">
                  <c:v>16.470242623298908</c:v>
                </c:pt>
                <c:pt idx="24">
                  <c:v>19.82200026585134</c:v>
                </c:pt>
                <c:pt idx="25">
                  <c:v>24.711964597747325</c:v>
                </c:pt>
                <c:pt idx="26">
                  <c:v>27.897600743184025</c:v>
                </c:pt>
                <c:pt idx="27">
                  <c:v>34.373733540928484</c:v>
                </c:pt>
                <c:pt idx="28">
                  <c:v>39.683734340404619</c:v>
                </c:pt>
                <c:pt idx="29">
                  <c:v>30.550416085836186</c:v>
                </c:pt>
                <c:pt idx="30">
                  <c:v>36.038851351351347</c:v>
                </c:pt>
                <c:pt idx="31">
                  <c:v>37.362748827183971</c:v>
                </c:pt>
                <c:pt idx="32">
                  <c:v>33.711392405063286</c:v>
                </c:pt>
                <c:pt idx="33">
                  <c:v>19.454661016949153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3C-4623-90C5-B61937B60309}"/>
            </c:ext>
          </c:extLst>
        </c:ser>
        <c:ser>
          <c:idx val="3"/>
          <c:order val="3"/>
          <c:tx>
            <c:strRef>
              <c:f>Hoja6!$E$6</c:f>
              <c:strCache>
                <c:ptCount val="1"/>
                <c:pt idx="0">
                  <c:v>Alemania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Hoja6!$E$7:$E$40</c:f>
              <c:numCache>
                <c:formatCode>#,##0.00\ \ </c:formatCode>
                <c:ptCount val="34"/>
                <c:pt idx="0">
                  <c:v>3.8550341500740224</c:v>
                </c:pt>
                <c:pt idx="1">
                  <c:v>4.3335641721783018</c:v>
                </c:pt>
                <c:pt idx="2">
                  <c:v>4.8406476925550734</c:v>
                </c:pt>
                <c:pt idx="3">
                  <c:v>6.7564605431173925</c:v>
                </c:pt>
                <c:pt idx="4">
                  <c:v>8.1888722348563157</c:v>
                </c:pt>
                <c:pt idx="5">
                  <c:v>6.7375630487216593</c:v>
                </c:pt>
                <c:pt idx="6">
                  <c:v>9.6389270902017206</c:v>
                </c:pt>
                <c:pt idx="7">
                  <c:v>12.556244466956104</c:v>
                </c:pt>
                <c:pt idx="8">
                  <c:v>12.020370579537921</c:v>
                </c:pt>
                <c:pt idx="9">
                  <c:v>11.075147411557365</c:v>
                </c:pt>
                <c:pt idx="10">
                  <c:v>11.11862176199776</c:v>
                </c:pt>
                <c:pt idx="11">
                  <c:v>15.900772130029262</c:v>
                </c:pt>
                <c:pt idx="12">
                  <c:v>9.6571069782718038</c:v>
                </c:pt>
                <c:pt idx="13">
                  <c:v>11.115580228079054</c:v>
                </c:pt>
                <c:pt idx="14">
                  <c:v>12.549294661521145</c:v>
                </c:pt>
                <c:pt idx="15">
                  <c:v>12.5209857962159</c:v>
                </c:pt>
                <c:pt idx="16">
                  <c:v>13.52963549263754</c:v>
                </c:pt>
                <c:pt idx="17">
                  <c:v>19.271149030534737</c:v>
                </c:pt>
                <c:pt idx="18">
                  <c:v>27.966302389799349</c:v>
                </c:pt>
                <c:pt idx="19">
                  <c:v>19.649864396456032</c:v>
                </c:pt>
                <c:pt idx="20">
                  <c:v>20.981364769551242</c:v>
                </c:pt>
                <c:pt idx="21">
                  <c:v>22.763142846967551</c:v>
                </c:pt>
                <c:pt idx="22">
                  <c:v>25.634160178091363</c:v>
                </c:pt>
                <c:pt idx="23">
                  <c:v>28.096296239745197</c:v>
                </c:pt>
                <c:pt idx="24">
                  <c:v>35.776293162756083</c:v>
                </c:pt>
                <c:pt idx="25">
                  <c:v>37.79476938479003</c:v>
                </c:pt>
                <c:pt idx="26">
                  <c:v>34.517370411058202</c:v>
                </c:pt>
                <c:pt idx="27">
                  <c:v>33.405459356676978</c:v>
                </c:pt>
                <c:pt idx="28">
                  <c:v>39.683734340404619</c:v>
                </c:pt>
                <c:pt idx="29">
                  <c:v>45.158197102183927</c:v>
                </c:pt>
                <c:pt idx="30">
                  <c:v>43.572212837837839</c:v>
                </c:pt>
                <c:pt idx="31">
                  <c:v>54.146485778284934</c:v>
                </c:pt>
                <c:pt idx="32">
                  <c:v>59.648523206751037</c:v>
                </c:pt>
                <c:pt idx="33">
                  <c:v>34.152542372881349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3C-4623-90C5-B61937B60309}"/>
            </c:ext>
          </c:extLst>
        </c:ser>
        <c:ser>
          <c:idx val="4"/>
          <c:order val="4"/>
          <c:tx>
            <c:strRef>
              <c:f>Hoja6!$F$6</c:f>
              <c:strCache>
                <c:ptCount val="1"/>
                <c:pt idx="0">
                  <c:v>Francia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Hoja6!$F$7:$F$40</c:f>
              <c:numCache>
                <c:formatCode>#,##0.00\ \ </c:formatCode>
                <c:ptCount val="34"/>
                <c:pt idx="0">
                  <c:v>15.42013660029609</c:v>
                </c:pt>
                <c:pt idx="1">
                  <c:v>10.593156865324739</c:v>
                </c:pt>
                <c:pt idx="2">
                  <c:v>20.330720308731308</c:v>
                </c:pt>
                <c:pt idx="3">
                  <c:v>21.234590278368952</c:v>
                </c:pt>
                <c:pt idx="4">
                  <c:v>23.121521604300185</c:v>
                </c:pt>
                <c:pt idx="5">
                  <c:v>21.175198153125219</c:v>
                </c:pt>
                <c:pt idx="6">
                  <c:v>23.133425016484129</c:v>
                </c:pt>
                <c:pt idx="7">
                  <c:v>27.044218851905448</c:v>
                </c:pt>
                <c:pt idx="8">
                  <c:v>26.869063648378884</c:v>
                </c:pt>
                <c:pt idx="9">
                  <c:v>25.520991861414799</c:v>
                </c:pt>
                <c:pt idx="10">
                  <c:v>23.204080198951846</c:v>
                </c:pt>
                <c:pt idx="11">
                  <c:v>26.983128463079957</c:v>
                </c:pt>
                <c:pt idx="12">
                  <c:v>17.382792560889243</c:v>
                </c:pt>
                <c:pt idx="13">
                  <c:v>17.881585584301089</c:v>
                </c:pt>
                <c:pt idx="14">
                  <c:v>19.306607171570992</c:v>
                </c:pt>
                <c:pt idx="15">
                  <c:v>22.152513331766585</c:v>
                </c:pt>
                <c:pt idx="16">
                  <c:v>21.260855774144712</c:v>
                </c:pt>
                <c:pt idx="17">
                  <c:v>28.906723545802105</c:v>
                </c:pt>
                <c:pt idx="18">
                  <c:v>39.538565447647358</c:v>
                </c:pt>
                <c:pt idx="19">
                  <c:v>19.158617786544632</c:v>
                </c:pt>
                <c:pt idx="20">
                  <c:v>28.474709330105256</c:v>
                </c:pt>
                <c:pt idx="21">
                  <c:v>28.701354024437347</c:v>
                </c:pt>
                <c:pt idx="22">
                  <c:v>32.889111171890804</c:v>
                </c:pt>
                <c:pt idx="23">
                  <c:v>29.549552941800986</c:v>
                </c:pt>
                <c:pt idx="24">
                  <c:v>35.776293162756083</c:v>
                </c:pt>
                <c:pt idx="25">
                  <c:v>34.402931106667843</c:v>
                </c:pt>
                <c:pt idx="26">
                  <c:v>34.990211101620645</c:v>
                </c:pt>
                <c:pt idx="27">
                  <c:v>27.111677159042184</c:v>
                </c:pt>
                <c:pt idx="28">
                  <c:v>37.747942421360499</c:v>
                </c:pt>
                <c:pt idx="29">
                  <c:v>37.848181472563681</c:v>
                </c:pt>
                <c:pt idx="30">
                  <c:v>40.152449324324323</c:v>
                </c:pt>
                <c:pt idx="31">
                  <c:v>36.153163433498158</c:v>
                </c:pt>
                <c:pt idx="32">
                  <c:v>38.847257383966237</c:v>
                </c:pt>
                <c:pt idx="33">
                  <c:v>22.194915254237287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3C-4623-90C5-B61937B60309}"/>
            </c:ext>
          </c:extLst>
        </c:ser>
        <c:ser>
          <c:idx val="5"/>
          <c:order val="5"/>
          <c:tx>
            <c:strRef>
              <c:f>Hoja6!$G$6</c:f>
              <c:strCache>
                <c:ptCount val="1"/>
                <c:pt idx="0">
                  <c:v>Italia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Hoja6!$A$7:$A$40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Hoja6!$G$7:$G$40</c:f>
              <c:numCache>
                <c:formatCode>#,##0.00\ \ </c:formatCode>
                <c:ptCount val="34"/>
                <c:pt idx="0">
                  <c:v>2.409396343796264</c:v>
                </c:pt>
                <c:pt idx="1">
                  <c:v>1.4445213907261008</c:v>
                </c:pt>
                <c:pt idx="2">
                  <c:v>1.452194307766522</c:v>
                </c:pt>
                <c:pt idx="3">
                  <c:v>1.9304172980335408</c:v>
                </c:pt>
                <c:pt idx="4">
                  <c:v>2.4084918337812695</c:v>
                </c:pt>
                <c:pt idx="5">
                  <c:v>2.4062725174005926</c:v>
                </c:pt>
                <c:pt idx="6">
                  <c:v>2.8916781270605161</c:v>
                </c:pt>
                <c:pt idx="7">
                  <c:v>2.4146623974915582</c:v>
                </c:pt>
                <c:pt idx="8">
                  <c:v>2.8283224893030403</c:v>
                </c:pt>
                <c:pt idx="9">
                  <c:v>2.8891688899714869</c:v>
                </c:pt>
                <c:pt idx="10">
                  <c:v>3.3839283623471439</c:v>
                </c:pt>
                <c:pt idx="11">
                  <c:v>4.3365742172807087</c:v>
                </c:pt>
                <c:pt idx="12">
                  <c:v>3.379987442395131</c:v>
                </c:pt>
                <c:pt idx="13">
                  <c:v>2.8997165812380143</c:v>
                </c:pt>
                <c:pt idx="14">
                  <c:v>3.3786562550249233</c:v>
                </c:pt>
                <c:pt idx="15">
                  <c:v>3.371034637442742</c:v>
                </c:pt>
                <c:pt idx="16">
                  <c:v>3.8656101407535841</c:v>
                </c:pt>
                <c:pt idx="17">
                  <c:v>5.2995659833970521</c:v>
                </c:pt>
                <c:pt idx="18">
                  <c:v>4.8217762741033363</c:v>
                </c:pt>
                <c:pt idx="19">
                  <c:v>4.4212194892026071</c:v>
                </c:pt>
                <c:pt idx="20">
                  <c:v>4.4960067363324088</c:v>
                </c:pt>
                <c:pt idx="21">
                  <c:v>3.958807451646531</c:v>
                </c:pt>
                <c:pt idx="22">
                  <c:v>4.3529705962796656</c:v>
                </c:pt>
                <c:pt idx="23">
                  <c:v>4.3597701061673586</c:v>
                </c:pt>
                <c:pt idx="24">
                  <c:v>6.2850244745382309</c:v>
                </c:pt>
                <c:pt idx="25">
                  <c:v>6.7836765562443633</c:v>
                </c:pt>
                <c:pt idx="26">
                  <c:v>4.7284069056244116</c:v>
                </c:pt>
                <c:pt idx="27">
                  <c:v>7.7461934740120535</c:v>
                </c:pt>
                <c:pt idx="28">
                  <c:v>12.098699494025801</c:v>
                </c:pt>
                <c:pt idx="29">
                  <c:v>10.498880581252905</c:v>
                </c:pt>
                <c:pt idx="30">
                  <c:v>13.744087837837837</c:v>
                </c:pt>
                <c:pt idx="31">
                  <c:v>21.207049575250409</c:v>
                </c:pt>
                <c:pt idx="32">
                  <c:v>20.638396624472566</c:v>
                </c:pt>
                <c:pt idx="33">
                  <c:v>9.5004237288135585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03C-4623-90C5-B61937B60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5689128"/>
        <c:axId val="595692736"/>
      </c:barChart>
      <c:catAx>
        <c:axId val="595689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95692736"/>
        <c:crosses val="autoZero"/>
        <c:auto val="1"/>
        <c:lblAlgn val="ctr"/>
        <c:lblOffset val="100"/>
        <c:noMultiLvlLbl val="0"/>
      </c:catAx>
      <c:valAx>
        <c:axId val="595692736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95689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Hoja7!$B$5</c:f>
              <c:strCache>
                <c:ptCount val="1"/>
                <c:pt idx="0">
                  <c:v>Bienes de capital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Hoja7!$A$6:$A$44</c:f>
              <c:numCache>
                <c:formatCode>0</c:formatCode>
                <c:ptCount val="39"/>
                <c:pt idx="0">
                  <c:v>1875.99999999993</c:v>
                </c:pt>
                <c:pt idx="1">
                  <c:v>1876.99999999993</c:v>
                </c:pt>
                <c:pt idx="2">
                  <c:v>1877.99999999993</c:v>
                </c:pt>
                <c:pt idx="3">
                  <c:v>1878.99999999993</c:v>
                </c:pt>
                <c:pt idx="4">
                  <c:v>1879.99999999993</c:v>
                </c:pt>
                <c:pt idx="5">
                  <c:v>1880.99999999993</c:v>
                </c:pt>
                <c:pt idx="6">
                  <c:v>1881.99999999993</c:v>
                </c:pt>
                <c:pt idx="7">
                  <c:v>1882.99999999993</c:v>
                </c:pt>
                <c:pt idx="8">
                  <c:v>1883.99999999992</c:v>
                </c:pt>
                <c:pt idx="9">
                  <c:v>1884.99999999992</c:v>
                </c:pt>
                <c:pt idx="10">
                  <c:v>1885.99999999992</c:v>
                </c:pt>
                <c:pt idx="11">
                  <c:v>1886.99999999992</c:v>
                </c:pt>
                <c:pt idx="12">
                  <c:v>1887.99999999992</c:v>
                </c:pt>
                <c:pt idx="13">
                  <c:v>1888.99999999992</c:v>
                </c:pt>
                <c:pt idx="14">
                  <c:v>1889.99999999992</c:v>
                </c:pt>
                <c:pt idx="15">
                  <c:v>1890.99999999992</c:v>
                </c:pt>
                <c:pt idx="16">
                  <c:v>1891.99999999992</c:v>
                </c:pt>
                <c:pt idx="17">
                  <c:v>1892.99999999992</c:v>
                </c:pt>
                <c:pt idx="18">
                  <c:v>1893.99999999992</c:v>
                </c:pt>
                <c:pt idx="19">
                  <c:v>1894.99999999991</c:v>
                </c:pt>
                <c:pt idx="20">
                  <c:v>1895.99999999991</c:v>
                </c:pt>
                <c:pt idx="21">
                  <c:v>1896.99999999991</c:v>
                </c:pt>
                <c:pt idx="22">
                  <c:v>1897.99999999991</c:v>
                </c:pt>
                <c:pt idx="23">
                  <c:v>1898.99999999991</c:v>
                </c:pt>
                <c:pt idx="24">
                  <c:v>1900</c:v>
                </c:pt>
                <c:pt idx="25">
                  <c:v>1901</c:v>
                </c:pt>
                <c:pt idx="26">
                  <c:v>1902</c:v>
                </c:pt>
                <c:pt idx="27">
                  <c:v>1903</c:v>
                </c:pt>
                <c:pt idx="28">
                  <c:v>1904</c:v>
                </c:pt>
                <c:pt idx="29">
                  <c:v>1905</c:v>
                </c:pt>
                <c:pt idx="30">
                  <c:v>1906</c:v>
                </c:pt>
                <c:pt idx="31">
                  <c:v>1907</c:v>
                </c:pt>
                <c:pt idx="32">
                  <c:v>1908</c:v>
                </c:pt>
                <c:pt idx="33">
                  <c:v>1909</c:v>
                </c:pt>
                <c:pt idx="34">
                  <c:v>1910</c:v>
                </c:pt>
                <c:pt idx="35">
                  <c:v>1911</c:v>
                </c:pt>
                <c:pt idx="36">
                  <c:v>1912</c:v>
                </c:pt>
                <c:pt idx="37">
                  <c:v>1913</c:v>
                </c:pt>
                <c:pt idx="38">
                  <c:v>1914</c:v>
                </c:pt>
              </c:numCache>
            </c:numRef>
          </c:cat>
          <c:val>
            <c:numRef>
              <c:f>Hoja7!$B$6:$B$44</c:f>
              <c:numCache>
                <c:formatCode>#,##0.000\ \ </c:formatCode>
                <c:ptCount val="39"/>
                <c:pt idx="0">
                  <c:v>0.77548365978820388</c:v>
                </c:pt>
                <c:pt idx="1">
                  <c:v>0.77457513415423862</c:v>
                </c:pt>
                <c:pt idx="2" formatCode="#,##0.00\ \ ">
                  <c:v>1.0626997320899303</c:v>
                </c:pt>
                <c:pt idx="3" formatCode="#,##0.00\ \ ">
                  <c:v>1.6459427456287079</c:v>
                </c:pt>
                <c:pt idx="4" formatCode="#,##0.00\ \ ">
                  <c:v>1.3547420474274865</c:v>
                </c:pt>
                <c:pt idx="5" formatCode="#,##0.00\ \ ">
                  <c:v>4.5497787476677969</c:v>
                </c:pt>
                <c:pt idx="6" formatCode="#,##0.00\ \ ">
                  <c:v>10.928133100900595</c:v>
                </c:pt>
                <c:pt idx="7" formatCode="#,##0.00\ \ ">
                  <c:v>14.496259143984298</c:v>
                </c:pt>
                <c:pt idx="8" formatCode="#,##0.00\ \ ">
                  <c:v>20.735840662394946</c:v>
                </c:pt>
                <c:pt idx="9" formatCode="#,##0.00\ \ ">
                  <c:v>21.736417739479677</c:v>
                </c:pt>
                <c:pt idx="10" formatCode="#,##0.00\ \ ">
                  <c:v>19.383656472625074</c:v>
                </c:pt>
                <c:pt idx="11" formatCode="#,##0.00\ \ ">
                  <c:v>15.843016995697978</c:v>
                </c:pt>
                <c:pt idx="12" formatCode="#,##0.00\ \ ">
                  <c:v>31.214125548524112</c:v>
                </c:pt>
                <c:pt idx="13" formatCode="#,##0.00\ \ ">
                  <c:v>41.020796079863118</c:v>
                </c:pt>
                <c:pt idx="14" formatCode="#,##0.00\ \ ">
                  <c:v>50.35055886345571</c:v>
                </c:pt>
                <c:pt idx="15" formatCode="#,##0.00\ \ ">
                  <c:v>21.356004178340068</c:v>
                </c:pt>
                <c:pt idx="16" formatCode="#,##0.00\ \ ">
                  <c:v>11.60039665040903</c:v>
                </c:pt>
                <c:pt idx="17" formatCode="#,##0.00\ \ ">
                  <c:v>10.057140730020906</c:v>
                </c:pt>
                <c:pt idx="18" formatCode="#,##0.00\ \ ">
                  <c:v>8.8845109282494228</c:v>
                </c:pt>
                <c:pt idx="19" formatCode="#,##0.00\ \ ">
                  <c:v>7.822694267651765</c:v>
                </c:pt>
                <c:pt idx="20" formatCode="#,##0.00\ \ ">
                  <c:v>10.145042601302459</c:v>
                </c:pt>
                <c:pt idx="21" formatCode="#,##0.00\ \ ">
                  <c:v>9.1831140536572136</c:v>
                </c:pt>
                <c:pt idx="22" formatCode="#,##0.00\ \ ">
                  <c:v>8.3071212936575485</c:v>
                </c:pt>
                <c:pt idx="23" formatCode="#,##0.00\ \ ">
                  <c:v>10.143325148779077</c:v>
                </c:pt>
                <c:pt idx="24" formatCode="#,##0.00\ \ ">
                  <c:v>16.208777613685189</c:v>
                </c:pt>
                <c:pt idx="25" formatCode="#,##0.00\ \ ">
                  <c:v>12.739492640047485</c:v>
                </c:pt>
                <c:pt idx="26" formatCode="#,##0.00\ \ ">
                  <c:v>14.741733286184868</c:v>
                </c:pt>
                <c:pt idx="27" formatCode="#,##0.00\ \ ">
                  <c:v>18.68811374578188</c:v>
                </c:pt>
                <c:pt idx="28" formatCode="#,##0.00\ \ ">
                  <c:v>33.857253870947886</c:v>
                </c:pt>
                <c:pt idx="29" formatCode="#,##0.00\ \ ">
                  <c:v>40.984466356986751</c:v>
                </c:pt>
                <c:pt idx="30" formatCode="#,##0.00\ \ ">
                  <c:v>55.775791779432282</c:v>
                </c:pt>
                <c:pt idx="31" formatCode="#,##0.00\ \ ">
                  <c:v>62.714119845048643</c:v>
                </c:pt>
                <c:pt idx="32" formatCode="#,##0.00\ \ ">
                  <c:v>54.930213353712709</c:v>
                </c:pt>
                <c:pt idx="33" formatCode="#,##0.00\ \ ">
                  <c:v>52.432333593862552</c:v>
                </c:pt>
                <c:pt idx="34" formatCode="#,##0.00\ \ ">
                  <c:v>61.613367465800664</c:v>
                </c:pt>
                <c:pt idx="35" formatCode="#,##0.00\ \ ">
                  <c:v>64.057985777241385</c:v>
                </c:pt>
                <c:pt idx="36" formatCode="#,##0.00\ \ ">
                  <c:v>97.111900652212626</c:v>
                </c:pt>
                <c:pt idx="37" formatCode="#,##0.00\ \ ">
                  <c:v>93.826378261104509</c:v>
                </c:pt>
                <c:pt idx="38" formatCode="#,##0.00\ \ ">
                  <c:v>60.598495778128246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55-436E-80A1-219D8A879415}"/>
            </c:ext>
          </c:extLst>
        </c:ser>
        <c:ser>
          <c:idx val="1"/>
          <c:order val="1"/>
          <c:tx>
            <c:strRef>
              <c:f>Hoja7!$C$5</c:f>
              <c:strCache>
                <c:ptCount val="1"/>
                <c:pt idx="0">
                  <c:v>Bienes interm., piezas bs. de capital, automotores y resto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Hoja7!$A$6:$A$44</c:f>
              <c:numCache>
                <c:formatCode>0</c:formatCode>
                <c:ptCount val="39"/>
                <c:pt idx="0">
                  <c:v>1875.99999999993</c:v>
                </c:pt>
                <c:pt idx="1">
                  <c:v>1876.99999999993</c:v>
                </c:pt>
                <c:pt idx="2">
                  <c:v>1877.99999999993</c:v>
                </c:pt>
                <c:pt idx="3">
                  <c:v>1878.99999999993</c:v>
                </c:pt>
                <c:pt idx="4">
                  <c:v>1879.99999999993</c:v>
                </c:pt>
                <c:pt idx="5">
                  <c:v>1880.99999999993</c:v>
                </c:pt>
                <c:pt idx="6">
                  <c:v>1881.99999999993</c:v>
                </c:pt>
                <c:pt idx="7">
                  <c:v>1882.99999999993</c:v>
                </c:pt>
                <c:pt idx="8">
                  <c:v>1883.99999999992</c:v>
                </c:pt>
                <c:pt idx="9">
                  <c:v>1884.99999999992</c:v>
                </c:pt>
                <c:pt idx="10">
                  <c:v>1885.99999999992</c:v>
                </c:pt>
                <c:pt idx="11">
                  <c:v>1886.99999999992</c:v>
                </c:pt>
                <c:pt idx="12">
                  <c:v>1887.99999999992</c:v>
                </c:pt>
                <c:pt idx="13">
                  <c:v>1888.99999999992</c:v>
                </c:pt>
                <c:pt idx="14">
                  <c:v>1889.99999999992</c:v>
                </c:pt>
                <c:pt idx="15">
                  <c:v>1890.99999999992</c:v>
                </c:pt>
                <c:pt idx="16">
                  <c:v>1891.99999999992</c:v>
                </c:pt>
                <c:pt idx="17">
                  <c:v>1892.99999999992</c:v>
                </c:pt>
                <c:pt idx="18">
                  <c:v>1893.99999999992</c:v>
                </c:pt>
                <c:pt idx="19">
                  <c:v>1894.99999999991</c:v>
                </c:pt>
                <c:pt idx="20">
                  <c:v>1895.99999999991</c:v>
                </c:pt>
                <c:pt idx="21">
                  <c:v>1896.99999999991</c:v>
                </c:pt>
                <c:pt idx="22">
                  <c:v>1897.99999999991</c:v>
                </c:pt>
                <c:pt idx="23">
                  <c:v>1898.99999999991</c:v>
                </c:pt>
                <c:pt idx="24">
                  <c:v>1900</c:v>
                </c:pt>
                <c:pt idx="25">
                  <c:v>1901</c:v>
                </c:pt>
                <c:pt idx="26">
                  <c:v>1902</c:v>
                </c:pt>
                <c:pt idx="27">
                  <c:v>1903</c:v>
                </c:pt>
                <c:pt idx="28">
                  <c:v>1904</c:v>
                </c:pt>
                <c:pt idx="29">
                  <c:v>1905</c:v>
                </c:pt>
                <c:pt idx="30">
                  <c:v>1906</c:v>
                </c:pt>
                <c:pt idx="31">
                  <c:v>1907</c:v>
                </c:pt>
                <c:pt idx="32">
                  <c:v>1908</c:v>
                </c:pt>
                <c:pt idx="33">
                  <c:v>1909</c:v>
                </c:pt>
                <c:pt idx="34">
                  <c:v>1910</c:v>
                </c:pt>
                <c:pt idx="35">
                  <c:v>1911</c:v>
                </c:pt>
                <c:pt idx="36">
                  <c:v>1912</c:v>
                </c:pt>
                <c:pt idx="37">
                  <c:v>1913</c:v>
                </c:pt>
                <c:pt idx="38">
                  <c:v>1914</c:v>
                </c:pt>
              </c:numCache>
            </c:numRef>
          </c:cat>
          <c:val>
            <c:numRef>
              <c:f>Hoja7!$C$6:$C$44</c:f>
              <c:numCache>
                <c:formatCode>#,##0.00\ \ </c:formatCode>
                <c:ptCount val="39"/>
                <c:pt idx="0">
                  <c:v>1.048841649863546</c:v>
                </c:pt>
                <c:pt idx="1">
                  <c:v>1.3051591010498924</c:v>
                </c:pt>
                <c:pt idx="2">
                  <c:v>1.8375044458500427</c:v>
                </c:pt>
                <c:pt idx="3">
                  <c:v>4.0528919607069245</c:v>
                </c:pt>
                <c:pt idx="4">
                  <c:v>4.4300064950878815</c:v>
                </c:pt>
                <c:pt idx="5">
                  <c:v>6.4597379511158417</c:v>
                </c:pt>
                <c:pt idx="6">
                  <c:v>4.293885926371563</c:v>
                </c:pt>
                <c:pt idx="7">
                  <c:v>9.000244093861717</c:v>
                </c:pt>
                <c:pt idx="8">
                  <c:v>17.196923856012873</c:v>
                </c:pt>
                <c:pt idx="9">
                  <c:v>19.297108637604737</c:v>
                </c:pt>
                <c:pt idx="10">
                  <c:v>18.381699350610155</c:v>
                </c:pt>
                <c:pt idx="11">
                  <c:v>24.881264984219342</c:v>
                </c:pt>
                <c:pt idx="12">
                  <c:v>26.38125118728049</c:v>
                </c:pt>
                <c:pt idx="13">
                  <c:v>35.05588973225008</c:v>
                </c:pt>
                <c:pt idx="14">
                  <c:v>20.779028140559713</c:v>
                </c:pt>
                <c:pt idx="15">
                  <c:v>8.552065021642969</c:v>
                </c:pt>
                <c:pt idx="16">
                  <c:v>17.12411885544546</c:v>
                </c:pt>
                <c:pt idx="17">
                  <c:v>23.335467591936009</c:v>
                </c:pt>
                <c:pt idx="18">
                  <c:v>24.351285605080161</c:v>
                </c:pt>
                <c:pt idx="19">
                  <c:v>16.052941249000941</c:v>
                </c:pt>
                <c:pt idx="20">
                  <c:v>26.236046361501622</c:v>
                </c:pt>
                <c:pt idx="21">
                  <c:v>27.109519329980685</c:v>
                </c:pt>
                <c:pt idx="22">
                  <c:v>26.229252512555476</c:v>
                </c:pt>
                <c:pt idx="23">
                  <c:v>26.740703185081294</c:v>
                </c:pt>
                <c:pt idx="24">
                  <c:v>44.350654103012531</c:v>
                </c:pt>
                <c:pt idx="25">
                  <c:v>48.646134367995472</c:v>
                </c:pt>
                <c:pt idx="26">
                  <c:v>44.416578386420355</c:v>
                </c:pt>
                <c:pt idx="27">
                  <c:v>57.354172196045717</c:v>
                </c:pt>
                <c:pt idx="28">
                  <c:v>78.978071673428971</c:v>
                </c:pt>
                <c:pt idx="29">
                  <c:v>83.397302451413395</c:v>
                </c:pt>
                <c:pt idx="30">
                  <c:v>98.140158266883503</c:v>
                </c:pt>
                <c:pt idx="31">
                  <c:v>107.57671461180455</c:v>
                </c:pt>
                <c:pt idx="32">
                  <c:v>98.878733069224751</c:v>
                </c:pt>
                <c:pt idx="33">
                  <c:v>122.10213175094979</c:v>
                </c:pt>
                <c:pt idx="34">
                  <c:v>151.14214837841087</c:v>
                </c:pt>
                <c:pt idx="35">
                  <c:v>166.73057802532674</c:v>
                </c:pt>
                <c:pt idx="36">
                  <c:v>162.29001208362598</c:v>
                </c:pt>
                <c:pt idx="37">
                  <c:v>184.54894164778142</c:v>
                </c:pt>
                <c:pt idx="38">
                  <c:v>125.4099229975936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55-436E-80A1-219D8A879415}"/>
            </c:ext>
          </c:extLst>
        </c:ser>
        <c:ser>
          <c:idx val="2"/>
          <c:order val="2"/>
          <c:tx>
            <c:strRef>
              <c:f>Hoja7!$D$5</c:f>
              <c:strCache>
                <c:ptCount val="1"/>
                <c:pt idx="0">
                  <c:v>Combusti-bles y lubric.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Hoja7!$A$6:$A$44</c:f>
              <c:numCache>
                <c:formatCode>0</c:formatCode>
                <c:ptCount val="39"/>
                <c:pt idx="0">
                  <c:v>1875.99999999993</c:v>
                </c:pt>
                <c:pt idx="1">
                  <c:v>1876.99999999993</c:v>
                </c:pt>
                <c:pt idx="2">
                  <c:v>1877.99999999993</c:v>
                </c:pt>
                <c:pt idx="3">
                  <c:v>1878.99999999993</c:v>
                </c:pt>
                <c:pt idx="4">
                  <c:v>1879.99999999993</c:v>
                </c:pt>
                <c:pt idx="5">
                  <c:v>1880.99999999993</c:v>
                </c:pt>
                <c:pt idx="6">
                  <c:v>1881.99999999993</c:v>
                </c:pt>
                <c:pt idx="7">
                  <c:v>1882.99999999993</c:v>
                </c:pt>
                <c:pt idx="8">
                  <c:v>1883.99999999992</c:v>
                </c:pt>
                <c:pt idx="9">
                  <c:v>1884.99999999992</c:v>
                </c:pt>
                <c:pt idx="10">
                  <c:v>1885.99999999992</c:v>
                </c:pt>
                <c:pt idx="11">
                  <c:v>1886.99999999992</c:v>
                </c:pt>
                <c:pt idx="12">
                  <c:v>1887.99999999992</c:v>
                </c:pt>
                <c:pt idx="13">
                  <c:v>1888.99999999992</c:v>
                </c:pt>
                <c:pt idx="14">
                  <c:v>1889.99999999992</c:v>
                </c:pt>
                <c:pt idx="15">
                  <c:v>1890.99999999992</c:v>
                </c:pt>
                <c:pt idx="16">
                  <c:v>1891.99999999992</c:v>
                </c:pt>
                <c:pt idx="17">
                  <c:v>1892.99999999992</c:v>
                </c:pt>
                <c:pt idx="18">
                  <c:v>1893.99999999992</c:v>
                </c:pt>
                <c:pt idx="19">
                  <c:v>1894.99999999991</c:v>
                </c:pt>
                <c:pt idx="20">
                  <c:v>1895.99999999991</c:v>
                </c:pt>
                <c:pt idx="21">
                  <c:v>1896.99999999991</c:v>
                </c:pt>
                <c:pt idx="22">
                  <c:v>1897.99999999991</c:v>
                </c:pt>
                <c:pt idx="23">
                  <c:v>1898.99999999991</c:v>
                </c:pt>
                <c:pt idx="24">
                  <c:v>1900</c:v>
                </c:pt>
                <c:pt idx="25">
                  <c:v>1901</c:v>
                </c:pt>
                <c:pt idx="26">
                  <c:v>1902</c:v>
                </c:pt>
                <c:pt idx="27">
                  <c:v>1903</c:v>
                </c:pt>
                <c:pt idx="28">
                  <c:v>1904</c:v>
                </c:pt>
                <c:pt idx="29">
                  <c:v>1905</c:v>
                </c:pt>
                <c:pt idx="30">
                  <c:v>1906</c:v>
                </c:pt>
                <c:pt idx="31">
                  <c:v>1907</c:v>
                </c:pt>
                <c:pt idx="32">
                  <c:v>1908</c:v>
                </c:pt>
                <c:pt idx="33">
                  <c:v>1909</c:v>
                </c:pt>
                <c:pt idx="34">
                  <c:v>1910</c:v>
                </c:pt>
                <c:pt idx="35">
                  <c:v>1911</c:v>
                </c:pt>
                <c:pt idx="36">
                  <c:v>1912</c:v>
                </c:pt>
                <c:pt idx="37">
                  <c:v>1913</c:v>
                </c:pt>
                <c:pt idx="38">
                  <c:v>1914</c:v>
                </c:pt>
              </c:numCache>
            </c:numRef>
          </c:cat>
          <c:val>
            <c:numRef>
              <c:f>Hoja7!$D$6:$D$44</c:f>
              <c:numCache>
                <c:formatCode>#,##0.000\ \ </c:formatCode>
                <c:ptCount val="39"/>
                <c:pt idx="0">
                  <c:v>0.40519021223933654</c:v>
                </c:pt>
                <c:pt idx="1">
                  <c:v>0.14716927548930539</c:v>
                </c:pt>
                <c:pt idx="2">
                  <c:v>0.96415848420522765</c:v>
                </c:pt>
                <c:pt idx="3" formatCode="#,##0.00\ \ ">
                  <c:v>1.1753967607019127</c:v>
                </c:pt>
                <c:pt idx="4" formatCode="#,##0.00\ \ ">
                  <c:v>1.182496272825992</c:v>
                </c:pt>
                <c:pt idx="5" formatCode="#,##0.00\ \ ">
                  <c:v>1.7867360290320413</c:v>
                </c:pt>
                <c:pt idx="6" formatCode="#,##0.00\ \ ">
                  <c:v>1.4119534802933515</c:v>
                </c:pt>
                <c:pt idx="7" formatCode="#,##0.00\ \ ">
                  <c:v>2.6934049489522831</c:v>
                </c:pt>
                <c:pt idx="8" formatCode="#,##0.00\ \ ">
                  <c:v>3.736401003166784</c:v>
                </c:pt>
                <c:pt idx="9" formatCode="#,##0.00\ \ ">
                  <c:v>3.8884036178402535</c:v>
                </c:pt>
                <c:pt idx="10" formatCode="#,##0.00\ \ ">
                  <c:v>4.560309517955754</c:v>
                </c:pt>
                <c:pt idx="11" formatCode="#,##0.00\ \ ">
                  <c:v>9.1232592992299857</c:v>
                </c:pt>
                <c:pt idx="12" formatCode="#,##0.00\ \ ">
                  <c:v>8.4084862661829209</c:v>
                </c:pt>
                <c:pt idx="13" formatCode="#,##0.00\ \ ">
                  <c:v>10.308284756069131</c:v>
                </c:pt>
                <c:pt idx="14" formatCode="#,##0.00\ \ ">
                  <c:v>8.116973971097206</c:v>
                </c:pt>
                <c:pt idx="15" formatCode="#,##0.00\ \ ">
                  <c:v>3.0439553466864804</c:v>
                </c:pt>
                <c:pt idx="16" formatCode="#,##0.00\ \ ">
                  <c:v>3.6599251432040489</c:v>
                </c:pt>
                <c:pt idx="17" formatCode="#,##0.00\ \ ">
                  <c:v>6.6425480456263077</c:v>
                </c:pt>
                <c:pt idx="18" formatCode="#,##0.00\ \ ">
                  <c:v>8.4827765210590158</c:v>
                </c:pt>
                <c:pt idx="19" formatCode="#,##0.00\ \ ">
                  <c:v>7.1254121366339147</c:v>
                </c:pt>
                <c:pt idx="20" formatCode="#,##0.00\ \ ">
                  <c:v>6.8078066827406793</c:v>
                </c:pt>
                <c:pt idx="21" formatCode="#,##0.00\ \ ">
                  <c:v>6.5296774139425748</c:v>
                </c:pt>
                <c:pt idx="22" formatCode="#,##0.00\ \ ">
                  <c:v>7.5787992639578059</c:v>
                </c:pt>
                <c:pt idx="23" formatCode="#,##0.00\ \ ">
                  <c:v>8.8092363839729906</c:v>
                </c:pt>
                <c:pt idx="24" formatCode="#,##0.00\ \ ">
                  <c:v>3.7979045847929296</c:v>
                </c:pt>
                <c:pt idx="25" formatCode="#,##0.00\ \ ">
                  <c:v>4.3899556549038961</c:v>
                </c:pt>
                <c:pt idx="26" formatCode="#,##0.00\ \ ">
                  <c:v>5.1068575944519887</c:v>
                </c:pt>
                <c:pt idx="27" formatCode="#,##0.00\ \ ">
                  <c:v>5.2583713540923496</c:v>
                </c:pt>
                <c:pt idx="28" formatCode="#,##0.00\ \ ">
                  <c:v>6.5040221611528573</c:v>
                </c:pt>
                <c:pt idx="29" formatCode="#,##0.00\ \ ">
                  <c:v>7.2157987301773412</c:v>
                </c:pt>
                <c:pt idx="30" formatCode="#,##0.00\ \ ">
                  <c:v>13.084159865370891</c:v>
                </c:pt>
                <c:pt idx="31" formatCode="#,##0.00\ \ ">
                  <c:v>13.783962354167571</c:v>
                </c:pt>
                <c:pt idx="32" formatCode="#,##0.00\ \ ">
                  <c:v>17.25522730477573</c:v>
                </c:pt>
                <c:pt idx="33" formatCode="#,##0.00\ \ ">
                  <c:v>13.577416991729788</c:v>
                </c:pt>
                <c:pt idx="34" formatCode="#,##0.00\ \ ">
                  <c:v>20.918174052549396</c:v>
                </c:pt>
                <c:pt idx="35" formatCode="#,##0.00\ \ ">
                  <c:v>22.749825808434849</c:v>
                </c:pt>
                <c:pt idx="36" formatCode="#,##0.00\ \ ">
                  <c:v>26.12853646748977</c:v>
                </c:pt>
                <c:pt idx="37" formatCode="#,##0.00\ \ ">
                  <c:v>28.512237479231693</c:v>
                </c:pt>
                <c:pt idx="38" formatCode="#,##0.00\ \ ">
                  <c:v>25.100450516522589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55-436E-80A1-219D8A879415}"/>
            </c:ext>
          </c:extLst>
        </c:ser>
        <c:ser>
          <c:idx val="3"/>
          <c:order val="3"/>
          <c:tx>
            <c:strRef>
              <c:f>Hoja7!$E$5</c:f>
              <c:strCache>
                <c:ptCount val="1"/>
                <c:pt idx="0">
                  <c:v>Bienes de  Consumo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Hoja7!$A$6:$A$44</c:f>
              <c:numCache>
                <c:formatCode>0</c:formatCode>
                <c:ptCount val="39"/>
                <c:pt idx="0">
                  <c:v>1875.99999999993</c:v>
                </c:pt>
                <c:pt idx="1">
                  <c:v>1876.99999999993</c:v>
                </c:pt>
                <c:pt idx="2">
                  <c:v>1877.99999999993</c:v>
                </c:pt>
                <c:pt idx="3">
                  <c:v>1878.99999999993</c:v>
                </c:pt>
                <c:pt idx="4">
                  <c:v>1879.99999999993</c:v>
                </c:pt>
                <c:pt idx="5">
                  <c:v>1880.99999999993</c:v>
                </c:pt>
                <c:pt idx="6">
                  <c:v>1881.99999999993</c:v>
                </c:pt>
                <c:pt idx="7">
                  <c:v>1882.99999999993</c:v>
                </c:pt>
                <c:pt idx="8">
                  <c:v>1883.99999999992</c:v>
                </c:pt>
                <c:pt idx="9">
                  <c:v>1884.99999999992</c:v>
                </c:pt>
                <c:pt idx="10">
                  <c:v>1885.99999999992</c:v>
                </c:pt>
                <c:pt idx="11">
                  <c:v>1886.99999999992</c:v>
                </c:pt>
                <c:pt idx="12">
                  <c:v>1887.99999999992</c:v>
                </c:pt>
                <c:pt idx="13">
                  <c:v>1888.99999999992</c:v>
                </c:pt>
                <c:pt idx="14">
                  <c:v>1889.99999999992</c:v>
                </c:pt>
                <c:pt idx="15">
                  <c:v>1890.99999999992</c:v>
                </c:pt>
                <c:pt idx="16">
                  <c:v>1891.99999999992</c:v>
                </c:pt>
                <c:pt idx="17">
                  <c:v>1892.99999999992</c:v>
                </c:pt>
                <c:pt idx="18">
                  <c:v>1893.99999999992</c:v>
                </c:pt>
                <c:pt idx="19">
                  <c:v>1894.99999999991</c:v>
                </c:pt>
                <c:pt idx="20">
                  <c:v>1895.99999999991</c:v>
                </c:pt>
                <c:pt idx="21">
                  <c:v>1896.99999999991</c:v>
                </c:pt>
                <c:pt idx="22">
                  <c:v>1897.99999999991</c:v>
                </c:pt>
                <c:pt idx="23">
                  <c:v>1898.99999999991</c:v>
                </c:pt>
                <c:pt idx="24">
                  <c:v>1900</c:v>
                </c:pt>
                <c:pt idx="25">
                  <c:v>1901</c:v>
                </c:pt>
                <c:pt idx="26">
                  <c:v>1902</c:v>
                </c:pt>
                <c:pt idx="27">
                  <c:v>1903</c:v>
                </c:pt>
                <c:pt idx="28">
                  <c:v>1904</c:v>
                </c:pt>
                <c:pt idx="29">
                  <c:v>1905</c:v>
                </c:pt>
                <c:pt idx="30">
                  <c:v>1906</c:v>
                </c:pt>
                <c:pt idx="31">
                  <c:v>1907</c:v>
                </c:pt>
                <c:pt idx="32">
                  <c:v>1908</c:v>
                </c:pt>
                <c:pt idx="33">
                  <c:v>1909</c:v>
                </c:pt>
                <c:pt idx="34">
                  <c:v>1910</c:v>
                </c:pt>
                <c:pt idx="35">
                  <c:v>1911</c:v>
                </c:pt>
                <c:pt idx="36">
                  <c:v>1912</c:v>
                </c:pt>
                <c:pt idx="37">
                  <c:v>1913</c:v>
                </c:pt>
                <c:pt idx="38">
                  <c:v>1914</c:v>
                </c:pt>
              </c:numCache>
            </c:numRef>
          </c:cat>
          <c:val>
            <c:numRef>
              <c:f>Hoja7!$E$6:$E$44</c:f>
              <c:numCache>
                <c:formatCode>#,##0.00\ \ </c:formatCode>
                <c:ptCount val="39"/>
                <c:pt idx="0">
                  <c:v>32.570313711104575</c:v>
                </c:pt>
                <c:pt idx="1">
                  <c:v>36.792318872326348</c:v>
                </c:pt>
                <c:pt idx="2">
                  <c:v>38.353799421791116</c:v>
                </c:pt>
                <c:pt idx="3">
                  <c:v>37.856683149460288</c:v>
                </c:pt>
                <c:pt idx="4">
                  <c:v>36.965104436949993</c:v>
                </c:pt>
                <c:pt idx="5">
                  <c:v>40.948008729010184</c:v>
                </c:pt>
                <c:pt idx="6">
                  <c:v>42.455313551286388</c:v>
                </c:pt>
                <c:pt idx="7">
                  <c:v>51.413399097330988</c:v>
                </c:pt>
                <c:pt idx="8">
                  <c:v>49.074822901001369</c:v>
                </c:pt>
                <c:pt idx="9">
                  <c:v>44.052473285345478</c:v>
                </c:pt>
                <c:pt idx="10">
                  <c:v>49.723292690646929</c:v>
                </c:pt>
                <c:pt idx="11">
                  <c:v>63.372067982791911</c:v>
                </c:pt>
                <c:pt idx="12">
                  <c:v>57.886257596179405</c:v>
                </c:pt>
                <c:pt idx="13">
                  <c:v>72.389640140934901</c:v>
                </c:pt>
                <c:pt idx="14">
                  <c:v>57.985288518375086</c:v>
                </c:pt>
                <c:pt idx="15">
                  <c:v>31.889056012905989</c:v>
                </c:pt>
                <c:pt idx="16">
                  <c:v>55.875243866136827</c:v>
                </c:pt>
                <c:pt idx="17">
                  <c:v>52.799988832609749</c:v>
                </c:pt>
                <c:pt idx="18">
                  <c:v>47.802531624820276</c:v>
                </c:pt>
                <c:pt idx="19">
                  <c:v>60.746601164851363</c:v>
                </c:pt>
                <c:pt idx="20">
                  <c:v>65.024892101681473</c:v>
                </c:pt>
                <c:pt idx="21">
                  <c:v>52.005424851237684</c:v>
                </c:pt>
                <c:pt idx="22">
                  <c:v>61.530654233254175</c:v>
                </c:pt>
                <c:pt idx="23">
                  <c:v>67.042549078596949</c:v>
                </c:pt>
                <c:pt idx="24">
                  <c:v>47.429158683797851</c:v>
                </c:pt>
                <c:pt idx="25">
                  <c:v>47.936332675418242</c:v>
                </c:pt>
                <c:pt idx="26">
                  <c:v>37.720515608198419</c:v>
                </c:pt>
                <c:pt idx="27">
                  <c:v>45.627891556929846</c:v>
                </c:pt>
                <c:pt idx="28">
                  <c:v>62.021540052778064</c:v>
                </c:pt>
                <c:pt idx="29">
                  <c:v>66.867698853113623</c:v>
                </c:pt>
                <c:pt idx="30">
                  <c:v>94.847791708618928</c:v>
                </c:pt>
                <c:pt idx="31">
                  <c:v>86.071809806343822</c:v>
                </c:pt>
                <c:pt idx="32">
                  <c:v>93.244422517685578</c:v>
                </c:pt>
                <c:pt idx="33">
                  <c:v>105.0347507183744</c:v>
                </c:pt>
                <c:pt idx="34">
                  <c:v>130.52383766628557</c:v>
                </c:pt>
                <c:pt idx="35">
                  <c:v>135.18626494980785</c:v>
                </c:pt>
                <c:pt idx="36">
                  <c:v>143.69812566671081</c:v>
                </c:pt>
                <c:pt idx="37">
                  <c:v>168.97271687348555</c:v>
                </c:pt>
                <c:pt idx="38">
                  <c:v>99.493946385721642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55-436E-80A1-219D8A879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9946184"/>
        <c:axId val="769946840"/>
      </c:barChart>
      <c:catAx>
        <c:axId val="76994618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69946840"/>
        <c:crosses val="autoZero"/>
        <c:auto val="1"/>
        <c:lblAlgn val="ctr"/>
        <c:lblOffset val="100"/>
        <c:noMultiLvlLbl val="0"/>
      </c:catAx>
      <c:valAx>
        <c:axId val="769946840"/>
        <c:scaling>
          <c:orientation val="minMax"/>
        </c:scaling>
        <c:delete val="0"/>
        <c:axPos val="l"/>
        <c:numFmt formatCode="#,##0.0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69946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Hoja13!$A$6:$A$40</c:f>
              <c:numCache>
                <c:formatCode>General</c:formatCode>
                <c:ptCount val="35"/>
                <c:pt idx="0">
                  <c:v>1879.99999999993</c:v>
                </c:pt>
                <c:pt idx="1">
                  <c:v>1880.99999999993</c:v>
                </c:pt>
                <c:pt idx="2">
                  <c:v>1881.99999999993</c:v>
                </c:pt>
                <c:pt idx="3">
                  <c:v>1882.99999999993</c:v>
                </c:pt>
                <c:pt idx="4">
                  <c:v>1883.99999999992</c:v>
                </c:pt>
                <c:pt idx="5">
                  <c:v>1884.99999999992</c:v>
                </c:pt>
                <c:pt idx="6">
                  <c:v>1885.99999999992</c:v>
                </c:pt>
                <c:pt idx="7">
                  <c:v>1886.99999999992</c:v>
                </c:pt>
                <c:pt idx="8">
                  <c:v>1887.99999999992</c:v>
                </c:pt>
                <c:pt idx="9">
                  <c:v>1888.99999999992</c:v>
                </c:pt>
                <c:pt idx="10">
                  <c:v>1889.99999999992</c:v>
                </c:pt>
                <c:pt idx="11">
                  <c:v>1890.99999999992</c:v>
                </c:pt>
                <c:pt idx="12">
                  <c:v>1891.99999999992</c:v>
                </c:pt>
                <c:pt idx="13">
                  <c:v>1892.99999999992</c:v>
                </c:pt>
                <c:pt idx="14">
                  <c:v>1893.99999999992</c:v>
                </c:pt>
                <c:pt idx="15">
                  <c:v>1894.99999999991</c:v>
                </c:pt>
                <c:pt idx="16">
                  <c:v>1895.99999999991</c:v>
                </c:pt>
                <c:pt idx="17">
                  <c:v>1896.99999999991</c:v>
                </c:pt>
                <c:pt idx="18">
                  <c:v>1897.99999999991</c:v>
                </c:pt>
                <c:pt idx="19">
                  <c:v>1898.99999999991</c:v>
                </c:pt>
                <c:pt idx="20">
                  <c:v>1900</c:v>
                </c:pt>
                <c:pt idx="21">
                  <c:v>1901</c:v>
                </c:pt>
                <c:pt idx="22">
                  <c:v>1902</c:v>
                </c:pt>
                <c:pt idx="23">
                  <c:v>1903</c:v>
                </c:pt>
                <c:pt idx="24">
                  <c:v>1904</c:v>
                </c:pt>
                <c:pt idx="25">
                  <c:v>1905</c:v>
                </c:pt>
                <c:pt idx="26">
                  <c:v>1906</c:v>
                </c:pt>
                <c:pt idx="27">
                  <c:v>1907</c:v>
                </c:pt>
                <c:pt idx="28">
                  <c:v>1908</c:v>
                </c:pt>
                <c:pt idx="29">
                  <c:v>1909</c:v>
                </c:pt>
                <c:pt idx="30">
                  <c:v>1910</c:v>
                </c:pt>
                <c:pt idx="31">
                  <c:v>1911</c:v>
                </c:pt>
                <c:pt idx="32">
                  <c:v>1912</c:v>
                </c:pt>
                <c:pt idx="33">
                  <c:v>1913</c:v>
                </c:pt>
                <c:pt idx="34">
                  <c:v>1914</c:v>
                </c:pt>
              </c:numCache>
            </c:numRef>
          </c:cat>
          <c:val>
            <c:numRef>
              <c:f>Hoja13!$F$6:$F$40</c:f>
              <c:numCache>
                <c:formatCode>_ * #,##0.00_ ;_ * \-#,##0.00_ ;_ * "-"_ ;_ @_ </c:formatCode>
                <c:ptCount val="35"/>
                <c:pt idx="0">
                  <c:v>25.87340950197428</c:v>
                </c:pt>
                <c:pt idx="1">
                  <c:v>29.148260680273211</c:v>
                </c:pt>
                <c:pt idx="2">
                  <c:v>25.873464152099487</c:v>
                </c:pt>
                <c:pt idx="3">
                  <c:v>24.914747050608597</c:v>
                </c:pt>
                <c:pt idx="4">
                  <c:v>21.908299232838718</c:v>
                </c:pt>
                <c:pt idx="5">
                  <c:v>23.319365701962205</c:v>
                </c:pt>
                <c:pt idx="6">
                  <c:v>23.976050787985123</c:v>
                </c:pt>
                <c:pt idx="7">
                  <c:v>21.166863096196614</c:v>
                </c:pt>
                <c:pt idx="8">
                  <c:v>38.67581521073059</c:v>
                </c:pt>
                <c:pt idx="9">
                  <c:v>47.822446470196411</c:v>
                </c:pt>
                <c:pt idx="10">
                  <c:v>72.135022041821699</c:v>
                </c:pt>
                <c:pt idx="11">
                  <c:v>117.72201606500285</c:v>
                </c:pt>
                <c:pt idx="12">
                  <c:v>93.726115247230169</c:v>
                </c:pt>
                <c:pt idx="13">
                  <c:v>83.813557406536404</c:v>
                </c:pt>
                <c:pt idx="14">
                  <c:v>71.194479698844816</c:v>
                </c:pt>
                <c:pt idx="15">
                  <c:v>61.166639839671134</c:v>
                </c:pt>
                <c:pt idx="16">
                  <c:v>48.338603829929149</c:v>
                </c:pt>
                <c:pt idx="17">
                  <c:v>66.401269517789117</c:v>
                </c:pt>
                <c:pt idx="18">
                  <c:v>61.81987714465015</c:v>
                </c:pt>
                <c:pt idx="19">
                  <c:v>61.472006305775928</c:v>
                </c:pt>
                <c:pt idx="20">
                  <c:v>53.971040764939836</c:v>
                </c:pt>
                <c:pt idx="21">
                  <c:v>50.952909969853572</c:v>
                </c:pt>
                <c:pt idx="22">
                  <c:v>48.175514599899742</c:v>
                </c:pt>
                <c:pt idx="23">
                  <c:v>40.808290202727065</c:v>
                </c:pt>
                <c:pt idx="24">
                  <c:v>37.344194804487664</c:v>
                </c:pt>
                <c:pt idx="25">
                  <c:v>27.721887353327002</c:v>
                </c:pt>
                <c:pt idx="26">
                  <c:v>25.485454136242659</c:v>
                </c:pt>
                <c:pt idx="27">
                  <c:v>27.232325634244614</c:v>
                </c:pt>
                <c:pt idx="28">
                  <c:v>23.003015029898226</c:v>
                </c:pt>
                <c:pt idx="29">
                  <c:v>24.520509723457039</c:v>
                </c:pt>
                <c:pt idx="30">
                  <c:v>22.453539195097981</c:v>
                </c:pt>
                <c:pt idx="31">
                  <c:v>26.076966010955353</c:v>
                </c:pt>
                <c:pt idx="32">
                  <c:v>22.994441275769859</c:v>
                </c:pt>
                <c:pt idx="33">
                  <c:v>22.742574922890938</c:v>
                </c:pt>
                <c:pt idx="34">
                  <c:v>24.649888915824448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AB-4981-92DE-72309AC4B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8866640"/>
        <c:axId val="668866968"/>
      </c:lineChart>
      <c:catAx>
        <c:axId val="668866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68866968"/>
        <c:crosses val="autoZero"/>
        <c:auto val="1"/>
        <c:lblAlgn val="ctr"/>
        <c:lblOffset val="100"/>
        <c:noMultiLvlLbl val="0"/>
      </c:catAx>
      <c:valAx>
        <c:axId val="668866968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68866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Hoja2!$C$4</c:f>
              <c:strCache>
                <c:ptCount val="1"/>
                <c:pt idx="0">
                  <c:v>Producción de Harina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Hoja2!$A$5:$A$28</c:f>
              <c:numCache>
                <c:formatCode>General</c:formatCode>
                <c:ptCount val="24"/>
                <c:pt idx="0">
                  <c:v>1890.99999999992</c:v>
                </c:pt>
                <c:pt idx="1">
                  <c:v>1891.99999999992</c:v>
                </c:pt>
                <c:pt idx="2">
                  <c:v>1892.99999999992</c:v>
                </c:pt>
                <c:pt idx="3">
                  <c:v>1893.99999999992</c:v>
                </c:pt>
                <c:pt idx="4">
                  <c:v>1894.99999999991</c:v>
                </c:pt>
                <c:pt idx="5">
                  <c:v>1895.99999999991</c:v>
                </c:pt>
                <c:pt idx="6">
                  <c:v>1896.99999999991</c:v>
                </c:pt>
                <c:pt idx="7">
                  <c:v>1897.99999999991</c:v>
                </c:pt>
                <c:pt idx="8">
                  <c:v>1898.99999999991</c:v>
                </c:pt>
                <c:pt idx="9">
                  <c:v>1900</c:v>
                </c:pt>
                <c:pt idx="10">
                  <c:v>1901</c:v>
                </c:pt>
                <c:pt idx="11">
                  <c:v>1902</c:v>
                </c:pt>
                <c:pt idx="12">
                  <c:v>1903</c:v>
                </c:pt>
                <c:pt idx="13">
                  <c:v>1904</c:v>
                </c:pt>
                <c:pt idx="14">
                  <c:v>1905</c:v>
                </c:pt>
                <c:pt idx="15">
                  <c:v>1906</c:v>
                </c:pt>
                <c:pt idx="16">
                  <c:v>1907</c:v>
                </c:pt>
                <c:pt idx="17">
                  <c:v>1908</c:v>
                </c:pt>
                <c:pt idx="18">
                  <c:v>1909</c:v>
                </c:pt>
                <c:pt idx="19">
                  <c:v>1910</c:v>
                </c:pt>
                <c:pt idx="20">
                  <c:v>1911</c:v>
                </c:pt>
                <c:pt idx="21">
                  <c:v>1912</c:v>
                </c:pt>
                <c:pt idx="22">
                  <c:v>1913</c:v>
                </c:pt>
                <c:pt idx="23">
                  <c:v>1914</c:v>
                </c:pt>
              </c:numCache>
            </c:numRef>
          </c:cat>
          <c:val>
            <c:numRef>
              <c:f>Hoja2!$C$5:$C$28</c:f>
              <c:numCache>
                <c:formatCode>#,##0\ \ </c:formatCode>
                <c:ptCount val="24"/>
                <c:pt idx="0">
                  <c:v>315000</c:v>
                </c:pt>
                <c:pt idx="1">
                  <c:v>351000</c:v>
                </c:pt>
                <c:pt idx="2">
                  <c:v>385000</c:v>
                </c:pt>
                <c:pt idx="3">
                  <c:v>405000</c:v>
                </c:pt>
                <c:pt idx="4">
                  <c:v>415000</c:v>
                </c:pt>
                <c:pt idx="5">
                  <c:v>419000</c:v>
                </c:pt>
                <c:pt idx="6">
                  <c:v>417000</c:v>
                </c:pt>
                <c:pt idx="7">
                  <c:v>405000</c:v>
                </c:pt>
                <c:pt idx="8">
                  <c:v>453000</c:v>
                </c:pt>
                <c:pt idx="9">
                  <c:v>465000</c:v>
                </c:pt>
                <c:pt idx="10">
                  <c:v>495000</c:v>
                </c:pt>
                <c:pt idx="11">
                  <c:v>470000</c:v>
                </c:pt>
                <c:pt idx="12">
                  <c:v>515000</c:v>
                </c:pt>
                <c:pt idx="13">
                  <c:v>655000</c:v>
                </c:pt>
                <c:pt idx="14">
                  <c:v>715000</c:v>
                </c:pt>
                <c:pt idx="15">
                  <c:v>699000</c:v>
                </c:pt>
                <c:pt idx="16">
                  <c:v>697863</c:v>
                </c:pt>
                <c:pt idx="17">
                  <c:v>695627</c:v>
                </c:pt>
                <c:pt idx="18">
                  <c:v>708290</c:v>
                </c:pt>
                <c:pt idx="19">
                  <c:v>751218</c:v>
                </c:pt>
                <c:pt idx="20">
                  <c:v>840118</c:v>
                </c:pt>
                <c:pt idx="21">
                  <c:v>897532</c:v>
                </c:pt>
                <c:pt idx="22">
                  <c:v>848338</c:v>
                </c:pt>
                <c:pt idx="23">
                  <c:v>908361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5B-4A48-A6DC-1C675E89D9A8}"/>
            </c:ext>
          </c:extLst>
        </c:ser>
        <c:ser>
          <c:idx val="1"/>
          <c:order val="1"/>
          <c:tx>
            <c:strRef>
              <c:f>Hoja2!$D$4</c:f>
              <c:strCache>
                <c:ptCount val="1"/>
                <c:pt idx="0">
                  <c:v>Consumo de Harina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Hoja2!$A$5:$A$28</c:f>
              <c:numCache>
                <c:formatCode>General</c:formatCode>
                <c:ptCount val="24"/>
                <c:pt idx="0">
                  <c:v>1890.99999999992</c:v>
                </c:pt>
                <c:pt idx="1">
                  <c:v>1891.99999999992</c:v>
                </c:pt>
                <c:pt idx="2">
                  <c:v>1892.99999999992</c:v>
                </c:pt>
                <c:pt idx="3">
                  <c:v>1893.99999999992</c:v>
                </c:pt>
                <c:pt idx="4">
                  <c:v>1894.99999999991</c:v>
                </c:pt>
                <c:pt idx="5">
                  <c:v>1895.99999999991</c:v>
                </c:pt>
                <c:pt idx="6">
                  <c:v>1896.99999999991</c:v>
                </c:pt>
                <c:pt idx="7">
                  <c:v>1897.99999999991</c:v>
                </c:pt>
                <c:pt idx="8">
                  <c:v>1898.99999999991</c:v>
                </c:pt>
                <c:pt idx="9">
                  <c:v>1900</c:v>
                </c:pt>
                <c:pt idx="10">
                  <c:v>1901</c:v>
                </c:pt>
                <c:pt idx="11">
                  <c:v>1902</c:v>
                </c:pt>
                <c:pt idx="12">
                  <c:v>1903</c:v>
                </c:pt>
                <c:pt idx="13">
                  <c:v>1904</c:v>
                </c:pt>
                <c:pt idx="14">
                  <c:v>1905</c:v>
                </c:pt>
                <c:pt idx="15">
                  <c:v>1906</c:v>
                </c:pt>
                <c:pt idx="16">
                  <c:v>1907</c:v>
                </c:pt>
                <c:pt idx="17">
                  <c:v>1908</c:v>
                </c:pt>
                <c:pt idx="18">
                  <c:v>1909</c:v>
                </c:pt>
                <c:pt idx="19">
                  <c:v>1910</c:v>
                </c:pt>
                <c:pt idx="20">
                  <c:v>1911</c:v>
                </c:pt>
                <c:pt idx="21">
                  <c:v>1912</c:v>
                </c:pt>
                <c:pt idx="22">
                  <c:v>1913</c:v>
                </c:pt>
                <c:pt idx="23">
                  <c:v>1914</c:v>
                </c:pt>
              </c:numCache>
            </c:numRef>
          </c:cat>
          <c:val>
            <c:numRef>
              <c:f>Hoja2!$D$5:$D$28</c:f>
              <c:numCache>
                <c:formatCode>#,##0\ \ </c:formatCode>
                <c:ptCount val="24"/>
                <c:pt idx="0">
                  <c:v>307985</c:v>
                </c:pt>
                <c:pt idx="1">
                  <c:v>332151</c:v>
                </c:pt>
                <c:pt idx="2">
                  <c:v>347079</c:v>
                </c:pt>
                <c:pt idx="3">
                  <c:v>364242</c:v>
                </c:pt>
                <c:pt idx="4">
                  <c:v>361065</c:v>
                </c:pt>
                <c:pt idx="5">
                  <c:v>367268</c:v>
                </c:pt>
                <c:pt idx="6">
                  <c:v>375557</c:v>
                </c:pt>
                <c:pt idx="7">
                  <c:v>373067</c:v>
                </c:pt>
                <c:pt idx="8">
                  <c:v>393536</c:v>
                </c:pt>
                <c:pt idx="9">
                  <c:v>413797</c:v>
                </c:pt>
                <c:pt idx="10">
                  <c:v>423258</c:v>
                </c:pt>
                <c:pt idx="11">
                  <c:v>430960</c:v>
                </c:pt>
                <c:pt idx="12">
                  <c:v>443020</c:v>
                </c:pt>
                <c:pt idx="13">
                  <c:v>547702</c:v>
                </c:pt>
                <c:pt idx="14">
                  <c:v>570240</c:v>
                </c:pt>
                <c:pt idx="15">
                  <c:v>570002</c:v>
                </c:pt>
                <c:pt idx="16">
                  <c:v>570364</c:v>
                </c:pt>
                <c:pt idx="17">
                  <c:v>582127</c:v>
                </c:pt>
                <c:pt idx="18">
                  <c:v>591803</c:v>
                </c:pt>
                <c:pt idx="19">
                  <c:v>635810</c:v>
                </c:pt>
                <c:pt idx="20">
                  <c:v>721632</c:v>
                </c:pt>
                <c:pt idx="21">
                  <c:v>765952</c:v>
                </c:pt>
                <c:pt idx="22">
                  <c:v>723689</c:v>
                </c:pt>
                <c:pt idx="23">
                  <c:v>841036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5B-4A48-A6DC-1C675E89D9A8}"/>
            </c:ext>
          </c:extLst>
        </c:ser>
        <c:ser>
          <c:idx val="2"/>
          <c:order val="2"/>
          <c:tx>
            <c:strRef>
              <c:f>Hoja2!$E$4</c:f>
              <c:strCache>
                <c:ptCount val="1"/>
                <c:pt idx="0">
                  <c:v>Exportación Harina </c:v>
                </c:pt>
              </c:strCache>
            </c:strRef>
          </c:tx>
          <c:spPr>
            <a:ln w="3810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Hoja2!$A$5:$A$28</c:f>
              <c:numCache>
                <c:formatCode>General</c:formatCode>
                <c:ptCount val="24"/>
                <c:pt idx="0">
                  <c:v>1890.99999999992</c:v>
                </c:pt>
                <c:pt idx="1">
                  <c:v>1891.99999999992</c:v>
                </c:pt>
                <c:pt idx="2">
                  <c:v>1892.99999999992</c:v>
                </c:pt>
                <c:pt idx="3">
                  <c:v>1893.99999999992</c:v>
                </c:pt>
                <c:pt idx="4">
                  <c:v>1894.99999999991</c:v>
                </c:pt>
                <c:pt idx="5">
                  <c:v>1895.99999999991</c:v>
                </c:pt>
                <c:pt idx="6">
                  <c:v>1896.99999999991</c:v>
                </c:pt>
                <c:pt idx="7">
                  <c:v>1897.99999999991</c:v>
                </c:pt>
                <c:pt idx="8">
                  <c:v>1898.99999999991</c:v>
                </c:pt>
                <c:pt idx="9">
                  <c:v>1900</c:v>
                </c:pt>
                <c:pt idx="10">
                  <c:v>1901</c:v>
                </c:pt>
                <c:pt idx="11">
                  <c:v>1902</c:v>
                </c:pt>
                <c:pt idx="12">
                  <c:v>1903</c:v>
                </c:pt>
                <c:pt idx="13">
                  <c:v>1904</c:v>
                </c:pt>
                <c:pt idx="14">
                  <c:v>1905</c:v>
                </c:pt>
                <c:pt idx="15">
                  <c:v>1906</c:v>
                </c:pt>
                <c:pt idx="16">
                  <c:v>1907</c:v>
                </c:pt>
                <c:pt idx="17">
                  <c:v>1908</c:v>
                </c:pt>
                <c:pt idx="18">
                  <c:v>1909</c:v>
                </c:pt>
                <c:pt idx="19">
                  <c:v>1910</c:v>
                </c:pt>
                <c:pt idx="20">
                  <c:v>1911</c:v>
                </c:pt>
                <c:pt idx="21">
                  <c:v>1912</c:v>
                </c:pt>
                <c:pt idx="22">
                  <c:v>1913</c:v>
                </c:pt>
                <c:pt idx="23">
                  <c:v>1914</c:v>
                </c:pt>
              </c:numCache>
            </c:numRef>
          </c:cat>
          <c:val>
            <c:numRef>
              <c:f>Hoja2!$E$5:$E$28</c:f>
              <c:numCache>
                <c:formatCode>#,##0\ \ </c:formatCode>
                <c:ptCount val="24"/>
                <c:pt idx="0" formatCode="#,##0.0\ \ ">
                  <c:v>7015</c:v>
                </c:pt>
                <c:pt idx="1">
                  <c:v>18849</c:v>
                </c:pt>
                <c:pt idx="2">
                  <c:v>37921</c:v>
                </c:pt>
                <c:pt idx="3">
                  <c:v>40758</c:v>
                </c:pt>
                <c:pt idx="4">
                  <c:v>53935</c:v>
                </c:pt>
                <c:pt idx="5">
                  <c:v>51732</c:v>
                </c:pt>
                <c:pt idx="6">
                  <c:v>41443</c:v>
                </c:pt>
                <c:pt idx="7">
                  <c:v>31933</c:v>
                </c:pt>
                <c:pt idx="8">
                  <c:v>59464</c:v>
                </c:pt>
                <c:pt idx="9">
                  <c:v>51203</c:v>
                </c:pt>
                <c:pt idx="10">
                  <c:v>71742</c:v>
                </c:pt>
                <c:pt idx="11">
                  <c:v>39040</c:v>
                </c:pt>
                <c:pt idx="12">
                  <c:v>71980</c:v>
                </c:pt>
                <c:pt idx="13">
                  <c:v>107298</c:v>
                </c:pt>
                <c:pt idx="14">
                  <c:v>144760</c:v>
                </c:pt>
                <c:pt idx="15">
                  <c:v>128998</c:v>
                </c:pt>
                <c:pt idx="16">
                  <c:v>127499</c:v>
                </c:pt>
                <c:pt idx="17">
                  <c:v>113500</c:v>
                </c:pt>
                <c:pt idx="18">
                  <c:v>116487</c:v>
                </c:pt>
                <c:pt idx="19">
                  <c:v>115408</c:v>
                </c:pt>
                <c:pt idx="20">
                  <c:v>118486</c:v>
                </c:pt>
                <c:pt idx="21">
                  <c:v>131580</c:v>
                </c:pt>
                <c:pt idx="22">
                  <c:v>124649</c:v>
                </c:pt>
                <c:pt idx="23">
                  <c:v>67325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5B-4A48-A6DC-1C675E89D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569800"/>
        <c:axId val="645573736"/>
      </c:lineChart>
      <c:catAx>
        <c:axId val="645569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45573736"/>
        <c:crosses val="autoZero"/>
        <c:auto val="1"/>
        <c:lblAlgn val="ctr"/>
        <c:lblOffset val="100"/>
        <c:noMultiLvlLbl val="0"/>
      </c:catAx>
      <c:valAx>
        <c:axId val="645573736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45569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Hoja10!$B$5</c:f>
              <c:strCache>
                <c:ptCount val="1"/>
                <c:pt idx="0">
                  <c:v>Reino Unido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Hoja10!$A$6:$A$39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Hoja10!$B$6:$B$39</c:f>
              <c:numCache>
                <c:formatCode>#,##0.00\ \ </c:formatCode>
                <c:ptCount val="34"/>
                <c:pt idx="0">
                  <c:v>15.009658605059474</c:v>
                </c:pt>
                <c:pt idx="1">
                  <c:v>17.920521181782959</c:v>
                </c:pt>
                <c:pt idx="2">
                  <c:v>29.402495306409229</c:v>
                </c:pt>
                <c:pt idx="3">
                  <c:v>29.443528158389014</c:v>
                </c:pt>
                <c:pt idx="4">
                  <c:v>33.84895776966799</c:v>
                </c:pt>
                <c:pt idx="5">
                  <c:v>32.289425068759897</c:v>
                </c:pt>
                <c:pt idx="6">
                  <c:v>32.761418850263262</c:v>
                </c:pt>
                <c:pt idx="7">
                  <c:v>42.421519893535752</c:v>
                </c:pt>
                <c:pt idx="8">
                  <c:v>54.533528906170972</c:v>
                </c:pt>
                <c:pt idx="9">
                  <c:v>55.086024092456341</c:v>
                </c:pt>
                <c:pt idx="10">
                  <c:v>27.097765009971848</c:v>
                </c:pt>
                <c:pt idx="11">
                  <c:v>29.419894838398452</c:v>
                </c:pt>
                <c:pt idx="12">
                  <c:v>30.945048400064326</c:v>
                </c:pt>
                <c:pt idx="13">
                  <c:v>31.76555327326766</c:v>
                </c:pt>
                <c:pt idx="14">
                  <c:v>37.66482425165664</c:v>
                </c:pt>
                <c:pt idx="15">
                  <c:v>42.995656738853285</c:v>
                </c:pt>
                <c:pt idx="16">
                  <c:v>34.657852622918313</c:v>
                </c:pt>
                <c:pt idx="17">
                  <c:v>37.601741998451857</c:v>
                </c:pt>
                <c:pt idx="18">
                  <c:v>41.914597437134347</c:v>
                </c:pt>
                <c:pt idx="19">
                  <c:v>33.14024408855898</c:v>
                </c:pt>
                <c:pt idx="20">
                  <c:v>35.909025896325815</c:v>
                </c:pt>
                <c:pt idx="21">
                  <c:v>36.63563437266464</c:v>
                </c:pt>
                <c:pt idx="22">
                  <c:v>43.116949801158903</c:v>
                </c:pt>
                <c:pt idx="23">
                  <c:v>62.388145388857872</c:v>
                </c:pt>
                <c:pt idx="24">
                  <c:v>65.832381046999984</c:v>
                </c:pt>
                <c:pt idx="25">
                  <c:v>91.646765567106954</c:v>
                </c:pt>
                <c:pt idx="26">
                  <c:v>92.095434074101547</c:v>
                </c:pt>
                <c:pt idx="27">
                  <c:v>90.03919212755342</c:v>
                </c:pt>
                <c:pt idx="28">
                  <c:v>95.78058307734895</c:v>
                </c:pt>
                <c:pt idx="29">
                  <c:v>113.19858158058341</c:v>
                </c:pt>
                <c:pt idx="30">
                  <c:v>115.11022984884666</c:v>
                </c:pt>
                <c:pt idx="31">
                  <c:v>132.33802863691108</c:v>
                </c:pt>
                <c:pt idx="32">
                  <c:v>147.73079513818681</c:v>
                </c:pt>
                <c:pt idx="33">
                  <c:v>105.61907428052766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D3-49E7-8DB9-E0A2D90E1AC5}"/>
            </c:ext>
          </c:extLst>
        </c:ser>
        <c:ser>
          <c:idx val="1"/>
          <c:order val="1"/>
          <c:tx>
            <c:strRef>
              <c:f>Hoja10!$C$5</c:f>
              <c:strCache>
                <c:ptCount val="1"/>
                <c:pt idx="0">
                  <c:v>Bélgica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Hoja10!$A$6:$A$39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Hoja10!$C$6:$C$39</c:f>
              <c:numCache>
                <c:formatCode>#,##0.00\ \ </c:formatCode>
                <c:ptCount val="34"/>
                <c:pt idx="0">
                  <c:v>2.905095213882479</c:v>
                </c:pt>
                <c:pt idx="1">
                  <c:v>2.4216920515922915</c:v>
                </c:pt>
                <c:pt idx="2">
                  <c:v>2.8920487186632027</c:v>
                </c:pt>
                <c:pt idx="3">
                  <c:v>6.7575310527450192</c:v>
                </c:pt>
                <c:pt idx="4">
                  <c:v>6.7697915539335982</c:v>
                </c:pt>
                <c:pt idx="5">
                  <c:v>7.710907479106841</c:v>
                </c:pt>
                <c:pt idx="6">
                  <c:v>10.599282569202822</c:v>
                </c:pt>
                <c:pt idx="7">
                  <c:v>10.605379973383938</c:v>
                </c:pt>
                <c:pt idx="8">
                  <c:v>13.51273282630785</c:v>
                </c:pt>
                <c:pt idx="9">
                  <c:v>10.630636228368768</c:v>
                </c:pt>
                <c:pt idx="10">
                  <c:v>5.8066639307082539</c:v>
                </c:pt>
                <c:pt idx="11">
                  <c:v>6.2698136540849161</c:v>
                </c:pt>
                <c:pt idx="12">
                  <c:v>9.1868112437690961</c:v>
                </c:pt>
                <c:pt idx="13">
                  <c:v>8.6633327108911811</c:v>
                </c:pt>
                <c:pt idx="14">
                  <c:v>7.2432354330108923</c:v>
                </c:pt>
                <c:pt idx="15">
                  <c:v>8.2126535343877052</c:v>
                </c:pt>
                <c:pt idx="16">
                  <c:v>7.7017450273151811</c:v>
                </c:pt>
                <c:pt idx="17">
                  <c:v>9.1593986919305799</c:v>
                </c:pt>
                <c:pt idx="18">
                  <c:v>9.1537626586845118</c:v>
                </c:pt>
                <c:pt idx="19">
                  <c:v>7.9140881405513976</c:v>
                </c:pt>
                <c:pt idx="20">
                  <c:v>8.4785200032991508</c:v>
                </c:pt>
                <c:pt idx="21">
                  <c:v>5.4458375418825824</c:v>
                </c:pt>
                <c:pt idx="22">
                  <c:v>5.3290612113791909</c:v>
                </c:pt>
                <c:pt idx="23">
                  <c:v>8.7053226123987724</c:v>
                </c:pt>
                <c:pt idx="24">
                  <c:v>8.7131092562205872</c:v>
                </c:pt>
                <c:pt idx="25">
                  <c:v>11.637684516458027</c:v>
                </c:pt>
                <c:pt idx="26">
                  <c:v>10.862538377970953</c:v>
                </c:pt>
                <c:pt idx="27">
                  <c:v>12.102041952628149</c:v>
                </c:pt>
                <c:pt idx="28">
                  <c:v>13.060988601456675</c:v>
                </c:pt>
                <c:pt idx="29">
                  <c:v>20.283867862063452</c:v>
                </c:pt>
                <c:pt idx="30">
                  <c:v>20.646116704062692</c:v>
                </c:pt>
                <c:pt idx="31">
                  <c:v>22.716707510527652</c:v>
                </c:pt>
                <c:pt idx="32">
                  <c:v>24.779323795934836</c:v>
                </c:pt>
                <c:pt idx="33">
                  <c:v>13.862712715433794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D3-49E7-8DB9-E0A2D90E1AC5}"/>
            </c:ext>
          </c:extLst>
        </c:ser>
        <c:ser>
          <c:idx val="2"/>
          <c:order val="2"/>
          <c:tx>
            <c:strRef>
              <c:f>Hoja10!$D$5</c:f>
              <c:strCache>
                <c:ptCount val="1"/>
                <c:pt idx="0">
                  <c:v>Alemania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Hoja10!$A$6:$A$39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Hoja10!$D$6:$D$39</c:f>
              <c:numCache>
                <c:formatCode>#,##0.00\ \ </c:formatCode>
                <c:ptCount val="34"/>
                <c:pt idx="0">
                  <c:v>3.3892777495295587</c:v>
                </c:pt>
                <c:pt idx="1">
                  <c:v>4.3590456928661254</c:v>
                </c:pt>
                <c:pt idx="2">
                  <c:v>6.7481136768808065</c:v>
                </c:pt>
                <c:pt idx="3">
                  <c:v>8.2055734211903815</c:v>
                </c:pt>
                <c:pt idx="4">
                  <c:v>6.7697915539335982</c:v>
                </c:pt>
                <c:pt idx="5">
                  <c:v>7.710907479106841</c:v>
                </c:pt>
                <c:pt idx="6">
                  <c:v>11.562853711857622</c:v>
                </c:pt>
                <c:pt idx="7">
                  <c:v>12.533630877635565</c:v>
                </c:pt>
                <c:pt idx="8">
                  <c:v>14.477928028186982</c:v>
                </c:pt>
                <c:pt idx="9">
                  <c:v>11.597057703675018</c:v>
                </c:pt>
                <c:pt idx="10">
                  <c:v>5.8066639307082539</c:v>
                </c:pt>
                <c:pt idx="11">
                  <c:v>9.6458671601306403</c:v>
                </c:pt>
                <c:pt idx="12">
                  <c:v>10.637360387522113</c:v>
                </c:pt>
                <c:pt idx="13">
                  <c:v>9.6259252343235335</c:v>
                </c:pt>
                <c:pt idx="14">
                  <c:v>10.623411968415976</c:v>
                </c:pt>
                <c:pt idx="15">
                  <c:v>13.043626201674591</c:v>
                </c:pt>
                <c:pt idx="16">
                  <c:v>10.589899412558374</c:v>
                </c:pt>
                <c:pt idx="17">
                  <c:v>11.087693153389649</c:v>
                </c:pt>
                <c:pt idx="18">
                  <c:v>12.044424550900674</c:v>
                </c:pt>
                <c:pt idx="19">
                  <c:v>15.828176281102795</c:v>
                </c:pt>
                <c:pt idx="20">
                  <c:v>15.959567065033696</c:v>
                </c:pt>
                <c:pt idx="21">
                  <c:v>12.871979644449739</c:v>
                </c:pt>
                <c:pt idx="22">
                  <c:v>16.471643744262952</c:v>
                </c:pt>
                <c:pt idx="23">
                  <c:v>24.665080735129855</c:v>
                </c:pt>
                <c:pt idx="24">
                  <c:v>28.075574270044111</c:v>
                </c:pt>
                <c:pt idx="25">
                  <c:v>37.337571156969503</c:v>
                </c:pt>
                <c:pt idx="26">
                  <c:v>42.97786923458073</c:v>
                </c:pt>
                <c:pt idx="27">
                  <c:v>36.790207535989566</c:v>
                </c:pt>
                <c:pt idx="28">
                  <c:v>42.569148034377314</c:v>
                </c:pt>
                <c:pt idx="29">
                  <c:v>63.264479033483177</c:v>
                </c:pt>
                <c:pt idx="30">
                  <c:v>69.786323784274416</c:v>
                </c:pt>
                <c:pt idx="31">
                  <c:v>71.306371307185202</c:v>
                </c:pt>
                <c:pt idx="32">
                  <c:v>80.489025967421014</c:v>
                </c:pt>
                <c:pt idx="33">
                  <c:v>45.681358736565784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D3-49E7-8DB9-E0A2D90E1AC5}"/>
            </c:ext>
          </c:extLst>
        </c:ser>
        <c:ser>
          <c:idx val="3"/>
          <c:order val="3"/>
          <c:tx>
            <c:strRef>
              <c:f>Hoja10!$E$5</c:f>
              <c:strCache>
                <c:ptCount val="1"/>
                <c:pt idx="0">
                  <c:v>Francia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Hoja10!$A$6:$A$39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Hoja10!$E$6:$E$39</c:f>
              <c:numCache>
                <c:formatCode>#,##0.00\ \ </c:formatCode>
                <c:ptCount val="34"/>
                <c:pt idx="0">
                  <c:v>9.6836507129415974</c:v>
                </c:pt>
                <c:pt idx="1">
                  <c:v>11.139783437324539</c:v>
                </c:pt>
                <c:pt idx="2">
                  <c:v>14.942251713093215</c:v>
                </c:pt>
                <c:pt idx="3">
                  <c:v>15.928466052898974</c:v>
                </c:pt>
                <c:pt idx="4">
                  <c:v>13.539583107867196</c:v>
                </c:pt>
                <c:pt idx="5">
                  <c:v>16.385678393102037</c:v>
                </c:pt>
                <c:pt idx="6">
                  <c:v>21.680350709733045</c:v>
                </c:pt>
                <c:pt idx="7">
                  <c:v>21.692822672830783</c:v>
                </c:pt>
                <c:pt idx="8">
                  <c:v>28.955856056373964</c:v>
                </c:pt>
                <c:pt idx="9">
                  <c:v>18.845218768471902</c:v>
                </c:pt>
                <c:pt idx="10">
                  <c:v>7.7422185742776719</c:v>
                </c:pt>
                <c:pt idx="11">
                  <c:v>10.128160518137172</c:v>
                </c:pt>
                <c:pt idx="12">
                  <c:v>11.604393150024121</c:v>
                </c:pt>
                <c:pt idx="13">
                  <c:v>9.6259252343235335</c:v>
                </c:pt>
                <c:pt idx="14">
                  <c:v>8.6918825196130705</c:v>
                </c:pt>
                <c:pt idx="15">
                  <c:v>11.594334401488524</c:v>
                </c:pt>
                <c:pt idx="16">
                  <c:v>10.589899412558374</c:v>
                </c:pt>
                <c:pt idx="17">
                  <c:v>9.6414723072953485</c:v>
                </c:pt>
                <c:pt idx="18">
                  <c:v>10.117316622756567</c:v>
                </c:pt>
                <c:pt idx="19">
                  <c:v>10.38724068447371</c:v>
                </c:pt>
                <c:pt idx="20">
                  <c:v>9.9747294156460597</c:v>
                </c:pt>
                <c:pt idx="21">
                  <c:v>8.9113705230805884</c:v>
                </c:pt>
                <c:pt idx="22">
                  <c:v>11.627042643009142</c:v>
                </c:pt>
                <c:pt idx="23">
                  <c:v>16.443387156753236</c:v>
                </c:pt>
                <c:pt idx="24">
                  <c:v>20.330588264514702</c:v>
                </c:pt>
                <c:pt idx="25">
                  <c:v>25.214983118992389</c:v>
                </c:pt>
                <c:pt idx="26">
                  <c:v>24.086498142457327</c:v>
                </c:pt>
                <c:pt idx="27">
                  <c:v>27.108573973887047</c:v>
                </c:pt>
                <c:pt idx="28">
                  <c:v>29.024419114348166</c:v>
                </c:pt>
                <c:pt idx="29">
                  <c:v>34.826173560330695</c:v>
                </c:pt>
                <c:pt idx="30">
                  <c:v>40.292233319043355</c:v>
                </c:pt>
                <c:pt idx="31">
                  <c:v>41.951736202976669</c:v>
                </c:pt>
                <c:pt idx="32">
                  <c:v>42.975947461769735</c:v>
                </c:pt>
                <c:pt idx="33">
                  <c:v>25.576696485398553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D3-49E7-8DB9-E0A2D90E1AC5}"/>
            </c:ext>
          </c:extLst>
        </c:ser>
        <c:ser>
          <c:idx val="4"/>
          <c:order val="4"/>
          <c:tx>
            <c:strRef>
              <c:f>Hoja10!$F$5</c:f>
              <c:strCache>
                <c:ptCount val="1"/>
                <c:pt idx="0">
                  <c:v>Italia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Hoja10!$A$6:$A$39</c:f>
              <c:numCache>
                <c:formatCode>General</c:formatCode>
                <c:ptCount val="34"/>
                <c:pt idx="0">
                  <c:v>1880.99999999993</c:v>
                </c:pt>
                <c:pt idx="1">
                  <c:v>1881.99999999993</c:v>
                </c:pt>
                <c:pt idx="2">
                  <c:v>1882.99999999993</c:v>
                </c:pt>
                <c:pt idx="3">
                  <c:v>1883.99999999992</c:v>
                </c:pt>
                <c:pt idx="4">
                  <c:v>1884.99999999992</c:v>
                </c:pt>
                <c:pt idx="5">
                  <c:v>1885.99999999992</c:v>
                </c:pt>
                <c:pt idx="6">
                  <c:v>1886.99999999992</c:v>
                </c:pt>
                <c:pt idx="7">
                  <c:v>1887.99999999992</c:v>
                </c:pt>
                <c:pt idx="8">
                  <c:v>1888.99999999992</c:v>
                </c:pt>
                <c:pt idx="9">
                  <c:v>1889.99999999992</c:v>
                </c:pt>
                <c:pt idx="10">
                  <c:v>1890.99999999992</c:v>
                </c:pt>
                <c:pt idx="11">
                  <c:v>1891.99999999992</c:v>
                </c:pt>
                <c:pt idx="12">
                  <c:v>1892.99999999992</c:v>
                </c:pt>
                <c:pt idx="13">
                  <c:v>1893.99999999992</c:v>
                </c:pt>
                <c:pt idx="14">
                  <c:v>1894.99999999991</c:v>
                </c:pt>
                <c:pt idx="15">
                  <c:v>1895.99999999991</c:v>
                </c:pt>
                <c:pt idx="16">
                  <c:v>1896.99999999991</c:v>
                </c:pt>
                <c:pt idx="17">
                  <c:v>1897.99999999991</c:v>
                </c:pt>
                <c:pt idx="18">
                  <c:v>1898.99999999991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Hoja10!$F$6:$F$39</c:f>
              <c:numCache>
                <c:formatCode>#,##0.00\ \ </c:formatCode>
                <c:ptCount val="34"/>
                <c:pt idx="0">
                  <c:v>2.4209126782353994</c:v>
                </c:pt>
                <c:pt idx="1">
                  <c:v>2.9060304619107495</c:v>
                </c:pt>
                <c:pt idx="2">
                  <c:v>3.3740568384404033</c:v>
                </c:pt>
                <c:pt idx="3">
                  <c:v>3.8614463158542973</c:v>
                </c:pt>
                <c:pt idx="4">
                  <c:v>3.8684523165334852</c:v>
                </c:pt>
                <c:pt idx="5">
                  <c:v>4.3373854569975974</c:v>
                </c:pt>
                <c:pt idx="6">
                  <c:v>6.7449979985836128</c:v>
                </c:pt>
                <c:pt idx="7">
                  <c:v>7.2309408909435948</c:v>
                </c:pt>
                <c:pt idx="8">
                  <c:v>9.6519520187913219</c:v>
                </c:pt>
                <c:pt idx="9">
                  <c:v>8.2145825401031374</c:v>
                </c:pt>
                <c:pt idx="10">
                  <c:v>3.871109287138836</c:v>
                </c:pt>
                <c:pt idx="11">
                  <c:v>7.716693728104512</c:v>
                </c:pt>
                <c:pt idx="12">
                  <c:v>9.1868112437690961</c:v>
                </c:pt>
                <c:pt idx="13">
                  <c:v>8.6633327108911811</c:v>
                </c:pt>
                <c:pt idx="14">
                  <c:v>9.6576472440145231</c:v>
                </c:pt>
                <c:pt idx="15">
                  <c:v>11.111237134759836</c:v>
                </c:pt>
                <c:pt idx="16">
                  <c:v>10.108540348351173</c:v>
                </c:pt>
                <c:pt idx="17">
                  <c:v>13.01598761484872</c:v>
                </c:pt>
                <c:pt idx="18">
                  <c:v>13.007978514972731</c:v>
                </c:pt>
                <c:pt idx="19">
                  <c:v>14.344284754749408</c:v>
                </c:pt>
                <c:pt idx="20">
                  <c:v>14.463357652686787</c:v>
                </c:pt>
                <c:pt idx="21">
                  <c:v>11.881827364107451</c:v>
                </c:pt>
                <c:pt idx="22">
                  <c:v>14.049343193636046</c:v>
                </c:pt>
                <c:pt idx="23">
                  <c:v>18.377903292841854</c:v>
                </c:pt>
                <c:pt idx="24">
                  <c:v>19.362465013823524</c:v>
                </c:pt>
                <c:pt idx="25">
                  <c:v>23.275369032916053</c:v>
                </c:pt>
                <c:pt idx="26">
                  <c:v>22.669645310548074</c:v>
                </c:pt>
                <c:pt idx="27">
                  <c:v>23.72000222715117</c:v>
                </c:pt>
                <c:pt idx="28">
                  <c:v>25.638236884340881</c:v>
                </c:pt>
                <c:pt idx="29">
                  <c:v>32.885988523668246</c:v>
                </c:pt>
                <c:pt idx="30">
                  <c:v>31.094597364564208</c:v>
                </c:pt>
                <c:pt idx="31">
                  <c:v>36.2292390924177</c:v>
                </c:pt>
                <c:pt idx="32">
                  <c:v>39.267086866706691</c:v>
                </c:pt>
                <c:pt idx="33">
                  <c:v>28.407628862578321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D3-49E7-8DB9-E0A2D90E1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2849048"/>
        <c:axId val="662849376"/>
      </c:barChart>
      <c:catAx>
        <c:axId val="662849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62849376"/>
        <c:crosses val="autoZero"/>
        <c:auto val="1"/>
        <c:lblAlgn val="ctr"/>
        <c:lblOffset val="100"/>
        <c:noMultiLvlLbl val="0"/>
      </c:catAx>
      <c:valAx>
        <c:axId val="662849376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62849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Hoja8!$E$5</c:f>
              <c:strCache>
                <c:ptCount val="1"/>
                <c:pt idx="0">
                  <c:v>TC real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Hoja8!$A$6:$A$40</c:f>
              <c:numCache>
                <c:formatCode>General</c:formatCode>
                <c:ptCount val="35"/>
                <c:pt idx="0">
                  <c:v>1879.99999999993</c:v>
                </c:pt>
                <c:pt idx="1">
                  <c:v>1880.99999999993</c:v>
                </c:pt>
                <c:pt idx="2">
                  <c:v>1881.99999999993</c:v>
                </c:pt>
                <c:pt idx="3">
                  <c:v>1882.99999999993</c:v>
                </c:pt>
                <c:pt idx="4">
                  <c:v>1883.99999999992</c:v>
                </c:pt>
                <c:pt idx="5">
                  <c:v>1884.99999999992</c:v>
                </c:pt>
                <c:pt idx="6">
                  <c:v>1885.99999999992</c:v>
                </c:pt>
                <c:pt idx="7">
                  <c:v>1886.99999999992</c:v>
                </c:pt>
                <c:pt idx="8">
                  <c:v>1887.99999999992</c:v>
                </c:pt>
                <c:pt idx="9">
                  <c:v>1888.99999999992</c:v>
                </c:pt>
                <c:pt idx="10">
                  <c:v>1889.99999999992</c:v>
                </c:pt>
                <c:pt idx="11">
                  <c:v>1890.99999999992</c:v>
                </c:pt>
                <c:pt idx="12">
                  <c:v>1891.99999999992</c:v>
                </c:pt>
                <c:pt idx="13">
                  <c:v>1892.99999999992</c:v>
                </c:pt>
                <c:pt idx="14">
                  <c:v>1893.99999999992</c:v>
                </c:pt>
                <c:pt idx="15">
                  <c:v>1894.99999999991</c:v>
                </c:pt>
                <c:pt idx="16">
                  <c:v>1895.99999999991</c:v>
                </c:pt>
                <c:pt idx="17">
                  <c:v>1896.99999999991</c:v>
                </c:pt>
                <c:pt idx="18">
                  <c:v>1897.99999999991</c:v>
                </c:pt>
                <c:pt idx="19">
                  <c:v>1898.99999999991</c:v>
                </c:pt>
                <c:pt idx="20">
                  <c:v>1900</c:v>
                </c:pt>
                <c:pt idx="21">
                  <c:v>1901</c:v>
                </c:pt>
                <c:pt idx="22">
                  <c:v>1902</c:v>
                </c:pt>
                <c:pt idx="23">
                  <c:v>1903</c:v>
                </c:pt>
                <c:pt idx="24">
                  <c:v>1904</c:v>
                </c:pt>
                <c:pt idx="25">
                  <c:v>1905</c:v>
                </c:pt>
                <c:pt idx="26">
                  <c:v>1906</c:v>
                </c:pt>
                <c:pt idx="27">
                  <c:v>1907</c:v>
                </c:pt>
                <c:pt idx="28">
                  <c:v>1908</c:v>
                </c:pt>
                <c:pt idx="29">
                  <c:v>1909</c:v>
                </c:pt>
                <c:pt idx="30">
                  <c:v>1910</c:v>
                </c:pt>
                <c:pt idx="31">
                  <c:v>1911</c:v>
                </c:pt>
                <c:pt idx="32">
                  <c:v>1912</c:v>
                </c:pt>
                <c:pt idx="33">
                  <c:v>1913</c:v>
                </c:pt>
                <c:pt idx="34">
                  <c:v>1914</c:v>
                </c:pt>
              </c:numCache>
            </c:numRef>
          </c:cat>
          <c:val>
            <c:numRef>
              <c:f>Hoja8!$E$6:$E$40</c:f>
              <c:numCache>
                <c:formatCode>_-* #,##0.00_-;\-* #,##0.00_-;_-* "-"???????????????_-;_-@_-</c:formatCode>
                <c:ptCount val="35"/>
                <c:pt idx="0">
                  <c:v>1.222</c:v>
                </c:pt>
                <c:pt idx="1">
                  <c:v>1.0824</c:v>
                </c:pt>
                <c:pt idx="2">
                  <c:v>1.002</c:v>
                </c:pt>
                <c:pt idx="3">
                  <c:v>1</c:v>
                </c:pt>
                <c:pt idx="4">
                  <c:v>1</c:v>
                </c:pt>
                <c:pt idx="5">
                  <c:v>1.3700000000000003</c:v>
                </c:pt>
                <c:pt idx="6">
                  <c:v>1.39</c:v>
                </c:pt>
                <c:pt idx="7">
                  <c:v>1.35</c:v>
                </c:pt>
                <c:pt idx="8">
                  <c:v>1.48</c:v>
                </c:pt>
                <c:pt idx="9">
                  <c:v>1.91</c:v>
                </c:pt>
                <c:pt idx="10">
                  <c:v>2.5099999999999998</c:v>
                </c:pt>
                <c:pt idx="11">
                  <c:v>3.87</c:v>
                </c:pt>
                <c:pt idx="12">
                  <c:v>3.32</c:v>
                </c:pt>
                <c:pt idx="13">
                  <c:v>3.24</c:v>
                </c:pt>
                <c:pt idx="14">
                  <c:v>3.57</c:v>
                </c:pt>
                <c:pt idx="15">
                  <c:v>3.44</c:v>
                </c:pt>
                <c:pt idx="16">
                  <c:v>2.96</c:v>
                </c:pt>
                <c:pt idx="17">
                  <c:v>2.91</c:v>
                </c:pt>
                <c:pt idx="18">
                  <c:v>2.58</c:v>
                </c:pt>
                <c:pt idx="19">
                  <c:v>2.25</c:v>
                </c:pt>
                <c:pt idx="20">
                  <c:v>2.31</c:v>
                </c:pt>
                <c:pt idx="21">
                  <c:v>2.3399999999999994</c:v>
                </c:pt>
                <c:pt idx="22">
                  <c:v>2.3231999999999999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2.2993000000000001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29-48B9-857E-2BD9B43DEEEE}"/>
            </c:ext>
          </c:extLst>
        </c:ser>
        <c:ser>
          <c:idx val="1"/>
          <c:order val="1"/>
          <c:tx>
            <c:strRef>
              <c:f>Hoja8!$F$5</c:f>
              <c:strCache>
                <c:ptCount val="1"/>
                <c:pt idx="0">
                  <c:v>Prom quinquenio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Hoja8!$A$6:$A$40</c:f>
              <c:numCache>
                <c:formatCode>General</c:formatCode>
                <c:ptCount val="35"/>
                <c:pt idx="0">
                  <c:v>1879.99999999993</c:v>
                </c:pt>
                <c:pt idx="1">
                  <c:v>1880.99999999993</c:v>
                </c:pt>
                <c:pt idx="2">
                  <c:v>1881.99999999993</c:v>
                </c:pt>
                <c:pt idx="3">
                  <c:v>1882.99999999993</c:v>
                </c:pt>
                <c:pt idx="4">
                  <c:v>1883.99999999992</c:v>
                </c:pt>
                <c:pt idx="5">
                  <c:v>1884.99999999992</c:v>
                </c:pt>
                <c:pt idx="6">
                  <c:v>1885.99999999992</c:v>
                </c:pt>
                <c:pt idx="7">
                  <c:v>1886.99999999992</c:v>
                </c:pt>
                <c:pt idx="8">
                  <c:v>1887.99999999992</c:v>
                </c:pt>
                <c:pt idx="9">
                  <c:v>1888.99999999992</c:v>
                </c:pt>
                <c:pt idx="10">
                  <c:v>1889.99999999992</c:v>
                </c:pt>
                <c:pt idx="11">
                  <c:v>1890.99999999992</c:v>
                </c:pt>
                <c:pt idx="12">
                  <c:v>1891.99999999992</c:v>
                </c:pt>
                <c:pt idx="13">
                  <c:v>1892.99999999992</c:v>
                </c:pt>
                <c:pt idx="14">
                  <c:v>1893.99999999992</c:v>
                </c:pt>
                <c:pt idx="15">
                  <c:v>1894.99999999991</c:v>
                </c:pt>
                <c:pt idx="16">
                  <c:v>1895.99999999991</c:v>
                </c:pt>
                <c:pt idx="17">
                  <c:v>1896.99999999991</c:v>
                </c:pt>
                <c:pt idx="18">
                  <c:v>1897.99999999991</c:v>
                </c:pt>
                <c:pt idx="19">
                  <c:v>1898.99999999991</c:v>
                </c:pt>
                <c:pt idx="20">
                  <c:v>1900</c:v>
                </c:pt>
                <c:pt idx="21">
                  <c:v>1901</c:v>
                </c:pt>
                <c:pt idx="22">
                  <c:v>1902</c:v>
                </c:pt>
                <c:pt idx="23">
                  <c:v>1903</c:v>
                </c:pt>
                <c:pt idx="24">
                  <c:v>1904</c:v>
                </c:pt>
                <c:pt idx="25">
                  <c:v>1905</c:v>
                </c:pt>
                <c:pt idx="26">
                  <c:v>1906</c:v>
                </c:pt>
                <c:pt idx="27">
                  <c:v>1907</c:v>
                </c:pt>
                <c:pt idx="28">
                  <c:v>1908</c:v>
                </c:pt>
                <c:pt idx="29">
                  <c:v>1909</c:v>
                </c:pt>
                <c:pt idx="30">
                  <c:v>1910</c:v>
                </c:pt>
                <c:pt idx="31">
                  <c:v>1911</c:v>
                </c:pt>
                <c:pt idx="32">
                  <c:v>1912</c:v>
                </c:pt>
                <c:pt idx="33">
                  <c:v>1913</c:v>
                </c:pt>
                <c:pt idx="34">
                  <c:v>1914</c:v>
                </c:pt>
              </c:numCache>
            </c:numRef>
          </c:cat>
          <c:val>
            <c:numRef>
              <c:f>Hoja8!$F$6:$F$40</c:f>
              <c:numCache>
                <c:formatCode>_-* #,##0.00_-;\-* #,##0.00_-;_-* "-"???????????????_-;_-@_-</c:formatCode>
                <c:ptCount val="35"/>
                <c:pt idx="1">
                  <c:v>1.06128</c:v>
                </c:pt>
                <c:pt idx="2">
                  <c:v>1.06128</c:v>
                </c:pt>
                <c:pt idx="3">
                  <c:v>1.06128</c:v>
                </c:pt>
                <c:pt idx="4">
                  <c:v>1.06128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1">
                  <c:v>3.3019999999999996</c:v>
                </c:pt>
                <c:pt idx="12">
                  <c:v>3.3019999999999996</c:v>
                </c:pt>
                <c:pt idx="13">
                  <c:v>3.3019999999999996</c:v>
                </c:pt>
                <c:pt idx="14">
                  <c:v>3.3019999999999996</c:v>
                </c:pt>
                <c:pt idx="16">
                  <c:v>2.8280000000000003</c:v>
                </c:pt>
                <c:pt idx="17">
                  <c:v>2.8280000000000003</c:v>
                </c:pt>
                <c:pt idx="18">
                  <c:v>2.8280000000000003</c:v>
                </c:pt>
                <c:pt idx="19">
                  <c:v>2.8280000000000003</c:v>
                </c:pt>
                <c:pt idx="21">
                  <c:v>2.3037199999999998</c:v>
                </c:pt>
                <c:pt idx="22">
                  <c:v>2.3037199999999998</c:v>
                </c:pt>
                <c:pt idx="23">
                  <c:v>2.3037199999999998</c:v>
                </c:pt>
                <c:pt idx="24">
                  <c:v>2.3037199999999998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1">
                  <c:v>2.2780200000000002</c:v>
                </c:pt>
                <c:pt idx="32">
                  <c:v>2.2780200000000002</c:v>
                </c:pt>
                <c:pt idx="33">
                  <c:v>2.2780200000000002</c:v>
                </c:pt>
                <c:pt idx="34">
                  <c:v>2.2780200000000002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29-48B9-857E-2BD9B43DE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3820720"/>
        <c:axId val="583822688"/>
      </c:lineChart>
      <c:catAx>
        <c:axId val="583820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3822688"/>
        <c:crosses val="autoZero"/>
        <c:auto val="1"/>
        <c:lblAlgn val="ctr"/>
        <c:lblOffset val="100"/>
        <c:noMultiLvlLbl val="0"/>
      </c:catAx>
      <c:valAx>
        <c:axId val="583822688"/>
        <c:scaling>
          <c:orientation val="minMax"/>
        </c:scaling>
        <c:delete val="0"/>
        <c:axPos val="l"/>
        <c:numFmt formatCode="_-* #,##0.00_-;\-* #,##0.00_-;_-* &quot;-&quot;?????????????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3820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Hoja9!$A$6:$A$38</c:f>
              <c:numCache>
                <c:formatCode>General</c:formatCode>
                <c:ptCount val="33"/>
                <c:pt idx="0">
                  <c:v>1881.99999999993</c:v>
                </c:pt>
                <c:pt idx="1">
                  <c:v>1882.99999999993</c:v>
                </c:pt>
                <c:pt idx="2">
                  <c:v>1883.99999999992</c:v>
                </c:pt>
                <c:pt idx="3">
                  <c:v>1884.99999999992</c:v>
                </c:pt>
                <c:pt idx="4">
                  <c:v>1885.99999999992</c:v>
                </c:pt>
                <c:pt idx="5">
                  <c:v>1886.99999999992</c:v>
                </c:pt>
                <c:pt idx="6">
                  <c:v>1887.99999999992</c:v>
                </c:pt>
                <c:pt idx="7">
                  <c:v>1888.99999999992</c:v>
                </c:pt>
                <c:pt idx="8">
                  <c:v>1889.99999999992</c:v>
                </c:pt>
                <c:pt idx="9">
                  <c:v>1890.99999999992</c:v>
                </c:pt>
                <c:pt idx="10">
                  <c:v>1891.99999999992</c:v>
                </c:pt>
                <c:pt idx="11">
                  <c:v>1892.99999999992</c:v>
                </c:pt>
                <c:pt idx="12">
                  <c:v>1893.99999999992</c:v>
                </c:pt>
                <c:pt idx="13">
                  <c:v>1894.99999999991</c:v>
                </c:pt>
                <c:pt idx="14">
                  <c:v>1895.99999999991</c:v>
                </c:pt>
                <c:pt idx="15">
                  <c:v>1896.99999999991</c:v>
                </c:pt>
                <c:pt idx="16">
                  <c:v>1897.99999999991</c:v>
                </c:pt>
                <c:pt idx="17">
                  <c:v>1898.99999999991</c:v>
                </c:pt>
                <c:pt idx="18">
                  <c:v>1900</c:v>
                </c:pt>
                <c:pt idx="19">
                  <c:v>1901</c:v>
                </c:pt>
                <c:pt idx="20">
                  <c:v>1902</c:v>
                </c:pt>
                <c:pt idx="21">
                  <c:v>1903</c:v>
                </c:pt>
                <c:pt idx="22">
                  <c:v>1904</c:v>
                </c:pt>
                <c:pt idx="23">
                  <c:v>1905</c:v>
                </c:pt>
                <c:pt idx="24">
                  <c:v>1906</c:v>
                </c:pt>
                <c:pt idx="25">
                  <c:v>1907</c:v>
                </c:pt>
                <c:pt idx="26">
                  <c:v>1908</c:v>
                </c:pt>
                <c:pt idx="27">
                  <c:v>1909</c:v>
                </c:pt>
                <c:pt idx="28">
                  <c:v>1910</c:v>
                </c:pt>
                <c:pt idx="29">
                  <c:v>1911</c:v>
                </c:pt>
                <c:pt idx="30">
                  <c:v>1912</c:v>
                </c:pt>
                <c:pt idx="31">
                  <c:v>1913</c:v>
                </c:pt>
                <c:pt idx="32">
                  <c:v>1914</c:v>
                </c:pt>
              </c:numCache>
            </c:numRef>
          </c:cat>
          <c:val>
            <c:numRef>
              <c:f>Hoja9!$D$6:$D$38</c:f>
              <c:numCache>
                <c:formatCode>_ * #,##0.00_ ;_ * \-#,##0.00_ ;_ * "-"_ ;_ @_ </c:formatCode>
                <c:ptCount val="33"/>
                <c:pt idx="0">
                  <c:v>415.70758620795846</c:v>
                </c:pt>
                <c:pt idx="1">
                  <c:v>490.30027808801549</c:v>
                </c:pt>
                <c:pt idx="2">
                  <c:v>482.51773399138034</c:v>
                </c:pt>
                <c:pt idx="3">
                  <c:v>474.97839439776504</c:v>
                </c:pt>
                <c:pt idx="4">
                  <c:v>510.97390804728224</c:v>
                </c:pt>
                <c:pt idx="5">
                  <c:v>416.99063431353852</c:v>
                </c:pt>
                <c:pt idx="6">
                  <c:v>411.90538267556849</c:v>
                </c:pt>
                <c:pt idx="7">
                  <c:v>406.94266722164599</c:v>
                </c:pt>
                <c:pt idx="8">
                  <c:v>355.53938294101698</c:v>
                </c:pt>
                <c:pt idx="9">
                  <c:v>542.01738700045235</c:v>
                </c:pt>
                <c:pt idx="10">
                  <c:v>522.5965685737259</c:v>
                </c:pt>
                <c:pt idx="11">
                  <c:v>504.51932878029527</c:v>
                </c:pt>
                <c:pt idx="12">
                  <c:v>487.65090137426716</c:v>
                </c:pt>
                <c:pt idx="13">
                  <c:v>471.87396044745265</c:v>
                </c:pt>
                <c:pt idx="14">
                  <c:v>457.08588761291713</c:v>
                </c:pt>
                <c:pt idx="15">
                  <c:v>498.2520079258818</c:v>
                </c:pt>
                <c:pt idx="16">
                  <c:v>634.02500882826416</c:v>
                </c:pt>
                <c:pt idx="17">
                  <c:v>703.67169540409611</c:v>
                </c:pt>
                <c:pt idx="18">
                  <c:v>651.82220205853127</c:v>
                </c:pt>
                <c:pt idx="19">
                  <c:v>669.69666829413995</c:v>
                </c:pt>
                <c:pt idx="20">
                  <c:v>621.23924967251764</c:v>
                </c:pt>
                <c:pt idx="21">
                  <c:v>638.93734457597884</c:v>
                </c:pt>
                <c:pt idx="22">
                  <c:v>705.63790422431373</c:v>
                </c:pt>
                <c:pt idx="23">
                  <c:v>658.36287714283867</c:v>
                </c:pt>
                <c:pt idx="24">
                  <c:v>643.86616502530035</c:v>
                </c:pt>
                <c:pt idx="25">
                  <c:v>637.36246638868124</c:v>
                </c:pt>
                <c:pt idx="26">
                  <c:v>619.89596653418266</c:v>
                </c:pt>
                <c:pt idx="27">
                  <c:v>615.12508941873227</c:v>
                </c:pt>
                <c:pt idx="28">
                  <c:v>645.51956554847698</c:v>
                </c:pt>
                <c:pt idx="29">
                  <c:v>657.28004346332762</c:v>
                </c:pt>
                <c:pt idx="30">
                  <c:v>763.00957790110385</c:v>
                </c:pt>
                <c:pt idx="31">
                  <c:v>754.72382705515236</c:v>
                </c:pt>
                <c:pt idx="32">
                  <c:v>754.72382705515236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82-4360-AEA6-F95C76109471}"/>
            </c:ext>
          </c:extLst>
        </c:ser>
        <c:ser>
          <c:idx val="1"/>
          <c:order val="1"/>
          <c:tx>
            <c:v>Prom quinquenio</c:v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Hoja9!$E$6:$E$38</c:f>
              <c:numCache>
                <c:formatCode>General</c:formatCode>
                <c:ptCount val="33"/>
                <c:pt idx="3" formatCode="_ * #,##0.00_ ;_ * \-#,##0.00_ ;_ * &quot;-&quot;_ ;_ @_ ">
                  <c:v>444.35819733116006</c:v>
                </c:pt>
                <c:pt idx="4" formatCode="_ * #,##0.00_ ;_ * \-#,##0.00_ ;_ * &quot;-&quot;_ ;_ @_ ">
                  <c:v>444.35819733116006</c:v>
                </c:pt>
                <c:pt idx="5" formatCode="_ * #,##0.00_ ;_ * \-#,##0.00_ ;_ * &quot;-&quot;_ ;_ @_ ">
                  <c:v>444.35819733116006</c:v>
                </c:pt>
                <c:pt idx="6" formatCode="_ * #,##0.00_ ;_ * \-#,##0.00_ ;_ * &quot;-&quot;_ ;_ @_ ">
                  <c:v>444.35819733116006</c:v>
                </c:pt>
                <c:pt idx="8" formatCode="_ * #,##0.00_ ;_ * \-#,##0.00_ ;_ * &quot;-&quot;_ ;_ @_ ">
                  <c:v>482.4647137339515</c:v>
                </c:pt>
                <c:pt idx="9" formatCode="_ * #,##0.00_ ;_ * \-#,##0.00_ ;_ * &quot;-&quot;_ ;_ @_ ">
                  <c:v>482.4647137339515</c:v>
                </c:pt>
                <c:pt idx="10" formatCode="_ * #,##0.00_ ;_ * \-#,##0.00_ ;_ * &quot;-&quot;_ ;_ @_ ">
                  <c:v>482.4647137339515</c:v>
                </c:pt>
                <c:pt idx="11" formatCode="_ * #,##0.00_ ;_ * \-#,##0.00_ ;_ * &quot;-&quot;_ ;_ @_ ">
                  <c:v>482.4647137339515</c:v>
                </c:pt>
                <c:pt idx="13" formatCode="_ * #,##0.00_ ;_ * \-#,##0.00_ ;_ * &quot;-&quot;_ ;_ @_ ">
                  <c:v>552.98171204372238</c:v>
                </c:pt>
                <c:pt idx="14" formatCode="_ * #,##0.00_ ;_ * \-#,##0.00_ ;_ * &quot;-&quot;_ ;_ @_ ">
                  <c:v>552.98171204372238</c:v>
                </c:pt>
                <c:pt idx="15" formatCode="_ * #,##0.00_ ;_ * \-#,##0.00_ ;_ * &quot;-&quot;_ ;_ @_ ">
                  <c:v>552.98171204372238</c:v>
                </c:pt>
                <c:pt idx="16" formatCode="_ * #,##0.00_ ;_ * \-#,##0.00_ ;_ * &quot;-&quot;_ ;_ @_ ">
                  <c:v>552.98171204372238</c:v>
                </c:pt>
                <c:pt idx="18" formatCode="_ * #,##0.00_ ;_ * \-#,##0.00_ ;_ * &quot;-&quot;_ ;_ @_ ">
                  <c:v>657.46667376509629</c:v>
                </c:pt>
                <c:pt idx="19" formatCode="_ * #,##0.00_ ;_ * \-#,##0.00_ ;_ * &quot;-&quot;_ ;_ @_ ">
                  <c:v>657.46667376509629</c:v>
                </c:pt>
                <c:pt idx="20" formatCode="_ * #,##0.00_ ;_ * \-#,##0.00_ ;_ * &quot;-&quot;_ ;_ @_ ">
                  <c:v>657.46667376509629</c:v>
                </c:pt>
                <c:pt idx="21" formatCode="_ * #,##0.00_ ;_ * \-#,##0.00_ ;_ * &quot;-&quot;_ ;_ @_ ">
                  <c:v>657.46667376509629</c:v>
                </c:pt>
                <c:pt idx="23" formatCode="_ * #,##0.00_ ;_ * \-#,##0.00_ ;_ * &quot;-&quot;_ ;_ @_ ">
                  <c:v>634.92251290194713</c:v>
                </c:pt>
                <c:pt idx="24" formatCode="_ * #,##0.00_ ;_ * \-#,##0.00_ ;_ * &quot;-&quot;_ ;_ @_ ">
                  <c:v>634.92251290194713</c:v>
                </c:pt>
                <c:pt idx="25" formatCode="_ * #,##0.00_ ;_ * \-#,##0.00_ ;_ * &quot;-&quot;_ ;_ @_ ">
                  <c:v>634.92251290194713</c:v>
                </c:pt>
                <c:pt idx="26" formatCode="_ * #,##0.00_ ;_ * \-#,##0.00_ ;_ * &quot;-&quot;_ ;_ @_ ">
                  <c:v>634.92251290194713</c:v>
                </c:pt>
                <c:pt idx="28" formatCode="_ * #,##0.00_ ;_ * \-#,##0.00_ ;_ * &quot;-&quot;_ ;_ @_ ">
                  <c:v>715.0513682046427</c:v>
                </c:pt>
                <c:pt idx="29" formatCode="_ * #,##0.00_ ;_ * \-#,##0.00_ ;_ * &quot;-&quot;_ ;_ @_ ">
                  <c:v>715.0513682046427</c:v>
                </c:pt>
                <c:pt idx="30" formatCode="_ * #,##0.00_ ;_ * \-#,##0.00_ ;_ * &quot;-&quot;_ ;_ @_ ">
                  <c:v>715.0513682046427</c:v>
                </c:pt>
                <c:pt idx="31" formatCode="_ * #,##0.00_ ;_ * \-#,##0.00_ ;_ * &quot;-&quot;_ ;_ @_ ">
                  <c:v>715.0513682046427</c:v>
                </c:pt>
                <c:pt idx="32" formatCode="_ * #,##0.00_ ;_ * \-#,##0.00_ ;_ * &quot;-&quot;_ ;_ @_ ">
                  <c:v>715.0513682046427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82-4360-AEA6-F95C76109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3814488"/>
        <c:axId val="583814816"/>
      </c:lineChart>
      <c:catAx>
        <c:axId val="583814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3814816"/>
        <c:crosses val="autoZero"/>
        <c:auto val="1"/>
        <c:lblAlgn val="ctr"/>
        <c:lblOffset val="100"/>
        <c:noMultiLvlLbl val="0"/>
      </c:catAx>
      <c:valAx>
        <c:axId val="583814816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3814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 b="1"/>
              <a:t>POBLACIÓN</a:t>
            </a:r>
          </a:p>
        </c:rich>
      </c:tx>
      <c:layout>
        <c:manualLayout>
          <c:xMode val="edge"/>
          <c:yMode val="edge"/>
          <c:x val="6.3813274885932011E-2"/>
          <c:y val="6.78479909985118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6.5489357635985748E-2"/>
          <c:y val="7.6481481481481497E-2"/>
          <c:w val="0.88539481856620705"/>
          <c:h val="0.89452385273371793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Hoja1!$A$17:$A$56</c:f>
              <c:numCache>
                <c:formatCode>General</c:formatCode>
                <c:ptCount val="40"/>
                <c:pt idx="0">
                  <c:v>1875</c:v>
                </c:pt>
                <c:pt idx="1">
                  <c:v>1876</c:v>
                </c:pt>
                <c:pt idx="2">
                  <c:v>1877</c:v>
                </c:pt>
                <c:pt idx="3">
                  <c:v>1878</c:v>
                </c:pt>
                <c:pt idx="4">
                  <c:v>1879</c:v>
                </c:pt>
                <c:pt idx="5">
                  <c:v>1880</c:v>
                </c:pt>
                <c:pt idx="6">
                  <c:v>1881</c:v>
                </c:pt>
                <c:pt idx="7">
                  <c:v>1882</c:v>
                </c:pt>
                <c:pt idx="8">
                  <c:v>1883</c:v>
                </c:pt>
                <c:pt idx="9">
                  <c:v>1884</c:v>
                </c:pt>
                <c:pt idx="10">
                  <c:v>1885</c:v>
                </c:pt>
                <c:pt idx="11">
                  <c:v>1886</c:v>
                </c:pt>
                <c:pt idx="12">
                  <c:v>1887</c:v>
                </c:pt>
                <c:pt idx="13">
                  <c:v>1888</c:v>
                </c:pt>
                <c:pt idx="14">
                  <c:v>1889</c:v>
                </c:pt>
                <c:pt idx="15">
                  <c:v>1890</c:v>
                </c:pt>
                <c:pt idx="16">
                  <c:v>1891</c:v>
                </c:pt>
                <c:pt idx="17">
                  <c:v>1892</c:v>
                </c:pt>
                <c:pt idx="18">
                  <c:v>1893</c:v>
                </c:pt>
                <c:pt idx="19">
                  <c:v>1894</c:v>
                </c:pt>
                <c:pt idx="20">
                  <c:v>1895</c:v>
                </c:pt>
                <c:pt idx="21">
                  <c:v>1896</c:v>
                </c:pt>
                <c:pt idx="22">
                  <c:v>1897</c:v>
                </c:pt>
                <c:pt idx="23">
                  <c:v>1898</c:v>
                </c:pt>
                <c:pt idx="24">
                  <c:v>1899</c:v>
                </c:pt>
                <c:pt idx="25">
                  <c:v>1900</c:v>
                </c:pt>
                <c:pt idx="26">
                  <c:v>1901</c:v>
                </c:pt>
                <c:pt idx="27">
                  <c:v>1902</c:v>
                </c:pt>
                <c:pt idx="28">
                  <c:v>1903</c:v>
                </c:pt>
                <c:pt idx="29">
                  <c:v>1904</c:v>
                </c:pt>
                <c:pt idx="30">
                  <c:v>1905</c:v>
                </c:pt>
                <c:pt idx="31">
                  <c:v>1906</c:v>
                </c:pt>
                <c:pt idx="32">
                  <c:v>1907</c:v>
                </c:pt>
                <c:pt idx="33">
                  <c:v>1908</c:v>
                </c:pt>
                <c:pt idx="34">
                  <c:v>1909</c:v>
                </c:pt>
                <c:pt idx="35">
                  <c:v>1910</c:v>
                </c:pt>
                <c:pt idx="36">
                  <c:v>1911</c:v>
                </c:pt>
                <c:pt idx="37">
                  <c:v>1912</c:v>
                </c:pt>
                <c:pt idx="38">
                  <c:v>1913</c:v>
                </c:pt>
                <c:pt idx="39">
                  <c:v>1914</c:v>
                </c:pt>
              </c:numCache>
            </c:numRef>
          </c:cat>
          <c:val>
            <c:numRef>
              <c:f>Hoja1!$F$17:$F$56</c:f>
              <c:numCache>
                <c:formatCode>#,##0</c:formatCode>
                <c:ptCount val="40"/>
                <c:pt idx="0">
                  <c:v>2197760.8561883653</c:v>
                </c:pt>
                <c:pt idx="1">
                  <c:v>2265827.5905461651</c:v>
                </c:pt>
                <c:pt idx="2">
                  <c:v>2336002.4161064676</c:v>
                </c:pt>
                <c:pt idx="3">
                  <c:v>2408350.6224495647</c:v>
                </c:pt>
                <c:pt idx="4">
                  <c:v>2482939.5212358604</c:v>
                </c:pt>
                <c:pt idx="5">
                  <c:v>2559838.5088316058</c:v>
                </c:pt>
                <c:pt idx="6">
                  <c:v>2639119.1308742133</c:v>
                </c:pt>
                <c:pt idx="7">
                  <c:v>2720855.1488372185</c:v>
                </c:pt>
                <c:pt idx="8">
                  <c:v>2805122.6086568241</c:v>
                </c:pt>
                <c:pt idx="9">
                  <c:v>2891999.911483869</c:v>
                </c:pt>
                <c:pt idx="10">
                  <c:v>2981567.8866270576</c:v>
                </c:pt>
                <c:pt idx="11">
                  <c:v>3073909.8667553067</c:v>
                </c:pt>
                <c:pt idx="12">
                  <c:v>3169111.7654291815</c:v>
                </c:pt>
                <c:pt idx="13">
                  <c:v>3267262.1570335524</c:v>
                </c:pt>
                <c:pt idx="14">
                  <c:v>3368452.3591858442</c:v>
                </c:pt>
                <c:pt idx="15">
                  <c:v>3472776.5176965441</c:v>
                </c:pt>
                <c:pt idx="16">
                  <c:v>3580331.6941610193</c:v>
                </c:pt>
                <c:pt idx="17">
                  <c:v>3691217.956264134</c:v>
                </c:pt>
                <c:pt idx="18">
                  <c:v>3805538.4708816884</c:v>
                </c:pt>
                <c:pt idx="19">
                  <c:v>3923399.6000652951</c:v>
                </c:pt>
                <c:pt idx="20">
                  <c:v>4044911</c:v>
                </c:pt>
                <c:pt idx="21">
                  <c:v>4170606.0480347686</c:v>
                </c:pt>
                <c:pt idx="22">
                  <c:v>4295418.8026690716</c:v>
                </c:pt>
                <c:pt idx="23">
                  <c:v>4423966.7995055821</c:v>
                </c:pt>
                <c:pt idx="24">
                  <c:v>4556361.8222666457</c:v>
                </c:pt>
                <c:pt idx="25">
                  <c:v>4692719</c:v>
                </c:pt>
                <c:pt idx="26">
                  <c:v>4825716.2957140077</c:v>
                </c:pt>
                <c:pt idx="27">
                  <c:v>4962482.8946117861</c:v>
                </c:pt>
                <c:pt idx="28">
                  <c:v>5103125.623275145</c:v>
                </c:pt>
                <c:pt idx="29">
                  <c:v>5247754.3358795978</c:v>
                </c:pt>
                <c:pt idx="30">
                  <c:v>5396482</c:v>
                </c:pt>
                <c:pt idx="31">
                  <c:v>5646864.2357462365</c:v>
                </c:pt>
                <c:pt idx="32">
                  <c:v>5908863.5331221214</c:v>
                </c:pt>
                <c:pt idx="33">
                  <c:v>6183018.8925104272</c:v>
                </c:pt>
                <c:pt idx="34">
                  <c:v>6469894.3224605285</c:v>
                </c:pt>
                <c:pt idx="35">
                  <c:v>6770080</c:v>
                </c:pt>
                <c:pt idx="36">
                  <c:v>7040680.3464432163</c:v>
                </c:pt>
                <c:pt idx="37">
                  <c:v>7322096.5986800408</c:v>
                </c:pt>
                <c:pt idx="38">
                  <c:v>7614761.0688625965</c:v>
                </c:pt>
                <c:pt idx="39">
                  <c:v>7919123.3486756179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0C-4536-AE05-F39C3FAAA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3362863"/>
        <c:axId val="400384399"/>
      </c:lineChart>
      <c:catAx>
        <c:axId val="10233628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0384399"/>
        <c:crosses val="autoZero"/>
        <c:auto val="1"/>
        <c:lblAlgn val="ctr"/>
        <c:lblOffset val="100"/>
        <c:noMultiLvlLbl val="0"/>
      </c:catAx>
      <c:valAx>
        <c:axId val="400384399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023362863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A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 b="1"/>
              <a:t>PIB PER CÁPITA</a:t>
            </a:r>
          </a:p>
        </c:rich>
      </c:tx>
      <c:layout>
        <c:manualLayout>
          <c:xMode val="edge"/>
          <c:yMode val="edge"/>
          <c:x val="1.4658333532404854E-2"/>
          <c:y val="6.4113961670142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1982632999689446E-2"/>
          <c:y val="6.679502210366675E-3"/>
          <c:w val="0.91923060844222548"/>
          <c:h val="0.96405564521522136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Hoja1!$A$17:$A$56</c:f>
              <c:numCache>
                <c:formatCode>General</c:formatCode>
                <c:ptCount val="40"/>
                <c:pt idx="0">
                  <c:v>1875</c:v>
                </c:pt>
                <c:pt idx="1">
                  <c:v>1876</c:v>
                </c:pt>
                <c:pt idx="2">
                  <c:v>1877</c:v>
                </c:pt>
                <c:pt idx="3">
                  <c:v>1878</c:v>
                </c:pt>
                <c:pt idx="4">
                  <c:v>1879</c:v>
                </c:pt>
                <c:pt idx="5">
                  <c:v>1880</c:v>
                </c:pt>
                <c:pt idx="6">
                  <c:v>1881</c:v>
                </c:pt>
                <c:pt idx="7">
                  <c:v>1882</c:v>
                </c:pt>
                <c:pt idx="8">
                  <c:v>1883</c:v>
                </c:pt>
                <c:pt idx="9">
                  <c:v>1884</c:v>
                </c:pt>
                <c:pt idx="10">
                  <c:v>1885</c:v>
                </c:pt>
                <c:pt idx="11">
                  <c:v>1886</c:v>
                </c:pt>
                <c:pt idx="12">
                  <c:v>1887</c:v>
                </c:pt>
                <c:pt idx="13">
                  <c:v>1888</c:v>
                </c:pt>
                <c:pt idx="14">
                  <c:v>1889</c:v>
                </c:pt>
                <c:pt idx="15">
                  <c:v>1890</c:v>
                </c:pt>
                <c:pt idx="16">
                  <c:v>1891</c:v>
                </c:pt>
                <c:pt idx="17">
                  <c:v>1892</c:v>
                </c:pt>
                <c:pt idx="18">
                  <c:v>1893</c:v>
                </c:pt>
                <c:pt idx="19">
                  <c:v>1894</c:v>
                </c:pt>
                <c:pt idx="20">
                  <c:v>1895</c:v>
                </c:pt>
                <c:pt idx="21">
                  <c:v>1896</c:v>
                </c:pt>
                <c:pt idx="22">
                  <c:v>1897</c:v>
                </c:pt>
                <c:pt idx="23">
                  <c:v>1898</c:v>
                </c:pt>
                <c:pt idx="24">
                  <c:v>1899</c:v>
                </c:pt>
                <c:pt idx="25">
                  <c:v>1900</c:v>
                </c:pt>
                <c:pt idx="26">
                  <c:v>1901</c:v>
                </c:pt>
                <c:pt idx="27">
                  <c:v>1902</c:v>
                </c:pt>
                <c:pt idx="28">
                  <c:v>1903</c:v>
                </c:pt>
                <c:pt idx="29">
                  <c:v>1904</c:v>
                </c:pt>
                <c:pt idx="30">
                  <c:v>1905</c:v>
                </c:pt>
                <c:pt idx="31">
                  <c:v>1906</c:v>
                </c:pt>
                <c:pt idx="32">
                  <c:v>1907</c:v>
                </c:pt>
                <c:pt idx="33">
                  <c:v>1908</c:v>
                </c:pt>
                <c:pt idx="34">
                  <c:v>1909</c:v>
                </c:pt>
                <c:pt idx="35">
                  <c:v>1910</c:v>
                </c:pt>
                <c:pt idx="36">
                  <c:v>1911</c:v>
                </c:pt>
                <c:pt idx="37">
                  <c:v>1912</c:v>
                </c:pt>
                <c:pt idx="38">
                  <c:v>1913</c:v>
                </c:pt>
                <c:pt idx="39">
                  <c:v>1914</c:v>
                </c:pt>
              </c:numCache>
            </c:numRef>
          </c:cat>
          <c:val>
            <c:numRef>
              <c:f>Hoja1!$B$17:$B$56</c:f>
              <c:numCache>
                <c:formatCode>#.##00\ \ </c:formatCode>
                <c:ptCount val="40"/>
                <c:pt idx="0">
                  <c:v>1416.8050829492638</c:v>
                </c:pt>
                <c:pt idx="1">
                  <c:v>1403.710670658998</c:v>
                </c:pt>
                <c:pt idx="2">
                  <c:v>1501.8540358666326</c:v>
                </c:pt>
                <c:pt idx="3">
                  <c:v>1383.6485909592852</c:v>
                </c:pt>
                <c:pt idx="4">
                  <c:v>1400.7533050903955</c:v>
                </c:pt>
                <c:pt idx="5">
                  <c:v>1332.591143688619</c:v>
                </c:pt>
                <c:pt idx="6">
                  <c:v>1313.2587058612335</c:v>
                </c:pt>
                <c:pt idx="7">
                  <c:v>1603.9714871979099</c:v>
                </c:pt>
                <c:pt idx="8">
                  <c:v>1744.0397071554073</c:v>
                </c:pt>
                <c:pt idx="9">
                  <c:v>1811.2804330541787</c:v>
                </c:pt>
                <c:pt idx="10">
                  <c:v>2060.1981151808391</c:v>
                </c:pt>
                <c:pt idx="11">
                  <c:v>2006.2070588272372</c:v>
                </c:pt>
                <c:pt idx="12">
                  <c:v>2078.0948092661592</c:v>
                </c:pt>
                <c:pt idx="13">
                  <c:v>2338.9176041734113</c:v>
                </c:pt>
                <c:pt idx="14">
                  <c:v>2488.4931197182732</c:v>
                </c:pt>
                <c:pt idx="15">
                  <c:v>2214.4860754751799</c:v>
                </c:pt>
                <c:pt idx="16">
                  <c:v>2032.6803798229244</c:v>
                </c:pt>
                <c:pt idx="17">
                  <c:v>2354.7592050084477</c:v>
                </c:pt>
                <c:pt idx="18">
                  <c:v>2419.5947821263894</c:v>
                </c:pt>
                <c:pt idx="19">
                  <c:v>2705.8295862173863</c:v>
                </c:pt>
                <c:pt idx="20">
                  <c:v>2909.6584605951616</c:v>
                </c:pt>
                <c:pt idx="21">
                  <c:v>3121.7728768737011</c:v>
                </c:pt>
                <c:pt idx="22">
                  <c:v>2458.7643611291414</c:v>
                </c:pt>
                <c:pt idx="23">
                  <c:v>2589.0069499095707</c:v>
                </c:pt>
                <c:pt idx="24">
                  <c:v>2957.3855418427079</c:v>
                </c:pt>
                <c:pt idx="25">
                  <c:v>2533.8626021196806</c:v>
                </c:pt>
                <c:pt idx="26">
                  <c:v>2672.3931062866695</c:v>
                </c:pt>
                <c:pt idx="27">
                  <c:v>2546.3702130503411</c:v>
                </c:pt>
                <c:pt idx="28">
                  <c:v>2830.4634304612346</c:v>
                </c:pt>
                <c:pt idx="29">
                  <c:v>3045.9962969153571</c:v>
                </c:pt>
                <c:pt idx="30">
                  <c:v>3355.2736418607374</c:v>
                </c:pt>
                <c:pt idx="31">
                  <c:v>3367.8087179953782</c:v>
                </c:pt>
                <c:pt idx="32">
                  <c:v>3286.3767316824333</c:v>
                </c:pt>
                <c:pt idx="33">
                  <c:v>3448.3582898288018</c:v>
                </c:pt>
                <c:pt idx="34">
                  <c:v>3458.0858381410335</c:v>
                </c:pt>
                <c:pt idx="35">
                  <c:v>3545.1473341025603</c:v>
                </c:pt>
                <c:pt idx="36">
                  <c:v>3470.176403934046</c:v>
                </c:pt>
                <c:pt idx="37">
                  <c:v>3609.3862817471881</c:v>
                </c:pt>
                <c:pt idx="38">
                  <c:v>3506.781955565405</c:v>
                </c:pt>
                <c:pt idx="39">
                  <c:v>3022.7904460660843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49-4152-956B-3FDB6F0067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3362863"/>
        <c:axId val="400384399"/>
      </c:lineChart>
      <c:catAx>
        <c:axId val="10233628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0384399"/>
        <c:crosses val="autoZero"/>
        <c:auto val="1"/>
        <c:lblAlgn val="ctr"/>
        <c:lblOffset val="100"/>
        <c:noMultiLvlLbl val="0"/>
      </c:catAx>
      <c:valAx>
        <c:axId val="400384399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023362863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 b="1"/>
              <a:t>CONSUMO</a:t>
            </a:r>
          </a:p>
        </c:rich>
      </c:tx>
      <c:layout>
        <c:manualLayout>
          <c:xMode val="edge"/>
          <c:yMode val="edge"/>
          <c:x val="2.7477843338668456E-2"/>
          <c:y val="2.4584709568920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9742355914234202E-2"/>
          <c:y val="4.1210361390391151E-2"/>
          <c:w val="0.91530828608450776"/>
          <c:h val="0.67333986667150614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Hoja1!$A$17:$A$56</c:f>
              <c:numCache>
                <c:formatCode>General</c:formatCode>
                <c:ptCount val="40"/>
                <c:pt idx="0">
                  <c:v>1875</c:v>
                </c:pt>
                <c:pt idx="1">
                  <c:v>1876</c:v>
                </c:pt>
                <c:pt idx="2">
                  <c:v>1877</c:v>
                </c:pt>
                <c:pt idx="3">
                  <c:v>1878</c:v>
                </c:pt>
                <c:pt idx="4">
                  <c:v>1879</c:v>
                </c:pt>
                <c:pt idx="5">
                  <c:v>1880</c:v>
                </c:pt>
                <c:pt idx="6">
                  <c:v>1881</c:v>
                </c:pt>
                <c:pt idx="7">
                  <c:v>1882</c:v>
                </c:pt>
                <c:pt idx="8">
                  <c:v>1883</c:v>
                </c:pt>
                <c:pt idx="9">
                  <c:v>1884</c:v>
                </c:pt>
                <c:pt idx="10">
                  <c:v>1885</c:v>
                </c:pt>
                <c:pt idx="11">
                  <c:v>1886</c:v>
                </c:pt>
                <c:pt idx="12">
                  <c:v>1887</c:v>
                </c:pt>
                <c:pt idx="13">
                  <c:v>1888</c:v>
                </c:pt>
                <c:pt idx="14">
                  <c:v>1889</c:v>
                </c:pt>
                <c:pt idx="15">
                  <c:v>1890</c:v>
                </c:pt>
                <c:pt idx="16">
                  <c:v>1891</c:v>
                </c:pt>
                <c:pt idx="17">
                  <c:v>1892</c:v>
                </c:pt>
                <c:pt idx="18">
                  <c:v>1893</c:v>
                </c:pt>
                <c:pt idx="19">
                  <c:v>1894</c:v>
                </c:pt>
                <c:pt idx="20">
                  <c:v>1895</c:v>
                </c:pt>
                <c:pt idx="21">
                  <c:v>1896</c:v>
                </c:pt>
                <c:pt idx="22">
                  <c:v>1897</c:v>
                </c:pt>
                <c:pt idx="23">
                  <c:v>1898</c:v>
                </c:pt>
                <c:pt idx="24">
                  <c:v>1899</c:v>
                </c:pt>
                <c:pt idx="25">
                  <c:v>1900</c:v>
                </c:pt>
                <c:pt idx="26">
                  <c:v>1901</c:v>
                </c:pt>
                <c:pt idx="27">
                  <c:v>1902</c:v>
                </c:pt>
                <c:pt idx="28">
                  <c:v>1903</c:v>
                </c:pt>
                <c:pt idx="29">
                  <c:v>1904</c:v>
                </c:pt>
                <c:pt idx="30">
                  <c:v>1905</c:v>
                </c:pt>
                <c:pt idx="31">
                  <c:v>1906</c:v>
                </c:pt>
                <c:pt idx="32">
                  <c:v>1907</c:v>
                </c:pt>
                <c:pt idx="33">
                  <c:v>1908</c:v>
                </c:pt>
                <c:pt idx="34">
                  <c:v>1909</c:v>
                </c:pt>
                <c:pt idx="35">
                  <c:v>1910</c:v>
                </c:pt>
                <c:pt idx="36">
                  <c:v>1911</c:v>
                </c:pt>
                <c:pt idx="37">
                  <c:v>1912</c:v>
                </c:pt>
                <c:pt idx="38">
                  <c:v>1913</c:v>
                </c:pt>
                <c:pt idx="39">
                  <c:v>1914</c:v>
                </c:pt>
              </c:numCache>
            </c:numRef>
          </c:cat>
          <c:val>
            <c:numRef>
              <c:f>Hoja1!$C$17:$C$56</c:f>
              <c:numCache>
                <c:formatCode>#.##00\ \ </c:formatCode>
                <c:ptCount val="40"/>
                <c:pt idx="0">
                  <c:v>2007.1690638642308</c:v>
                </c:pt>
                <c:pt idx="1">
                  <c:v>2277.2038252346783</c:v>
                </c:pt>
                <c:pt idx="2">
                  <c:v>2963.6214569754998</c:v>
                </c:pt>
                <c:pt idx="3">
                  <c:v>2825.1888677030602</c:v>
                </c:pt>
                <c:pt idx="4">
                  <c:v>2923.7496121168433</c:v>
                </c:pt>
                <c:pt idx="5">
                  <c:v>2669.1509004368895</c:v>
                </c:pt>
                <c:pt idx="6">
                  <c:v>3009.9466099211604</c:v>
                </c:pt>
                <c:pt idx="7">
                  <c:v>3267.0984164399229</c:v>
                </c:pt>
                <c:pt idx="8">
                  <c:v>3809.4026397450016</c:v>
                </c:pt>
                <c:pt idx="9">
                  <c:v>3846.2408461161467</c:v>
                </c:pt>
                <c:pt idx="10">
                  <c:v>3834.090920397467</c:v>
                </c:pt>
                <c:pt idx="11">
                  <c:v>4500.7927607784977</c:v>
                </c:pt>
                <c:pt idx="12">
                  <c:v>5506.1918706972228</c:v>
                </c:pt>
                <c:pt idx="13">
                  <c:v>5373.9282129681123</c:v>
                </c:pt>
                <c:pt idx="14">
                  <c:v>5112.1590434012805</c:v>
                </c:pt>
                <c:pt idx="15">
                  <c:v>5049.1791222663705</c:v>
                </c:pt>
                <c:pt idx="16">
                  <c:v>5527.6549171323941</c:v>
                </c:pt>
                <c:pt idx="17">
                  <c:v>6406.4498517605462</c:v>
                </c:pt>
                <c:pt idx="18">
                  <c:v>6470.5203895737077</c:v>
                </c:pt>
                <c:pt idx="19">
                  <c:v>8146.0606310485318</c:v>
                </c:pt>
                <c:pt idx="20">
                  <c:v>9844.9966271765625</c:v>
                </c:pt>
                <c:pt idx="21">
                  <c:v>8697.4646014086138</c:v>
                </c:pt>
                <c:pt idx="22">
                  <c:v>8608.5520538040309</c:v>
                </c:pt>
                <c:pt idx="23">
                  <c:v>8015.505627424036</c:v>
                </c:pt>
                <c:pt idx="24" formatCode="#.##0\ \ ">
                  <c:v>10300.239665265417</c:v>
                </c:pt>
                <c:pt idx="25">
                  <c:v>9392.4614361326439</c:v>
                </c:pt>
                <c:pt idx="26" formatCode="#.##0\ \ ">
                  <c:v>10202.531556664628</c:v>
                </c:pt>
                <c:pt idx="27">
                  <c:v>9713.2690083851485</c:v>
                </c:pt>
                <c:pt idx="28" formatCode="#.##0\ \ ">
                  <c:v>11204.849464021063</c:v>
                </c:pt>
                <c:pt idx="29" formatCode="#.##0\ \ ">
                  <c:v>12575.632019782648</c:v>
                </c:pt>
                <c:pt idx="30" formatCode="#.##0\ \ ">
                  <c:v>12542.429461126652</c:v>
                </c:pt>
                <c:pt idx="31" formatCode="#.##0\ \ ">
                  <c:v>13128.974541507125</c:v>
                </c:pt>
                <c:pt idx="32" formatCode="#.##0\ \ ">
                  <c:v>12004.499102450085</c:v>
                </c:pt>
                <c:pt idx="33" formatCode="#.##0\ \ ">
                  <c:v>14099.223114929924</c:v>
                </c:pt>
                <c:pt idx="34" formatCode="#.##0\ \ ">
                  <c:v>14871.479069420311</c:v>
                </c:pt>
                <c:pt idx="35" formatCode="#.##0\ \ ">
                  <c:v>15676.330042466878</c:v>
                </c:pt>
                <c:pt idx="36" formatCode="#.##0\ \ ">
                  <c:v>16726.856915273213</c:v>
                </c:pt>
                <c:pt idx="37" formatCode="#.##0\ \ ">
                  <c:v>19093.596931365464</c:v>
                </c:pt>
                <c:pt idx="38" formatCode="#.##0\ \ ">
                  <c:v>19599.634291160473</c:v>
                </c:pt>
                <c:pt idx="39" formatCode="#.##0\ \ ">
                  <c:v>18310.886058264718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0E-4E87-B385-6D0AB1771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3362863"/>
        <c:axId val="400384399"/>
      </c:lineChart>
      <c:catAx>
        <c:axId val="102336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00384399"/>
        <c:crosses val="autoZero"/>
        <c:auto val="1"/>
        <c:lblAlgn val="ctr"/>
        <c:lblOffset val="100"/>
        <c:noMultiLvlLbl val="0"/>
      </c:catAx>
      <c:valAx>
        <c:axId val="400384399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023362863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A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 b="1"/>
              <a:t>IBIF CONSTRUCCIÓN</a:t>
            </a:r>
          </a:p>
        </c:rich>
      </c:tx>
      <c:layout>
        <c:manualLayout>
          <c:xMode val="edge"/>
          <c:yMode val="edge"/>
          <c:x val="1.8376292969589827E-2"/>
          <c:y val="3.68770643533809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Hoja1!$A$17:$A$56</c:f>
              <c:numCache>
                <c:formatCode>General</c:formatCode>
                <c:ptCount val="40"/>
                <c:pt idx="0">
                  <c:v>1875</c:v>
                </c:pt>
                <c:pt idx="1">
                  <c:v>1876</c:v>
                </c:pt>
                <c:pt idx="2">
                  <c:v>1877</c:v>
                </c:pt>
                <c:pt idx="3">
                  <c:v>1878</c:v>
                </c:pt>
                <c:pt idx="4">
                  <c:v>1879</c:v>
                </c:pt>
                <c:pt idx="5">
                  <c:v>1880</c:v>
                </c:pt>
                <c:pt idx="6">
                  <c:v>1881</c:v>
                </c:pt>
                <c:pt idx="7">
                  <c:v>1882</c:v>
                </c:pt>
                <c:pt idx="8">
                  <c:v>1883</c:v>
                </c:pt>
                <c:pt idx="9">
                  <c:v>1884</c:v>
                </c:pt>
                <c:pt idx="10">
                  <c:v>1885</c:v>
                </c:pt>
                <c:pt idx="11">
                  <c:v>1886</c:v>
                </c:pt>
                <c:pt idx="12">
                  <c:v>1887</c:v>
                </c:pt>
                <c:pt idx="13">
                  <c:v>1888</c:v>
                </c:pt>
                <c:pt idx="14">
                  <c:v>1889</c:v>
                </c:pt>
                <c:pt idx="15">
                  <c:v>1890</c:v>
                </c:pt>
                <c:pt idx="16">
                  <c:v>1891</c:v>
                </c:pt>
                <c:pt idx="17">
                  <c:v>1892</c:v>
                </c:pt>
                <c:pt idx="18">
                  <c:v>1893</c:v>
                </c:pt>
                <c:pt idx="19">
                  <c:v>1894</c:v>
                </c:pt>
                <c:pt idx="20">
                  <c:v>1895</c:v>
                </c:pt>
                <c:pt idx="21">
                  <c:v>1896</c:v>
                </c:pt>
                <c:pt idx="22">
                  <c:v>1897</c:v>
                </c:pt>
                <c:pt idx="23">
                  <c:v>1898</c:v>
                </c:pt>
                <c:pt idx="24">
                  <c:v>1899</c:v>
                </c:pt>
                <c:pt idx="25">
                  <c:v>1900</c:v>
                </c:pt>
                <c:pt idx="26">
                  <c:v>1901</c:v>
                </c:pt>
                <c:pt idx="27">
                  <c:v>1902</c:v>
                </c:pt>
                <c:pt idx="28">
                  <c:v>1903</c:v>
                </c:pt>
                <c:pt idx="29">
                  <c:v>1904</c:v>
                </c:pt>
                <c:pt idx="30">
                  <c:v>1905</c:v>
                </c:pt>
                <c:pt idx="31">
                  <c:v>1906</c:v>
                </c:pt>
                <c:pt idx="32">
                  <c:v>1907</c:v>
                </c:pt>
                <c:pt idx="33">
                  <c:v>1908</c:v>
                </c:pt>
                <c:pt idx="34">
                  <c:v>1909</c:v>
                </c:pt>
                <c:pt idx="35">
                  <c:v>1910</c:v>
                </c:pt>
                <c:pt idx="36">
                  <c:v>1911</c:v>
                </c:pt>
                <c:pt idx="37">
                  <c:v>1912</c:v>
                </c:pt>
                <c:pt idx="38">
                  <c:v>1913</c:v>
                </c:pt>
                <c:pt idx="39">
                  <c:v>1914</c:v>
                </c:pt>
              </c:numCache>
            </c:numRef>
          </c:cat>
          <c:val>
            <c:numRef>
              <c:f>Hoja1!$E$17:$E$56</c:f>
              <c:numCache>
                <c:formatCode>#.##000\ \ </c:formatCode>
                <c:ptCount val="40"/>
                <c:pt idx="0" formatCode="#.##00\ \ ">
                  <c:v>1470.9171187927325</c:v>
                </c:pt>
                <c:pt idx="1">
                  <c:v>888.19120544236796</c:v>
                </c:pt>
                <c:pt idx="2">
                  <c:v>708.4627102199106</c:v>
                </c:pt>
                <c:pt idx="3">
                  <c:v>705.99170820350651</c:v>
                </c:pt>
                <c:pt idx="4">
                  <c:v>686.30025953886081</c:v>
                </c:pt>
                <c:pt idx="5">
                  <c:v>805.11925033199122</c:v>
                </c:pt>
                <c:pt idx="6">
                  <c:v>579.68586023903367</c:v>
                </c:pt>
                <c:pt idx="7" formatCode="#.##00\ \ ">
                  <c:v>1159.3717204780673</c:v>
                </c:pt>
                <c:pt idx="8" formatCode="#.##00\ \ ">
                  <c:v>1561.9313456440632</c:v>
                </c:pt>
                <c:pt idx="9" formatCode="#.##00\ \ ">
                  <c:v>1964.4909708100588</c:v>
                </c:pt>
                <c:pt idx="10" formatCode="#.##00\ \ ">
                  <c:v>2914.5316862018085</c:v>
                </c:pt>
                <c:pt idx="11" formatCode="#.##00\ \ ">
                  <c:v>2318.7434409561347</c:v>
                </c:pt>
                <c:pt idx="12" formatCode="#.##00\ \ ">
                  <c:v>2157.7195908897365</c:v>
                </c:pt>
                <c:pt idx="13" formatCode="#.##00\ \ ">
                  <c:v>3397.603236401003</c:v>
                </c:pt>
                <c:pt idx="14" formatCode="#.##00\ \ ">
                  <c:v>5152.7632021247437</c:v>
                </c:pt>
                <c:pt idx="15" formatCode="#.##00\ \ ">
                  <c:v>3623.0366264939598</c:v>
                </c:pt>
                <c:pt idx="16" formatCode="#.##00\ \ ">
                  <c:v>1513.624190624143</c:v>
                </c:pt>
                <c:pt idx="17" formatCode="#.##00\ \ ">
                  <c:v>2737.4054511287691</c:v>
                </c:pt>
                <c:pt idx="18" formatCode="#.##00\ \ ">
                  <c:v>3268.7841563478828</c:v>
                </c:pt>
                <c:pt idx="19" formatCode="#.##00\ \ ">
                  <c:v>2721.3030661221296</c:v>
                </c:pt>
                <c:pt idx="20" formatCode="#.##00\ \ ">
                  <c:v>1755.1599657237405</c:v>
                </c:pt>
                <c:pt idx="21" formatCode="#.##00\ \ ">
                  <c:v>5072.2512770915428</c:v>
                </c:pt>
                <c:pt idx="22" formatCode="#.##00\ \ ">
                  <c:v>2383.1529809826934</c:v>
                </c:pt>
                <c:pt idx="23" formatCode="#.##00\ \ ">
                  <c:v>3832.3676315802768</c:v>
                </c:pt>
                <c:pt idx="24" formatCode="#.##00\ \ ">
                  <c:v>2930.6340712084466</c:v>
                </c:pt>
                <c:pt idx="25" formatCode="#.##00\ \ ">
                  <c:v>2286.538670942854</c:v>
                </c:pt>
                <c:pt idx="26" formatCode="#.##00\ \ ">
                  <c:v>2473.8639076816439</c:v>
                </c:pt>
                <c:pt idx="27" formatCode="#.##00\ \ ">
                  <c:v>2264.2937990801229</c:v>
                </c:pt>
                <c:pt idx="28" formatCode="#.##00\ \ ">
                  <c:v>2320.4913701017595</c:v>
                </c:pt>
                <c:pt idx="29" formatCode="#.##00\ \ ">
                  <c:v>3182.1874591001929</c:v>
                </c:pt>
                <c:pt idx="30" formatCode="#.##00\ \ ">
                  <c:v>5577.6089238974682</c:v>
                </c:pt>
                <c:pt idx="31" formatCode="#.##00\ \ ">
                  <c:v>6387.7905727927346</c:v>
                </c:pt>
                <c:pt idx="32" formatCode="#.##00\ \ ">
                  <c:v>8211.8700655367011</c:v>
                </c:pt>
                <c:pt idx="33" formatCode="#.##00\ \ ">
                  <c:v>7147.6285643144511</c:v>
                </c:pt>
                <c:pt idx="34" formatCode="#.##00\ \ ">
                  <c:v>7985.9089987205361</c:v>
                </c:pt>
                <c:pt idx="35" formatCode="#.##00\ \ ">
                  <c:v>9650.7620402365301</c:v>
                </c:pt>
                <c:pt idx="36" formatCode="#.##00\ \ ">
                  <c:v>9431.8256697980705</c:v>
                </c:pt>
                <c:pt idx="37" formatCode="#.##00\ \ ">
                  <c:v>6840.883489154683</c:v>
                </c:pt>
                <c:pt idx="38" formatCode="#.##00\ \ ">
                  <c:v>6742.5377398668188</c:v>
                </c:pt>
                <c:pt idx="39" formatCode="#.##00\ \ ">
                  <c:v>4048.5666790170972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16-4854-B64E-90DD3D3B2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3362863"/>
        <c:axId val="400384399"/>
      </c:lineChart>
      <c:catAx>
        <c:axId val="102336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00384399"/>
        <c:crosses val="autoZero"/>
        <c:auto val="1"/>
        <c:lblAlgn val="ctr"/>
        <c:lblOffset val="100"/>
        <c:noMultiLvlLbl val="0"/>
      </c:catAx>
      <c:valAx>
        <c:axId val="400384399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023362863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A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 b="1"/>
              <a:t>IBIF EQUIPO</a:t>
            </a:r>
          </a:p>
        </c:rich>
      </c:tx>
      <c:layout>
        <c:manualLayout>
          <c:xMode val="edge"/>
          <c:yMode val="edge"/>
          <c:x val="2.1391032225699342E-2"/>
          <c:y val="7.42276498792804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Hoja1!$A$17:$A$56</c:f>
              <c:numCache>
                <c:formatCode>General</c:formatCode>
                <c:ptCount val="40"/>
                <c:pt idx="0">
                  <c:v>1875</c:v>
                </c:pt>
                <c:pt idx="1">
                  <c:v>1876</c:v>
                </c:pt>
                <c:pt idx="2">
                  <c:v>1877</c:v>
                </c:pt>
                <c:pt idx="3">
                  <c:v>1878</c:v>
                </c:pt>
                <c:pt idx="4">
                  <c:v>1879</c:v>
                </c:pt>
                <c:pt idx="5">
                  <c:v>1880</c:v>
                </c:pt>
                <c:pt idx="6">
                  <c:v>1881</c:v>
                </c:pt>
                <c:pt idx="7">
                  <c:v>1882</c:v>
                </c:pt>
                <c:pt idx="8">
                  <c:v>1883</c:v>
                </c:pt>
                <c:pt idx="9">
                  <c:v>1884</c:v>
                </c:pt>
                <c:pt idx="10">
                  <c:v>1885</c:v>
                </c:pt>
                <c:pt idx="11">
                  <c:v>1886</c:v>
                </c:pt>
                <c:pt idx="12">
                  <c:v>1887</c:v>
                </c:pt>
                <c:pt idx="13">
                  <c:v>1888</c:v>
                </c:pt>
                <c:pt idx="14">
                  <c:v>1889</c:v>
                </c:pt>
                <c:pt idx="15">
                  <c:v>1890</c:v>
                </c:pt>
                <c:pt idx="16">
                  <c:v>1891</c:v>
                </c:pt>
                <c:pt idx="17">
                  <c:v>1892</c:v>
                </c:pt>
                <c:pt idx="18">
                  <c:v>1893</c:v>
                </c:pt>
                <c:pt idx="19">
                  <c:v>1894</c:v>
                </c:pt>
                <c:pt idx="20">
                  <c:v>1895</c:v>
                </c:pt>
                <c:pt idx="21">
                  <c:v>1896</c:v>
                </c:pt>
                <c:pt idx="22">
                  <c:v>1897</c:v>
                </c:pt>
                <c:pt idx="23">
                  <c:v>1898</c:v>
                </c:pt>
                <c:pt idx="24">
                  <c:v>1899</c:v>
                </c:pt>
                <c:pt idx="25">
                  <c:v>1900</c:v>
                </c:pt>
                <c:pt idx="26">
                  <c:v>1901</c:v>
                </c:pt>
                <c:pt idx="27">
                  <c:v>1902</c:v>
                </c:pt>
                <c:pt idx="28">
                  <c:v>1903</c:v>
                </c:pt>
                <c:pt idx="29">
                  <c:v>1904</c:v>
                </c:pt>
                <c:pt idx="30">
                  <c:v>1905</c:v>
                </c:pt>
                <c:pt idx="31">
                  <c:v>1906</c:v>
                </c:pt>
                <c:pt idx="32">
                  <c:v>1907</c:v>
                </c:pt>
                <c:pt idx="33">
                  <c:v>1908</c:v>
                </c:pt>
                <c:pt idx="34">
                  <c:v>1909</c:v>
                </c:pt>
                <c:pt idx="35">
                  <c:v>1910</c:v>
                </c:pt>
                <c:pt idx="36">
                  <c:v>1911</c:v>
                </c:pt>
                <c:pt idx="37">
                  <c:v>1912</c:v>
                </c:pt>
                <c:pt idx="38">
                  <c:v>1913</c:v>
                </c:pt>
                <c:pt idx="39">
                  <c:v>1914</c:v>
                </c:pt>
              </c:numCache>
            </c:numRef>
          </c:cat>
          <c:val>
            <c:numRef>
              <c:f>Hoja1!$E$17:$E$56</c:f>
              <c:numCache>
                <c:formatCode>#.##000\ \ </c:formatCode>
                <c:ptCount val="40"/>
                <c:pt idx="0" formatCode="#.##00\ \ ">
                  <c:v>1470.9171187927325</c:v>
                </c:pt>
                <c:pt idx="1">
                  <c:v>888.19120544236796</c:v>
                </c:pt>
                <c:pt idx="2">
                  <c:v>708.4627102199106</c:v>
                </c:pt>
                <c:pt idx="3">
                  <c:v>705.99170820350651</c:v>
                </c:pt>
                <c:pt idx="4">
                  <c:v>686.30025953886081</c:v>
                </c:pt>
                <c:pt idx="5">
                  <c:v>805.11925033199122</c:v>
                </c:pt>
                <c:pt idx="6">
                  <c:v>579.68586023903367</c:v>
                </c:pt>
                <c:pt idx="7" formatCode="#.##00\ \ ">
                  <c:v>1159.3717204780673</c:v>
                </c:pt>
                <c:pt idx="8" formatCode="#.##00\ \ ">
                  <c:v>1561.9313456440632</c:v>
                </c:pt>
                <c:pt idx="9" formatCode="#.##00\ \ ">
                  <c:v>1964.4909708100588</c:v>
                </c:pt>
                <c:pt idx="10" formatCode="#.##00\ \ ">
                  <c:v>2914.5316862018085</c:v>
                </c:pt>
                <c:pt idx="11" formatCode="#.##00\ \ ">
                  <c:v>2318.7434409561347</c:v>
                </c:pt>
                <c:pt idx="12" formatCode="#.##00\ \ ">
                  <c:v>2157.7195908897365</c:v>
                </c:pt>
                <c:pt idx="13" formatCode="#.##00\ \ ">
                  <c:v>3397.603236401003</c:v>
                </c:pt>
                <c:pt idx="14" formatCode="#.##00\ \ ">
                  <c:v>5152.7632021247437</c:v>
                </c:pt>
                <c:pt idx="15" formatCode="#.##00\ \ ">
                  <c:v>3623.0366264939598</c:v>
                </c:pt>
                <c:pt idx="16" formatCode="#.##00\ \ ">
                  <c:v>1513.624190624143</c:v>
                </c:pt>
                <c:pt idx="17" formatCode="#.##00\ \ ">
                  <c:v>2737.4054511287691</c:v>
                </c:pt>
                <c:pt idx="18" formatCode="#.##00\ \ ">
                  <c:v>3268.7841563478828</c:v>
                </c:pt>
                <c:pt idx="19" formatCode="#.##00\ \ ">
                  <c:v>2721.3030661221296</c:v>
                </c:pt>
                <c:pt idx="20" formatCode="#.##00\ \ ">
                  <c:v>1755.1599657237405</c:v>
                </c:pt>
                <c:pt idx="21" formatCode="#.##00\ \ ">
                  <c:v>5072.2512770915428</c:v>
                </c:pt>
                <c:pt idx="22" formatCode="#.##00\ \ ">
                  <c:v>2383.1529809826934</c:v>
                </c:pt>
                <c:pt idx="23" formatCode="#.##00\ \ ">
                  <c:v>3832.3676315802768</c:v>
                </c:pt>
                <c:pt idx="24" formatCode="#.##00\ \ ">
                  <c:v>2930.6340712084466</c:v>
                </c:pt>
                <c:pt idx="25" formatCode="#.##00\ \ ">
                  <c:v>2286.538670942854</c:v>
                </c:pt>
                <c:pt idx="26" formatCode="#.##00\ \ ">
                  <c:v>2473.8639076816439</c:v>
                </c:pt>
                <c:pt idx="27" formatCode="#.##00\ \ ">
                  <c:v>2264.2937990801229</c:v>
                </c:pt>
                <c:pt idx="28" formatCode="#.##00\ \ ">
                  <c:v>2320.4913701017595</c:v>
                </c:pt>
                <c:pt idx="29" formatCode="#.##00\ \ ">
                  <c:v>3182.1874591001929</c:v>
                </c:pt>
                <c:pt idx="30" formatCode="#.##00\ \ ">
                  <c:v>5577.6089238974682</c:v>
                </c:pt>
                <c:pt idx="31" formatCode="#.##00\ \ ">
                  <c:v>6387.7905727927346</c:v>
                </c:pt>
                <c:pt idx="32" formatCode="#.##00\ \ ">
                  <c:v>8211.8700655367011</c:v>
                </c:pt>
                <c:pt idx="33" formatCode="#.##00\ \ ">
                  <c:v>7147.6285643144511</c:v>
                </c:pt>
                <c:pt idx="34" formatCode="#.##00\ \ ">
                  <c:v>7985.9089987205361</c:v>
                </c:pt>
                <c:pt idx="35" formatCode="#.##00\ \ ">
                  <c:v>9650.7620402365301</c:v>
                </c:pt>
                <c:pt idx="36" formatCode="#.##00\ \ ">
                  <c:v>9431.8256697980705</c:v>
                </c:pt>
                <c:pt idx="37" formatCode="#.##00\ \ ">
                  <c:v>6840.883489154683</c:v>
                </c:pt>
                <c:pt idx="38" formatCode="#.##00\ \ ">
                  <c:v>6742.5377398668188</c:v>
                </c:pt>
                <c:pt idx="39" formatCode="#.##00\ \ ">
                  <c:v>4048.5666790170972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B0-4B50-B206-069A05FED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3362863"/>
        <c:axId val="400384399"/>
      </c:lineChart>
      <c:catAx>
        <c:axId val="102336286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00384399"/>
        <c:crosses val="autoZero"/>
        <c:auto val="1"/>
        <c:lblAlgn val="ctr"/>
        <c:lblOffset val="100"/>
        <c:noMultiLvlLbl val="0"/>
      </c:catAx>
      <c:valAx>
        <c:axId val="400384399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023362863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A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0.52392</cdr:x>
      <cdr:y>0.25374</cdr:y>
    </cdr:from>
    <cdr:to>
      <cdr:x>0.64999</cdr:x>
      <cdr:y>0.38454</cdr:y>
    </cdr:to>
    <cdr:cxnSp macro="">
      <cdr:nvCxnSpPr>
        <cdr:cNvPr id="3" name="Conector recto de flecha 2">
          <a:extLst xmlns:a="http://schemas.openxmlformats.org/drawingml/2006/main">
            <a:ext uri="{FF2B5EF4-FFF2-40B4-BE49-F238E27FC236}">
              <a16:creationId xmlns:a16="http://schemas.microsoft.com/office/drawing/2014/main" id="{C6AA0892-9A01-4558-A21F-F80963305DDF}"/>
            </a:ext>
          </a:extLst>
        </cdr:cNvPr>
        <cdr:cNvCxnSpPr/>
      </cdr:nvCxnSpPr>
      <cdr:spPr>
        <a:xfrm xmlns:a="http://schemas.openxmlformats.org/drawingml/2006/main" flipV="1">
          <a:off x="4788024" y="1396883"/>
          <a:ext cx="1152128" cy="720082"/>
        </a:xfrm>
        <a:prstGeom xmlns:a="http://schemas.openxmlformats.org/drawingml/2006/main" prst="straightConnector1">
          <a:avLst/>
        </a:prstGeom>
        <a:ln xmlns:a="http://schemas.openxmlformats.org/drawingml/2006/main" w="38100">
          <a:solidFill>
            <a:schemeClr val="accent1">
              <a:lumMod val="75000"/>
            </a:schemeClr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0.57119</cdr:x>
      <cdr:y>0.2674</cdr:y>
    </cdr:from>
    <cdr:to>
      <cdr:x>0.68151</cdr:x>
      <cdr:y>0.39305</cdr:y>
    </cdr:to>
    <cdr:cxnSp macro="">
      <cdr:nvCxnSpPr>
        <cdr:cNvPr id="6" name="Conector recto de flecha 5">
          <a:extLst xmlns:a="http://schemas.openxmlformats.org/drawingml/2006/main">
            <a:ext uri="{FF2B5EF4-FFF2-40B4-BE49-F238E27FC236}">
              <a16:creationId xmlns:a16="http://schemas.microsoft.com/office/drawing/2014/main" id="{12D3531F-7D3D-4BCC-975A-D82C1E80AEAA}"/>
            </a:ext>
          </a:extLst>
        </cdr:cNvPr>
        <cdr:cNvCxnSpPr/>
      </cdr:nvCxnSpPr>
      <cdr:spPr>
        <a:xfrm xmlns:a="http://schemas.openxmlformats.org/drawingml/2006/main" flipV="1">
          <a:off x="5220072" y="1472097"/>
          <a:ext cx="1008112" cy="691724"/>
        </a:xfrm>
        <a:prstGeom xmlns:a="http://schemas.openxmlformats.org/drawingml/2006/main" prst="straightConnector1">
          <a:avLst/>
        </a:prstGeom>
        <a:ln xmlns:a="http://schemas.openxmlformats.org/drawingml/2006/main" w="38100">
          <a:solidFill>
            <a:schemeClr val="accent1">
              <a:lumMod val="50000"/>
            </a:schemeClr>
          </a:solidFill>
          <a:prstDash val="sysDash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0.38017</cdr:x>
      <cdr:y>0.36465</cdr:y>
    </cdr:from>
    <cdr:to>
      <cdr:x>0.49587</cdr:x>
      <cdr:y>0.54273</cdr:y>
    </cdr:to>
    <cdr:sp macro="" textlink="">
      <cdr:nvSpPr>
        <cdr:cNvPr id="2" name="Flecha: hacia la izquierda 1">
          <a:extLst xmlns:a="http://schemas.openxmlformats.org/drawingml/2006/main">
            <a:ext uri="{FF2B5EF4-FFF2-40B4-BE49-F238E27FC236}">
              <a16:creationId xmlns:a16="http://schemas.microsoft.com/office/drawing/2014/main" id="{7C1BC53C-7D7B-49EB-8491-87BDED6E7BD4}"/>
            </a:ext>
          </a:extLst>
        </cdr:cNvPr>
        <cdr:cNvSpPr/>
      </cdr:nvSpPr>
      <cdr:spPr>
        <a:xfrm xmlns:a="http://schemas.openxmlformats.org/drawingml/2006/main">
          <a:off x="3312368" y="1916832"/>
          <a:ext cx="1008112" cy="936092"/>
        </a:xfrm>
        <a:prstGeom xmlns:a="http://schemas.openxmlformats.org/drawingml/2006/main" prst="leftArrow">
          <a:avLst/>
        </a:prstGeom>
        <a:solidFill xmlns:a="http://schemas.openxmlformats.org/drawingml/2006/main">
          <a:schemeClr val="accent1">
            <a:lumMod val="7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/>
        <a:p xmlns:a="http://schemas.openxmlformats.org/drawingml/2006/main">
          <a:pPr marL="0" algn="ctr" defTabSz="914400" rtl="0" eaLnBrk="1" latinLnBrk="0" hangingPunct="1"/>
          <a:r>
            <a:rPr lang="es-AR" sz="1600" b="1" kern="12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Techo</a:t>
          </a:r>
          <a:endParaRPr lang="es-ES" sz="1600" b="1" kern="1200" dirty="0">
            <a:solidFill>
              <a:schemeClr val="accent1">
                <a:lumMod val="20000"/>
                <a:lumOff val="80000"/>
              </a:scheme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0.59959</cdr:x>
      <cdr:y>0.23287</cdr:y>
    </cdr:from>
    <cdr:to>
      <cdr:x>0.89711</cdr:x>
      <cdr:y>0.50685</cdr:y>
    </cdr:to>
    <cdr:sp macro="" textlink="">
      <cdr:nvSpPr>
        <cdr:cNvPr id="3" name="Flecha: hacia la izquierda 2">
          <a:extLst xmlns:a="http://schemas.openxmlformats.org/drawingml/2006/main">
            <a:ext uri="{FF2B5EF4-FFF2-40B4-BE49-F238E27FC236}">
              <a16:creationId xmlns:a16="http://schemas.microsoft.com/office/drawing/2014/main" id="{E7241C04-EF56-476E-AF7C-AA3D30964751}"/>
            </a:ext>
          </a:extLst>
        </cdr:cNvPr>
        <cdr:cNvSpPr/>
      </cdr:nvSpPr>
      <cdr:spPr>
        <a:xfrm xmlns:a="http://schemas.openxmlformats.org/drawingml/2006/main" rot="19639231">
          <a:off x="5224195" y="1224117"/>
          <a:ext cx="2592283" cy="1440198"/>
        </a:xfrm>
        <a:prstGeom xmlns:a="http://schemas.openxmlformats.org/drawingml/2006/main" prst="leftArrow">
          <a:avLst/>
        </a:prstGeom>
        <a:solidFill xmlns:a="http://schemas.openxmlformats.org/drawingml/2006/main">
          <a:schemeClr val="accent1">
            <a:lumMod val="7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AR" sz="1800" b="1" dirty="0">
              <a:solidFill>
                <a:schemeClr val="accent1">
                  <a:lumMod val="20000"/>
                  <a:lumOff val="80000"/>
                </a:schemeClr>
              </a:solidFill>
            </a:rPr>
            <a:t>Cabio en el patrón de desarrollo</a:t>
          </a:r>
          <a:endParaRPr lang="es-ES" sz="1800" b="1" dirty="0">
            <a:solidFill>
              <a:schemeClr val="accent1">
                <a:lumMod val="20000"/>
                <a:lumOff val="80000"/>
              </a:schemeClr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882BB-FDBF-44B9-82B3-701E86BD8444}" type="datetimeFigureOut">
              <a:rPr lang="es-AR" smtClean="0"/>
              <a:pPr/>
              <a:t>13/4/2020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67253-326E-44EF-BF2D-6C10FC886F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3.svg"/><Relationship Id="rId21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microsoft.com/office/2007/relationships/hdphoto" Target="../media/hdphoto1.wdp"/><Relationship Id="rId25" Type="http://schemas.openxmlformats.org/officeDocument/2006/relationships/image" Target="../media/image24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10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18" Type="http://schemas.openxmlformats.org/officeDocument/2006/relationships/image" Target="../media/image43.svg"/><Relationship Id="rId3" Type="http://schemas.openxmlformats.org/officeDocument/2006/relationships/image" Target="../media/image32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17" Type="http://schemas.openxmlformats.org/officeDocument/2006/relationships/image" Target="../media/image42.png"/><Relationship Id="rId2" Type="http://schemas.openxmlformats.org/officeDocument/2006/relationships/image" Target="../media/image31.pn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24.svg"/><Relationship Id="rId15" Type="http://schemas.openxmlformats.org/officeDocument/2006/relationships/image" Target="../media/image21.png"/><Relationship Id="rId10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36.svg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microsoft.com/office/2007/relationships/hdphoto" Target="../media/hdphoto3.wdp"/><Relationship Id="rId4" Type="http://schemas.openxmlformats.org/officeDocument/2006/relationships/image" Target="../media/image55.png"/><Relationship Id="rId9" Type="http://schemas.openxmlformats.org/officeDocument/2006/relationships/image" Target="../media/image5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sv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0.png"/><Relationship Id="rId18" Type="http://schemas.openxmlformats.org/officeDocument/2006/relationships/image" Target="../media/image77.svg"/><Relationship Id="rId3" Type="http://schemas.openxmlformats.org/officeDocument/2006/relationships/chart" Target="../charts/chart11.xml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" Type="http://schemas.openxmlformats.org/officeDocument/2006/relationships/chart" Target="../charts/chart10.xml"/><Relationship Id="rId16" Type="http://schemas.openxmlformats.org/officeDocument/2006/relationships/image" Target="../media/image75.sv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11" Type="http://schemas.openxmlformats.org/officeDocument/2006/relationships/image" Target="../media/image72.png"/><Relationship Id="rId5" Type="http://schemas.openxmlformats.org/officeDocument/2006/relationships/chart" Target="../charts/chart13.xml"/><Relationship Id="rId15" Type="http://schemas.openxmlformats.org/officeDocument/2006/relationships/image" Target="../media/image74.png"/><Relationship Id="rId10" Type="http://schemas.openxmlformats.org/officeDocument/2006/relationships/image" Target="../media/image71.svg"/><Relationship Id="rId4" Type="http://schemas.openxmlformats.org/officeDocument/2006/relationships/chart" Target="../charts/chart12.xml"/><Relationship Id="rId9" Type="http://schemas.openxmlformats.org/officeDocument/2006/relationships/image" Target="../media/image70.png"/><Relationship Id="rId14" Type="http://schemas.openxmlformats.org/officeDocument/2006/relationships/image" Target="../media/image11.sv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323528" y="2564904"/>
            <a:ext cx="8496944" cy="1872208"/>
          </a:xfrm>
          <a:prstGeom prst="roundRect">
            <a:avLst>
              <a:gd name="adj" fmla="val 1242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Lucas Tossolini</a:t>
            </a:r>
          </a:p>
          <a:p>
            <a:pPr algn="ctr"/>
            <a:r>
              <a:rPr lang="es-AR"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lucatoss@gmail</a:t>
            </a:r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.com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</p:spTree>
    <p:extLst>
      <p:ext uri="{BB962C8B-B14F-4D97-AF65-F5344CB8AC3E}">
        <p14:creationId xmlns:p14="http://schemas.microsoft.com/office/powerpoint/2010/main" val="382422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¿PRÁCTICOS EN HISTORIA?</a:t>
            </a:r>
          </a:p>
        </p:txBody>
      </p:sp>
      <p:sp>
        <p:nvSpPr>
          <p:cNvPr id="7" name="5 Rectángulo redondeado">
            <a:extLst>
              <a:ext uri="{FF2B5EF4-FFF2-40B4-BE49-F238E27FC236}">
                <a16:creationId xmlns:a16="http://schemas.microsoft.com/office/drawing/2014/main" id="{53F9DD09-2AC6-45FC-B665-8FC1C7B662A6}"/>
              </a:ext>
            </a:extLst>
          </p:cNvPr>
          <p:cNvSpPr/>
          <p:nvPr/>
        </p:nvSpPr>
        <p:spPr>
          <a:xfrm>
            <a:off x="176268" y="589316"/>
            <a:ext cx="8820472" cy="6165304"/>
          </a:xfrm>
          <a:prstGeom prst="roundRect">
            <a:avLst>
              <a:gd name="adj" fmla="val 29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Acercamiento a la metodología de la </a:t>
            </a:r>
          </a:p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económica.</a:t>
            </a:r>
          </a:p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Reforzar el abordaje teórico con datos, documentos, y otros materiales.</a:t>
            </a: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 en profundidad de temas específicos</a:t>
            </a:r>
          </a:p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Normalmente ante alguna necesidad particular</a:t>
            </a: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comparaciones y discusiones</a:t>
            </a: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o trabajos adicionales</a:t>
            </a:r>
          </a:p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nos de el tiempo</a:t>
            </a:r>
          </a:p>
        </p:txBody>
      </p:sp>
    </p:spTree>
    <p:extLst>
      <p:ext uri="{BB962C8B-B14F-4D97-AF65-F5344CB8AC3E}">
        <p14:creationId xmlns:p14="http://schemas.microsoft.com/office/powerpoint/2010/main" val="170569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 DE NUESTRAS CLASES</a:t>
            </a:r>
          </a:p>
        </p:txBody>
      </p:sp>
      <p:sp>
        <p:nvSpPr>
          <p:cNvPr id="7" name="5 Rectángulo redondeado">
            <a:extLst>
              <a:ext uri="{FF2B5EF4-FFF2-40B4-BE49-F238E27FC236}">
                <a16:creationId xmlns:a16="http://schemas.microsoft.com/office/drawing/2014/main" id="{53F9DD09-2AC6-45FC-B665-8FC1C7B662A6}"/>
              </a:ext>
            </a:extLst>
          </p:cNvPr>
          <p:cNvSpPr/>
          <p:nvPr/>
        </p:nvSpPr>
        <p:spPr>
          <a:xfrm>
            <a:off x="3203847" y="1772816"/>
            <a:ext cx="2736304" cy="864096"/>
          </a:xfrm>
          <a:prstGeom prst="roundRect">
            <a:avLst>
              <a:gd name="adj" fmla="val 1833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TESIS</a:t>
            </a: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>
            <a:extLst>
              <a:ext uri="{FF2B5EF4-FFF2-40B4-BE49-F238E27FC236}">
                <a16:creationId xmlns:a16="http://schemas.microsoft.com/office/drawing/2014/main" id="{749C6B86-8D25-476C-86B2-568B093A8E5F}"/>
              </a:ext>
            </a:extLst>
          </p:cNvPr>
          <p:cNvSpPr/>
          <p:nvPr/>
        </p:nvSpPr>
        <p:spPr>
          <a:xfrm>
            <a:off x="2376398" y="3429000"/>
            <a:ext cx="4391203" cy="1080120"/>
          </a:xfrm>
          <a:prstGeom prst="roundRect">
            <a:avLst>
              <a:gd name="adj" fmla="val 189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DOCUMENTOS</a:t>
            </a:r>
          </a:p>
        </p:txBody>
      </p:sp>
      <p:sp>
        <p:nvSpPr>
          <p:cNvPr id="8" name="5 Rectángulo redondeado">
            <a:extLst>
              <a:ext uri="{FF2B5EF4-FFF2-40B4-BE49-F238E27FC236}">
                <a16:creationId xmlns:a16="http://schemas.microsoft.com/office/drawing/2014/main" id="{BF1946EB-445F-4323-9D83-738474045C95}"/>
              </a:ext>
            </a:extLst>
          </p:cNvPr>
          <p:cNvSpPr/>
          <p:nvPr/>
        </p:nvSpPr>
        <p:spPr>
          <a:xfrm>
            <a:off x="1475656" y="867678"/>
            <a:ext cx="2016224" cy="504056"/>
          </a:xfrm>
          <a:prstGeom prst="roundRect">
            <a:avLst>
              <a:gd name="adj" fmla="val 1833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5 Rectángulo redondeado">
            <a:extLst>
              <a:ext uri="{FF2B5EF4-FFF2-40B4-BE49-F238E27FC236}">
                <a16:creationId xmlns:a16="http://schemas.microsoft.com/office/drawing/2014/main" id="{DECD1927-A8B4-4BF8-84BB-1362EC348E35}"/>
              </a:ext>
            </a:extLst>
          </p:cNvPr>
          <p:cNvSpPr/>
          <p:nvPr/>
        </p:nvSpPr>
        <p:spPr>
          <a:xfrm>
            <a:off x="5246576" y="867677"/>
            <a:ext cx="2808313" cy="504055"/>
          </a:xfrm>
          <a:prstGeom prst="roundRect">
            <a:avLst>
              <a:gd name="adj" fmla="val 1833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ECONÓMICA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: angular 2">
            <a:extLst>
              <a:ext uri="{FF2B5EF4-FFF2-40B4-BE49-F238E27FC236}">
                <a16:creationId xmlns:a16="http://schemas.microsoft.com/office/drawing/2014/main" id="{12FDBBDC-A682-49B0-8197-D2FEAB346DD3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rot="16200000" flipH="1">
            <a:off x="2427242" y="1428259"/>
            <a:ext cx="833130" cy="720079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9DA93AAB-9835-4BF0-8EFF-B3D1E9286ED0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5878876" y="1433007"/>
            <a:ext cx="833132" cy="710582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5 Rectángulo redondeado">
            <a:extLst>
              <a:ext uri="{FF2B5EF4-FFF2-40B4-BE49-F238E27FC236}">
                <a16:creationId xmlns:a16="http://schemas.microsoft.com/office/drawing/2014/main" id="{2310FB14-4D38-488C-88A3-C10827602678}"/>
              </a:ext>
            </a:extLst>
          </p:cNvPr>
          <p:cNvSpPr/>
          <p:nvPr/>
        </p:nvSpPr>
        <p:spPr>
          <a:xfrm>
            <a:off x="2376397" y="5301208"/>
            <a:ext cx="4391203" cy="1080120"/>
          </a:xfrm>
          <a:prstGeom prst="roundRect">
            <a:avLst>
              <a:gd name="adj" fmla="val 189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B93DFE6B-4B66-4EAA-B926-2BA4D2A3F7F0}"/>
              </a:ext>
            </a:extLst>
          </p:cNvPr>
          <p:cNvSpPr/>
          <p:nvPr/>
        </p:nvSpPr>
        <p:spPr>
          <a:xfrm>
            <a:off x="3995934" y="2738196"/>
            <a:ext cx="1152127" cy="61994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C5F9197B-FD92-402F-8F27-2FBA2271D8C7}"/>
              </a:ext>
            </a:extLst>
          </p:cNvPr>
          <p:cNvSpPr/>
          <p:nvPr/>
        </p:nvSpPr>
        <p:spPr>
          <a:xfrm>
            <a:off x="3995934" y="4581975"/>
            <a:ext cx="1152127" cy="61994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403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825285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805861" y="2827380"/>
            <a:ext cx="50064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DE LA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INDUSTRIALIZACIÓN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ARGENTINA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(MODELO BPE)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-1"/>
            <a:ext cx="9144000" cy="71203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1B3744-389F-45D2-9AFE-2C1BBA064D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4851" r="1176" b="9051"/>
          <a:stretch/>
        </p:blipFill>
        <p:spPr>
          <a:xfrm>
            <a:off x="0" y="712033"/>
            <a:ext cx="9144000" cy="61459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CD2DF79-9F78-4160-B739-FD6F4D64FC8A}"/>
              </a:ext>
            </a:extLst>
          </p:cNvPr>
          <p:cNvSpPr txBox="1"/>
          <p:nvPr/>
        </p:nvSpPr>
        <p:spPr>
          <a:xfrm>
            <a:off x="179512" y="1052736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1912</a:t>
            </a:r>
          </a:p>
        </p:txBody>
      </p:sp>
    </p:spTree>
    <p:extLst>
      <p:ext uri="{BB962C8B-B14F-4D97-AF65-F5344CB8AC3E}">
        <p14:creationId xmlns:p14="http://schemas.microsoft.com/office/powerpoint/2010/main" val="233937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ORIGEN DE LA INDUSTRIALIZACIÓN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6A156E-AF6C-4901-9E1F-75424B3486A1}"/>
              </a:ext>
            </a:extLst>
          </p:cNvPr>
          <p:cNvCxnSpPr>
            <a:cxnSpLocks/>
          </p:cNvCxnSpPr>
          <p:nvPr/>
        </p:nvCxnSpPr>
        <p:spPr>
          <a:xfrm>
            <a:off x="395536" y="5756216"/>
            <a:ext cx="792088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5F66C27-661E-472A-8CBB-75A4B1AFA6FF}"/>
              </a:ext>
            </a:extLst>
          </p:cNvPr>
          <p:cNvCxnSpPr/>
          <p:nvPr/>
        </p:nvCxnSpPr>
        <p:spPr>
          <a:xfrm>
            <a:off x="395536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C9BB6F-A419-4726-AA2A-1FC05B250016}"/>
              </a:ext>
            </a:extLst>
          </p:cNvPr>
          <p:cNvSpPr txBox="1"/>
          <p:nvPr/>
        </p:nvSpPr>
        <p:spPr>
          <a:xfrm>
            <a:off x="46722" y="60035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1860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324BF05-14ED-4032-AC0E-8E238F3FDD68}"/>
              </a:ext>
            </a:extLst>
          </p:cNvPr>
          <p:cNvCxnSpPr/>
          <p:nvPr/>
        </p:nvCxnSpPr>
        <p:spPr>
          <a:xfrm>
            <a:off x="2552323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6FFD99-838D-4F5E-BBDE-9AA8F61BA4A3}"/>
              </a:ext>
            </a:extLst>
          </p:cNvPr>
          <p:cNvSpPr txBox="1"/>
          <p:nvPr/>
        </p:nvSpPr>
        <p:spPr>
          <a:xfrm>
            <a:off x="2201484" y="601199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84CBEA0-AA06-4606-96FA-FB613A7096B1}"/>
              </a:ext>
            </a:extLst>
          </p:cNvPr>
          <p:cNvCxnSpPr/>
          <p:nvPr/>
        </p:nvCxnSpPr>
        <p:spPr>
          <a:xfrm>
            <a:off x="4713392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3976CD0-D1D9-4A81-83F0-D2D8BBA6A85B}"/>
              </a:ext>
            </a:extLst>
          </p:cNvPr>
          <p:cNvSpPr txBox="1"/>
          <p:nvPr/>
        </p:nvSpPr>
        <p:spPr>
          <a:xfrm>
            <a:off x="4364579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0793594-9852-4696-9EF1-EA377E6BF3BB}"/>
              </a:ext>
            </a:extLst>
          </p:cNvPr>
          <p:cNvCxnSpPr/>
          <p:nvPr/>
        </p:nvCxnSpPr>
        <p:spPr>
          <a:xfrm>
            <a:off x="6269367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C3126E-7D09-49F8-AC2B-BC8571BD8B9D}"/>
              </a:ext>
            </a:extLst>
          </p:cNvPr>
          <p:cNvSpPr txBox="1"/>
          <p:nvPr/>
        </p:nvSpPr>
        <p:spPr>
          <a:xfrm>
            <a:off x="5920554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6B3416C-D2CF-4628-9E6C-C8A23CCE977D}"/>
              </a:ext>
            </a:extLst>
          </p:cNvPr>
          <p:cNvCxnSpPr/>
          <p:nvPr/>
        </p:nvCxnSpPr>
        <p:spPr>
          <a:xfrm>
            <a:off x="7863342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33028A5-4CCF-4EAA-88BA-8D8C6E19994F}"/>
              </a:ext>
            </a:extLst>
          </p:cNvPr>
          <p:cNvSpPr txBox="1"/>
          <p:nvPr/>
        </p:nvSpPr>
        <p:spPr>
          <a:xfrm>
            <a:off x="7514529" y="6007142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82BFC21-8832-46A2-9011-AFBBB0B3F802}"/>
              </a:ext>
            </a:extLst>
          </p:cNvPr>
          <p:cNvCxnSpPr>
            <a:cxnSpLocks/>
          </p:cNvCxnSpPr>
          <p:nvPr/>
        </p:nvCxnSpPr>
        <p:spPr>
          <a:xfrm>
            <a:off x="7983358" y="5758915"/>
            <a:ext cx="927501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brir llave 28">
            <a:extLst>
              <a:ext uri="{FF2B5EF4-FFF2-40B4-BE49-F238E27FC236}">
                <a16:creationId xmlns:a16="http://schemas.microsoft.com/office/drawing/2014/main" id="{AD22F63E-E178-4C06-BBF0-B82D29745FFE}"/>
              </a:ext>
            </a:extLst>
          </p:cNvPr>
          <p:cNvSpPr/>
          <p:nvPr/>
        </p:nvSpPr>
        <p:spPr>
          <a:xfrm rot="5400000">
            <a:off x="1289263" y="4047441"/>
            <a:ext cx="369332" cy="2156787"/>
          </a:xfrm>
          <a:prstGeom prst="leftBrac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Abrir llave 30">
            <a:extLst>
              <a:ext uri="{FF2B5EF4-FFF2-40B4-BE49-F238E27FC236}">
                <a16:creationId xmlns:a16="http://schemas.microsoft.com/office/drawing/2014/main" id="{E93312DC-D70C-4FB8-97FE-D472BA9A292D}"/>
              </a:ext>
            </a:extLst>
          </p:cNvPr>
          <p:cNvSpPr/>
          <p:nvPr/>
        </p:nvSpPr>
        <p:spPr>
          <a:xfrm rot="5400000">
            <a:off x="5313334" y="4348963"/>
            <a:ext cx="369332" cy="1542733"/>
          </a:xfrm>
          <a:prstGeom prst="leftBrac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B829EA70-CF84-4DC3-81F8-8F656009C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7" y="2420890"/>
            <a:ext cx="4337943" cy="16328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PRIMEROS ESLABONAMIENTOS</a:t>
            </a:r>
          </a:p>
        </p:txBody>
      </p:sp>
      <p:pic>
        <p:nvPicPr>
          <p:cNvPr id="33" name="Gráfico 32" descr="Vaca">
            <a:extLst>
              <a:ext uri="{FF2B5EF4-FFF2-40B4-BE49-F238E27FC236}">
                <a16:creationId xmlns:a16="http://schemas.microsoft.com/office/drawing/2014/main" id="{B4FA90DF-3066-4569-B0ED-7C37D57A5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7519" y="4058859"/>
            <a:ext cx="914400" cy="914400"/>
          </a:xfrm>
          <a:prstGeom prst="rect">
            <a:avLst/>
          </a:prstGeom>
        </p:spPr>
      </p:pic>
      <p:pic>
        <p:nvPicPr>
          <p:cNvPr id="35" name="Gráfico 34" descr="Oveja">
            <a:extLst>
              <a:ext uri="{FF2B5EF4-FFF2-40B4-BE49-F238E27FC236}">
                <a16:creationId xmlns:a16="http://schemas.microsoft.com/office/drawing/2014/main" id="{B463CB9B-10F0-4D63-8397-76FEC572B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729" y="4053747"/>
            <a:ext cx="914400" cy="914400"/>
          </a:xfrm>
          <a:prstGeom prst="rect">
            <a:avLst/>
          </a:prstGeom>
        </p:spPr>
      </p:pic>
      <p:sp>
        <p:nvSpPr>
          <p:cNvPr id="37" name="Abrir llave 36">
            <a:extLst>
              <a:ext uri="{FF2B5EF4-FFF2-40B4-BE49-F238E27FC236}">
                <a16:creationId xmlns:a16="http://schemas.microsoft.com/office/drawing/2014/main" id="{761F1D74-23A0-4BDC-97FE-F9CD037A3B8E}"/>
              </a:ext>
            </a:extLst>
          </p:cNvPr>
          <p:cNvSpPr/>
          <p:nvPr/>
        </p:nvSpPr>
        <p:spPr>
          <a:xfrm rot="5400000">
            <a:off x="3460053" y="4041936"/>
            <a:ext cx="369332" cy="2156787"/>
          </a:xfrm>
          <a:prstGeom prst="leftBrac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Gráfico 3" descr="Planta">
            <a:extLst>
              <a:ext uri="{FF2B5EF4-FFF2-40B4-BE49-F238E27FC236}">
                <a16:creationId xmlns:a16="http://schemas.microsoft.com/office/drawing/2014/main" id="{DFE977B2-6025-4C0B-AE9D-0D4524146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0800" y="4053747"/>
            <a:ext cx="914400" cy="914400"/>
          </a:xfrm>
          <a:prstGeom prst="rect">
            <a:avLst/>
          </a:prstGeom>
        </p:spPr>
      </p:pic>
      <p:sp>
        <p:nvSpPr>
          <p:cNvPr id="26" name="Text Box 9">
            <a:extLst>
              <a:ext uri="{FF2B5EF4-FFF2-40B4-BE49-F238E27FC236}">
                <a16:creationId xmlns:a16="http://schemas.microsoft.com/office/drawing/2014/main" id="{98E7352E-277E-4674-93D9-1844B5E7F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390" y="1561717"/>
            <a:ext cx="1555977" cy="2485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PROFUNDIZAN ESLABON.</a:t>
            </a:r>
          </a:p>
        </p:txBody>
      </p:sp>
      <p:pic>
        <p:nvPicPr>
          <p:cNvPr id="9" name="Gráfico 8" descr="Granero">
            <a:extLst>
              <a:ext uri="{FF2B5EF4-FFF2-40B4-BE49-F238E27FC236}">
                <a16:creationId xmlns:a16="http://schemas.microsoft.com/office/drawing/2014/main" id="{C3ECD9E6-D049-43F7-B9A3-FD037222C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3929" y="3110279"/>
            <a:ext cx="671030" cy="671030"/>
          </a:xfrm>
          <a:prstGeom prst="rect">
            <a:avLst/>
          </a:prstGeom>
        </p:spPr>
      </p:pic>
      <p:pic>
        <p:nvPicPr>
          <p:cNvPr id="17" name="Gráfico 16" descr="Casa">
            <a:extLst>
              <a:ext uri="{FF2B5EF4-FFF2-40B4-BE49-F238E27FC236}">
                <a16:creationId xmlns:a16="http://schemas.microsoft.com/office/drawing/2014/main" id="{DFE1752D-47CE-451A-8EAA-15D629756C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1214" y="3110417"/>
            <a:ext cx="671030" cy="671030"/>
          </a:xfrm>
          <a:prstGeom prst="rect">
            <a:avLst/>
          </a:prstGeom>
        </p:spPr>
      </p:pic>
      <p:pic>
        <p:nvPicPr>
          <p:cNvPr id="23" name="Gráfico 22" descr="Molino de viento">
            <a:extLst>
              <a:ext uri="{FF2B5EF4-FFF2-40B4-BE49-F238E27FC236}">
                <a16:creationId xmlns:a16="http://schemas.microsoft.com/office/drawing/2014/main" id="{E5C49668-07BE-484E-B7B7-A80B3F42D5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22105" y="2894605"/>
            <a:ext cx="671031" cy="671031"/>
          </a:xfrm>
          <a:prstGeom prst="rect">
            <a:avLst/>
          </a:prstGeom>
        </p:spPr>
      </p:pic>
      <p:pic>
        <p:nvPicPr>
          <p:cNvPr id="25" name="Gráfico 24" descr="Silo">
            <a:extLst>
              <a:ext uri="{FF2B5EF4-FFF2-40B4-BE49-F238E27FC236}">
                <a16:creationId xmlns:a16="http://schemas.microsoft.com/office/drawing/2014/main" id="{1E3C9D49-732F-4F84-8AFB-B67036BD80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7567" y="2492896"/>
            <a:ext cx="671030" cy="6710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F598934-AB81-445B-80D2-D620255F8ED7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1612" y="3109843"/>
            <a:ext cx="671031" cy="671031"/>
          </a:xfrm>
          <a:prstGeom prst="rect">
            <a:avLst/>
          </a:prstGeom>
        </p:spPr>
      </p:pic>
      <p:pic>
        <p:nvPicPr>
          <p:cNvPr id="34" name="Gráfico 33" descr="Tienda">
            <a:extLst>
              <a:ext uri="{FF2B5EF4-FFF2-40B4-BE49-F238E27FC236}">
                <a16:creationId xmlns:a16="http://schemas.microsoft.com/office/drawing/2014/main" id="{44A16EA0-6B9F-41AB-B9CE-AEF8EEE915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35766" y="3109843"/>
            <a:ext cx="671031" cy="671031"/>
          </a:xfrm>
          <a:prstGeom prst="rect">
            <a:avLst/>
          </a:prstGeom>
        </p:spPr>
      </p:pic>
      <p:pic>
        <p:nvPicPr>
          <p:cNvPr id="38" name="Gráfico 37" descr="Tractor">
            <a:extLst>
              <a:ext uri="{FF2B5EF4-FFF2-40B4-BE49-F238E27FC236}">
                <a16:creationId xmlns:a16="http://schemas.microsoft.com/office/drawing/2014/main" id="{9EA7AD26-3D18-4DFB-80DB-552A7671438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97187" y="2235889"/>
            <a:ext cx="748363" cy="748363"/>
          </a:xfrm>
          <a:prstGeom prst="rect">
            <a:avLst/>
          </a:prstGeom>
        </p:spPr>
      </p:pic>
      <p:pic>
        <p:nvPicPr>
          <p:cNvPr id="41" name="Gráfico 40" descr="Fábrica">
            <a:extLst>
              <a:ext uri="{FF2B5EF4-FFF2-40B4-BE49-F238E27FC236}">
                <a16:creationId xmlns:a16="http://schemas.microsoft.com/office/drawing/2014/main" id="{370C21FC-113D-4A24-BE36-211C0A2D3E9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88706" y="2905546"/>
            <a:ext cx="739478" cy="739478"/>
          </a:xfrm>
          <a:prstGeom prst="rect">
            <a:avLst/>
          </a:prstGeom>
        </p:spPr>
      </p:pic>
      <p:pic>
        <p:nvPicPr>
          <p:cNvPr id="42" name="Gráfico 41" descr="Tienda">
            <a:extLst>
              <a:ext uri="{FF2B5EF4-FFF2-40B4-BE49-F238E27FC236}">
                <a16:creationId xmlns:a16="http://schemas.microsoft.com/office/drawing/2014/main" id="{6B5A4E69-6427-4733-A0F6-A13FA11B42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57153" y="2253913"/>
            <a:ext cx="671031" cy="671031"/>
          </a:xfrm>
          <a:prstGeom prst="rect">
            <a:avLst/>
          </a:prstGeom>
        </p:spPr>
      </p:pic>
      <p:sp>
        <p:nvSpPr>
          <p:cNvPr id="43" name="Text Box 9">
            <a:extLst>
              <a:ext uri="{FF2B5EF4-FFF2-40B4-BE49-F238E27FC236}">
                <a16:creationId xmlns:a16="http://schemas.microsoft.com/office/drawing/2014/main" id="{66618854-D4AD-4D47-9F49-6E45D4BF4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22" y="777403"/>
            <a:ext cx="5883160" cy="3766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B.P.E.</a:t>
            </a:r>
            <a:endParaRPr kumimoji="0" lang="es-AR" sz="28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Abrir llave 43">
            <a:extLst>
              <a:ext uri="{FF2B5EF4-FFF2-40B4-BE49-F238E27FC236}">
                <a16:creationId xmlns:a16="http://schemas.microsoft.com/office/drawing/2014/main" id="{CCBB94C0-CB95-4B44-B0AE-248FAA3AE57A}"/>
              </a:ext>
            </a:extLst>
          </p:cNvPr>
          <p:cNvSpPr/>
          <p:nvPr/>
        </p:nvSpPr>
        <p:spPr>
          <a:xfrm rot="5400000">
            <a:off x="6890033" y="4319115"/>
            <a:ext cx="361081" cy="1575929"/>
          </a:xfrm>
          <a:prstGeom prst="leftBrac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0" name="Gráfico 39" descr="Globo terrestre, América">
            <a:extLst>
              <a:ext uri="{FF2B5EF4-FFF2-40B4-BE49-F238E27FC236}">
                <a16:creationId xmlns:a16="http://schemas.microsoft.com/office/drawing/2014/main" id="{13789714-D933-45DF-984A-8E06FE2D9F8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00129" y="4060580"/>
            <a:ext cx="914400" cy="914400"/>
          </a:xfrm>
          <a:prstGeom prst="rect">
            <a:avLst/>
          </a:prstGeom>
        </p:spPr>
      </p:pic>
      <p:sp>
        <p:nvSpPr>
          <p:cNvPr id="47" name="Text Box 9">
            <a:extLst>
              <a:ext uri="{FF2B5EF4-FFF2-40B4-BE49-F238E27FC236}">
                <a16:creationId xmlns:a16="http://schemas.microsoft.com/office/drawing/2014/main" id="{6DD29978-AC3B-4972-B532-A32662BF2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435" y="1355994"/>
            <a:ext cx="1555977" cy="27113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SITUACIÓN MUNDIAL INCENTIVA NUEVAS INDUSTRIAS</a:t>
            </a:r>
            <a:endParaRPr kumimoji="0" lang="es-AR" sz="12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Abrir llave 47">
            <a:extLst>
              <a:ext uri="{FF2B5EF4-FFF2-40B4-BE49-F238E27FC236}">
                <a16:creationId xmlns:a16="http://schemas.microsoft.com/office/drawing/2014/main" id="{FCA0C0B5-64C5-4B9D-BDC1-929991332F05}"/>
              </a:ext>
            </a:extLst>
          </p:cNvPr>
          <p:cNvSpPr/>
          <p:nvPr/>
        </p:nvSpPr>
        <p:spPr>
          <a:xfrm rot="5400000">
            <a:off x="8479204" y="4314535"/>
            <a:ext cx="361081" cy="1575929"/>
          </a:xfrm>
          <a:prstGeom prst="leftBrac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6" name="Gráfico 45" descr="Camisa">
            <a:extLst>
              <a:ext uri="{FF2B5EF4-FFF2-40B4-BE49-F238E27FC236}">
                <a16:creationId xmlns:a16="http://schemas.microsoft.com/office/drawing/2014/main" id="{E671AF23-CCCE-40F8-9ED9-BAB3C2CF399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109878" y="1712137"/>
            <a:ext cx="469244" cy="469244"/>
          </a:xfrm>
          <a:prstGeom prst="rect">
            <a:avLst/>
          </a:prstGeom>
        </p:spPr>
      </p:pic>
      <p:pic>
        <p:nvPicPr>
          <p:cNvPr id="50" name="Gráfico 49" descr="Herramientas">
            <a:extLst>
              <a:ext uri="{FF2B5EF4-FFF2-40B4-BE49-F238E27FC236}">
                <a16:creationId xmlns:a16="http://schemas.microsoft.com/office/drawing/2014/main" id="{D9E27915-219A-4AD0-9A40-8B2D1EE2492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64082" y="1712137"/>
            <a:ext cx="463020" cy="463020"/>
          </a:xfrm>
          <a:prstGeom prst="rect">
            <a:avLst/>
          </a:prstGeom>
        </p:spPr>
      </p:pic>
      <p:sp>
        <p:nvSpPr>
          <p:cNvPr id="53" name="Text Box 9">
            <a:extLst>
              <a:ext uri="{FF2B5EF4-FFF2-40B4-BE49-F238E27FC236}">
                <a16:creationId xmlns:a16="http://schemas.microsoft.com/office/drawing/2014/main" id="{B37F4E1F-6C68-4477-8CE5-72F3DEE4F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148" y="769707"/>
            <a:ext cx="3351241" cy="40219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1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OTRO MODELO…</a:t>
            </a:r>
            <a:endParaRPr kumimoji="0" lang="es-AR" b="1" i="1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áfico 51" descr="Centro educativo">
            <a:extLst>
              <a:ext uri="{FF2B5EF4-FFF2-40B4-BE49-F238E27FC236}">
                <a16:creationId xmlns:a16="http://schemas.microsoft.com/office/drawing/2014/main" id="{7D2C8ADE-0D70-4BC8-B103-617717B5422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02544" y="4059565"/>
            <a:ext cx="914400" cy="914400"/>
          </a:xfrm>
          <a:prstGeom prst="rect">
            <a:avLst/>
          </a:prstGeom>
        </p:spPr>
      </p:pic>
      <p:sp>
        <p:nvSpPr>
          <p:cNvPr id="56" name="Text Box 9">
            <a:extLst>
              <a:ext uri="{FF2B5EF4-FFF2-40B4-BE49-F238E27FC236}">
                <a16:creationId xmlns:a16="http://schemas.microsoft.com/office/drawing/2014/main" id="{441582E0-EF13-4A15-858E-53C95B430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905" y="1355994"/>
            <a:ext cx="1335095" cy="27186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POLÍTICA SOSTIENE A LA INDUSTRIA</a:t>
            </a:r>
            <a:endParaRPr kumimoji="0" lang="es-AR" sz="12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Box 9">
            <a:extLst>
              <a:ext uri="{FF2B5EF4-FFF2-40B4-BE49-F238E27FC236}">
                <a16:creationId xmlns:a16="http://schemas.microsoft.com/office/drawing/2014/main" id="{2DE8DD7D-46F0-4B71-BC2A-D35275929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22" y="6364534"/>
            <a:ext cx="4337943" cy="40219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/>
              <a:t>“PREPARACIÓN”</a:t>
            </a:r>
          </a:p>
        </p:txBody>
      </p:sp>
      <p:sp>
        <p:nvSpPr>
          <p:cNvPr id="58" name="Text Box 9">
            <a:extLst>
              <a:ext uri="{FF2B5EF4-FFF2-40B4-BE49-F238E27FC236}">
                <a16:creationId xmlns:a16="http://schemas.microsoft.com/office/drawing/2014/main" id="{F530A580-F023-4B8B-A225-E61FF37A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366" y="6370504"/>
            <a:ext cx="1593632" cy="40219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/>
              <a:t>FRUTOS</a:t>
            </a:r>
          </a:p>
        </p:txBody>
      </p:sp>
      <p:pic>
        <p:nvPicPr>
          <p:cNvPr id="59" name="Gráfico 58" descr="Fábrica">
            <a:extLst>
              <a:ext uri="{FF2B5EF4-FFF2-40B4-BE49-F238E27FC236}">
                <a16:creationId xmlns:a16="http://schemas.microsoft.com/office/drawing/2014/main" id="{46476B00-BE96-4237-AD20-62933B4523B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778696" y="2167368"/>
            <a:ext cx="588681" cy="588681"/>
          </a:xfrm>
          <a:prstGeom prst="rect">
            <a:avLst/>
          </a:prstGeom>
        </p:spPr>
      </p:pic>
      <p:pic>
        <p:nvPicPr>
          <p:cNvPr id="60" name="Gráfico 59" descr="Camisa">
            <a:extLst>
              <a:ext uri="{FF2B5EF4-FFF2-40B4-BE49-F238E27FC236}">
                <a16:creationId xmlns:a16="http://schemas.microsoft.com/office/drawing/2014/main" id="{237965A1-B5C3-4DEB-B0A1-234F385C911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533404" y="1737016"/>
            <a:ext cx="469244" cy="469244"/>
          </a:xfrm>
          <a:prstGeom prst="rect">
            <a:avLst/>
          </a:prstGeom>
        </p:spPr>
      </p:pic>
      <p:pic>
        <p:nvPicPr>
          <p:cNvPr id="61" name="Gráfico 60" descr="Herramientas">
            <a:extLst>
              <a:ext uri="{FF2B5EF4-FFF2-40B4-BE49-F238E27FC236}">
                <a16:creationId xmlns:a16="http://schemas.microsoft.com/office/drawing/2014/main" id="{6D3D0BB6-A316-4ED7-B0D4-86F076B9E12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987608" y="1737016"/>
            <a:ext cx="463020" cy="463020"/>
          </a:xfrm>
          <a:prstGeom prst="rect">
            <a:avLst/>
          </a:prstGeom>
        </p:spPr>
      </p:pic>
      <p:pic>
        <p:nvPicPr>
          <p:cNvPr id="62" name="Gráfico 61" descr="Fábrica">
            <a:extLst>
              <a:ext uri="{FF2B5EF4-FFF2-40B4-BE49-F238E27FC236}">
                <a16:creationId xmlns:a16="http://schemas.microsoft.com/office/drawing/2014/main" id="{52B3FAC5-8EA8-4ED7-98DE-0C2D55A9707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02222" y="2192247"/>
            <a:ext cx="588681" cy="588681"/>
          </a:xfrm>
          <a:prstGeom prst="rect">
            <a:avLst/>
          </a:prstGeom>
        </p:spPr>
      </p:pic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3B0156A-809E-471E-B6F6-DA394B1ED495}"/>
              </a:ext>
            </a:extLst>
          </p:cNvPr>
          <p:cNvCxnSpPr>
            <a:cxnSpLocks/>
          </p:cNvCxnSpPr>
          <p:nvPr/>
        </p:nvCxnSpPr>
        <p:spPr>
          <a:xfrm>
            <a:off x="6260282" y="620688"/>
            <a:ext cx="21786" cy="538645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Silo">
            <a:extLst>
              <a:ext uri="{FF2B5EF4-FFF2-40B4-BE49-F238E27FC236}">
                <a16:creationId xmlns:a16="http://schemas.microsoft.com/office/drawing/2014/main" id="{7654A61A-56A9-4E9D-BE7D-47022A96EA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50161" y="1619136"/>
            <a:ext cx="671030" cy="671030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98AC360D-4E28-4BC4-95D0-420CEF9BF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7553" y="1609911"/>
            <a:ext cx="671031" cy="67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8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23528" y="714356"/>
            <a:ext cx="8496944" cy="5857916"/>
          </a:xfrm>
          <a:prstGeom prst="roundRect">
            <a:avLst>
              <a:gd name="adj" fmla="val 9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 del B.P.E. </a:t>
            </a:r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 datos)</a:t>
            </a:r>
          </a:p>
          <a:p>
            <a:pPr algn="ctr">
              <a:buFontTx/>
              <a:buChar char="-"/>
            </a:pP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 del BPE sobre la industria</a:t>
            </a:r>
          </a:p>
          <a:p>
            <a:pPr marL="0" lvl="1"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rentabilidad</a:t>
            </a:r>
          </a:p>
          <a:p>
            <a:pPr marL="0" lvl="1"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composición de la industria</a:t>
            </a:r>
          </a:p>
          <a:p>
            <a:pPr marL="0" lvl="1"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efectos en la urbanización </a:t>
            </a:r>
          </a:p>
          <a:p>
            <a:pPr algn="ctr">
              <a:buFontTx/>
              <a:buChar char="-"/>
            </a:pP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1"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industria ante cambios en el BPE</a:t>
            </a:r>
          </a:p>
          <a:p>
            <a:pPr marL="0" lvl="1"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en el patrón de crecimiento</a:t>
            </a:r>
          </a:p>
          <a:p>
            <a:pPr marL="0" lvl="1"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análisis adicional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714356"/>
            <a:ext cx="8496944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053C0D34-BF43-4A8D-B3DE-DEB1F654E62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</p:spTree>
    <p:extLst>
      <p:ext uri="{BB962C8B-B14F-4D97-AF65-F5344CB8AC3E}">
        <p14:creationId xmlns:p14="http://schemas.microsoft.com/office/powerpoint/2010/main" val="63399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677055" y="2548570"/>
            <a:ext cx="3141614" cy="73641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Bien Primario Exportable</a:t>
            </a:r>
            <a:endParaRPr kumimoji="0" lang="es-E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1140697" y="4245933"/>
            <a:ext cx="2709534" cy="45907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400" b="1" i="0" u="none" strike="noStrike" cap="none" normalizeH="0" baseline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Eslabonamientos</a:t>
            </a:r>
          </a:p>
        </p:txBody>
      </p:sp>
      <p:sp>
        <p:nvSpPr>
          <p:cNvPr id="2066" name="AutoShape 18"/>
          <p:cNvSpPr>
            <a:spLocks/>
          </p:cNvSpPr>
          <p:nvPr/>
        </p:nvSpPr>
        <p:spPr bwMode="auto">
          <a:xfrm>
            <a:off x="3907390" y="3789040"/>
            <a:ext cx="261666" cy="1359111"/>
          </a:xfrm>
          <a:prstGeom prst="leftBrace">
            <a:avLst>
              <a:gd name="adj1" fmla="val 53034"/>
              <a:gd name="adj2" fmla="val 50000"/>
            </a:avLst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4216054" y="3883380"/>
            <a:ext cx="1788567" cy="283852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Hacía adelante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218595" y="4305316"/>
            <a:ext cx="1787397" cy="283852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Hacía atrás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4230027" y="4729325"/>
            <a:ext cx="1782133" cy="283852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De demanda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1142386" y="5892704"/>
            <a:ext cx="2709534" cy="52400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400" b="1" i="0" u="none" strike="noStrike" cap="none" normalizeH="0" baseline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Crecimiento</a:t>
            </a:r>
            <a:endParaRPr lang="es-ES" dirty="0"/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 rot="18705014">
            <a:off x="5064391" y="2500726"/>
            <a:ext cx="1438327" cy="578592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0800" rIns="91440" bIns="144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Espíritu empresario</a:t>
            </a:r>
            <a:endParaRPr kumimoji="0" lang="es-AR" sz="16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 rot="18700917">
            <a:off x="4303200" y="2655121"/>
            <a:ext cx="1438326" cy="311009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0800" rIns="91440" bIns="144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Tecnología</a:t>
            </a:r>
            <a:endParaRPr kumimoji="0" lang="es-AR" sz="16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2590931" y="1870772"/>
            <a:ext cx="1224214" cy="40219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cap="none" normalizeH="0" baseline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/>
              <a:t>Recursos Naturales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683490" y="1874680"/>
            <a:ext cx="1224214" cy="40219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Coyuntura externa</a:t>
            </a:r>
            <a:endParaRPr kumimoji="0" lang="es-AR" sz="14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5616742" y="654027"/>
            <a:ext cx="3312368" cy="95065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Espacios vacios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altos T/K y T/L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Mercado interno limitado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6904190" y="2576829"/>
            <a:ext cx="1480681" cy="736414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10800" rIns="91440" bIns="144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Incentivo a la Inversión </a:t>
            </a:r>
            <a:endParaRPr kumimoji="0" lang="es-AR" b="1" i="1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Flecha abajo"/>
          <p:cNvSpPr/>
          <p:nvPr/>
        </p:nvSpPr>
        <p:spPr>
          <a:xfrm>
            <a:off x="1815019" y="4810693"/>
            <a:ext cx="857256" cy="92869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4 Rectángulo redondeado">
            <a:extLst>
              <a:ext uri="{FF2B5EF4-FFF2-40B4-BE49-F238E27FC236}">
                <a16:creationId xmlns:a16="http://schemas.microsoft.com/office/drawing/2014/main" id="{649E324B-CD3A-477E-9735-1558067C1EBB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2" name="Signo más 1">
            <a:extLst>
              <a:ext uri="{FF2B5EF4-FFF2-40B4-BE49-F238E27FC236}">
                <a16:creationId xmlns:a16="http://schemas.microsoft.com/office/drawing/2014/main" id="{BB8BBD75-E1C0-4269-83D3-61830AC19316}"/>
              </a:ext>
            </a:extLst>
          </p:cNvPr>
          <p:cNvSpPr/>
          <p:nvPr/>
        </p:nvSpPr>
        <p:spPr>
          <a:xfrm>
            <a:off x="4093683" y="2705303"/>
            <a:ext cx="406309" cy="422948"/>
          </a:xfrm>
          <a:prstGeom prst="mathPlu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s igual a 2">
            <a:extLst>
              <a:ext uri="{FF2B5EF4-FFF2-40B4-BE49-F238E27FC236}">
                <a16:creationId xmlns:a16="http://schemas.microsoft.com/office/drawing/2014/main" id="{A573E675-19C5-4FE8-8562-4ED8476D36CC}"/>
              </a:ext>
            </a:extLst>
          </p:cNvPr>
          <p:cNvSpPr/>
          <p:nvPr/>
        </p:nvSpPr>
        <p:spPr>
          <a:xfrm>
            <a:off x="6478266" y="2718519"/>
            <a:ext cx="304741" cy="350441"/>
          </a:xfrm>
          <a:prstGeom prst="mathEqual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26 Flecha abajo">
            <a:extLst>
              <a:ext uri="{FF2B5EF4-FFF2-40B4-BE49-F238E27FC236}">
                <a16:creationId xmlns:a16="http://schemas.microsoft.com/office/drawing/2014/main" id="{76A619E9-87AD-4CE7-8058-5EE23BD36590}"/>
              </a:ext>
            </a:extLst>
          </p:cNvPr>
          <p:cNvSpPr/>
          <p:nvPr/>
        </p:nvSpPr>
        <p:spPr>
          <a:xfrm>
            <a:off x="1815019" y="3340388"/>
            <a:ext cx="857256" cy="78147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Gráfico 4" descr="Globo terrestre, Europa y África">
            <a:extLst>
              <a:ext uri="{FF2B5EF4-FFF2-40B4-BE49-F238E27FC236}">
                <a16:creationId xmlns:a16="http://schemas.microsoft.com/office/drawing/2014/main" id="{6DF7836F-22B4-473D-81F9-15676DA89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263" y="609434"/>
            <a:ext cx="797917" cy="797917"/>
          </a:xfrm>
          <a:prstGeom prst="rect">
            <a:avLst/>
          </a:prstGeom>
        </p:spPr>
      </p:pic>
      <p:pic>
        <p:nvPicPr>
          <p:cNvPr id="7" name="Gráfico 6" descr="Globo terrestre, América">
            <a:extLst>
              <a:ext uri="{FF2B5EF4-FFF2-40B4-BE49-F238E27FC236}">
                <a16:creationId xmlns:a16="http://schemas.microsoft.com/office/drawing/2014/main" id="{95BDC3CE-FD4E-4F83-994D-F4448E8D4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626" y="1118613"/>
            <a:ext cx="797917" cy="797917"/>
          </a:xfrm>
          <a:prstGeom prst="rect">
            <a:avLst/>
          </a:prstGeom>
        </p:spPr>
      </p:pic>
      <p:pic>
        <p:nvPicPr>
          <p:cNvPr id="9" name="Gráfico 8" descr="Globo terrestre, Asia y Australia">
            <a:extLst>
              <a:ext uri="{FF2B5EF4-FFF2-40B4-BE49-F238E27FC236}">
                <a16:creationId xmlns:a16="http://schemas.microsoft.com/office/drawing/2014/main" id="{86B84E0D-BAC7-4ECA-97E0-4846EAB545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900" y="1113830"/>
            <a:ext cx="797917" cy="797917"/>
          </a:xfrm>
          <a:prstGeom prst="rect">
            <a:avLst/>
          </a:prstGeom>
        </p:spPr>
      </p:pic>
      <p:pic>
        <p:nvPicPr>
          <p:cNvPr id="11" name="Gráfico 10" descr="Árbol de hoja caduca">
            <a:extLst>
              <a:ext uri="{FF2B5EF4-FFF2-40B4-BE49-F238E27FC236}">
                <a16:creationId xmlns:a16="http://schemas.microsoft.com/office/drawing/2014/main" id="{C8F73D17-5801-4474-A34A-A0AC3963A1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4003" y="1062143"/>
            <a:ext cx="797917" cy="797917"/>
          </a:xfrm>
          <a:prstGeom prst="rect">
            <a:avLst/>
          </a:prstGeom>
        </p:spPr>
      </p:pic>
      <p:pic>
        <p:nvPicPr>
          <p:cNvPr id="13" name="Gráfico 12" descr="Montañas">
            <a:extLst>
              <a:ext uri="{FF2B5EF4-FFF2-40B4-BE49-F238E27FC236}">
                <a16:creationId xmlns:a16="http://schemas.microsoft.com/office/drawing/2014/main" id="{07D8AC1D-E4E7-4E75-92F4-BDA184E1C2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72317" y="1186209"/>
            <a:ext cx="797917" cy="797917"/>
          </a:xfrm>
          <a:prstGeom prst="rect">
            <a:avLst/>
          </a:prstGeom>
        </p:spPr>
      </p:pic>
      <p:pic>
        <p:nvPicPr>
          <p:cNvPr id="15" name="Gráfico 14" descr="Lluvia">
            <a:extLst>
              <a:ext uri="{FF2B5EF4-FFF2-40B4-BE49-F238E27FC236}">
                <a16:creationId xmlns:a16="http://schemas.microsoft.com/office/drawing/2014/main" id="{185D9959-F0C0-4045-8978-562B0795E8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42796" y="581266"/>
            <a:ext cx="797917" cy="797917"/>
          </a:xfrm>
          <a:prstGeom prst="rect">
            <a:avLst/>
          </a:prstGeom>
        </p:spPr>
      </p:pic>
      <p:sp>
        <p:nvSpPr>
          <p:cNvPr id="34" name="Signo más 33">
            <a:extLst>
              <a:ext uri="{FF2B5EF4-FFF2-40B4-BE49-F238E27FC236}">
                <a16:creationId xmlns:a16="http://schemas.microsoft.com/office/drawing/2014/main" id="{F7E5041D-0470-41C2-BF0C-9F796A5E01E2}"/>
              </a:ext>
            </a:extLst>
          </p:cNvPr>
          <p:cNvSpPr/>
          <p:nvPr/>
        </p:nvSpPr>
        <p:spPr>
          <a:xfrm>
            <a:off x="2087290" y="1301314"/>
            <a:ext cx="406309" cy="422948"/>
          </a:xfrm>
          <a:prstGeom prst="mathPlu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 descr="Image result for icono exportaciones">
            <a:extLst>
              <a:ext uri="{FF2B5EF4-FFF2-40B4-BE49-F238E27FC236}">
                <a16:creationId xmlns:a16="http://schemas.microsoft.com/office/drawing/2014/main" id="{6DB8EC1A-8165-46A4-BD1F-15105E28E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12" y="2608797"/>
            <a:ext cx="980768" cy="60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áfico 16" descr="Fábrica">
            <a:extLst>
              <a:ext uri="{FF2B5EF4-FFF2-40B4-BE49-F238E27FC236}">
                <a16:creationId xmlns:a16="http://schemas.microsoft.com/office/drawing/2014/main" id="{CA29D30A-A52E-474B-9F2A-FE493EC9C8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1304" y="3925544"/>
            <a:ext cx="914400" cy="914400"/>
          </a:xfrm>
          <a:prstGeom prst="rect">
            <a:avLst/>
          </a:prstGeom>
        </p:spPr>
      </p:pic>
      <p:pic>
        <p:nvPicPr>
          <p:cNvPr id="19" name="Gráfico 18" descr="Tendencia al alza">
            <a:extLst>
              <a:ext uri="{FF2B5EF4-FFF2-40B4-BE49-F238E27FC236}">
                <a16:creationId xmlns:a16="http://schemas.microsoft.com/office/drawing/2014/main" id="{190FC143-31B4-484C-9EA4-2378A5F76AE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8896" y="56594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a los hechos...</a:t>
            </a:r>
          </a:p>
        </p:txBody>
      </p:sp>
      <p:sp>
        <p:nvSpPr>
          <p:cNvPr id="6" name="4 Rectángulo redondeado">
            <a:extLst>
              <a:ext uri="{FF2B5EF4-FFF2-40B4-BE49-F238E27FC236}">
                <a16:creationId xmlns:a16="http://schemas.microsoft.com/office/drawing/2014/main" id="{7B026740-71E1-4332-BB9C-F078A1BC9C57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</p:spTree>
    <p:extLst>
      <p:ext uri="{BB962C8B-B14F-4D97-AF65-F5344CB8AC3E}">
        <p14:creationId xmlns:p14="http://schemas.microsoft.com/office/powerpoint/2010/main" val="80860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0" y="692696"/>
            <a:ext cx="9144000" cy="4001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Balanza de pagos (mil US$) 1880- 1914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DDFAD328-7921-4228-99F9-AFD14640C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3127329"/>
              </p:ext>
            </p:extLst>
          </p:nvPr>
        </p:nvGraphicFramePr>
        <p:xfrm>
          <a:off x="0" y="1092807"/>
          <a:ext cx="9138862" cy="5505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4 Rectángulo redondeado">
            <a:extLst>
              <a:ext uri="{FF2B5EF4-FFF2-40B4-BE49-F238E27FC236}">
                <a16:creationId xmlns:a16="http://schemas.microsoft.com/office/drawing/2014/main" id="{895DFD13-3BE2-430E-89B4-92F833B1E79B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8F263ED-880A-44B3-8C71-FBB1B5C00FA7}"/>
              </a:ext>
            </a:extLst>
          </p:cNvPr>
          <p:cNvSpPr/>
          <p:nvPr/>
        </p:nvSpPr>
        <p:spPr>
          <a:xfrm>
            <a:off x="7164288" y="6597352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42232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212" y="1340815"/>
            <a:ext cx="8877268" cy="547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-5817" y="700338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 de las exportaciones (1880=100), 1880- 1914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F151E81B-0FEF-4F92-A343-57495452E9A4}"/>
              </a:ext>
            </a:extLst>
          </p:cNvPr>
          <p:cNvSpPr/>
          <p:nvPr/>
        </p:nvSpPr>
        <p:spPr>
          <a:xfrm rot="2938906">
            <a:off x="3495507" y="4041128"/>
            <a:ext cx="1440160" cy="8565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QUIEBRE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484893-8631-4F67-B11A-17D9D4FE4A50}"/>
              </a:ext>
            </a:extLst>
          </p:cNvPr>
          <p:cNvCxnSpPr/>
          <p:nvPr/>
        </p:nvCxnSpPr>
        <p:spPr>
          <a:xfrm>
            <a:off x="4788024" y="5085184"/>
            <a:ext cx="0" cy="1152128"/>
          </a:xfrm>
          <a:prstGeom prst="line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2BBF885F-4E5C-49AC-AE2E-5EA312B1D7BF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1338156"/>
            <a:ext cx="9144000" cy="5346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23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Cantidad de exportaciones (1880=100), 1880- 1914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2BE40541-71B7-4FD7-A591-F5C772D8B31C}"/>
              </a:ext>
            </a:extLst>
          </p:cNvPr>
          <p:cNvSpPr/>
          <p:nvPr/>
        </p:nvSpPr>
        <p:spPr>
          <a:xfrm rot="20002938">
            <a:off x="2653889" y="3632466"/>
            <a:ext cx="1769450" cy="8565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704A4C-8E23-4738-83F5-E26C4758B337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905" t="2708" r="1905" b="2503"/>
          <a:stretch/>
        </p:blipFill>
        <p:spPr bwMode="auto">
          <a:xfrm>
            <a:off x="1043608" y="1556792"/>
            <a:ext cx="7272808" cy="5040560"/>
          </a:xfrm>
          <a:prstGeom prst="rect">
            <a:avLst/>
          </a:prstGeom>
          <a:noFill/>
        </p:spPr>
      </p:pic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Precio de las exportaciones (1880=100), 1880- 1914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14C2E70-0D26-4705-A98C-0131ADDEA2AD}"/>
              </a:ext>
            </a:extLst>
          </p:cNvPr>
          <p:cNvCxnSpPr/>
          <p:nvPr/>
        </p:nvCxnSpPr>
        <p:spPr>
          <a:xfrm flipV="1">
            <a:off x="4499992" y="2184914"/>
            <a:ext cx="0" cy="3744416"/>
          </a:xfrm>
          <a:prstGeom prst="line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297A5DD3-A640-410A-A66A-3A49CCC1D525}"/>
              </a:ext>
            </a:extLst>
          </p:cNvPr>
          <p:cNvSpPr/>
          <p:nvPr/>
        </p:nvSpPr>
        <p:spPr>
          <a:xfrm rot="19652112">
            <a:off x="3014486" y="4130215"/>
            <a:ext cx="1440160" cy="8565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QUIEBRE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1837F8-DD66-4911-A8D9-D3E114E60C72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Composición de las exportaciones 1880- 1914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2077A51-CFA4-4364-AFFB-34673C1FDC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262404"/>
              </p:ext>
            </p:extLst>
          </p:nvPr>
        </p:nvGraphicFramePr>
        <p:xfrm>
          <a:off x="0" y="1348792"/>
          <a:ext cx="9144000" cy="5509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317081DC-CEF4-4C35-92CD-E46E7EDD9C3F}"/>
              </a:ext>
            </a:extLst>
          </p:cNvPr>
          <p:cNvSpPr/>
          <p:nvPr/>
        </p:nvSpPr>
        <p:spPr>
          <a:xfrm>
            <a:off x="3086863" y="4579460"/>
            <a:ext cx="2169103" cy="9354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Carne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A9F57B06-F604-4F8D-8A83-BD660A3D944F}"/>
              </a:ext>
            </a:extLst>
          </p:cNvPr>
          <p:cNvSpPr/>
          <p:nvPr/>
        </p:nvSpPr>
        <p:spPr>
          <a:xfrm rot="19255025">
            <a:off x="5165571" y="3744396"/>
            <a:ext cx="2479050" cy="9354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granos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E8356485-D6CA-4377-A106-B08435885377}"/>
              </a:ext>
            </a:extLst>
          </p:cNvPr>
          <p:cNvSpPr/>
          <p:nvPr/>
        </p:nvSpPr>
        <p:spPr>
          <a:xfrm rot="941390">
            <a:off x="648969" y="4814503"/>
            <a:ext cx="2016224" cy="9354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Lana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BD4852D-1B8E-4178-A97F-7F5AAC493A5F}"/>
              </a:ext>
            </a:extLst>
          </p:cNvPr>
          <p:cNvSpPr/>
          <p:nvPr/>
        </p:nvSpPr>
        <p:spPr>
          <a:xfrm>
            <a:off x="1259632" y="1772816"/>
            <a:ext cx="2808312" cy="72008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BABB17-4A48-4585-AEB6-C7DB6D79B160}"/>
              </a:ext>
            </a:extLst>
          </p:cNvPr>
          <p:cNvSpPr/>
          <p:nvPr/>
        </p:nvSpPr>
        <p:spPr>
          <a:xfrm>
            <a:off x="7123895" y="6595801"/>
            <a:ext cx="20201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18083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Destino de las exportaciones 1880- 1914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1AE6F12-E5BE-48D5-B726-6E21815070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266247"/>
              </p:ext>
            </p:extLst>
          </p:nvPr>
        </p:nvGraphicFramePr>
        <p:xfrm>
          <a:off x="-14672" y="1328780"/>
          <a:ext cx="8979160" cy="5412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3C91E3C2-122D-4DEF-AF3E-1C0F5B48D7FE}"/>
              </a:ext>
            </a:extLst>
          </p:cNvPr>
          <p:cNvSpPr/>
          <p:nvPr/>
        </p:nvSpPr>
        <p:spPr>
          <a:xfrm>
            <a:off x="7123895" y="6595801"/>
            <a:ext cx="20201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8771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0" name="1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Factores...</a:t>
            </a:r>
          </a:p>
        </p:txBody>
      </p:sp>
      <p:pic>
        <p:nvPicPr>
          <p:cNvPr id="4" name="Gráfico 3" descr="Hombre">
            <a:extLst>
              <a:ext uri="{FF2B5EF4-FFF2-40B4-BE49-F238E27FC236}">
                <a16:creationId xmlns:a16="http://schemas.microsoft.com/office/drawing/2014/main" id="{63F8B6F7-8ED8-438F-9B25-E7B792F10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8410" y="4437112"/>
            <a:ext cx="914400" cy="914400"/>
          </a:xfrm>
          <a:prstGeom prst="rect">
            <a:avLst/>
          </a:prstGeom>
        </p:spPr>
      </p:pic>
      <p:pic>
        <p:nvPicPr>
          <p:cNvPr id="6" name="Gráfico 5" descr="Tren">
            <a:extLst>
              <a:ext uri="{FF2B5EF4-FFF2-40B4-BE49-F238E27FC236}">
                <a16:creationId xmlns:a16="http://schemas.microsoft.com/office/drawing/2014/main" id="{932975B5-8200-4256-B082-4C6BD0BED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9081" y="4437112"/>
            <a:ext cx="914400" cy="914400"/>
          </a:xfrm>
          <a:prstGeom prst="rect">
            <a:avLst/>
          </a:prstGeom>
        </p:spPr>
      </p:pic>
      <p:pic>
        <p:nvPicPr>
          <p:cNvPr id="11" name="Gráfico 10" descr="Mapa con marcador">
            <a:extLst>
              <a:ext uri="{FF2B5EF4-FFF2-40B4-BE49-F238E27FC236}">
                <a16:creationId xmlns:a16="http://schemas.microsoft.com/office/drawing/2014/main" id="{75FECCF4-0356-4159-BF42-9BBF735D5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39752" y="44371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4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398845"/>
            <a:ext cx="7344816" cy="553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0" y="776898"/>
            <a:ext cx="9144000" cy="7078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Superficie cultivada. </a:t>
            </a:r>
          </a:p>
          <a:p>
            <a:r>
              <a:rPr lang="es-AR" dirty="0"/>
              <a:t>Región Pampeana (millones de hectáreas), 1880- 1912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39D81B6-AFF8-418B-918B-1D796476C51C}"/>
              </a:ext>
            </a:extLst>
          </p:cNvPr>
          <p:cNvSpPr/>
          <p:nvPr/>
        </p:nvSpPr>
        <p:spPr>
          <a:xfrm rot="2938906">
            <a:off x="2912187" y="4329161"/>
            <a:ext cx="1440160" cy="8565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QUIEBRE</a:t>
            </a:r>
          </a:p>
        </p:txBody>
      </p:sp>
      <p:pic>
        <p:nvPicPr>
          <p:cNvPr id="10" name="Gráfico 9" descr="Mapa con marcador">
            <a:extLst>
              <a:ext uri="{FF2B5EF4-FFF2-40B4-BE49-F238E27FC236}">
                <a16:creationId xmlns:a16="http://schemas.microsoft.com/office/drawing/2014/main" id="{3D485AB0-E922-4018-B21B-A9ED98770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67" y="448002"/>
            <a:ext cx="914400" cy="9144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AD52AFB-E99B-43F4-9F17-5654202C1288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Expansión de la frontera</a:t>
            </a:r>
          </a:p>
        </p:txBody>
      </p:sp>
      <p:pic>
        <p:nvPicPr>
          <p:cNvPr id="1028" name="Picture 4" descr="http://www.scielo.org.ar/img/revistas/histed/v12n2/a02f2.gif">
            <a:extLst>
              <a:ext uri="{FF2B5EF4-FFF2-40B4-BE49-F238E27FC236}">
                <a16:creationId xmlns:a16="http://schemas.microsoft.com/office/drawing/2014/main" id="{E48F4092-0323-4D34-8831-202AF6EB2E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5059"/>
          <a:stretch/>
        </p:blipFill>
        <p:spPr bwMode="auto">
          <a:xfrm>
            <a:off x="3437595" y="2424987"/>
            <a:ext cx="1687354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scielo.org.ar/img/revistas/histed/v12n2/a02f3.gif">
            <a:extLst>
              <a:ext uri="{FF2B5EF4-FFF2-40B4-BE49-F238E27FC236}">
                <a16:creationId xmlns:a16="http://schemas.microsoft.com/office/drawing/2014/main" id="{B365BD96-37B7-4C51-9100-E5D4ED4C1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0" r="65803"/>
          <a:stretch/>
        </p:blipFill>
        <p:spPr bwMode="auto">
          <a:xfrm>
            <a:off x="6852559" y="2424985"/>
            <a:ext cx="1601857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pa ARGENTINA 1858.jpg">
            <a:extLst>
              <a:ext uri="{FF2B5EF4-FFF2-40B4-BE49-F238E27FC236}">
                <a16:creationId xmlns:a16="http://schemas.microsoft.com/office/drawing/2014/main" id="{A4CE6E67-033F-4A0E-802B-1AF9E51E3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89" y="2009800"/>
            <a:ext cx="2304256" cy="445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scielo.org.ar/img/revistas/histed/v12n2/a02f2.gif">
            <a:extLst>
              <a:ext uri="{FF2B5EF4-FFF2-40B4-BE49-F238E27FC236}">
                <a16:creationId xmlns:a16="http://schemas.microsoft.com/office/drawing/2014/main" id="{53673D40-084E-4FD0-BCB5-02E433669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950" r="10399"/>
          <a:stretch/>
        </p:blipFill>
        <p:spPr bwMode="auto">
          <a:xfrm>
            <a:off x="5120858" y="2424986"/>
            <a:ext cx="1728192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2AA8F1A-80C4-4D31-A5F4-A444652CA669}"/>
              </a:ext>
            </a:extLst>
          </p:cNvPr>
          <p:cNvSpPr/>
          <p:nvPr/>
        </p:nvSpPr>
        <p:spPr>
          <a:xfrm>
            <a:off x="3460710" y="2007890"/>
            <a:ext cx="1759362" cy="4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1860</a:t>
            </a:r>
            <a:endParaRPr lang="es-ES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7BF10C-B329-425B-9287-DE1D14338B11}"/>
              </a:ext>
            </a:extLst>
          </p:cNvPr>
          <p:cNvSpPr/>
          <p:nvPr/>
        </p:nvSpPr>
        <p:spPr>
          <a:xfrm>
            <a:off x="5134474" y="2007890"/>
            <a:ext cx="1759362" cy="4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1882</a:t>
            </a:r>
            <a:endParaRPr lang="es-ES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CC72000-1FAD-4815-86E3-01229D208297}"/>
              </a:ext>
            </a:extLst>
          </p:cNvPr>
          <p:cNvSpPr/>
          <p:nvPr/>
        </p:nvSpPr>
        <p:spPr>
          <a:xfrm>
            <a:off x="6858574" y="2001264"/>
            <a:ext cx="1601858" cy="4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1905</a:t>
            </a:r>
            <a:endParaRPr lang="es-ES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D747999-EAD4-4352-A72C-EE6220996D67}"/>
              </a:ext>
            </a:extLst>
          </p:cNvPr>
          <p:cNvSpPr/>
          <p:nvPr/>
        </p:nvSpPr>
        <p:spPr>
          <a:xfrm>
            <a:off x="674043" y="1556792"/>
            <a:ext cx="2119402" cy="4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i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1850</a:t>
            </a:r>
            <a:endParaRPr lang="es-ES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áfico 14" descr="Mapa con marcador">
            <a:extLst>
              <a:ext uri="{FF2B5EF4-FFF2-40B4-BE49-F238E27FC236}">
                <a16:creationId xmlns:a16="http://schemas.microsoft.com/office/drawing/2014/main" id="{40FC5BB1-ECC4-44F4-A1FD-0321721AFC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67" y="448002"/>
            <a:ext cx="914400" cy="9144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7CA78A3-8B99-483B-8A4C-056AFCC09B56}"/>
              </a:ext>
            </a:extLst>
          </p:cNvPr>
          <p:cNvSpPr/>
          <p:nvPr/>
        </p:nvSpPr>
        <p:spPr>
          <a:xfrm>
            <a:off x="8530242" y="6595801"/>
            <a:ext cx="6137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12153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43608" y="1325766"/>
            <a:ext cx="7200800" cy="5415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8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0" y="76470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Red ferroviaria (en kilómetros), 1880- 1914</a:t>
            </a:r>
          </a:p>
        </p:txBody>
      </p:sp>
      <p:pic>
        <p:nvPicPr>
          <p:cNvPr id="11" name="Gráfico 10" descr="Tren">
            <a:extLst>
              <a:ext uri="{FF2B5EF4-FFF2-40B4-BE49-F238E27FC236}">
                <a16:creationId xmlns:a16="http://schemas.microsoft.com/office/drawing/2014/main" id="{380BDECD-0B95-4697-ACE3-661A2D331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808" y="522920"/>
            <a:ext cx="914400" cy="9144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9CFA2C20-0FFE-4AF7-9D77-A837BC73EF2E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Red ferroviaria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pic>
        <p:nvPicPr>
          <p:cNvPr id="2050" name="Picture 2" descr="Resultado de imagen para mapa argentina 1860">
            <a:extLst>
              <a:ext uri="{FF2B5EF4-FFF2-40B4-BE49-F238E27FC236}">
                <a16:creationId xmlns:a16="http://schemas.microsoft.com/office/drawing/2014/main" id="{A994B784-22CF-4C7C-A87E-BA4284DDC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280"/>
            <a:ext cx="9144000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5" descr="Tren">
            <a:extLst>
              <a:ext uri="{FF2B5EF4-FFF2-40B4-BE49-F238E27FC236}">
                <a16:creationId xmlns:a16="http://schemas.microsoft.com/office/drawing/2014/main" id="{9CA2DEE9-6F90-43AE-858C-F11FE2730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4808" y="522920"/>
            <a:ext cx="914400" cy="9144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A749C7E-A78D-4B3C-987E-7AEF7F17C76A}"/>
              </a:ext>
            </a:extLst>
          </p:cNvPr>
          <p:cNvSpPr/>
          <p:nvPr/>
        </p:nvSpPr>
        <p:spPr>
          <a:xfrm>
            <a:off x="8530242" y="6595801"/>
            <a:ext cx="6137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595859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0" y="76470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Composición de las importaciones 1880- 1914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F3CC905-B52A-44D8-9A0F-5C189FE099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7409733"/>
              </p:ext>
            </p:extLst>
          </p:nvPr>
        </p:nvGraphicFramePr>
        <p:xfrm>
          <a:off x="28600" y="1331552"/>
          <a:ext cx="9007896" cy="540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4A0AC59B-F298-4DEA-835A-75D28DFA1CB7}"/>
              </a:ext>
            </a:extLst>
          </p:cNvPr>
          <p:cNvSpPr/>
          <p:nvPr/>
        </p:nvSpPr>
        <p:spPr>
          <a:xfrm rot="21334062">
            <a:off x="2441795" y="2476208"/>
            <a:ext cx="4086508" cy="9354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ferrocarriles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4D1C05-02D5-4E45-A685-D558C9C058E9}"/>
              </a:ext>
            </a:extLst>
          </p:cNvPr>
          <p:cNvSpPr/>
          <p:nvPr/>
        </p:nvSpPr>
        <p:spPr>
          <a:xfrm>
            <a:off x="1619672" y="6042496"/>
            <a:ext cx="5832648" cy="648072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" name="Gráfico 9" descr="Tren">
            <a:extLst>
              <a:ext uri="{FF2B5EF4-FFF2-40B4-BE49-F238E27FC236}">
                <a16:creationId xmlns:a16="http://schemas.microsoft.com/office/drawing/2014/main" id="{465A9C6F-FBE3-4DBD-B178-F2F82F61A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808" y="522920"/>
            <a:ext cx="914400" cy="9144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D7A2302-FE76-4A36-A130-F4EF4DDC6C52}"/>
              </a:ext>
            </a:extLst>
          </p:cNvPr>
          <p:cNvSpPr/>
          <p:nvPr/>
        </p:nvSpPr>
        <p:spPr>
          <a:xfrm>
            <a:off x="7123895" y="6595801"/>
            <a:ext cx="20201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807911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54324" y="1257941"/>
            <a:ext cx="7434100" cy="555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0" name="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0" y="76470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Migraciones externas. Saldo, 1880- 1914</a:t>
            </a:r>
          </a:p>
        </p:txBody>
      </p:sp>
      <p:pic>
        <p:nvPicPr>
          <p:cNvPr id="12" name="Gráfico 11" descr="Hombre">
            <a:extLst>
              <a:ext uri="{FF2B5EF4-FFF2-40B4-BE49-F238E27FC236}">
                <a16:creationId xmlns:a16="http://schemas.microsoft.com/office/drawing/2014/main" id="{94AB76CA-EB93-4865-AAC1-D73BEDA46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24" y="597183"/>
            <a:ext cx="914400" cy="9144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19ED9EE9-CEBA-47F9-B914-1EA9AAC0064E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0" name="1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Estado y el desarrollo...</a:t>
            </a:r>
          </a:p>
        </p:txBody>
      </p:sp>
      <p:pic>
        <p:nvPicPr>
          <p:cNvPr id="3" name="Gráfico 2" descr="Centro educativo">
            <a:extLst>
              <a:ext uri="{FF2B5EF4-FFF2-40B4-BE49-F238E27FC236}">
                <a16:creationId xmlns:a16="http://schemas.microsoft.com/office/drawing/2014/main" id="{2BFC8D85-6D60-4324-8C84-E9EFB94CD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8868" y="3964805"/>
            <a:ext cx="2246263" cy="224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49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0" name="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0" y="76470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Destino de los gastos públicos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40EF75-DF8C-4099-AB9F-EFD7D2A790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185"/>
          <a:stretch/>
        </p:blipFill>
        <p:spPr>
          <a:xfrm>
            <a:off x="5715459" y="4174480"/>
            <a:ext cx="3415424" cy="2670546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03A497E-B97C-4ED1-98C7-02AD56B9A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82693"/>
              </p:ext>
            </p:extLst>
          </p:nvPr>
        </p:nvGraphicFramePr>
        <p:xfrm>
          <a:off x="514152" y="1684333"/>
          <a:ext cx="6090148" cy="18166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0917">
                  <a:extLst>
                    <a:ext uri="{9D8B030D-6E8A-4147-A177-3AD203B41FA5}">
                      <a16:colId xmlns:a16="http://schemas.microsoft.com/office/drawing/2014/main" val="3024788074"/>
                    </a:ext>
                  </a:extLst>
                </a:gridCol>
                <a:gridCol w="965238">
                  <a:extLst>
                    <a:ext uri="{9D8B030D-6E8A-4147-A177-3AD203B41FA5}">
                      <a16:colId xmlns:a16="http://schemas.microsoft.com/office/drawing/2014/main" val="4247295581"/>
                    </a:ext>
                  </a:extLst>
                </a:gridCol>
                <a:gridCol w="605220">
                  <a:extLst>
                    <a:ext uri="{9D8B030D-6E8A-4147-A177-3AD203B41FA5}">
                      <a16:colId xmlns:a16="http://schemas.microsoft.com/office/drawing/2014/main" val="2538429151"/>
                    </a:ext>
                  </a:extLst>
                </a:gridCol>
                <a:gridCol w="773553">
                  <a:extLst>
                    <a:ext uri="{9D8B030D-6E8A-4147-A177-3AD203B41FA5}">
                      <a16:colId xmlns:a16="http://schemas.microsoft.com/office/drawing/2014/main" val="251895552"/>
                    </a:ext>
                  </a:extLst>
                </a:gridCol>
                <a:gridCol w="605220">
                  <a:extLst>
                    <a:ext uri="{9D8B030D-6E8A-4147-A177-3AD203B41FA5}">
                      <a16:colId xmlns:a16="http://schemas.microsoft.com/office/drawing/2014/main" val="308181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Ítem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1884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1887 1889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1890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1891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70156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Gastos por función (como % del total de gastos)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6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Both"/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Interior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s-E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s-E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s-E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s-E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31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Both"/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Defensa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84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Both"/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y Justicia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577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Both"/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Hacienda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8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Both"/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Servicio de la deuda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s-ES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942196"/>
                  </a:ext>
                </a:extLst>
              </a:tr>
            </a:tbl>
          </a:graphicData>
        </a:graphic>
      </p:graphicFrame>
      <p:sp>
        <p:nvSpPr>
          <p:cNvPr id="4" name="Flecha: hacia la izquierda 3">
            <a:extLst>
              <a:ext uri="{FF2B5EF4-FFF2-40B4-BE49-F238E27FC236}">
                <a16:creationId xmlns:a16="http://schemas.microsoft.com/office/drawing/2014/main" id="{9C0DD256-2F11-4DD1-A6CB-494775E760FE}"/>
              </a:ext>
            </a:extLst>
          </p:cNvPr>
          <p:cNvSpPr/>
          <p:nvPr/>
        </p:nvSpPr>
        <p:spPr>
          <a:xfrm>
            <a:off x="6629700" y="1947550"/>
            <a:ext cx="2046756" cy="1080120"/>
          </a:xfrm>
          <a:prstGeom prst="lef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Dedicado a obras públicas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44E350-C290-4276-817E-B3E3C86E4BF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58" y="4070822"/>
            <a:ext cx="3202090" cy="2787178"/>
          </a:xfrm>
          <a:prstGeom prst="rect">
            <a:avLst/>
          </a:prstGeom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AF920F04-9F1B-48D7-AB42-584A83C5F493}"/>
              </a:ext>
            </a:extLst>
          </p:cNvPr>
          <p:cNvSpPr/>
          <p:nvPr/>
        </p:nvSpPr>
        <p:spPr>
          <a:xfrm>
            <a:off x="3563889" y="4869160"/>
            <a:ext cx="1872208" cy="136815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déficit </a:t>
            </a:r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superávit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CC44F50-4D89-4EAC-991C-4F8A008F67A2}"/>
              </a:ext>
            </a:extLst>
          </p:cNvPr>
          <p:cNvSpPr/>
          <p:nvPr/>
        </p:nvSpPr>
        <p:spPr>
          <a:xfrm>
            <a:off x="8294122" y="1202637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630830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0" name="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0" y="76470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Deuda pública total consolidada cono % PIB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6094F50F-F896-43EB-AD98-4E22A5E079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4963964"/>
              </p:ext>
            </p:extLst>
          </p:nvPr>
        </p:nvGraphicFramePr>
        <p:xfrm>
          <a:off x="251520" y="1484784"/>
          <a:ext cx="8712968" cy="525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8489D56A-B77E-444C-B1E3-D092A0A6C95A}"/>
              </a:ext>
            </a:extLst>
          </p:cNvPr>
          <p:cNvSpPr/>
          <p:nvPr/>
        </p:nvSpPr>
        <p:spPr>
          <a:xfrm>
            <a:off x="7123895" y="6595801"/>
            <a:ext cx="20201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74264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0" name="1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del Bien Primario Exportable</a:t>
            </a:r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industria...</a:t>
            </a:r>
          </a:p>
        </p:txBody>
      </p:sp>
      <p:pic>
        <p:nvPicPr>
          <p:cNvPr id="3" name="Gráfico 2" descr="Fábrica">
            <a:extLst>
              <a:ext uri="{FF2B5EF4-FFF2-40B4-BE49-F238E27FC236}">
                <a16:creationId xmlns:a16="http://schemas.microsoft.com/office/drawing/2014/main" id="{5DD3CF94-A9E3-4033-A1A8-64D239E94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1900" y="4119916"/>
            <a:ext cx="180020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75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42844" y="3267884"/>
            <a:ext cx="1188796" cy="6611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BPE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1785918" y="1861354"/>
            <a:ext cx="2453972" cy="9247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a la industria doméstica</a:t>
            </a:r>
            <a:endParaRPr lang="es-AR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4694168" y="1285860"/>
            <a:ext cx="2260366" cy="8561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 hacia adelante</a:t>
            </a:r>
            <a:endParaRPr lang="es-AR" sz="20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785918" y="4669666"/>
            <a:ext cx="2453972" cy="9739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mercados Domésticos</a:t>
            </a:r>
            <a:endParaRPr lang="es-AR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4624291" y="4712646"/>
            <a:ext cx="2338181" cy="9019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de demanda</a:t>
            </a:r>
            <a:endParaRPr lang="es-AR" sz="20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10 Conector recto de flecha"/>
          <p:cNvCxnSpPr>
            <a:cxnSpLocks/>
            <a:stCxn id="5" idx="3"/>
            <a:endCxn id="7" idx="1"/>
          </p:cNvCxnSpPr>
          <p:nvPr/>
        </p:nvCxnSpPr>
        <p:spPr>
          <a:xfrm flipV="1">
            <a:off x="4239890" y="1713918"/>
            <a:ext cx="454278" cy="609788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>
            <a:cxnSpLocks/>
            <a:stCxn id="8" idx="3"/>
            <a:endCxn id="9" idx="1"/>
          </p:cNvCxnSpPr>
          <p:nvPr/>
        </p:nvCxnSpPr>
        <p:spPr>
          <a:xfrm>
            <a:off x="4239890" y="5156622"/>
            <a:ext cx="384401" cy="697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>
            <a:cxnSpLocks/>
            <a:stCxn id="4" idx="3"/>
            <a:endCxn id="5" idx="1"/>
          </p:cNvCxnSpPr>
          <p:nvPr/>
        </p:nvCxnSpPr>
        <p:spPr>
          <a:xfrm flipV="1">
            <a:off x="1331640" y="2323706"/>
            <a:ext cx="454278" cy="1274769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>
            <a:cxnSpLocks/>
            <a:stCxn id="4" idx="3"/>
            <a:endCxn id="8" idx="1"/>
          </p:cNvCxnSpPr>
          <p:nvPr/>
        </p:nvCxnSpPr>
        <p:spPr>
          <a:xfrm>
            <a:off x="1331640" y="3598475"/>
            <a:ext cx="454278" cy="1558147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Rectángulo redondeado"/>
          <p:cNvSpPr/>
          <p:nvPr/>
        </p:nvSpPr>
        <p:spPr>
          <a:xfrm>
            <a:off x="4694168" y="2509426"/>
            <a:ext cx="2260366" cy="91957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 hacia atrás</a:t>
            </a:r>
            <a:endParaRPr lang="es-AR" sz="20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33 Conector recto de flecha"/>
          <p:cNvCxnSpPr>
            <a:cxnSpLocks/>
            <a:stCxn id="5" idx="3"/>
            <a:endCxn id="33" idx="1"/>
          </p:cNvCxnSpPr>
          <p:nvPr/>
        </p:nvCxnSpPr>
        <p:spPr>
          <a:xfrm>
            <a:off x="4239890" y="2323706"/>
            <a:ext cx="454278" cy="645507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errar llave"/>
          <p:cNvSpPr/>
          <p:nvPr/>
        </p:nvSpPr>
        <p:spPr>
          <a:xfrm>
            <a:off x="6732240" y="1142984"/>
            <a:ext cx="571504" cy="4572032"/>
          </a:xfrm>
          <a:prstGeom prst="rightBrace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Rectángulo redondeado"/>
          <p:cNvSpPr/>
          <p:nvPr/>
        </p:nvSpPr>
        <p:spPr>
          <a:xfrm>
            <a:off x="7380312" y="2643182"/>
            <a:ext cx="1617424" cy="16014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Incentivo a la inversión interna</a:t>
            </a:r>
            <a:endParaRPr lang="es-AR" sz="20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01015"/>
              </p:ext>
            </p:extLst>
          </p:nvPr>
        </p:nvGraphicFramePr>
        <p:xfrm>
          <a:off x="571472" y="928670"/>
          <a:ext cx="7929618" cy="5392165"/>
        </p:xfrm>
        <a:graphic>
          <a:graphicData uri="http://schemas.openxmlformats.org/drawingml/2006/table">
            <a:tbl>
              <a:tblPr/>
              <a:tblGrid>
                <a:gridCol w="583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1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7687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2400" b="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(Siguiendo a </a:t>
                      </a:r>
                      <a:r>
                        <a:rPr lang="es-ES" sz="2400" b="0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Geller</a:t>
                      </a:r>
                      <a:r>
                        <a:rPr lang="es-ES" sz="2400" b="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)</a:t>
                      </a:r>
                      <a:endParaRPr lang="es-AR" sz="2400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Destino de la producción</a:t>
                      </a:r>
                      <a:endParaRPr lang="es-ES" sz="2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373">
                <a:tc rowSpan="3"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Sector Industrial</a:t>
                      </a:r>
                      <a:endParaRPr lang="es-E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AR" sz="2800" b="1" u="none" baseline="30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er</a:t>
                      </a: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 Grupo</a:t>
                      </a:r>
                      <a:endParaRPr lang="es-ES" sz="2800" b="1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-Consumo Interno.</a:t>
                      </a:r>
                      <a:endParaRPr lang="es-ES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-Exportación.</a:t>
                      </a:r>
                      <a:endParaRPr lang="es-ES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315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s-AR" sz="2800" b="1" u="none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do </a:t>
                      </a: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Grupo</a:t>
                      </a:r>
                      <a:endParaRPr lang="es-ES" sz="2800" b="1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-Consumo Interno.</a:t>
                      </a:r>
                      <a:endParaRPr lang="es-ES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019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 </a:t>
                      </a:r>
                      <a:r>
                        <a:rPr lang="es-AR" sz="2800" b="1" u="none" baseline="30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er</a:t>
                      </a:r>
                      <a:r>
                        <a:rPr lang="es-AR" sz="2800" b="1" u="none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28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Grupo</a:t>
                      </a:r>
                      <a:endParaRPr lang="es-ES" sz="2800" b="1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-Consumo interno.</a:t>
                      </a:r>
                      <a:endParaRPr lang="es-ES" sz="2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20714"/>
              </p:ext>
            </p:extLst>
          </p:nvPr>
        </p:nvGraphicFramePr>
        <p:xfrm>
          <a:off x="1655676" y="2708920"/>
          <a:ext cx="5832648" cy="2454542"/>
        </p:xfrm>
        <a:graphic>
          <a:graphicData uri="http://schemas.openxmlformats.org/drawingml/2006/table">
            <a:tbl>
              <a:tblPr/>
              <a:tblGrid>
                <a:gridCol w="1991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9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competitividad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Tipos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industrias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Factores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Rentabilidad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</a:t>
                      </a: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Ventajas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comparativas</a:t>
                      </a: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del factor tierra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-Molinos Harineros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-Frigoríficos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--</a:t>
                      </a:r>
                      <a:endParaRPr lang="es-AR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-9252" y="69269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Primer Grupo</a:t>
            </a:r>
            <a:endParaRPr lang="es-AR" dirty="0"/>
          </a:p>
        </p:txBody>
      </p:sp>
      <p:sp>
        <p:nvSpPr>
          <p:cNvPr id="7" name="6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Molinos. Harina de trigo. Toneladas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B7732CCF-9461-407B-9198-C3CA7AFC9D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5435616"/>
              </p:ext>
            </p:extLst>
          </p:nvPr>
        </p:nvGraphicFramePr>
        <p:xfrm>
          <a:off x="0" y="1412776"/>
          <a:ext cx="9144000" cy="5183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21ED05F7-3089-427B-9AB5-765DE08601FD}"/>
              </a:ext>
            </a:extLst>
          </p:cNvPr>
          <p:cNvSpPr/>
          <p:nvPr/>
        </p:nvSpPr>
        <p:spPr>
          <a:xfrm rot="1227730">
            <a:off x="2523792" y="2317235"/>
            <a:ext cx="2770951" cy="114105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Aumentos de la producción y el consumo</a:t>
            </a:r>
            <a:endParaRPr lang="es-E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FAAD5D2D-3353-419B-B848-C0A00DB30767}"/>
              </a:ext>
            </a:extLst>
          </p:cNvPr>
          <p:cNvSpPr/>
          <p:nvPr/>
        </p:nvSpPr>
        <p:spPr>
          <a:xfrm rot="1739614">
            <a:off x="3668283" y="4156104"/>
            <a:ext cx="1807434" cy="113269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Aumentos de la exportación</a:t>
            </a:r>
            <a:endParaRPr lang="es-E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6 Rectángulo redondeado">
            <a:extLst>
              <a:ext uri="{FF2B5EF4-FFF2-40B4-BE49-F238E27FC236}">
                <a16:creationId xmlns:a16="http://schemas.microsoft.com/office/drawing/2014/main" id="{934D75B6-3D72-4DFF-B6CA-456DA1E374A7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DE87F31-046C-4F51-B555-017DFC09B69B}"/>
              </a:ext>
            </a:extLst>
          </p:cNvPr>
          <p:cNvSpPr/>
          <p:nvPr/>
        </p:nvSpPr>
        <p:spPr>
          <a:xfrm>
            <a:off x="7101453" y="6595801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21334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134083"/>
              </p:ext>
            </p:extLst>
          </p:nvPr>
        </p:nvGraphicFramePr>
        <p:xfrm>
          <a:off x="1187624" y="1772816"/>
          <a:ext cx="6840760" cy="3840480"/>
        </p:xfrm>
        <a:graphic>
          <a:graphicData uri="http://schemas.openxmlformats.org/drawingml/2006/table">
            <a:tbl>
              <a:tblPr/>
              <a:tblGrid>
                <a:gridCol w="21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9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competitividad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Tipos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industrias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Factores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Rentabilidad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2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No poseen ventajas comparativas </a:t>
                      </a: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especiales. 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-Constituyen </a:t>
                      </a: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bienes no transables</a:t>
                      </a: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-Elevado valor de uso interno.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-Construcción de muebles.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 Fabricación de herramientas e instrumentos agrícolas.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-Construcción de inmuebles y carreteras.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-Producción de alimentos perecederos.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-Reparación y mantenimiento del capital productivo.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--</a:t>
                      </a:r>
                      <a:endParaRPr lang="es-AR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0" y="736622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Segundo Grupo</a:t>
            </a:r>
            <a:endParaRPr lang="es-AR" dirty="0"/>
          </a:p>
        </p:txBody>
      </p:sp>
      <p:sp>
        <p:nvSpPr>
          <p:cNvPr id="8" name="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DE8B0B2-340F-4E20-ACD2-D850E7577154}"/>
              </a:ext>
            </a:extLst>
          </p:cNvPr>
          <p:cNvSpPr/>
          <p:nvPr/>
        </p:nvSpPr>
        <p:spPr>
          <a:xfrm>
            <a:off x="1475656" y="4149080"/>
            <a:ext cx="1512168" cy="792088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41198"/>
              </p:ext>
            </p:extLst>
          </p:nvPr>
        </p:nvGraphicFramePr>
        <p:xfrm>
          <a:off x="1259632" y="1916832"/>
          <a:ext cx="6768752" cy="4605123"/>
        </p:xfrm>
        <a:graphic>
          <a:graphicData uri="http://schemas.openxmlformats.org/drawingml/2006/table">
            <a:tbl>
              <a:tblPr/>
              <a:tblGrid>
                <a:gridCol w="1856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3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16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 de competitividad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Tipos de industrias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Factores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de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Rentabilidad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1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</a:t>
                      </a: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Compiten con las importaciones</a:t>
                      </a: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, pero </a:t>
                      </a: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no poseen ventajas comparativas</a:t>
                      </a: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-Producción de vino y cerveza.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 Producción de vestido y tocador.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-Producción de productos químicos.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-Producción de fibras, hilos y tejidos.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-Industria del tabaco</a:t>
                      </a:r>
                      <a:endParaRPr lang="es-E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-Tipo de cambio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-Costo de transporte.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-Tarifas aduaneras.</a:t>
                      </a:r>
                      <a:endParaRPr lang="es-E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28591" marR="28591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0" y="724634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Tercer Grupo</a:t>
            </a:r>
            <a:endParaRPr lang="es-AR" dirty="0"/>
          </a:p>
        </p:txBody>
      </p:sp>
      <p:sp>
        <p:nvSpPr>
          <p:cNvPr id="8" name="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9" name="8 Elipse"/>
          <p:cNvSpPr/>
          <p:nvPr/>
        </p:nvSpPr>
        <p:spPr>
          <a:xfrm>
            <a:off x="5987918" y="3573016"/>
            <a:ext cx="2071670" cy="2500330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071670" y="908720"/>
            <a:ext cx="4857784" cy="5040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rentabilidad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1989410"/>
            <a:ext cx="3960440" cy="432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Costos de Transporte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251520" y="3513153"/>
            <a:ext cx="3960440" cy="432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de cambio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251520" y="5180342"/>
            <a:ext cx="3960440" cy="432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Arancel a las importaciones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716016" y="1989410"/>
            <a:ext cx="3960440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Protección natural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4716016" y="3254599"/>
            <a:ext cx="3960440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Depreciación: se benefician actividades cuyos precios relativos caen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716016" y="4921788"/>
            <a:ext cx="3960440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Argentina a nivel de Australia y Canadá en 1913. </a:t>
            </a:r>
          </a:p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Considerar Exenciones </a:t>
            </a:r>
          </a:p>
        </p:txBody>
      </p:sp>
      <p:cxnSp>
        <p:nvCxnSpPr>
          <p:cNvPr id="13" name="12 Conector recto de flecha"/>
          <p:cNvCxnSpPr>
            <a:stCxn id="6" idx="3"/>
            <a:endCxn id="9" idx="1"/>
          </p:cNvCxnSpPr>
          <p:nvPr/>
        </p:nvCxnSpPr>
        <p:spPr>
          <a:xfrm>
            <a:off x="4283968" y="2205434"/>
            <a:ext cx="432048" cy="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>
            <a:stCxn id="7" idx="3"/>
            <a:endCxn id="10" idx="1"/>
          </p:cNvCxnSpPr>
          <p:nvPr/>
        </p:nvCxnSpPr>
        <p:spPr>
          <a:xfrm flipV="1">
            <a:off x="4211960" y="3722651"/>
            <a:ext cx="504056" cy="6526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>
            <a:stCxn id="8" idx="3"/>
            <a:endCxn id="11" idx="1"/>
          </p:cNvCxnSpPr>
          <p:nvPr/>
        </p:nvCxnSpPr>
        <p:spPr>
          <a:xfrm flipV="1">
            <a:off x="4211960" y="5389840"/>
            <a:ext cx="504056" cy="6526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0" y="69269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Principales socios comerciales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0C670BED-31F9-4060-8D5A-637167D3C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563660"/>
              </p:ext>
            </p:extLst>
          </p:nvPr>
        </p:nvGraphicFramePr>
        <p:xfrm>
          <a:off x="-31440" y="1348792"/>
          <a:ext cx="9175440" cy="5509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03C9BB0-8B5F-45E6-810F-BBAFE35286B2}"/>
              </a:ext>
            </a:extLst>
          </p:cNvPr>
          <p:cNvSpPr/>
          <p:nvPr/>
        </p:nvSpPr>
        <p:spPr>
          <a:xfrm>
            <a:off x="2267744" y="2420888"/>
            <a:ext cx="2088232" cy="10801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LEJOS</a:t>
            </a:r>
            <a:endParaRPr lang="es-E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11 Rectángulo redondeado">
            <a:extLst>
              <a:ext uri="{FF2B5EF4-FFF2-40B4-BE49-F238E27FC236}">
                <a16:creationId xmlns:a16="http://schemas.microsoft.com/office/drawing/2014/main" id="{6E722409-8772-43E0-B0ED-53AD01932C15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97ED32-9468-4CFD-9514-86F8B2138839}"/>
              </a:ext>
            </a:extLst>
          </p:cNvPr>
          <p:cNvSpPr/>
          <p:nvPr/>
        </p:nvSpPr>
        <p:spPr>
          <a:xfrm>
            <a:off x="7101453" y="6595801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727410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0" y="69269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Tipo de cambio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09BF86EA-0E57-409B-8578-C9EDC95E09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010350"/>
              </p:ext>
            </p:extLst>
          </p:nvPr>
        </p:nvGraphicFramePr>
        <p:xfrm>
          <a:off x="-108520" y="1156844"/>
          <a:ext cx="9252520" cy="5701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E76C2D0C-A194-4787-834F-F9E77069E379}"/>
              </a:ext>
            </a:extLst>
          </p:cNvPr>
          <p:cNvSpPr/>
          <p:nvPr/>
        </p:nvSpPr>
        <p:spPr>
          <a:xfrm rot="19611514">
            <a:off x="2757022" y="3985345"/>
            <a:ext cx="3168352" cy="1152128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fija a un nivel “</a:t>
            </a:r>
            <a:r>
              <a:rPr lang="es-AR" sz="20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Alto”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11 Rectángulo redondeado">
            <a:extLst>
              <a:ext uri="{FF2B5EF4-FFF2-40B4-BE49-F238E27FC236}">
                <a16:creationId xmlns:a16="http://schemas.microsoft.com/office/drawing/2014/main" id="{7DF16F7F-4FB9-4A0D-83A6-05E54D37B0DA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D2EA90-C183-4B12-B3AB-EEC2525AF87F}"/>
              </a:ext>
            </a:extLst>
          </p:cNvPr>
          <p:cNvSpPr/>
          <p:nvPr/>
        </p:nvSpPr>
        <p:spPr>
          <a:xfrm>
            <a:off x="7101453" y="6597352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116921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Algunos resultados</a:t>
            </a:r>
          </a:p>
        </p:txBody>
      </p:sp>
      <p:sp>
        <p:nvSpPr>
          <p:cNvPr id="6" name="11 Rectángulo redondeado">
            <a:extLst>
              <a:ext uri="{FF2B5EF4-FFF2-40B4-BE49-F238E27FC236}">
                <a16:creationId xmlns:a16="http://schemas.microsoft.com/office/drawing/2014/main" id="{55E8EE3D-3937-4C4A-BF65-827DE06D764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pic>
        <p:nvPicPr>
          <p:cNvPr id="3" name="Gráfico 2" descr="Bandera">
            <a:extLst>
              <a:ext uri="{FF2B5EF4-FFF2-40B4-BE49-F238E27FC236}">
                <a16:creationId xmlns:a16="http://schemas.microsoft.com/office/drawing/2014/main" id="{341B46D8-E2A8-4EFD-861B-41868EDD5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1900" y="4221088"/>
            <a:ext cx="180020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14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411800"/>
              </p:ext>
            </p:extLst>
          </p:nvPr>
        </p:nvGraphicFramePr>
        <p:xfrm>
          <a:off x="3419872" y="2107206"/>
          <a:ext cx="5328591" cy="4248477"/>
        </p:xfrm>
        <a:graphic>
          <a:graphicData uri="http://schemas.openxmlformats.org/drawingml/2006/table">
            <a:tbl>
              <a:tblPr/>
              <a:tblGrid>
                <a:gridCol w="268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1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Inversión</a:t>
                      </a:r>
                      <a:endParaRPr lang="es-AR"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Producción</a:t>
                      </a:r>
                      <a:endParaRPr lang="es-AR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Anual</a:t>
                      </a:r>
                      <a:endParaRPr lang="es-AR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Alimentos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764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991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Materiales de construcción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216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Vestido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160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Metales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Muebles y carruajes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Fibras y textiles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Productos químicos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Papel e impresos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Arte, Ornamentos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Industrias Varias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417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TOTALES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1.788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1.862</a:t>
                      </a: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4 Elipse"/>
          <p:cNvSpPr/>
          <p:nvPr/>
        </p:nvSpPr>
        <p:spPr>
          <a:xfrm>
            <a:off x="3240360" y="2789186"/>
            <a:ext cx="1331640" cy="292224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2988332" y="1282012"/>
            <a:ext cx="1331640" cy="10801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-Frigoríficos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-Molinos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-Ingenios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-Bodegas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7 Conector recto de flecha"/>
          <p:cNvCxnSpPr>
            <a:cxnSpLocks/>
            <a:stCxn id="5" idx="0"/>
            <a:endCxn id="6" idx="2"/>
          </p:cNvCxnSpPr>
          <p:nvPr/>
        </p:nvCxnSpPr>
        <p:spPr>
          <a:xfrm flipH="1" flipV="1">
            <a:off x="3654152" y="2362132"/>
            <a:ext cx="252028" cy="42705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 redondeado"/>
          <p:cNvSpPr/>
          <p:nvPr/>
        </p:nvSpPr>
        <p:spPr>
          <a:xfrm>
            <a:off x="323528" y="1459134"/>
            <a:ext cx="2232248" cy="10801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-Aserraderos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-Obrajes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-Carpinterías metálicas</a:t>
            </a:r>
          </a:p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-Constructoras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13 Conector recto de flecha"/>
          <p:cNvCxnSpPr>
            <a:cxnSpLocks/>
            <a:stCxn id="15" idx="2"/>
            <a:endCxn id="13" idx="3"/>
          </p:cNvCxnSpPr>
          <p:nvPr/>
        </p:nvCxnSpPr>
        <p:spPr>
          <a:xfrm flipH="1" flipV="1">
            <a:off x="2555776" y="1999194"/>
            <a:ext cx="504056" cy="126014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Elipse"/>
          <p:cNvSpPr/>
          <p:nvPr/>
        </p:nvSpPr>
        <p:spPr>
          <a:xfrm>
            <a:off x="3059832" y="3115318"/>
            <a:ext cx="3312368" cy="288032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 redondeado"/>
          <p:cNvSpPr/>
          <p:nvPr/>
        </p:nvSpPr>
        <p:spPr>
          <a:xfrm>
            <a:off x="323528" y="2611262"/>
            <a:ext cx="2232248" cy="79208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Insuficiente para abastecer demanda interna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18 Conector recto de flecha"/>
          <p:cNvCxnSpPr>
            <a:cxnSpLocks/>
            <a:stCxn id="15" idx="2"/>
            <a:endCxn id="18" idx="3"/>
          </p:cNvCxnSpPr>
          <p:nvPr/>
        </p:nvCxnSpPr>
        <p:spPr>
          <a:xfrm flipH="1" flipV="1">
            <a:off x="2555776" y="3007306"/>
            <a:ext cx="504056" cy="25202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Elipse"/>
          <p:cNvSpPr/>
          <p:nvPr/>
        </p:nvSpPr>
        <p:spPr>
          <a:xfrm>
            <a:off x="3131840" y="3760524"/>
            <a:ext cx="1368152" cy="279302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899592" y="3907406"/>
            <a:ext cx="1656184" cy="7391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tenía ventajas comparativas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28 Conector recto de flecha"/>
          <p:cNvCxnSpPr>
            <a:cxnSpLocks/>
            <a:stCxn id="27" idx="2"/>
            <a:endCxn id="28" idx="3"/>
          </p:cNvCxnSpPr>
          <p:nvPr/>
        </p:nvCxnSpPr>
        <p:spPr>
          <a:xfrm flipH="1">
            <a:off x="2555776" y="3900175"/>
            <a:ext cx="576064" cy="37679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 redondeado"/>
          <p:cNvSpPr/>
          <p:nvPr/>
        </p:nvSpPr>
        <p:spPr>
          <a:xfrm>
            <a:off x="899592" y="4790552"/>
            <a:ext cx="1656184" cy="1061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gozaron de protección hasta después de la guerra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Elipse"/>
          <p:cNvSpPr/>
          <p:nvPr/>
        </p:nvSpPr>
        <p:spPr>
          <a:xfrm>
            <a:off x="3131840" y="4401192"/>
            <a:ext cx="2232248" cy="279302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4" name="33 Conector recto de flecha"/>
          <p:cNvCxnSpPr>
            <a:cxnSpLocks/>
            <a:stCxn id="33" idx="2"/>
            <a:endCxn id="32" idx="3"/>
          </p:cNvCxnSpPr>
          <p:nvPr/>
        </p:nvCxnSpPr>
        <p:spPr>
          <a:xfrm flipH="1">
            <a:off x="2555776" y="4540843"/>
            <a:ext cx="576064" cy="78024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 redondeado"/>
          <p:cNvSpPr/>
          <p:nvPr/>
        </p:nvSpPr>
        <p:spPr>
          <a:xfrm>
            <a:off x="899592" y="6067646"/>
            <a:ext cx="1656184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Escasez de carbón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Elipse"/>
          <p:cNvSpPr/>
          <p:nvPr/>
        </p:nvSpPr>
        <p:spPr>
          <a:xfrm>
            <a:off x="3131840" y="4729626"/>
            <a:ext cx="2376264" cy="296802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9" name="38 Conector recto de flecha"/>
          <p:cNvCxnSpPr>
            <a:cxnSpLocks/>
            <a:stCxn id="38" idx="2"/>
            <a:endCxn id="37" idx="3"/>
          </p:cNvCxnSpPr>
          <p:nvPr/>
        </p:nvCxnSpPr>
        <p:spPr>
          <a:xfrm flipH="1">
            <a:off x="2555776" y="4878027"/>
            <a:ext cx="576064" cy="144164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2 Abrir llave"/>
          <p:cNvSpPr/>
          <p:nvPr/>
        </p:nvSpPr>
        <p:spPr>
          <a:xfrm>
            <a:off x="683568" y="3763390"/>
            <a:ext cx="288032" cy="2880320"/>
          </a:xfrm>
          <a:prstGeom prst="leftBrac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53 Rectángulo redondeado"/>
          <p:cNvSpPr/>
          <p:nvPr/>
        </p:nvSpPr>
        <p:spPr>
          <a:xfrm rot="16200000">
            <a:off x="-648580" y="5095538"/>
            <a:ext cx="2232248" cy="288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 participación</a:t>
            </a:r>
            <a:endParaRPr lang="es-A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0" y="71435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 de la producción y capital invertido. 1914</a:t>
            </a:r>
          </a:p>
        </p:txBody>
      </p:sp>
      <p:sp>
        <p:nvSpPr>
          <p:cNvPr id="24" name="23 Rectángulo redondeado"/>
          <p:cNvSpPr/>
          <p:nvPr/>
        </p:nvSpPr>
        <p:spPr>
          <a:xfrm>
            <a:off x="0" y="-37738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5E1D475-D524-46C4-8CC5-0E5370B5FED6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71435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Urbanización (población de principales ciudades)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D114CB5-D9EB-4E61-A183-BB1CE290E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801501"/>
              </p:ext>
            </p:extLst>
          </p:nvPr>
        </p:nvGraphicFramePr>
        <p:xfrm>
          <a:off x="899592" y="2120366"/>
          <a:ext cx="6491064" cy="3168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3688">
                  <a:extLst>
                    <a:ext uri="{9D8B030D-6E8A-4147-A177-3AD203B41FA5}">
                      <a16:colId xmlns:a16="http://schemas.microsoft.com/office/drawing/2014/main" val="942790072"/>
                    </a:ext>
                  </a:extLst>
                </a:gridCol>
                <a:gridCol w="2163688">
                  <a:extLst>
                    <a:ext uri="{9D8B030D-6E8A-4147-A177-3AD203B41FA5}">
                      <a16:colId xmlns:a16="http://schemas.microsoft.com/office/drawing/2014/main" val="1087273710"/>
                    </a:ext>
                  </a:extLst>
                </a:gridCol>
                <a:gridCol w="2163688">
                  <a:extLst>
                    <a:ext uri="{9D8B030D-6E8A-4147-A177-3AD203B41FA5}">
                      <a16:colId xmlns:a16="http://schemas.microsoft.com/office/drawing/2014/main" val="3066872353"/>
                    </a:ext>
                  </a:extLst>
                </a:gridCol>
              </a:tblGrid>
              <a:tr h="6336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20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1895</a:t>
                      </a:r>
                      <a:endParaRPr lang="es-ES" sz="20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1914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823191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Buenos Aires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663.854</a:t>
                      </a:r>
                      <a:endParaRPr lang="es-ES" sz="20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1.575.814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46151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Rosario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91.669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222.592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518548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Plata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60.995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137.413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222331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Córdoba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47.609</a:t>
                      </a:r>
                      <a:endParaRPr lang="es-ES" sz="20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s-A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121.982</a:t>
                      </a:r>
                      <a:endParaRPr lang="es-ES" sz="20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98649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1997DE5-FC10-4AB2-9A47-CB57ACA8A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280" y="3058210"/>
            <a:ext cx="72122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6BC904B-C1D7-4B3B-8C4E-AF8232A8B263}"/>
              </a:ext>
            </a:extLst>
          </p:cNvPr>
          <p:cNvSpPr/>
          <p:nvPr/>
        </p:nvSpPr>
        <p:spPr>
          <a:xfrm>
            <a:off x="7596336" y="2852936"/>
            <a:ext cx="936104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+1,7%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CE1F962-2DFB-457B-9AA6-25727458A181}"/>
              </a:ext>
            </a:extLst>
          </p:cNvPr>
          <p:cNvSpPr/>
          <p:nvPr/>
        </p:nvSpPr>
        <p:spPr>
          <a:xfrm>
            <a:off x="7596336" y="3501008"/>
            <a:ext cx="936104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+1,9%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F266036-9FEC-469D-8FF1-1E83796DC138}"/>
              </a:ext>
            </a:extLst>
          </p:cNvPr>
          <p:cNvSpPr/>
          <p:nvPr/>
        </p:nvSpPr>
        <p:spPr>
          <a:xfrm>
            <a:off x="7596336" y="4142725"/>
            <a:ext cx="936104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+1,2%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6FB87B2-CE42-42FB-8EA8-5E0FF56B5B84}"/>
              </a:ext>
            </a:extLst>
          </p:cNvPr>
          <p:cNvSpPr/>
          <p:nvPr/>
        </p:nvSpPr>
        <p:spPr>
          <a:xfrm>
            <a:off x="7596336" y="4781279"/>
            <a:ext cx="936104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+2,4%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5 Rectángulo redondeado">
            <a:extLst>
              <a:ext uri="{FF2B5EF4-FFF2-40B4-BE49-F238E27FC236}">
                <a16:creationId xmlns:a16="http://schemas.microsoft.com/office/drawing/2014/main" id="{4E3FD42F-44AC-48D8-8281-7BF9A8E4E7B2}"/>
              </a:ext>
            </a:extLst>
          </p:cNvPr>
          <p:cNvSpPr/>
          <p:nvPr/>
        </p:nvSpPr>
        <p:spPr>
          <a:xfrm>
            <a:off x="1535885" y="5566065"/>
            <a:ext cx="6072230" cy="10001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1914: 53% de la población era urbana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34D5D18-4B0C-4E9E-81FB-3686A5A10042}"/>
              </a:ext>
            </a:extLst>
          </p:cNvPr>
          <p:cNvSpPr/>
          <p:nvPr/>
        </p:nvSpPr>
        <p:spPr>
          <a:xfrm>
            <a:off x="7596336" y="2091713"/>
            <a:ext cx="936104" cy="6557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Var. </a:t>
            </a:r>
            <a:r>
              <a:rPr lang="es-A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anual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FF6605F-787D-4681-945A-2E6D53D7932D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495405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lum contrast="-40000"/>
          </a:blip>
          <a:srcRect/>
          <a:stretch>
            <a:fillRect/>
          </a:stretch>
        </p:blipFill>
        <p:spPr bwMode="auto">
          <a:xfrm>
            <a:off x="683568" y="1167035"/>
            <a:ext cx="7514689" cy="5690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71435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Urbanización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4701E2-2B48-42F8-9F71-710594574357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714356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Salario industrial real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19B7C2E-56A4-4FF4-801F-4D80A3D299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406151"/>
              </p:ext>
            </p:extLst>
          </p:nvPr>
        </p:nvGraphicFramePr>
        <p:xfrm>
          <a:off x="0" y="1114466"/>
          <a:ext cx="9144000" cy="5554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curvada hacia arriba 1">
            <a:extLst>
              <a:ext uri="{FF2B5EF4-FFF2-40B4-BE49-F238E27FC236}">
                <a16:creationId xmlns:a16="http://schemas.microsoft.com/office/drawing/2014/main" id="{5C17571E-B008-465A-B894-9EB242FEE31D}"/>
              </a:ext>
            </a:extLst>
          </p:cNvPr>
          <p:cNvSpPr/>
          <p:nvPr/>
        </p:nvSpPr>
        <p:spPr>
          <a:xfrm rot="20597336">
            <a:off x="4626314" y="3144078"/>
            <a:ext cx="4176464" cy="1008112"/>
          </a:xfrm>
          <a:prstGeom prst="curved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561EBA3-4F66-4CBF-9EB6-0CC6A38BAB6E}"/>
              </a:ext>
            </a:extLst>
          </p:cNvPr>
          <p:cNvSpPr/>
          <p:nvPr/>
        </p:nvSpPr>
        <p:spPr>
          <a:xfrm>
            <a:off x="6156176" y="4515340"/>
            <a:ext cx="1817894" cy="61613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+29%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18C782-FBB6-45A6-8BA7-0EF8E5EE068D}"/>
              </a:ext>
            </a:extLst>
          </p:cNvPr>
          <p:cNvSpPr/>
          <p:nvPr/>
        </p:nvSpPr>
        <p:spPr>
          <a:xfrm>
            <a:off x="7101453" y="6595801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79579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09246" y="785794"/>
            <a:ext cx="8820472" cy="5040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Argentina continuó siendo “economía de bien primario exportable”</a:t>
            </a:r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lum contrast="-40000"/>
          </a:blip>
          <a:srcRect/>
          <a:stretch>
            <a:fillRect/>
          </a:stretch>
        </p:blipFill>
        <p:spPr bwMode="auto">
          <a:xfrm>
            <a:off x="2285984" y="1571612"/>
            <a:ext cx="6040317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Rectángulo redondeado"/>
          <p:cNvSpPr/>
          <p:nvPr/>
        </p:nvSpPr>
        <p:spPr>
          <a:xfrm>
            <a:off x="3203848" y="3933056"/>
            <a:ext cx="917864" cy="56124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86,5% 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</a:t>
            </a:r>
          </a:p>
        </p:txBody>
      </p:sp>
      <p:sp>
        <p:nvSpPr>
          <p:cNvPr id="14" name="13 Rectángulo redondeado"/>
          <p:cNvSpPr/>
          <p:nvPr/>
        </p:nvSpPr>
        <p:spPr>
          <a:xfrm>
            <a:off x="7308303" y="2708920"/>
            <a:ext cx="1017997" cy="5760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56,2% mayor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sp>
        <p:nvSpPr>
          <p:cNvPr id="18" name="17 Flecha curvada hacia arriba"/>
          <p:cNvSpPr/>
          <p:nvPr/>
        </p:nvSpPr>
        <p:spPr>
          <a:xfrm rot="1184828">
            <a:off x="1000100" y="4143380"/>
            <a:ext cx="3357586" cy="1357322"/>
          </a:xfrm>
          <a:prstGeom prst="curved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142876" y="1928802"/>
            <a:ext cx="2143108" cy="2428892"/>
          </a:xfrm>
          <a:prstGeom prst="roundRect">
            <a:avLst>
              <a:gd name="adj" fmla="val 801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 aumentó la participación del valor agregado de la industria manufacturera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7C02FFA-BD8E-4C90-B851-569C90DACF9C}"/>
              </a:ext>
            </a:extLst>
          </p:cNvPr>
          <p:cNvSpPr/>
          <p:nvPr/>
        </p:nvSpPr>
        <p:spPr>
          <a:xfrm>
            <a:off x="8274851" y="6595801"/>
            <a:ext cx="869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Gómez</a:t>
            </a:r>
            <a:endParaRPr lang="es-AR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  <p:sp>
        <p:nvSpPr>
          <p:cNvPr id="6" name="11 Rectángulo redondeado">
            <a:extLst>
              <a:ext uri="{FF2B5EF4-FFF2-40B4-BE49-F238E27FC236}">
                <a16:creationId xmlns:a16="http://schemas.microsoft.com/office/drawing/2014/main" id="{55E8EE3D-3937-4C4A-BF65-827DE06D764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Implicancias sobre la industria</a:t>
            </a:r>
          </a:p>
        </p:txBody>
      </p:sp>
      <p:pic>
        <p:nvPicPr>
          <p:cNvPr id="4" name="Gráfico 3" descr="Reloj de arena">
            <a:extLst>
              <a:ext uri="{FF2B5EF4-FFF2-40B4-BE49-F238E27FC236}">
                <a16:creationId xmlns:a16="http://schemas.microsoft.com/office/drawing/2014/main" id="{4DE8395F-AD29-4390-83D2-74E67D32C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8888" y="4278019"/>
            <a:ext cx="1886223" cy="188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7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3483656" y="4365104"/>
            <a:ext cx="2122960" cy="7394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capital y trabajo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6166580" y="4365104"/>
            <a:ext cx="2689556" cy="727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de demanda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11 Conector recto de flecha"/>
          <p:cNvCxnSpPr>
            <a:cxnSpLocks/>
            <a:stCxn id="10" idx="2"/>
            <a:endCxn id="18" idx="0"/>
          </p:cNvCxnSpPr>
          <p:nvPr/>
        </p:nvCxnSpPr>
        <p:spPr>
          <a:xfrm>
            <a:off x="7511358" y="5092654"/>
            <a:ext cx="0" cy="38643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142844" y="1268760"/>
            <a:ext cx="4357718" cy="17281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internos: </a:t>
            </a:r>
          </a:p>
          <a:p>
            <a:pPr algn="ctr">
              <a:buFontTx/>
              <a:buChar char="-"/>
            </a:pP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</a:t>
            </a: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tierra y trabajo, </a:t>
            </a:r>
          </a:p>
          <a:p>
            <a:pPr algn="ctr">
              <a:buFontTx/>
              <a:buChar char="-"/>
            </a:pP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estabilidad política y jurídica, </a:t>
            </a:r>
          </a:p>
          <a:p>
            <a:pPr algn="ctr">
              <a:buFontTx/>
              <a:buChar char="-"/>
            </a:pP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ferrocarril</a:t>
            </a: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7" name="16 Conector recto de flecha"/>
          <p:cNvCxnSpPr>
            <a:cxnSpLocks/>
            <a:stCxn id="15" idx="2"/>
            <a:endCxn id="9" idx="0"/>
          </p:cNvCxnSpPr>
          <p:nvPr/>
        </p:nvCxnSpPr>
        <p:spPr>
          <a:xfrm>
            <a:off x="4536281" y="4071942"/>
            <a:ext cx="8855" cy="29316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214282" y="3214686"/>
            <a:ext cx="8643998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incrementan las </a:t>
            </a:r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 de Lana </a:t>
            </a:r>
          </a:p>
        </p:txBody>
      </p:sp>
      <p:sp>
        <p:nvSpPr>
          <p:cNvPr id="25" name="24 Rectángulo redondeado"/>
          <p:cNvSpPr/>
          <p:nvPr/>
        </p:nvSpPr>
        <p:spPr>
          <a:xfrm>
            <a:off x="3333551" y="6331632"/>
            <a:ext cx="5745569" cy="477406"/>
          </a:xfrm>
          <a:prstGeom prst="roundRect">
            <a:avLst>
              <a:gd name="adj" fmla="val 978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Recordar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Primeros BPE 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subproductos del ganado no refinado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400" dirty="0"/>
              <a:t>Hasta 1880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572000" y="1256832"/>
            <a:ext cx="4357718" cy="172819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externos:</a:t>
            </a:r>
          </a:p>
          <a:p>
            <a:pPr algn="ctr">
              <a:buFontTx/>
              <a:buChar char="-"/>
            </a:pPr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oferta de competidores, </a:t>
            </a:r>
          </a:p>
          <a:p>
            <a:pPr algn="ctr">
              <a:buFontTx/>
              <a:buChar char="-"/>
            </a:pPr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 de Francia</a:t>
            </a:r>
          </a:p>
        </p:txBody>
      </p:sp>
      <p:sp>
        <p:nvSpPr>
          <p:cNvPr id="16" name="9 Rectángulo redondeado">
            <a:extLst>
              <a:ext uri="{FF2B5EF4-FFF2-40B4-BE49-F238E27FC236}">
                <a16:creationId xmlns:a16="http://schemas.microsoft.com/office/drawing/2014/main" id="{EDE604BB-CF1A-4812-900C-0A4767F43F3C}"/>
              </a:ext>
            </a:extLst>
          </p:cNvPr>
          <p:cNvSpPr/>
          <p:nvPr/>
        </p:nvSpPr>
        <p:spPr>
          <a:xfrm>
            <a:off x="214283" y="5877272"/>
            <a:ext cx="2382872" cy="54018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lavaderos de lana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9 Rectángulo redondeado">
            <a:extLst>
              <a:ext uri="{FF2B5EF4-FFF2-40B4-BE49-F238E27FC236}">
                <a16:creationId xmlns:a16="http://schemas.microsoft.com/office/drawing/2014/main" id="{E8C01C5E-67DF-477A-9A0E-FAE517F682C7}"/>
              </a:ext>
            </a:extLst>
          </p:cNvPr>
          <p:cNvSpPr/>
          <p:nvPr/>
        </p:nvSpPr>
        <p:spPr>
          <a:xfrm>
            <a:off x="6166580" y="5479086"/>
            <a:ext cx="2689556" cy="568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viviendas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11 Conector recto de flecha">
            <a:extLst>
              <a:ext uri="{FF2B5EF4-FFF2-40B4-BE49-F238E27FC236}">
                <a16:creationId xmlns:a16="http://schemas.microsoft.com/office/drawing/2014/main" id="{E97BFC8D-3CFB-48A5-BF5F-2BD04F12477A}"/>
              </a:ext>
            </a:extLst>
          </p:cNvPr>
          <p:cNvCxnSpPr>
            <a:cxnSpLocks/>
          </p:cNvCxnSpPr>
          <p:nvPr/>
        </p:nvCxnSpPr>
        <p:spPr>
          <a:xfrm flipH="1">
            <a:off x="3131841" y="4060937"/>
            <a:ext cx="1" cy="1168263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1 Conector recto de flecha">
            <a:extLst>
              <a:ext uri="{FF2B5EF4-FFF2-40B4-BE49-F238E27FC236}">
                <a16:creationId xmlns:a16="http://schemas.microsoft.com/office/drawing/2014/main" id="{818E0D9F-7FE3-4A89-817E-EEBCBF3D56A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5606616" y="4728879"/>
            <a:ext cx="559964" cy="596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8 Rectángulo redondeado">
            <a:extLst>
              <a:ext uri="{FF2B5EF4-FFF2-40B4-BE49-F238E27FC236}">
                <a16:creationId xmlns:a16="http://schemas.microsoft.com/office/drawing/2014/main" id="{6FC3F35E-45FA-4B98-A796-2172F79598F5}"/>
              </a:ext>
            </a:extLst>
          </p:cNvPr>
          <p:cNvSpPr/>
          <p:nvPr/>
        </p:nvSpPr>
        <p:spPr>
          <a:xfrm>
            <a:off x="2953096" y="5229200"/>
            <a:ext cx="2122960" cy="7394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Preparación del producto</a:t>
            </a:r>
          </a:p>
        </p:txBody>
      </p:sp>
      <p:sp>
        <p:nvSpPr>
          <p:cNvPr id="40" name="9 Rectángulo redondeado">
            <a:extLst>
              <a:ext uri="{FF2B5EF4-FFF2-40B4-BE49-F238E27FC236}">
                <a16:creationId xmlns:a16="http://schemas.microsoft.com/office/drawing/2014/main" id="{A5320C1B-04C0-4472-A994-90A81891B1CD}"/>
              </a:ext>
            </a:extLst>
          </p:cNvPr>
          <p:cNvSpPr/>
          <p:nvPr/>
        </p:nvSpPr>
        <p:spPr>
          <a:xfrm>
            <a:off x="214282" y="4509120"/>
            <a:ext cx="2382873" cy="73947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hacia adelante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11 Conector recto de flecha">
            <a:extLst>
              <a:ext uri="{FF2B5EF4-FFF2-40B4-BE49-F238E27FC236}">
                <a16:creationId xmlns:a16="http://schemas.microsoft.com/office/drawing/2014/main" id="{A7F6A2F5-BE56-480C-BAF2-8E7CD5625943}"/>
              </a:ext>
            </a:extLst>
          </p:cNvPr>
          <p:cNvCxnSpPr>
            <a:cxnSpLocks/>
            <a:stCxn id="40" idx="2"/>
            <a:endCxn id="16" idx="0"/>
          </p:cNvCxnSpPr>
          <p:nvPr/>
        </p:nvCxnSpPr>
        <p:spPr>
          <a:xfrm>
            <a:off x="1405719" y="5248598"/>
            <a:ext cx="0" cy="62867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áfico 58" descr="Fábrica">
            <a:extLst>
              <a:ext uri="{FF2B5EF4-FFF2-40B4-BE49-F238E27FC236}">
                <a16:creationId xmlns:a16="http://schemas.microsoft.com/office/drawing/2014/main" id="{F4ADAE52-6CC0-401F-BB2A-5D4B0FFF5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598" y="5521309"/>
            <a:ext cx="739478" cy="739478"/>
          </a:xfrm>
          <a:prstGeom prst="rect">
            <a:avLst/>
          </a:prstGeom>
        </p:spPr>
      </p:pic>
      <p:pic>
        <p:nvPicPr>
          <p:cNvPr id="60" name="Gráfico 59" descr="Fábrica">
            <a:extLst>
              <a:ext uri="{FF2B5EF4-FFF2-40B4-BE49-F238E27FC236}">
                <a16:creationId xmlns:a16="http://schemas.microsoft.com/office/drawing/2014/main" id="{16308A1C-441F-468E-9D5D-632404AC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5442" y="5873861"/>
            <a:ext cx="739478" cy="739478"/>
          </a:xfrm>
          <a:prstGeom prst="rect">
            <a:avLst/>
          </a:prstGeom>
        </p:spPr>
      </p:pic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B98CFF7D-67F7-44FB-B12A-6BEAD1F9ADC1}"/>
              </a:ext>
            </a:extLst>
          </p:cNvPr>
          <p:cNvCxnSpPr>
            <a:cxnSpLocks/>
            <a:stCxn id="33" idx="1"/>
            <a:endCxn id="40" idx="3"/>
          </p:cNvCxnSpPr>
          <p:nvPr/>
        </p:nvCxnSpPr>
        <p:spPr>
          <a:xfrm rot="10800000">
            <a:off x="2597156" y="4878859"/>
            <a:ext cx="355941" cy="720080"/>
          </a:xfrm>
          <a:prstGeom prst="bentConnector3">
            <a:avLst>
              <a:gd name="adj1" fmla="val 29612"/>
            </a:avLst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40 Rectángulo redondeado"/>
          <p:cNvSpPr/>
          <p:nvPr/>
        </p:nvSpPr>
        <p:spPr>
          <a:xfrm>
            <a:off x="357158" y="4430606"/>
            <a:ext cx="1944216" cy="70583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</a:t>
            </a:r>
          </a:p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Asentamientos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2710475" y="4840081"/>
            <a:ext cx="1338943" cy="519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 de Santa Fe</a:t>
            </a:r>
            <a:endParaRPr lang="es-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357158" y="1904578"/>
            <a:ext cx="1944216" cy="70583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2710475" y="4245445"/>
            <a:ext cx="1338943" cy="519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 y oeste de Bs As</a:t>
            </a:r>
            <a:endParaRPr lang="es-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2714611" y="1904578"/>
            <a:ext cx="2714643" cy="7058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red ferroviaria se quintuplico</a:t>
            </a:r>
            <a:endParaRPr lang="es-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4090311" y="4241710"/>
            <a:ext cx="1338943" cy="519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Córdoba</a:t>
            </a:r>
            <a:endParaRPr lang="es-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4090311" y="4836908"/>
            <a:ext cx="1338943" cy="519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Pampa</a:t>
            </a:r>
            <a:endParaRPr lang="es-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63 Conector recto de flecha"/>
          <p:cNvCxnSpPr>
            <a:cxnSpLocks/>
            <a:stCxn id="19" idx="3"/>
            <a:endCxn id="34" idx="1"/>
          </p:cNvCxnSpPr>
          <p:nvPr/>
        </p:nvCxnSpPr>
        <p:spPr>
          <a:xfrm>
            <a:off x="5429254" y="2257493"/>
            <a:ext cx="531988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68 Rectángulo redondeado"/>
          <p:cNvSpPr/>
          <p:nvPr/>
        </p:nvSpPr>
        <p:spPr>
          <a:xfrm>
            <a:off x="5961242" y="4425712"/>
            <a:ext cx="2771800" cy="725780"/>
          </a:xfrm>
          <a:prstGeom prst="roundRect">
            <a:avLst>
              <a:gd name="adj" fmla="val 104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de demanda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5961242" y="1904578"/>
            <a:ext cx="2771800" cy="70583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hacia atrás </a:t>
            </a:r>
          </a:p>
        </p:txBody>
      </p:sp>
      <p:cxnSp>
        <p:nvCxnSpPr>
          <p:cNvPr id="36" name="35 Conector recto de flecha"/>
          <p:cNvCxnSpPr>
            <a:cxnSpLocks/>
            <a:stCxn id="24" idx="3"/>
            <a:endCxn id="19" idx="1"/>
          </p:cNvCxnSpPr>
          <p:nvPr/>
        </p:nvCxnSpPr>
        <p:spPr>
          <a:xfrm>
            <a:off x="2301374" y="2257493"/>
            <a:ext cx="413237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Entre 1880 y 1890</a:t>
            </a:r>
          </a:p>
        </p:txBody>
      </p:sp>
      <p:sp>
        <p:nvSpPr>
          <p:cNvPr id="49" name="48 Cerrar llave"/>
          <p:cNvSpPr/>
          <p:nvPr/>
        </p:nvSpPr>
        <p:spPr>
          <a:xfrm flipH="1">
            <a:off x="2360688" y="4165706"/>
            <a:ext cx="573214" cy="1253014"/>
          </a:xfrm>
          <a:prstGeom prst="rightBrace">
            <a:avLst>
              <a:gd name="adj1" fmla="val 10645"/>
              <a:gd name="adj2" fmla="val 49964"/>
            </a:avLst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9 Rectángulo redondeado">
            <a:extLst>
              <a:ext uri="{FF2B5EF4-FFF2-40B4-BE49-F238E27FC236}">
                <a16:creationId xmlns:a16="http://schemas.microsoft.com/office/drawing/2014/main" id="{18240849-B45E-46DB-84A5-17EE87150268}"/>
              </a:ext>
            </a:extLst>
          </p:cNvPr>
          <p:cNvSpPr/>
          <p:nvPr/>
        </p:nvSpPr>
        <p:spPr>
          <a:xfrm>
            <a:off x="5961242" y="2970448"/>
            <a:ext cx="2771800" cy="54018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Talleres de locomotoras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70 Conector recto de flecha">
            <a:extLst>
              <a:ext uri="{FF2B5EF4-FFF2-40B4-BE49-F238E27FC236}">
                <a16:creationId xmlns:a16="http://schemas.microsoft.com/office/drawing/2014/main" id="{73809E57-E49B-4F4E-BA2A-DFC1CFF3F2F3}"/>
              </a:ext>
            </a:extLst>
          </p:cNvPr>
          <p:cNvCxnSpPr>
            <a:cxnSpLocks/>
            <a:stCxn id="34" idx="2"/>
            <a:endCxn id="20" idx="0"/>
          </p:cNvCxnSpPr>
          <p:nvPr/>
        </p:nvCxnSpPr>
        <p:spPr>
          <a:xfrm>
            <a:off x="7347142" y="2610408"/>
            <a:ext cx="0" cy="36004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68 Rectángulo redondeado">
            <a:extLst>
              <a:ext uri="{FF2B5EF4-FFF2-40B4-BE49-F238E27FC236}">
                <a16:creationId xmlns:a16="http://schemas.microsoft.com/office/drawing/2014/main" id="{4728E00E-5926-4E4E-A171-6CADAEB7141F}"/>
              </a:ext>
            </a:extLst>
          </p:cNvPr>
          <p:cNvSpPr/>
          <p:nvPr/>
        </p:nvSpPr>
        <p:spPr>
          <a:xfrm>
            <a:off x="5961112" y="5511532"/>
            <a:ext cx="2771800" cy="725780"/>
          </a:xfrm>
          <a:prstGeom prst="roundRect">
            <a:avLst>
              <a:gd name="adj" fmla="val 10483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Nuevas actividades económicas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70 Conector recto de flecha">
            <a:extLst>
              <a:ext uri="{FF2B5EF4-FFF2-40B4-BE49-F238E27FC236}">
                <a16:creationId xmlns:a16="http://schemas.microsoft.com/office/drawing/2014/main" id="{3A3A985F-6CAC-463E-A159-7B8CC05FA76D}"/>
              </a:ext>
            </a:extLst>
          </p:cNvPr>
          <p:cNvCxnSpPr>
            <a:cxnSpLocks/>
            <a:stCxn id="69" idx="2"/>
            <a:endCxn id="26" idx="0"/>
          </p:cNvCxnSpPr>
          <p:nvPr/>
        </p:nvCxnSpPr>
        <p:spPr>
          <a:xfrm flipH="1">
            <a:off x="7347012" y="5151492"/>
            <a:ext cx="130" cy="36004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63 Conector recto de flecha">
            <a:extLst>
              <a:ext uri="{FF2B5EF4-FFF2-40B4-BE49-F238E27FC236}">
                <a16:creationId xmlns:a16="http://schemas.microsoft.com/office/drawing/2014/main" id="{1FFD24C2-DB20-4549-9E7B-99129A1C0AFA}"/>
              </a:ext>
            </a:extLst>
          </p:cNvPr>
          <p:cNvCxnSpPr>
            <a:cxnSpLocks/>
          </p:cNvCxnSpPr>
          <p:nvPr/>
        </p:nvCxnSpPr>
        <p:spPr>
          <a:xfrm>
            <a:off x="5429254" y="4797152"/>
            <a:ext cx="531988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áfico 38" descr="Fábrica">
            <a:extLst>
              <a:ext uri="{FF2B5EF4-FFF2-40B4-BE49-F238E27FC236}">
                <a16:creationId xmlns:a16="http://schemas.microsoft.com/office/drawing/2014/main" id="{591A0A80-56EA-4925-8174-C40DC0918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5248" y="2904763"/>
            <a:ext cx="739478" cy="739478"/>
          </a:xfrm>
          <a:prstGeom prst="rect">
            <a:avLst/>
          </a:prstGeom>
        </p:spPr>
      </p:pic>
      <p:pic>
        <p:nvPicPr>
          <p:cNvPr id="40" name="Gráfico 39" descr="Fábrica">
            <a:extLst>
              <a:ext uri="{FF2B5EF4-FFF2-40B4-BE49-F238E27FC236}">
                <a16:creationId xmlns:a16="http://schemas.microsoft.com/office/drawing/2014/main" id="{82E51DD7-C8BB-447B-AD30-8244A40B8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1373" y="5680551"/>
            <a:ext cx="739478" cy="73947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 redondeado"/>
          <p:cNvSpPr/>
          <p:nvPr/>
        </p:nvSpPr>
        <p:spPr>
          <a:xfrm>
            <a:off x="6215266" y="4011334"/>
            <a:ext cx="2660684" cy="3478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Implantación de pasturas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88806" y="5666529"/>
            <a:ext cx="2551446" cy="78011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Grandes inversiones (reproductores, instalaciones)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7452320" y="5544616"/>
            <a:ext cx="1631614" cy="4766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 de cereales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11 Conector recto de flecha"/>
          <p:cNvCxnSpPr>
            <a:cxnSpLocks/>
            <a:endCxn id="24" idx="0"/>
          </p:cNvCxnSpPr>
          <p:nvPr/>
        </p:nvCxnSpPr>
        <p:spPr>
          <a:xfrm>
            <a:off x="7545608" y="3762948"/>
            <a:ext cx="0" cy="24838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214282" y="1214422"/>
            <a:ext cx="4214842" cy="158417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internos: </a:t>
            </a:r>
          </a:p>
          <a:p>
            <a:pPr algn="ctr"/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Consolidación del Estado </a:t>
            </a:r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derechos de propiedad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285720" y="2928934"/>
            <a:ext cx="8643998" cy="8266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 de carne enfriada y congelada</a:t>
            </a:r>
          </a:p>
        </p:txBody>
      </p:sp>
      <p:sp>
        <p:nvSpPr>
          <p:cNvPr id="33" name="32 Rectángulo redondeado"/>
          <p:cNvSpPr/>
          <p:nvPr/>
        </p:nvSpPr>
        <p:spPr>
          <a:xfrm>
            <a:off x="6215265" y="6241080"/>
            <a:ext cx="1912865" cy="37009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Arrendamiento</a:t>
            </a:r>
          </a:p>
        </p:txBody>
      </p:sp>
      <p:sp>
        <p:nvSpPr>
          <p:cNvPr id="34" name="33 Rectángulo redondeado"/>
          <p:cNvSpPr/>
          <p:nvPr/>
        </p:nvSpPr>
        <p:spPr>
          <a:xfrm>
            <a:off x="6209025" y="4658794"/>
            <a:ext cx="2660684" cy="472544"/>
          </a:xfrm>
          <a:prstGeom prst="roundRect">
            <a:avLst>
              <a:gd name="adj" fmla="val 11536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agricultura se introduce en tierras pampeanas</a:t>
            </a:r>
          </a:p>
        </p:txBody>
      </p:sp>
      <p:cxnSp>
        <p:nvCxnSpPr>
          <p:cNvPr id="38" name="37 Conector recto de flecha"/>
          <p:cNvCxnSpPr>
            <a:cxnSpLocks/>
            <a:stCxn id="24" idx="2"/>
            <a:endCxn id="34" idx="0"/>
          </p:cNvCxnSpPr>
          <p:nvPr/>
        </p:nvCxnSpPr>
        <p:spPr>
          <a:xfrm flipH="1">
            <a:off x="7539367" y="4359167"/>
            <a:ext cx="6241" cy="299627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60 Rectángulo redondeado"/>
          <p:cNvSpPr/>
          <p:nvPr/>
        </p:nvSpPr>
        <p:spPr>
          <a:xfrm>
            <a:off x="306877" y="4653136"/>
            <a:ext cx="2551445" cy="706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hacia atrás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Entre 1880 y 1890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714876" y="1214422"/>
            <a:ext cx="4214842" cy="15841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externos:</a:t>
            </a:r>
          </a:p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costos de transporte: 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cámaras frigoríficas</a:t>
            </a:r>
          </a:p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 la demanda de carnes 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aumento de precio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60 Rectángulo redondeado">
            <a:extLst>
              <a:ext uri="{FF2B5EF4-FFF2-40B4-BE49-F238E27FC236}">
                <a16:creationId xmlns:a16="http://schemas.microsoft.com/office/drawing/2014/main" id="{91A547B2-DB99-45AE-ABE5-ADA184E363F4}"/>
              </a:ext>
            </a:extLst>
          </p:cNvPr>
          <p:cNvSpPr/>
          <p:nvPr/>
        </p:nvSpPr>
        <p:spPr>
          <a:xfrm>
            <a:off x="2987824" y="5088767"/>
            <a:ext cx="2551445" cy="78011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Frigoríficos y molinos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60 Rectángulo redondeado">
            <a:extLst>
              <a:ext uri="{FF2B5EF4-FFF2-40B4-BE49-F238E27FC236}">
                <a16:creationId xmlns:a16="http://schemas.microsoft.com/office/drawing/2014/main" id="{B7DBC654-CCF0-49DB-86FB-7C9A26C9A81B}"/>
              </a:ext>
            </a:extLst>
          </p:cNvPr>
          <p:cNvSpPr/>
          <p:nvPr/>
        </p:nvSpPr>
        <p:spPr>
          <a:xfrm>
            <a:off x="2987825" y="4084485"/>
            <a:ext cx="2551445" cy="706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hacia adelante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37 Conector recto de flecha">
            <a:extLst>
              <a:ext uri="{FF2B5EF4-FFF2-40B4-BE49-F238E27FC236}">
                <a16:creationId xmlns:a16="http://schemas.microsoft.com/office/drawing/2014/main" id="{A25BC7D3-AFEF-4A2B-A90D-63CE481E5DD2}"/>
              </a:ext>
            </a:extLst>
          </p:cNvPr>
          <p:cNvCxnSpPr>
            <a:cxnSpLocks/>
            <a:stCxn id="140" idx="2"/>
            <a:endCxn id="61" idx="0"/>
          </p:cNvCxnSpPr>
          <p:nvPr/>
        </p:nvCxnSpPr>
        <p:spPr>
          <a:xfrm flipH="1">
            <a:off x="1582600" y="4355784"/>
            <a:ext cx="1116" cy="29735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40 Conector recto de flecha">
            <a:extLst>
              <a:ext uri="{FF2B5EF4-FFF2-40B4-BE49-F238E27FC236}">
                <a16:creationId xmlns:a16="http://schemas.microsoft.com/office/drawing/2014/main" id="{C8A8A51B-E3CB-4E52-8F64-17E7BB0692DD}"/>
              </a:ext>
            </a:extLst>
          </p:cNvPr>
          <p:cNvCxnSpPr>
            <a:cxnSpLocks/>
            <a:stCxn id="44" idx="2"/>
            <a:endCxn id="20" idx="0"/>
          </p:cNvCxnSpPr>
          <p:nvPr/>
        </p:nvCxnSpPr>
        <p:spPr>
          <a:xfrm flipH="1">
            <a:off x="4263547" y="4791095"/>
            <a:ext cx="1" cy="29767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60 Rectángulo redondeado">
            <a:extLst>
              <a:ext uri="{FF2B5EF4-FFF2-40B4-BE49-F238E27FC236}">
                <a16:creationId xmlns:a16="http://schemas.microsoft.com/office/drawing/2014/main" id="{E7C77D70-25A6-438C-80D6-B901F94CF277}"/>
              </a:ext>
            </a:extLst>
          </p:cNvPr>
          <p:cNvSpPr/>
          <p:nvPr/>
        </p:nvSpPr>
        <p:spPr>
          <a:xfrm>
            <a:off x="2987824" y="6068694"/>
            <a:ext cx="2551445" cy="706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de demanda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37 Conector recto de flecha">
            <a:extLst>
              <a:ext uri="{FF2B5EF4-FFF2-40B4-BE49-F238E27FC236}">
                <a16:creationId xmlns:a16="http://schemas.microsoft.com/office/drawing/2014/main" id="{7A67D661-685B-463A-8D5F-66981973B7E0}"/>
              </a:ext>
            </a:extLst>
          </p:cNvPr>
          <p:cNvCxnSpPr>
            <a:cxnSpLocks/>
            <a:stCxn id="33" idx="1"/>
            <a:endCxn id="57" idx="3"/>
          </p:cNvCxnSpPr>
          <p:nvPr/>
        </p:nvCxnSpPr>
        <p:spPr>
          <a:xfrm flipH="1" flipV="1">
            <a:off x="5539269" y="6421999"/>
            <a:ext cx="675996" cy="4129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37 Conector recto de flecha">
            <a:extLst>
              <a:ext uri="{FF2B5EF4-FFF2-40B4-BE49-F238E27FC236}">
                <a16:creationId xmlns:a16="http://schemas.microsoft.com/office/drawing/2014/main" id="{55C68A4D-C5DD-4B8B-8511-BE12C1C21191}"/>
              </a:ext>
            </a:extLst>
          </p:cNvPr>
          <p:cNvCxnSpPr>
            <a:cxnSpLocks/>
            <a:stCxn id="61" idx="2"/>
            <a:endCxn id="9" idx="0"/>
          </p:cNvCxnSpPr>
          <p:nvPr/>
        </p:nvCxnSpPr>
        <p:spPr>
          <a:xfrm flipH="1">
            <a:off x="1564529" y="5359746"/>
            <a:ext cx="18071" cy="306783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37 Conector recto de flecha">
            <a:extLst>
              <a:ext uri="{FF2B5EF4-FFF2-40B4-BE49-F238E27FC236}">
                <a16:creationId xmlns:a16="http://schemas.microsoft.com/office/drawing/2014/main" id="{7762CE08-C13A-48E4-8B93-D5E75DF9BA19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4263547" y="3736652"/>
            <a:ext cx="1" cy="347833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: angular 102">
            <a:extLst>
              <a:ext uri="{FF2B5EF4-FFF2-40B4-BE49-F238E27FC236}">
                <a16:creationId xmlns:a16="http://schemas.microsoft.com/office/drawing/2014/main" id="{6B7F362B-39EA-4E9D-9A1D-9197F3677449}"/>
              </a:ext>
            </a:extLst>
          </p:cNvPr>
          <p:cNvCxnSpPr>
            <a:cxnSpLocks/>
            <a:stCxn id="24" idx="1"/>
            <a:endCxn id="33" idx="0"/>
          </p:cNvCxnSpPr>
          <p:nvPr/>
        </p:nvCxnSpPr>
        <p:spPr>
          <a:xfrm rot="10800000" flipH="1" flipV="1">
            <a:off x="6215266" y="4185250"/>
            <a:ext cx="956432" cy="2055829"/>
          </a:xfrm>
          <a:prstGeom prst="bentConnector4">
            <a:avLst>
              <a:gd name="adj1" fmla="val -23901"/>
              <a:gd name="adj2" fmla="val 76801"/>
            </a:avLst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angular 120">
            <a:extLst>
              <a:ext uri="{FF2B5EF4-FFF2-40B4-BE49-F238E27FC236}">
                <a16:creationId xmlns:a16="http://schemas.microsoft.com/office/drawing/2014/main" id="{B82B781C-4A9E-4B9B-BE78-AE3592AA1747}"/>
              </a:ext>
            </a:extLst>
          </p:cNvPr>
          <p:cNvCxnSpPr>
            <a:cxnSpLocks/>
            <a:stCxn id="34" idx="3"/>
            <a:endCxn id="10" idx="0"/>
          </p:cNvCxnSpPr>
          <p:nvPr/>
        </p:nvCxnSpPr>
        <p:spPr>
          <a:xfrm flipH="1">
            <a:off x="8268127" y="4895066"/>
            <a:ext cx="601582" cy="649550"/>
          </a:xfrm>
          <a:prstGeom prst="bentConnector4">
            <a:avLst>
              <a:gd name="adj1" fmla="val -24388"/>
              <a:gd name="adj2" fmla="val 59783"/>
            </a:avLst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23 Rectángulo redondeado">
            <a:extLst>
              <a:ext uri="{FF2B5EF4-FFF2-40B4-BE49-F238E27FC236}">
                <a16:creationId xmlns:a16="http://schemas.microsoft.com/office/drawing/2014/main" id="{ACF5D08E-AFFC-4F96-97E5-2E8946F30111}"/>
              </a:ext>
            </a:extLst>
          </p:cNvPr>
          <p:cNvSpPr/>
          <p:nvPr/>
        </p:nvSpPr>
        <p:spPr>
          <a:xfrm>
            <a:off x="467639" y="4007951"/>
            <a:ext cx="2232153" cy="3478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Ganado Refinado</a:t>
            </a:r>
          </a:p>
        </p:txBody>
      </p:sp>
      <p:cxnSp>
        <p:nvCxnSpPr>
          <p:cNvPr id="141" name="37 Conector recto de flecha">
            <a:extLst>
              <a:ext uri="{FF2B5EF4-FFF2-40B4-BE49-F238E27FC236}">
                <a16:creationId xmlns:a16="http://schemas.microsoft.com/office/drawing/2014/main" id="{87CC6A99-7F72-4BF6-9618-E48B03B8FD66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1583716" y="3755535"/>
            <a:ext cx="0" cy="25241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Gráfico 144" descr="Fábrica">
            <a:extLst>
              <a:ext uri="{FF2B5EF4-FFF2-40B4-BE49-F238E27FC236}">
                <a16:creationId xmlns:a16="http://schemas.microsoft.com/office/drawing/2014/main" id="{CC0648CC-0B75-4600-953E-E8682D663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6" y="5897039"/>
            <a:ext cx="739478" cy="739478"/>
          </a:xfrm>
          <a:prstGeom prst="rect">
            <a:avLst/>
          </a:prstGeom>
        </p:spPr>
      </p:pic>
      <p:pic>
        <p:nvPicPr>
          <p:cNvPr id="146" name="Gráfico 145" descr="Fábrica">
            <a:extLst>
              <a:ext uri="{FF2B5EF4-FFF2-40B4-BE49-F238E27FC236}">
                <a16:creationId xmlns:a16="http://schemas.microsoft.com/office/drawing/2014/main" id="{37A7E6E3-DEA2-400C-8770-D12CD13AF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4669" y="5221930"/>
            <a:ext cx="739478" cy="73947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284009" y="4311923"/>
            <a:ext cx="2714644" cy="7801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Mayores necesidades de mano de obra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214282" y="1214422"/>
            <a:ext cx="4214842" cy="158417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internos: 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agricultura ya se había introducido en tierras ganaderas en la década anterior</a:t>
            </a:r>
          </a:p>
        </p:txBody>
      </p:sp>
      <p:cxnSp>
        <p:nvCxnSpPr>
          <p:cNvPr id="17" name="16 Conector recto de flecha"/>
          <p:cNvCxnSpPr>
            <a:cxnSpLocks/>
            <a:endCxn id="9" idx="0"/>
          </p:cNvCxnSpPr>
          <p:nvPr/>
        </p:nvCxnSpPr>
        <p:spPr>
          <a:xfrm>
            <a:off x="1641331" y="3786190"/>
            <a:ext cx="0" cy="525733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285720" y="2928934"/>
            <a:ext cx="8643998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 de granos y algunos subproductos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Desde 1890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714876" y="1214422"/>
            <a:ext cx="4214842" cy="15841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factores externos: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Coyuntura del trigo: </a:t>
            </a:r>
            <a:r>
              <a:rPr lang="es-A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precio internacional del trigo</a:t>
            </a:r>
          </a:p>
        </p:txBody>
      </p:sp>
      <p:sp>
        <p:nvSpPr>
          <p:cNvPr id="20" name="60 Rectángulo redondeado">
            <a:extLst>
              <a:ext uri="{FF2B5EF4-FFF2-40B4-BE49-F238E27FC236}">
                <a16:creationId xmlns:a16="http://schemas.microsoft.com/office/drawing/2014/main" id="{91A547B2-DB99-45AE-ABE5-ADA184E363F4}"/>
              </a:ext>
            </a:extLst>
          </p:cNvPr>
          <p:cNvSpPr/>
          <p:nvPr/>
        </p:nvSpPr>
        <p:spPr>
          <a:xfrm>
            <a:off x="3203856" y="4293096"/>
            <a:ext cx="2973407" cy="79362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Cobran importancia molinos, elevadores de granos, </a:t>
            </a:r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60 Rectángulo redondeado">
            <a:extLst>
              <a:ext uri="{FF2B5EF4-FFF2-40B4-BE49-F238E27FC236}">
                <a16:creationId xmlns:a16="http://schemas.microsoft.com/office/drawing/2014/main" id="{487D74C3-4367-48BD-90A6-4329A4B9E224}"/>
              </a:ext>
            </a:extLst>
          </p:cNvPr>
          <p:cNvSpPr/>
          <p:nvPr/>
        </p:nvSpPr>
        <p:spPr>
          <a:xfrm>
            <a:off x="3944814" y="5529452"/>
            <a:ext cx="4299594" cy="78011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gente trabajando, más necesidades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60 Rectángulo redondeado">
            <a:extLst>
              <a:ext uri="{FF2B5EF4-FFF2-40B4-BE49-F238E27FC236}">
                <a16:creationId xmlns:a16="http://schemas.microsoft.com/office/drawing/2014/main" id="{9E4ECFDC-4417-46EA-AF61-940C497A424A}"/>
              </a:ext>
            </a:extLst>
          </p:cNvPr>
          <p:cNvSpPr/>
          <p:nvPr/>
        </p:nvSpPr>
        <p:spPr>
          <a:xfrm>
            <a:off x="6516216" y="4306600"/>
            <a:ext cx="2413502" cy="7801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hacia adelante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16 Conector recto de flecha">
            <a:extLst>
              <a:ext uri="{FF2B5EF4-FFF2-40B4-BE49-F238E27FC236}">
                <a16:creationId xmlns:a16="http://schemas.microsoft.com/office/drawing/2014/main" id="{14269AD7-84F6-4F96-B59A-1D7B970B360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722967" y="3786190"/>
            <a:ext cx="0" cy="52041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16 Conector recto de flecha">
            <a:extLst>
              <a:ext uri="{FF2B5EF4-FFF2-40B4-BE49-F238E27FC236}">
                <a16:creationId xmlns:a16="http://schemas.microsoft.com/office/drawing/2014/main" id="{45B5D3D5-C04E-4238-B123-2971DBE9AC5C}"/>
              </a:ext>
            </a:extLst>
          </p:cNvPr>
          <p:cNvCxnSpPr>
            <a:cxnSpLocks/>
            <a:stCxn id="14" idx="1"/>
            <a:endCxn id="20" idx="3"/>
          </p:cNvCxnSpPr>
          <p:nvPr/>
        </p:nvCxnSpPr>
        <p:spPr>
          <a:xfrm flipH="1" flipV="1">
            <a:off x="6177263" y="4689907"/>
            <a:ext cx="338953" cy="675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60 Rectángulo redondeado">
            <a:extLst>
              <a:ext uri="{FF2B5EF4-FFF2-40B4-BE49-F238E27FC236}">
                <a16:creationId xmlns:a16="http://schemas.microsoft.com/office/drawing/2014/main" id="{8CDC9278-BBC8-4895-85AC-FA1D86D62BCF}"/>
              </a:ext>
            </a:extLst>
          </p:cNvPr>
          <p:cNvSpPr/>
          <p:nvPr/>
        </p:nvSpPr>
        <p:spPr>
          <a:xfrm>
            <a:off x="283228" y="5529202"/>
            <a:ext cx="2714644" cy="7801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Eslabonamientos de demanda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16 Conector recto de flecha">
            <a:extLst>
              <a:ext uri="{FF2B5EF4-FFF2-40B4-BE49-F238E27FC236}">
                <a16:creationId xmlns:a16="http://schemas.microsoft.com/office/drawing/2014/main" id="{46005432-3FE6-4969-899E-A31BF7D60D90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flipH="1">
            <a:off x="1640550" y="5092041"/>
            <a:ext cx="781" cy="437161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16 Conector recto de flecha">
            <a:extLst>
              <a:ext uri="{FF2B5EF4-FFF2-40B4-BE49-F238E27FC236}">
                <a16:creationId xmlns:a16="http://schemas.microsoft.com/office/drawing/2014/main" id="{1D69510C-AF6B-438B-AC1F-1BB8EABFAB99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>
            <a:off x="2997872" y="5919261"/>
            <a:ext cx="946942" cy="251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áfico 33" descr="Fábrica">
            <a:extLst>
              <a:ext uri="{FF2B5EF4-FFF2-40B4-BE49-F238E27FC236}">
                <a16:creationId xmlns:a16="http://schemas.microsoft.com/office/drawing/2014/main" id="{EAE832F4-63CD-46AF-B04E-C8D4D6097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9385" y="5842295"/>
            <a:ext cx="739478" cy="739478"/>
          </a:xfrm>
          <a:prstGeom prst="rect">
            <a:avLst/>
          </a:prstGeom>
        </p:spPr>
      </p:pic>
      <p:pic>
        <p:nvPicPr>
          <p:cNvPr id="35" name="Gráfico 34" descr="Fábrica">
            <a:extLst>
              <a:ext uri="{FF2B5EF4-FFF2-40B4-BE49-F238E27FC236}">
                <a16:creationId xmlns:a16="http://schemas.microsoft.com/office/drawing/2014/main" id="{7C2CCD5D-A55B-4C5B-A1C4-EFBCC117D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7524" y="3832722"/>
            <a:ext cx="739478" cy="7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47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histórica: LOS NÚMEROS 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F56139A-4DB1-43F1-AFFD-3D0F66B5F4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6717888"/>
              </p:ext>
            </p:extLst>
          </p:nvPr>
        </p:nvGraphicFramePr>
        <p:xfrm>
          <a:off x="-108520" y="908719"/>
          <a:ext cx="3348880" cy="1750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0C2B489-52C5-452D-9EBD-7EBA90A09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158171"/>
              </p:ext>
            </p:extLst>
          </p:nvPr>
        </p:nvGraphicFramePr>
        <p:xfrm>
          <a:off x="0" y="2915104"/>
          <a:ext cx="3348880" cy="1882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FEA4441-F429-4809-A2F2-F05E1B085F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2562325"/>
              </p:ext>
            </p:extLst>
          </p:nvPr>
        </p:nvGraphicFramePr>
        <p:xfrm>
          <a:off x="0" y="4765405"/>
          <a:ext cx="3348880" cy="206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B8611AA-47F1-47A8-A300-73967ABDE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89001"/>
              </p:ext>
            </p:extLst>
          </p:nvPr>
        </p:nvGraphicFramePr>
        <p:xfrm>
          <a:off x="3299793" y="4732071"/>
          <a:ext cx="3348880" cy="206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AB8611AA-47F1-47A8-A300-73967ABDE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7560850"/>
              </p:ext>
            </p:extLst>
          </p:nvPr>
        </p:nvGraphicFramePr>
        <p:xfrm>
          <a:off x="3348880" y="2852225"/>
          <a:ext cx="3348880" cy="1882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66647845-0887-4856-AAFA-1585276B4EBA}"/>
              </a:ext>
            </a:extLst>
          </p:cNvPr>
          <p:cNvSpPr txBox="1"/>
          <p:nvPr/>
        </p:nvSpPr>
        <p:spPr>
          <a:xfrm>
            <a:off x="3995935" y="736248"/>
            <a:ext cx="265273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PERSONAS CON EDUCACIÓN INICIAL, PRIMARIA O MEDIA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+91% (1900-1914)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8FF482-7194-490A-B874-1D89A7013CBE}"/>
              </a:ext>
            </a:extLst>
          </p:cNvPr>
          <p:cNvSpPr txBox="1"/>
          <p:nvPr/>
        </p:nvSpPr>
        <p:spPr>
          <a:xfrm>
            <a:off x="4141986" y="1778847"/>
            <a:ext cx="2304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TASA DE ANALFABETISMO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1869: 82%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1914: 42%</a:t>
            </a:r>
          </a:p>
        </p:txBody>
      </p:sp>
      <p:sp>
        <p:nvSpPr>
          <p:cNvPr id="12" name="10 Rectángulo redondeado">
            <a:extLst>
              <a:ext uri="{FF2B5EF4-FFF2-40B4-BE49-F238E27FC236}">
                <a16:creationId xmlns:a16="http://schemas.microsoft.com/office/drawing/2014/main" id="{4410C42B-89C3-472F-9F5A-8177B5413FE0}"/>
              </a:ext>
            </a:extLst>
          </p:cNvPr>
          <p:cNvSpPr/>
          <p:nvPr/>
        </p:nvSpPr>
        <p:spPr>
          <a:xfrm>
            <a:off x="6933657" y="583372"/>
            <a:ext cx="2118791" cy="5735241"/>
          </a:xfrm>
          <a:prstGeom prst="roundRect">
            <a:avLst>
              <a:gd name="adj" fmla="val 940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PERSONAS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INGRESOS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CONSUMO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VIVIENDAS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INVERSIÓN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CAP. FÍSICO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CAP. HUMANO</a:t>
            </a:r>
            <a:endParaRPr lang="es-A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A1DC3B-C84E-4E9B-BCC5-04CFEAA8FEDF}"/>
              </a:ext>
            </a:extLst>
          </p:cNvPr>
          <p:cNvSpPr/>
          <p:nvPr/>
        </p:nvSpPr>
        <p:spPr>
          <a:xfrm>
            <a:off x="978837" y="2072196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1900-1914: +69%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42727BF-9AC5-42B0-A915-F2C2401C4769}"/>
              </a:ext>
            </a:extLst>
          </p:cNvPr>
          <p:cNvSpPr/>
          <p:nvPr/>
        </p:nvSpPr>
        <p:spPr>
          <a:xfrm>
            <a:off x="1001455" y="3818252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1900-1914: +19%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55E8AC-86D5-448E-8EB2-FF0E086B138B}"/>
              </a:ext>
            </a:extLst>
          </p:cNvPr>
          <p:cNvSpPr/>
          <p:nvPr/>
        </p:nvSpPr>
        <p:spPr>
          <a:xfrm>
            <a:off x="1001455" y="5949281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1900-1914: +95%</a:t>
            </a:r>
          </a:p>
        </p:txBody>
      </p:sp>
      <p:pic>
        <p:nvPicPr>
          <p:cNvPr id="16" name="Gráfico 15" descr="Grupo">
            <a:extLst>
              <a:ext uri="{FF2B5EF4-FFF2-40B4-BE49-F238E27FC236}">
                <a16:creationId xmlns:a16="http://schemas.microsoft.com/office/drawing/2014/main" id="{C91A2C52-617F-4AA9-B403-E3F9BC517C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45" y="1233971"/>
            <a:ext cx="914400" cy="914400"/>
          </a:xfrm>
          <a:prstGeom prst="rect">
            <a:avLst/>
          </a:prstGeom>
        </p:spPr>
      </p:pic>
      <p:pic>
        <p:nvPicPr>
          <p:cNvPr id="19" name="Gráfico 18" descr="Monedas">
            <a:extLst>
              <a:ext uri="{FF2B5EF4-FFF2-40B4-BE49-F238E27FC236}">
                <a16:creationId xmlns:a16="http://schemas.microsoft.com/office/drawing/2014/main" id="{6951F5DE-1003-492A-94DF-47F02DAE77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37" y="3319963"/>
            <a:ext cx="673224" cy="673224"/>
          </a:xfrm>
          <a:prstGeom prst="rect">
            <a:avLst/>
          </a:prstGeom>
        </p:spPr>
      </p:pic>
      <p:pic>
        <p:nvPicPr>
          <p:cNvPr id="21" name="Gráfico 20" descr="Carro de la compra">
            <a:extLst>
              <a:ext uri="{FF2B5EF4-FFF2-40B4-BE49-F238E27FC236}">
                <a16:creationId xmlns:a16="http://schemas.microsoft.com/office/drawing/2014/main" id="{FCCF7D72-8C87-4B6F-936E-186297A87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58" y="5154933"/>
            <a:ext cx="806181" cy="806181"/>
          </a:xfrm>
          <a:prstGeom prst="rect">
            <a:avLst/>
          </a:prstGeom>
        </p:spPr>
      </p:pic>
      <p:pic>
        <p:nvPicPr>
          <p:cNvPr id="23" name="Gráfico 22" descr="Casa">
            <a:extLst>
              <a:ext uri="{FF2B5EF4-FFF2-40B4-BE49-F238E27FC236}">
                <a16:creationId xmlns:a16="http://schemas.microsoft.com/office/drawing/2014/main" id="{3B8AD5F9-B6E4-456C-B046-AE8DEE17E5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8879" y="5075344"/>
            <a:ext cx="761764" cy="761764"/>
          </a:xfrm>
          <a:prstGeom prst="rect">
            <a:avLst/>
          </a:prstGeom>
        </p:spPr>
      </p:pic>
      <p:pic>
        <p:nvPicPr>
          <p:cNvPr id="25" name="Gráfico 24" descr="Excavadora">
            <a:extLst>
              <a:ext uri="{FF2B5EF4-FFF2-40B4-BE49-F238E27FC236}">
                <a16:creationId xmlns:a16="http://schemas.microsoft.com/office/drawing/2014/main" id="{5F1D409D-661E-4FA8-AC19-44EBB2D822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44959" y="3318111"/>
            <a:ext cx="765684" cy="765684"/>
          </a:xfrm>
          <a:prstGeom prst="rect">
            <a:avLst/>
          </a:prstGeom>
        </p:spPr>
      </p:pic>
      <p:pic>
        <p:nvPicPr>
          <p:cNvPr id="27" name="Gráfico 26" descr="Libros">
            <a:extLst>
              <a:ext uri="{FF2B5EF4-FFF2-40B4-BE49-F238E27FC236}">
                <a16:creationId xmlns:a16="http://schemas.microsoft.com/office/drawing/2014/main" id="{AFF2200C-6115-459B-B623-F8ACF534A6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16985" y="1258768"/>
            <a:ext cx="914400" cy="9144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74EA671B-AD05-4029-B6AD-DB9216EC52EE}"/>
              </a:ext>
            </a:extLst>
          </p:cNvPr>
          <p:cNvSpPr/>
          <p:nvPr/>
        </p:nvSpPr>
        <p:spPr>
          <a:xfrm>
            <a:off x="7101453" y="6595801"/>
            <a:ext cx="2042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 </a:t>
            </a:r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805083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348893" y="2132856"/>
            <a:ext cx="2842512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IMPORTACIONES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3661261" y="2132856"/>
            <a:ext cx="3007806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38 Conector recto de flecha"/>
          <p:cNvCxnSpPr>
            <a:cxnSpLocks/>
            <a:stCxn id="36" idx="3"/>
            <a:endCxn id="37" idx="1"/>
          </p:cNvCxnSpPr>
          <p:nvPr/>
        </p:nvCxnSpPr>
        <p:spPr>
          <a:xfrm>
            <a:off x="3191405" y="2636912"/>
            <a:ext cx="46985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Rectángulo redondeado"/>
          <p:cNvSpPr/>
          <p:nvPr/>
        </p:nvSpPr>
        <p:spPr>
          <a:xfrm>
            <a:off x="2411474" y="3015428"/>
            <a:ext cx="1249785" cy="792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Necesario para impulsar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7138922" y="2132856"/>
            <a:ext cx="1681549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DEUDA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41 Rectángulo redondeado"/>
          <p:cNvSpPr/>
          <p:nvPr/>
        </p:nvSpPr>
        <p:spPr>
          <a:xfrm>
            <a:off x="5927709" y="3015428"/>
            <a:ext cx="1064160" cy="792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“gap” cubierto con 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42 Conector recto de flecha"/>
          <p:cNvCxnSpPr>
            <a:cxnSpLocks/>
            <a:stCxn id="37" idx="3"/>
            <a:endCxn id="41" idx="1"/>
          </p:cNvCxnSpPr>
          <p:nvPr/>
        </p:nvCxnSpPr>
        <p:spPr>
          <a:xfrm>
            <a:off x="6669067" y="2636912"/>
            <a:ext cx="469855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Rectángulo redondeado"/>
          <p:cNvSpPr/>
          <p:nvPr/>
        </p:nvSpPr>
        <p:spPr>
          <a:xfrm>
            <a:off x="7138922" y="4169241"/>
            <a:ext cx="1681550" cy="12961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Riesgo de Crisis de Balanza de Pagos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3767469" y="4149079"/>
            <a:ext cx="2486079" cy="1316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requería un constante ingreso de capitales para cubrir la diferencia y los intereses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26 Conector recto de flecha"/>
          <p:cNvCxnSpPr>
            <a:cxnSpLocks/>
            <a:stCxn id="41" idx="2"/>
            <a:endCxn id="23" idx="0"/>
          </p:cNvCxnSpPr>
          <p:nvPr/>
        </p:nvCxnSpPr>
        <p:spPr>
          <a:xfrm>
            <a:off x="7979697" y="3140968"/>
            <a:ext cx="0" cy="1028273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cxnSpLocks/>
            <a:stCxn id="23" idx="1"/>
            <a:endCxn id="24" idx="3"/>
          </p:cNvCxnSpPr>
          <p:nvPr/>
        </p:nvCxnSpPr>
        <p:spPr>
          <a:xfrm flipH="1" flipV="1">
            <a:off x="6253548" y="4807228"/>
            <a:ext cx="885374" cy="1008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Rectángulo redondeado"/>
          <p:cNvSpPr/>
          <p:nvPr/>
        </p:nvSpPr>
        <p:spPr>
          <a:xfrm>
            <a:off x="311084" y="4149080"/>
            <a:ext cx="2486079" cy="13162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logró hasta 1890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(Crisis </a:t>
            </a:r>
            <a:r>
              <a:rPr lang="es-E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Baring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19 Conector recto de flecha"/>
          <p:cNvCxnSpPr>
            <a:cxnSpLocks/>
            <a:stCxn id="24" idx="1"/>
            <a:endCxn id="18" idx="3"/>
          </p:cNvCxnSpPr>
          <p:nvPr/>
        </p:nvCxnSpPr>
        <p:spPr>
          <a:xfrm flipH="1">
            <a:off x="2797163" y="4807228"/>
            <a:ext cx="97030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histórica: PATRÓN DE DESARROLLO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Entre 1880 y 1890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361628" y="2060848"/>
            <a:ext cx="1872208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1889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2845904" y="2060848"/>
            <a:ext cx="2700300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TECHO AL ENDEUDAMIENTO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38 Conector recto de flecha"/>
          <p:cNvCxnSpPr>
            <a:cxnSpLocks/>
            <a:stCxn id="36" idx="3"/>
            <a:endCxn id="37" idx="1"/>
          </p:cNvCxnSpPr>
          <p:nvPr/>
        </p:nvCxnSpPr>
        <p:spPr>
          <a:xfrm>
            <a:off x="2233836" y="2564904"/>
            <a:ext cx="612068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Rectángulo redondeado"/>
          <p:cNvSpPr/>
          <p:nvPr/>
        </p:nvSpPr>
        <p:spPr>
          <a:xfrm>
            <a:off x="683568" y="3573016"/>
            <a:ext cx="1224136" cy="4320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Desfasaje</a:t>
            </a:r>
          </a:p>
        </p:txBody>
      </p:sp>
      <p:sp>
        <p:nvSpPr>
          <p:cNvPr id="41" name="40 Rectángulo redondeado"/>
          <p:cNvSpPr/>
          <p:nvPr/>
        </p:nvSpPr>
        <p:spPr>
          <a:xfrm>
            <a:off x="357436" y="4509120"/>
            <a:ext cx="1872208" cy="10081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1895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2839616" y="4509120"/>
            <a:ext cx="2702396" cy="10081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BOOM EXPORTADOR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34 Conector recto de flecha"/>
          <p:cNvCxnSpPr>
            <a:cxnSpLocks/>
            <a:stCxn id="41" idx="3"/>
            <a:endCxn id="31" idx="1"/>
          </p:cNvCxnSpPr>
          <p:nvPr/>
        </p:nvCxnSpPr>
        <p:spPr>
          <a:xfrm>
            <a:off x="2229644" y="5013176"/>
            <a:ext cx="609972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>
            <a:stCxn id="36" idx="2"/>
            <a:endCxn id="40" idx="0"/>
          </p:cNvCxnSpPr>
          <p:nvPr/>
        </p:nvCxnSpPr>
        <p:spPr>
          <a:xfrm rot="5400000">
            <a:off x="1044656" y="3319940"/>
            <a:ext cx="504056" cy="209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>
            <a:stCxn id="41" idx="0"/>
            <a:endCxn id="40" idx="2"/>
          </p:cNvCxnSpPr>
          <p:nvPr/>
        </p:nvCxnSpPr>
        <p:spPr>
          <a:xfrm rot="5400000" flipH="1" flipV="1">
            <a:off x="1042560" y="4256044"/>
            <a:ext cx="504056" cy="209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 redondeado"/>
          <p:cNvSpPr/>
          <p:nvPr/>
        </p:nvSpPr>
        <p:spPr>
          <a:xfrm>
            <a:off x="6516216" y="3217230"/>
            <a:ext cx="2270626" cy="11618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CAMBIA EL MODELO DE CRECIMIENTO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49 Conector recto de flecha"/>
          <p:cNvCxnSpPr>
            <a:cxnSpLocks/>
            <a:stCxn id="37" idx="3"/>
            <a:endCxn id="47" idx="1"/>
          </p:cNvCxnSpPr>
          <p:nvPr/>
        </p:nvCxnSpPr>
        <p:spPr>
          <a:xfrm>
            <a:off x="5546204" y="2564904"/>
            <a:ext cx="970012" cy="1233235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Rectángulo redondeado"/>
          <p:cNvSpPr/>
          <p:nvPr/>
        </p:nvSpPr>
        <p:spPr>
          <a:xfrm>
            <a:off x="6516216" y="4687044"/>
            <a:ext cx="2270626" cy="13017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basarse en deuda a basarse en exportaciones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52 Conector recto de flecha"/>
          <p:cNvCxnSpPr>
            <a:stCxn id="47" idx="2"/>
            <a:endCxn id="51" idx="0"/>
          </p:cNvCxnSpPr>
          <p:nvPr/>
        </p:nvCxnSpPr>
        <p:spPr>
          <a:xfrm rot="5400000">
            <a:off x="7497531" y="4533046"/>
            <a:ext cx="307996" cy="1588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Cambio del patrón de desarrollo. Desde 1890</a:t>
            </a:r>
          </a:p>
        </p:txBody>
      </p:sp>
      <p:cxnSp>
        <p:nvCxnSpPr>
          <p:cNvPr id="22" name="49 Conector recto de flecha">
            <a:extLst>
              <a:ext uri="{FF2B5EF4-FFF2-40B4-BE49-F238E27FC236}">
                <a16:creationId xmlns:a16="http://schemas.microsoft.com/office/drawing/2014/main" id="{4B1AAC2E-8E01-4D10-9053-150795D3C7E9}"/>
              </a:ext>
            </a:extLst>
          </p:cNvPr>
          <p:cNvCxnSpPr>
            <a:cxnSpLocks/>
            <a:stCxn id="31" idx="3"/>
            <a:endCxn id="47" idx="1"/>
          </p:cNvCxnSpPr>
          <p:nvPr/>
        </p:nvCxnSpPr>
        <p:spPr>
          <a:xfrm flipV="1">
            <a:off x="5542012" y="3798139"/>
            <a:ext cx="974204" cy="1215037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18 Rectángulo redondeado">
            <a:extLst>
              <a:ext uri="{FF2B5EF4-FFF2-40B4-BE49-F238E27FC236}">
                <a16:creationId xmlns:a16="http://schemas.microsoft.com/office/drawing/2014/main" id="{67DC1057-2F4A-4712-9E52-5FC80C1FEF8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histórica: PATRÓN DE DESARROLLO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611560" y="2130576"/>
            <a:ext cx="1872208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1880…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3635896" y="1554512"/>
            <a:ext cx="2088232" cy="10081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basado en DEUDA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5724128" y="1490517"/>
            <a:ext cx="1656184" cy="110600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Formación de CAPITAL SOCIAL BÁSICO</a:t>
            </a:r>
            <a:endParaRPr lang="es-AR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3635896" y="2706640"/>
            <a:ext cx="2088232" cy="10081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 económicas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5724128" y="2708920"/>
            <a:ext cx="1944216" cy="9766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Que requirieran altas relaciones T/K y T/L</a:t>
            </a:r>
            <a:endParaRPr lang="es-AR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8" name="17 Conector recto de flecha"/>
          <p:cNvCxnSpPr>
            <a:cxnSpLocks/>
            <a:stCxn id="4" idx="3"/>
            <a:endCxn id="5" idx="1"/>
          </p:cNvCxnSpPr>
          <p:nvPr/>
        </p:nvCxnSpPr>
        <p:spPr>
          <a:xfrm flipV="1">
            <a:off x="2483768" y="2058568"/>
            <a:ext cx="1152128" cy="57606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>
            <a:cxnSpLocks/>
            <a:stCxn id="4" idx="3"/>
            <a:endCxn id="8" idx="1"/>
          </p:cNvCxnSpPr>
          <p:nvPr/>
        </p:nvCxnSpPr>
        <p:spPr>
          <a:xfrm>
            <a:off x="2483768" y="2634632"/>
            <a:ext cx="1152128" cy="57606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Rectángulo redondeado"/>
          <p:cNvSpPr/>
          <p:nvPr/>
        </p:nvSpPr>
        <p:spPr>
          <a:xfrm>
            <a:off x="611560" y="4882750"/>
            <a:ext cx="1872208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Después de 1880…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3635896" y="4268586"/>
            <a:ext cx="2088232" cy="10081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basado en EXPORTACIONES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3635896" y="5492722"/>
            <a:ext cx="2088232" cy="10081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 económicas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5724128" y="4211436"/>
            <a:ext cx="2808312" cy="61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‘80s: comienza el cambio. Sin coyuntura externa </a:t>
            </a:r>
            <a:endParaRPr lang="es-AR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5724128" y="5588713"/>
            <a:ext cx="2808312" cy="8111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Agricultura: mayor uso de mano de obra y capital: </a:t>
            </a:r>
            <a:r>
              <a:rPr lang="es-ES" sz="2800" b="1" i="1" dirty="0">
                <a:solidFill>
                  <a:schemeClr val="accent1">
                    <a:lumMod val="50000"/>
                  </a:schemeClr>
                </a:solidFill>
              </a:rPr>
              <a:t>Eslabonamientos</a:t>
            </a:r>
            <a:endParaRPr lang="es-AR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5724128" y="4786545"/>
            <a:ext cx="2808312" cy="61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‘90s: coyuntura externa. El país estaba “listo”</a:t>
            </a:r>
            <a:endParaRPr lang="es-AR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0" name="29 Conector recto de flecha"/>
          <p:cNvCxnSpPr>
            <a:cxnSpLocks/>
            <a:stCxn id="22" idx="3"/>
            <a:endCxn id="23" idx="1"/>
          </p:cNvCxnSpPr>
          <p:nvPr/>
        </p:nvCxnSpPr>
        <p:spPr>
          <a:xfrm flipV="1">
            <a:off x="2483768" y="4772642"/>
            <a:ext cx="1152128" cy="61416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>
            <a:cxnSpLocks/>
            <a:stCxn id="22" idx="3"/>
            <a:endCxn id="24" idx="1"/>
          </p:cNvCxnSpPr>
          <p:nvPr/>
        </p:nvCxnSpPr>
        <p:spPr>
          <a:xfrm>
            <a:off x="2483768" y="5386806"/>
            <a:ext cx="1152128" cy="60997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CuadroTexto"/>
          <p:cNvSpPr txBox="1"/>
          <p:nvPr/>
        </p:nvSpPr>
        <p:spPr>
          <a:xfrm>
            <a:off x="0" y="642918"/>
            <a:ext cx="914400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Conclusiones</a:t>
            </a:r>
          </a:p>
        </p:txBody>
      </p:sp>
      <p:sp>
        <p:nvSpPr>
          <p:cNvPr id="31" name="18 Rectángulo redondeado">
            <a:extLst>
              <a:ext uri="{FF2B5EF4-FFF2-40B4-BE49-F238E27FC236}">
                <a16:creationId xmlns:a16="http://schemas.microsoft.com/office/drawing/2014/main" id="{74491F20-13AF-460E-8A07-00E1E463197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histórica: PATRÓN DE DESARROLLO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3A648D1-0B26-4B3D-B6AF-8ED82460AD48}"/>
              </a:ext>
            </a:extLst>
          </p:cNvPr>
          <p:cNvSpPr/>
          <p:nvPr/>
        </p:nvSpPr>
        <p:spPr>
          <a:xfrm>
            <a:off x="5724128" y="6083799"/>
            <a:ext cx="2808312" cy="417035"/>
          </a:xfrm>
          <a:prstGeom prst="round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9" name="16 Rectángulo redondeado">
            <a:extLst>
              <a:ext uri="{FF2B5EF4-FFF2-40B4-BE49-F238E27FC236}">
                <a16:creationId xmlns:a16="http://schemas.microsoft.com/office/drawing/2014/main" id="{BE4DF6AD-A52F-42DC-BC8A-EAD1D0AA7973}"/>
              </a:ext>
            </a:extLst>
          </p:cNvPr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análisis adicional</a:t>
            </a:r>
          </a:p>
        </p:txBody>
      </p:sp>
      <p:pic>
        <p:nvPicPr>
          <p:cNvPr id="3" name="Gráfico 2" descr="Ojo">
            <a:extLst>
              <a:ext uri="{FF2B5EF4-FFF2-40B4-BE49-F238E27FC236}">
                <a16:creationId xmlns:a16="http://schemas.microsoft.com/office/drawing/2014/main" id="{394E843B-B1BA-4B21-B8A6-493859E1F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9852" y="3933056"/>
            <a:ext cx="2664296" cy="2664296"/>
          </a:xfrm>
          <a:prstGeom prst="rect">
            <a:avLst/>
          </a:prstGeom>
        </p:spPr>
      </p:pic>
      <p:sp>
        <p:nvSpPr>
          <p:cNvPr id="9" name="17 Rectángulo redondeado">
            <a:extLst>
              <a:ext uri="{FF2B5EF4-FFF2-40B4-BE49-F238E27FC236}">
                <a16:creationId xmlns:a16="http://schemas.microsoft.com/office/drawing/2014/main" id="{C0F59E0A-8352-4A13-9F9B-BFA9BA000785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histórica</a:t>
            </a:r>
          </a:p>
        </p:txBody>
      </p:sp>
    </p:spTree>
    <p:extLst>
      <p:ext uri="{BB962C8B-B14F-4D97-AF65-F5344CB8AC3E}">
        <p14:creationId xmlns:p14="http://schemas.microsoft.com/office/powerpoint/2010/main" val="21300175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8 Rectángulo redondeado"/>
          <p:cNvSpPr/>
          <p:nvPr/>
        </p:nvSpPr>
        <p:spPr>
          <a:xfrm>
            <a:off x="357158" y="2428868"/>
            <a:ext cx="3571900" cy="10001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Apoyado por datos estadísticos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(ya lo vimos) 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5214942" y="2428868"/>
            <a:ext cx="3571900" cy="2357454"/>
          </a:xfrm>
          <a:prstGeom prst="roundRect">
            <a:avLst>
              <a:gd name="adj" fmla="val 80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Opiniones:</a:t>
            </a:r>
          </a:p>
          <a:p>
            <a:pPr algn="ctr">
              <a:spcBef>
                <a:spcPts val="600"/>
              </a:spcBef>
            </a:pP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Exagerado énfasis en el sector externo</a:t>
            </a:r>
          </a:p>
          <a:p>
            <a:pPr algn="ctr">
              <a:spcBef>
                <a:spcPts val="600"/>
              </a:spcBef>
            </a:pP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Grupos terratenientes </a:t>
            </a: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monopolio ideológico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Dependencia del crecimiento del sector agropecuario</a:t>
            </a:r>
          </a:p>
        </p:txBody>
      </p:sp>
      <p:sp>
        <p:nvSpPr>
          <p:cNvPr id="11" name="10 Rectángulo redondeado"/>
          <p:cNvSpPr/>
          <p:nvPr/>
        </p:nvSpPr>
        <p:spPr>
          <a:xfrm rot="16200000">
            <a:off x="5822149" y="3536149"/>
            <a:ext cx="6357982" cy="2857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s-AR" i="1" dirty="0">
                <a:solidFill>
                  <a:schemeClr val="accent1">
                    <a:lumMod val="50000"/>
                  </a:schemeClr>
                </a:solidFill>
              </a:rPr>
              <a:t>Ver </a:t>
            </a:r>
            <a:r>
              <a:rPr lang="es-AR" i="1" dirty="0" err="1">
                <a:solidFill>
                  <a:schemeClr val="accent1">
                    <a:lumMod val="50000"/>
                  </a:schemeClr>
                </a:solidFill>
              </a:rPr>
              <a:t>Geller</a:t>
            </a:r>
            <a:r>
              <a:rPr lang="es-AR" i="1" dirty="0">
                <a:solidFill>
                  <a:schemeClr val="accent1">
                    <a:lumMod val="50000"/>
                  </a:schemeClr>
                </a:solidFill>
              </a:rPr>
              <a:t> (complementaria)</a:t>
            </a:r>
          </a:p>
        </p:txBody>
      </p:sp>
      <p:cxnSp>
        <p:nvCxnSpPr>
          <p:cNvPr id="14" name="13 Conector angular"/>
          <p:cNvCxnSpPr>
            <a:cxnSpLocks/>
            <a:stCxn id="10" idx="1"/>
            <a:endCxn id="28" idx="0"/>
          </p:cNvCxnSpPr>
          <p:nvPr/>
        </p:nvCxnSpPr>
        <p:spPr>
          <a:xfrm rot="10800000" flipV="1">
            <a:off x="4572000" y="3607595"/>
            <a:ext cx="642942" cy="1514754"/>
          </a:xfrm>
          <a:prstGeom prst="bentConnector2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Rectángulo redondeado"/>
          <p:cNvSpPr/>
          <p:nvPr/>
        </p:nvSpPr>
        <p:spPr>
          <a:xfrm>
            <a:off x="357158" y="714356"/>
            <a:ext cx="8429684" cy="4286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visiones sobre el desarrollo en el período 1900-1930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análisis adicional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357158" y="1357298"/>
            <a:ext cx="3571900" cy="8572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Rápido crecimiento económico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5214942" y="1357298"/>
            <a:ext cx="3571900" cy="8572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¿Oculta ineficiencias?</a:t>
            </a:r>
          </a:p>
        </p:txBody>
      </p:sp>
      <p:sp>
        <p:nvSpPr>
          <p:cNvPr id="23" name="22 Elipse"/>
          <p:cNvSpPr/>
          <p:nvPr/>
        </p:nvSpPr>
        <p:spPr>
          <a:xfrm>
            <a:off x="3714744" y="1500174"/>
            <a:ext cx="571504" cy="57150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23 Elipse"/>
          <p:cNvSpPr/>
          <p:nvPr/>
        </p:nvSpPr>
        <p:spPr>
          <a:xfrm>
            <a:off x="4786314" y="1500174"/>
            <a:ext cx="571504" cy="57150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27 Rectángulo redondeado"/>
          <p:cNvSpPr/>
          <p:nvPr/>
        </p:nvSpPr>
        <p:spPr>
          <a:xfrm>
            <a:off x="2357422" y="5122349"/>
            <a:ext cx="4429156" cy="1525848"/>
          </a:xfrm>
          <a:prstGeom prst="roundRect">
            <a:avLst>
              <a:gd name="adj" fmla="val 1188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Pero…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Fuerte crecimiento de la industria (no igualado después de la crisis)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La participación de la Industria se incrementó</a:t>
            </a:r>
          </a:p>
        </p:txBody>
      </p:sp>
    </p:spTree>
    <p:extLst>
      <p:ext uri="{BB962C8B-B14F-4D97-AF65-F5344CB8AC3E}">
        <p14:creationId xmlns:p14="http://schemas.microsoft.com/office/powerpoint/2010/main" val="3007563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7" name="16 Rectángulo redondeado"/>
          <p:cNvSpPr/>
          <p:nvPr/>
        </p:nvSpPr>
        <p:spPr>
          <a:xfrm>
            <a:off x="357158" y="2928934"/>
            <a:ext cx="8358246" cy="8572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¿La tasa histórica de crecimiento industrial fue diferente a la “ideal”?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1475656" y="4286256"/>
            <a:ext cx="6192688" cy="7143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Tomarla como óptima y centrarse en los factores que la determinaron</a:t>
            </a:r>
          </a:p>
        </p:txBody>
      </p:sp>
      <p:sp>
        <p:nvSpPr>
          <p:cNvPr id="22" name="21 Rectángulo redondeado"/>
          <p:cNvSpPr/>
          <p:nvPr/>
        </p:nvSpPr>
        <p:spPr>
          <a:xfrm>
            <a:off x="357158" y="5357826"/>
            <a:ext cx="8286808" cy="12144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/>
            <a:r>
              <a:rPr lang="es-AR" sz="2000" dirty="0">
                <a:solidFill>
                  <a:schemeClr val="accent1">
                    <a:lumMod val="50000"/>
                  </a:schemeClr>
                </a:solidFill>
              </a:rPr>
              <a:t>Entre </a:t>
            </a:r>
            <a:r>
              <a:rPr lang="es-AR" sz="2000" b="1" dirty="0">
                <a:solidFill>
                  <a:schemeClr val="accent1">
                    <a:lumMod val="50000"/>
                  </a:schemeClr>
                </a:solidFill>
              </a:rPr>
              <a:t>1900 y 1914 </a:t>
            </a:r>
            <a:r>
              <a:rPr lang="es-AR" sz="2000" dirty="0">
                <a:solidFill>
                  <a:schemeClr val="accent1">
                    <a:lumMod val="50000"/>
                  </a:schemeClr>
                </a:solidFill>
              </a:rPr>
              <a:t>comenzaría a desarrollarse la industria argentina </a:t>
            </a:r>
          </a:p>
          <a:p>
            <a:pPr marL="457200" indent="-457200" algn="ctr"/>
            <a:r>
              <a:rPr lang="es-AR" sz="2000" dirty="0">
                <a:solidFill>
                  <a:schemeClr val="accent1">
                    <a:lumMod val="50000"/>
                  </a:schemeClr>
                </a:solidFill>
              </a:rPr>
              <a:t>Este crecimiento puede </a:t>
            </a:r>
            <a:r>
              <a:rPr lang="es-AR" sz="2000" b="1" dirty="0">
                <a:solidFill>
                  <a:schemeClr val="accent1">
                    <a:lumMod val="50000"/>
                  </a:schemeClr>
                </a:solidFill>
              </a:rPr>
              <a:t>explicarse por el BPE</a:t>
            </a:r>
          </a:p>
          <a:p>
            <a:pPr marL="457200" indent="-457200" algn="ctr"/>
            <a:r>
              <a:rPr lang="es-AR" sz="2000" dirty="0">
                <a:solidFill>
                  <a:schemeClr val="accent1">
                    <a:lumMod val="50000"/>
                  </a:schemeClr>
                </a:solidFill>
              </a:rPr>
              <a:t>El crecimiento posterior a la WWI… </a:t>
            </a:r>
            <a:r>
              <a:rPr lang="es-AR" sz="2000" b="1" dirty="0">
                <a:solidFill>
                  <a:schemeClr val="accent1">
                    <a:lumMod val="50000"/>
                  </a:schemeClr>
                </a:solidFill>
              </a:rPr>
              <a:t>Es otro modelo…</a:t>
            </a: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6" name="15 Rectángulo redondeado"/>
          <p:cNvSpPr/>
          <p:nvPr/>
        </p:nvSpPr>
        <p:spPr>
          <a:xfrm>
            <a:off x="357158" y="714356"/>
            <a:ext cx="8429684" cy="4286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visiones sobre el desarrollo en el período 1900-1930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análisis adicional</a:t>
            </a:r>
          </a:p>
        </p:txBody>
      </p:sp>
      <p:sp>
        <p:nvSpPr>
          <p:cNvPr id="28" name="27 Flecha abajo"/>
          <p:cNvSpPr/>
          <p:nvPr/>
        </p:nvSpPr>
        <p:spPr>
          <a:xfrm>
            <a:off x="4143372" y="3786190"/>
            <a:ext cx="857256" cy="42862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 redondeado"/>
          <p:cNvSpPr/>
          <p:nvPr/>
        </p:nvSpPr>
        <p:spPr>
          <a:xfrm>
            <a:off x="6643702" y="3571876"/>
            <a:ext cx="2071702" cy="50006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Difícil determinarlo</a:t>
            </a:r>
          </a:p>
        </p:txBody>
      </p:sp>
      <p:sp>
        <p:nvSpPr>
          <p:cNvPr id="19" name="19 Rectángulo redondeado">
            <a:extLst>
              <a:ext uri="{FF2B5EF4-FFF2-40B4-BE49-F238E27FC236}">
                <a16:creationId xmlns:a16="http://schemas.microsoft.com/office/drawing/2014/main" id="{9C841E9F-3408-4A7D-8352-B09DDB9CAF77}"/>
              </a:ext>
            </a:extLst>
          </p:cNvPr>
          <p:cNvSpPr/>
          <p:nvPr/>
        </p:nvSpPr>
        <p:spPr>
          <a:xfrm>
            <a:off x="357158" y="1357298"/>
            <a:ext cx="3571900" cy="8572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Rápido crecimiento económico</a:t>
            </a:r>
          </a:p>
        </p:txBody>
      </p:sp>
      <p:sp>
        <p:nvSpPr>
          <p:cNvPr id="27" name="20 Rectángulo redondeado">
            <a:extLst>
              <a:ext uri="{FF2B5EF4-FFF2-40B4-BE49-F238E27FC236}">
                <a16:creationId xmlns:a16="http://schemas.microsoft.com/office/drawing/2014/main" id="{453AB9AA-F8EB-4A25-995B-73C76D67E537}"/>
              </a:ext>
            </a:extLst>
          </p:cNvPr>
          <p:cNvSpPr/>
          <p:nvPr/>
        </p:nvSpPr>
        <p:spPr>
          <a:xfrm>
            <a:off x="5214942" y="1357298"/>
            <a:ext cx="3571900" cy="8572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¿Oculta ineficiencias?</a:t>
            </a:r>
          </a:p>
        </p:txBody>
      </p:sp>
      <p:sp>
        <p:nvSpPr>
          <p:cNvPr id="30" name="22 Elipse">
            <a:extLst>
              <a:ext uri="{FF2B5EF4-FFF2-40B4-BE49-F238E27FC236}">
                <a16:creationId xmlns:a16="http://schemas.microsoft.com/office/drawing/2014/main" id="{A79741E0-FC99-40BF-B401-7222E6C64164}"/>
              </a:ext>
            </a:extLst>
          </p:cNvPr>
          <p:cNvSpPr/>
          <p:nvPr/>
        </p:nvSpPr>
        <p:spPr>
          <a:xfrm>
            <a:off x="3714744" y="1500174"/>
            <a:ext cx="571504" cy="57150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1" name="23 Elipse">
            <a:extLst>
              <a:ext uri="{FF2B5EF4-FFF2-40B4-BE49-F238E27FC236}">
                <a16:creationId xmlns:a16="http://schemas.microsoft.com/office/drawing/2014/main" id="{203DC4EB-A73F-4BCC-8842-4D7CF76A33FC}"/>
              </a:ext>
            </a:extLst>
          </p:cNvPr>
          <p:cNvSpPr/>
          <p:nvPr/>
        </p:nvSpPr>
        <p:spPr>
          <a:xfrm>
            <a:off x="4786314" y="1500174"/>
            <a:ext cx="571504" cy="57150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10 Rectángulo redondeado">
            <a:extLst>
              <a:ext uri="{FF2B5EF4-FFF2-40B4-BE49-F238E27FC236}">
                <a16:creationId xmlns:a16="http://schemas.microsoft.com/office/drawing/2014/main" id="{3002BBBA-E004-448A-AA04-DDA30C6538B1}"/>
              </a:ext>
            </a:extLst>
          </p:cNvPr>
          <p:cNvSpPr/>
          <p:nvPr/>
        </p:nvSpPr>
        <p:spPr>
          <a:xfrm rot="16200000">
            <a:off x="5822149" y="3536149"/>
            <a:ext cx="6357982" cy="2857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s-AR" i="1" dirty="0">
                <a:solidFill>
                  <a:schemeClr val="accent1">
                    <a:lumMod val="50000"/>
                  </a:schemeClr>
                </a:solidFill>
              </a:rPr>
              <a:t>Ver </a:t>
            </a:r>
            <a:r>
              <a:rPr lang="es-AR" i="1" dirty="0" err="1">
                <a:solidFill>
                  <a:schemeClr val="accent1">
                    <a:lumMod val="50000"/>
                  </a:schemeClr>
                </a:solidFill>
              </a:rPr>
              <a:t>Geller</a:t>
            </a:r>
            <a:r>
              <a:rPr lang="es-AR" i="1" dirty="0">
                <a:solidFill>
                  <a:schemeClr val="accent1">
                    <a:lumMod val="50000"/>
                  </a:schemeClr>
                </a:solidFill>
              </a:rPr>
              <a:t> (complementaria)</a:t>
            </a:r>
          </a:p>
        </p:txBody>
      </p:sp>
    </p:spTree>
    <p:extLst>
      <p:ext uri="{BB962C8B-B14F-4D97-AF65-F5344CB8AC3E}">
        <p14:creationId xmlns:p14="http://schemas.microsoft.com/office/powerpoint/2010/main" val="303917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</TotalTime>
  <Words>1759</Words>
  <Application>Microsoft Office PowerPoint</Application>
  <PresentationFormat>Presentación en pantalla (4:3)</PresentationFormat>
  <Paragraphs>517</Paragraphs>
  <Slides>53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6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lucas</dc:creator>
  <cp:lastModifiedBy>Lucas Tossolini</cp:lastModifiedBy>
  <cp:revision>136</cp:revision>
  <dcterms:created xsi:type="dcterms:W3CDTF">2012-07-30T20:41:59Z</dcterms:created>
  <dcterms:modified xsi:type="dcterms:W3CDTF">2020-04-13T16:43:06Z</dcterms:modified>
</cp:coreProperties>
</file>