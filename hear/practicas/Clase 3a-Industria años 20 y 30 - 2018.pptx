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6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bookmarkIdSeed="2">
  <p:sldMasterIdLst>
    <p:sldMasterId id="2147483659" r:id="rId1"/>
  </p:sldMasterIdLst>
  <p:notesMasterIdLst>
    <p:notesMasterId r:id="rId45"/>
  </p:notesMasterIdLst>
  <p:handoutMasterIdLst>
    <p:handoutMasterId r:id="rId46"/>
  </p:handoutMasterIdLst>
  <p:sldIdLst>
    <p:sldId id="346" r:id="rId2"/>
    <p:sldId id="309" r:id="rId3"/>
    <p:sldId id="304" r:id="rId4"/>
    <p:sldId id="257" r:id="rId5"/>
    <p:sldId id="332" r:id="rId6"/>
    <p:sldId id="272" r:id="rId7"/>
    <p:sldId id="315" r:id="rId8"/>
    <p:sldId id="318" r:id="rId9"/>
    <p:sldId id="290" r:id="rId10"/>
    <p:sldId id="319" r:id="rId11"/>
    <p:sldId id="341" r:id="rId12"/>
    <p:sldId id="291" r:id="rId13"/>
    <p:sldId id="292" r:id="rId14"/>
    <p:sldId id="294" r:id="rId15"/>
    <p:sldId id="316" r:id="rId16"/>
    <p:sldId id="340" r:id="rId17"/>
    <p:sldId id="295" r:id="rId18"/>
    <p:sldId id="296" r:id="rId19"/>
    <p:sldId id="317" r:id="rId20"/>
    <p:sldId id="298" r:id="rId21"/>
    <p:sldId id="342" r:id="rId22"/>
    <p:sldId id="320" r:id="rId23"/>
    <p:sldId id="321" r:id="rId24"/>
    <p:sldId id="322" r:id="rId25"/>
    <p:sldId id="323" r:id="rId26"/>
    <p:sldId id="343" r:id="rId27"/>
    <p:sldId id="324" r:id="rId28"/>
    <p:sldId id="325" r:id="rId29"/>
    <p:sldId id="326" r:id="rId30"/>
    <p:sldId id="327" r:id="rId31"/>
    <p:sldId id="328" r:id="rId32"/>
    <p:sldId id="335" r:id="rId33"/>
    <p:sldId id="329" r:id="rId34"/>
    <p:sldId id="330" r:id="rId35"/>
    <p:sldId id="344" r:id="rId36"/>
    <p:sldId id="334" r:id="rId37"/>
    <p:sldId id="333" r:id="rId38"/>
    <p:sldId id="336" r:id="rId39"/>
    <p:sldId id="338" r:id="rId40"/>
    <p:sldId id="299" r:id="rId41"/>
    <p:sldId id="337" r:id="rId42"/>
    <p:sldId id="339" r:id="rId43"/>
    <p:sldId id="302" r:id="rId44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26" autoAdjust="0"/>
    <p:restoredTop sz="95560" autoAdjust="0"/>
  </p:normalViewPr>
  <p:slideViewPr>
    <p:cSldViewPr>
      <p:cViewPr varScale="1">
        <p:scale>
          <a:sx n="68" d="100"/>
          <a:sy n="68" d="100"/>
        </p:scale>
        <p:origin x="126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1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-%202do%20Sem%20-%202012\datos%20crecimiento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-%202do%20Sem%20-%202012\datos%20crecimiento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-%202do%20Sem%20-%202012\datos%20crecimiento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-%202do%20Sem%20-%202012\datos%20crecimiento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-%202do%20Sem%20-%202012\datos%20crecimiento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-%202do%20Sem%20-%202012\datos%20crecimiento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-%202do%20Sem%20-%202012\datos%20crecimiento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\Datos\Dos%20Siglos%20completo\fscommand\C4.2%20-%20Producci&#243;n%20-%20Valores.xls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spc="0" baseline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Hoja3!$B$1</c:f>
              <c:strCache>
                <c:ptCount val="1"/>
                <c:pt idx="0">
                  <c:v>Prod fibra de algodón</c:v>
                </c:pt>
              </c:strCache>
            </c:strRef>
          </c:tx>
          <c:spPr>
            <a:ln w="38100" cap="rnd">
              <a:solidFill>
                <a:schemeClr val="accent5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Hoja3!$A$2:$A$22</c:f>
              <c:numCache>
                <c:formatCode>General</c:formatCode>
                <c:ptCount val="21"/>
                <c:pt idx="0">
                  <c:v>1920</c:v>
                </c:pt>
                <c:pt idx="1">
                  <c:v>1921</c:v>
                </c:pt>
                <c:pt idx="2">
                  <c:v>1922</c:v>
                </c:pt>
                <c:pt idx="3">
                  <c:v>1923</c:v>
                </c:pt>
                <c:pt idx="4">
                  <c:v>1924</c:v>
                </c:pt>
                <c:pt idx="5">
                  <c:v>1925</c:v>
                </c:pt>
                <c:pt idx="6">
                  <c:v>1926</c:v>
                </c:pt>
                <c:pt idx="7">
                  <c:v>1927</c:v>
                </c:pt>
                <c:pt idx="8">
                  <c:v>1928</c:v>
                </c:pt>
                <c:pt idx="9">
                  <c:v>1929</c:v>
                </c:pt>
                <c:pt idx="10">
                  <c:v>1930</c:v>
                </c:pt>
                <c:pt idx="11">
                  <c:v>1931</c:v>
                </c:pt>
                <c:pt idx="12">
                  <c:v>1932</c:v>
                </c:pt>
                <c:pt idx="13">
                  <c:v>1933</c:v>
                </c:pt>
                <c:pt idx="14">
                  <c:v>1934</c:v>
                </c:pt>
                <c:pt idx="15">
                  <c:v>1935</c:v>
                </c:pt>
                <c:pt idx="16">
                  <c:v>1936</c:v>
                </c:pt>
                <c:pt idx="17">
                  <c:v>1937</c:v>
                </c:pt>
                <c:pt idx="18">
                  <c:v>1938</c:v>
                </c:pt>
                <c:pt idx="19">
                  <c:v>1939</c:v>
                </c:pt>
                <c:pt idx="20">
                  <c:v>1940</c:v>
                </c:pt>
              </c:numCache>
            </c:numRef>
          </c:cat>
          <c:val>
            <c:numRef>
              <c:f>Hoja3!$B$2:$B$22</c:f>
              <c:numCache>
                <c:formatCode>#.##00\ \ </c:formatCode>
                <c:ptCount val="21"/>
                <c:pt idx="0">
                  <c:v>3.097</c:v>
                </c:pt>
                <c:pt idx="1">
                  <c:v>5.5350000000000001</c:v>
                </c:pt>
                <c:pt idx="2">
                  <c:v>3.6219999999999999</c:v>
                </c:pt>
                <c:pt idx="3">
                  <c:v>5.6319999999999997</c:v>
                </c:pt>
                <c:pt idx="4">
                  <c:v>12.759</c:v>
                </c:pt>
                <c:pt idx="5">
                  <c:v>14.455</c:v>
                </c:pt>
                <c:pt idx="6">
                  <c:v>29.347000000000001</c:v>
                </c:pt>
                <c:pt idx="7">
                  <c:v>12.525</c:v>
                </c:pt>
                <c:pt idx="8">
                  <c:v>24.92</c:v>
                </c:pt>
                <c:pt idx="9">
                  <c:v>25.69</c:v>
                </c:pt>
                <c:pt idx="10">
                  <c:v>32.613999999999997</c:v>
                </c:pt>
                <c:pt idx="11">
                  <c:v>30.050999999999998</c:v>
                </c:pt>
                <c:pt idx="12">
                  <c:v>36.686</c:v>
                </c:pt>
                <c:pt idx="13">
                  <c:v>32.511000000000003</c:v>
                </c:pt>
                <c:pt idx="14">
                  <c:v>43.356999999999999</c:v>
                </c:pt>
                <c:pt idx="15">
                  <c:v>64.037999999999997</c:v>
                </c:pt>
                <c:pt idx="16">
                  <c:v>80.956999999999994</c:v>
                </c:pt>
                <c:pt idx="17">
                  <c:v>31.17</c:v>
                </c:pt>
                <c:pt idx="18">
                  <c:v>51.445</c:v>
                </c:pt>
                <c:pt idx="19">
                  <c:v>70.891000000000005</c:v>
                </c:pt>
                <c:pt idx="20">
                  <c:v>78.593000000000004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78-4D1C-8B1B-E42C72F8B6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6494048"/>
        <c:axId val="1137019360"/>
      </c:lineChart>
      <c:catAx>
        <c:axId val="1126494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5">
                <a:lumMod val="50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1137019360"/>
        <c:crosses val="autoZero"/>
        <c:auto val="1"/>
        <c:lblAlgn val="ctr"/>
        <c:lblOffset val="100"/>
        <c:noMultiLvlLbl val="0"/>
      </c:catAx>
      <c:valAx>
        <c:axId val="1137019360"/>
        <c:scaling>
          <c:orientation val="minMax"/>
        </c:scaling>
        <c:delete val="1"/>
        <c:axPos val="l"/>
        <c:numFmt formatCode="#,##0.0" sourceLinked="0"/>
        <c:majorTickMark val="none"/>
        <c:minorTickMark val="none"/>
        <c:tickLblPos val="nextTo"/>
        <c:crossAx val="1126494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accent5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spc="0" baseline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Hoja3!$C$1</c:f>
              <c:strCache>
                <c:ptCount val="1"/>
                <c:pt idx="0">
                  <c:v>Prod de azucar</c:v>
                </c:pt>
              </c:strCache>
            </c:strRef>
          </c:tx>
          <c:spPr>
            <a:ln w="38100" cap="rnd">
              <a:solidFill>
                <a:schemeClr val="accent5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Hoja3!$A$2:$A$22</c:f>
              <c:numCache>
                <c:formatCode>General</c:formatCode>
                <c:ptCount val="21"/>
                <c:pt idx="0">
                  <c:v>1920</c:v>
                </c:pt>
                <c:pt idx="1">
                  <c:v>1921</c:v>
                </c:pt>
                <c:pt idx="2">
                  <c:v>1922</c:v>
                </c:pt>
                <c:pt idx="3">
                  <c:v>1923</c:v>
                </c:pt>
                <c:pt idx="4">
                  <c:v>1924</c:v>
                </c:pt>
                <c:pt idx="5">
                  <c:v>1925</c:v>
                </c:pt>
                <c:pt idx="6">
                  <c:v>1926</c:v>
                </c:pt>
                <c:pt idx="7">
                  <c:v>1927</c:v>
                </c:pt>
                <c:pt idx="8">
                  <c:v>1928</c:v>
                </c:pt>
                <c:pt idx="9">
                  <c:v>1929</c:v>
                </c:pt>
                <c:pt idx="10">
                  <c:v>1930</c:v>
                </c:pt>
                <c:pt idx="11">
                  <c:v>1931</c:v>
                </c:pt>
                <c:pt idx="12">
                  <c:v>1932</c:v>
                </c:pt>
                <c:pt idx="13">
                  <c:v>1933</c:v>
                </c:pt>
                <c:pt idx="14">
                  <c:v>1934</c:v>
                </c:pt>
                <c:pt idx="15">
                  <c:v>1935</c:v>
                </c:pt>
                <c:pt idx="16">
                  <c:v>1936</c:v>
                </c:pt>
                <c:pt idx="17">
                  <c:v>1937</c:v>
                </c:pt>
                <c:pt idx="18">
                  <c:v>1938</c:v>
                </c:pt>
                <c:pt idx="19">
                  <c:v>1939</c:v>
                </c:pt>
                <c:pt idx="20">
                  <c:v>1940</c:v>
                </c:pt>
              </c:numCache>
            </c:numRef>
          </c:cat>
          <c:val>
            <c:numRef>
              <c:f>Hoja3!$C$2:$C$22</c:f>
              <c:numCache>
                <c:formatCode>#.##00\ \ </c:formatCode>
                <c:ptCount val="21"/>
                <c:pt idx="0">
                  <c:v>200.733</c:v>
                </c:pt>
                <c:pt idx="1">
                  <c:v>198.55699999999999</c:v>
                </c:pt>
                <c:pt idx="2">
                  <c:v>209.95099999999999</c:v>
                </c:pt>
                <c:pt idx="3">
                  <c:v>257.65199999999999</c:v>
                </c:pt>
                <c:pt idx="4">
                  <c:v>249.65700000000001</c:v>
                </c:pt>
                <c:pt idx="5">
                  <c:v>395.41</c:v>
                </c:pt>
                <c:pt idx="6">
                  <c:v>476.50200000000001</c:v>
                </c:pt>
                <c:pt idx="7">
                  <c:v>423.49099999999999</c:v>
                </c:pt>
                <c:pt idx="8">
                  <c:v>375.31700000000001</c:v>
                </c:pt>
                <c:pt idx="9">
                  <c:v>341.07</c:v>
                </c:pt>
                <c:pt idx="10">
                  <c:v>382.99400000000003</c:v>
                </c:pt>
                <c:pt idx="11">
                  <c:v>348.28500000000003</c:v>
                </c:pt>
                <c:pt idx="12">
                  <c:v>349.68799999999999</c:v>
                </c:pt>
                <c:pt idx="13">
                  <c:v>320.10399999999998</c:v>
                </c:pt>
                <c:pt idx="14">
                  <c:v>345.50900000000001</c:v>
                </c:pt>
                <c:pt idx="15">
                  <c:v>391.255</c:v>
                </c:pt>
                <c:pt idx="16">
                  <c:v>436.80200000000002</c:v>
                </c:pt>
                <c:pt idx="17">
                  <c:v>371.16300000000001</c:v>
                </c:pt>
                <c:pt idx="18">
                  <c:v>465.63</c:v>
                </c:pt>
                <c:pt idx="19">
                  <c:v>521.58399999999995</c:v>
                </c:pt>
                <c:pt idx="20">
                  <c:v>540.37400000000002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26-4AA2-81D9-893A3A6E8E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6494048"/>
        <c:axId val="1137019360"/>
      </c:lineChart>
      <c:catAx>
        <c:axId val="1126494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5">
                <a:lumMod val="50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1137019360"/>
        <c:crosses val="autoZero"/>
        <c:auto val="1"/>
        <c:lblAlgn val="ctr"/>
        <c:lblOffset val="100"/>
        <c:noMultiLvlLbl val="0"/>
      </c:catAx>
      <c:valAx>
        <c:axId val="1137019360"/>
        <c:scaling>
          <c:orientation val="minMax"/>
        </c:scaling>
        <c:delete val="1"/>
        <c:axPos val="l"/>
        <c:numFmt formatCode="#,##0.0" sourceLinked="0"/>
        <c:majorTickMark val="none"/>
        <c:minorTickMark val="none"/>
        <c:tickLblPos val="nextTo"/>
        <c:crossAx val="1126494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accent5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spc="0" baseline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Hoja3!$G$1</c:f>
              <c:strCache>
                <c:ptCount val="1"/>
                <c:pt idx="0">
                  <c:v>Producción de vino</c:v>
                </c:pt>
              </c:strCache>
            </c:strRef>
          </c:tx>
          <c:spPr>
            <a:ln w="38100" cap="rnd">
              <a:solidFill>
                <a:schemeClr val="accent5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Hoja3!$A$2:$A$22</c:f>
              <c:numCache>
                <c:formatCode>General</c:formatCode>
                <c:ptCount val="21"/>
                <c:pt idx="0">
                  <c:v>1920</c:v>
                </c:pt>
                <c:pt idx="1">
                  <c:v>1921</c:v>
                </c:pt>
                <c:pt idx="2">
                  <c:v>1922</c:v>
                </c:pt>
                <c:pt idx="3">
                  <c:v>1923</c:v>
                </c:pt>
                <c:pt idx="4">
                  <c:v>1924</c:v>
                </c:pt>
                <c:pt idx="5">
                  <c:v>1925</c:v>
                </c:pt>
                <c:pt idx="6">
                  <c:v>1926</c:v>
                </c:pt>
                <c:pt idx="7">
                  <c:v>1927</c:v>
                </c:pt>
                <c:pt idx="8">
                  <c:v>1928</c:v>
                </c:pt>
                <c:pt idx="9">
                  <c:v>1929</c:v>
                </c:pt>
                <c:pt idx="10">
                  <c:v>1930</c:v>
                </c:pt>
                <c:pt idx="11">
                  <c:v>1931</c:v>
                </c:pt>
                <c:pt idx="12">
                  <c:v>1932</c:v>
                </c:pt>
                <c:pt idx="13">
                  <c:v>1933</c:v>
                </c:pt>
                <c:pt idx="14">
                  <c:v>1934</c:v>
                </c:pt>
                <c:pt idx="15">
                  <c:v>1935</c:v>
                </c:pt>
                <c:pt idx="16">
                  <c:v>1936</c:v>
                </c:pt>
                <c:pt idx="17">
                  <c:v>1937</c:v>
                </c:pt>
                <c:pt idx="18">
                  <c:v>1938</c:v>
                </c:pt>
                <c:pt idx="19">
                  <c:v>1939</c:v>
                </c:pt>
                <c:pt idx="20">
                  <c:v>1940</c:v>
                </c:pt>
              </c:numCache>
            </c:numRef>
          </c:cat>
          <c:val>
            <c:numRef>
              <c:f>Hoja3!$G$2:$G$22</c:f>
              <c:numCache>
                <c:formatCode>#.##00\ \ </c:formatCode>
                <c:ptCount val="21"/>
                <c:pt idx="0">
                  <c:v>513.404</c:v>
                </c:pt>
                <c:pt idx="1">
                  <c:v>615.53700000000003</c:v>
                </c:pt>
                <c:pt idx="2">
                  <c:v>515.529</c:v>
                </c:pt>
                <c:pt idx="3">
                  <c:v>543.51199999999994</c:v>
                </c:pt>
                <c:pt idx="4">
                  <c:v>546.26199999999994</c:v>
                </c:pt>
                <c:pt idx="5">
                  <c:v>663.53399999999999</c:v>
                </c:pt>
                <c:pt idx="6">
                  <c:v>528.50699999999995</c:v>
                </c:pt>
                <c:pt idx="7">
                  <c:v>464.91899999999998</c:v>
                </c:pt>
                <c:pt idx="8">
                  <c:v>765.59</c:v>
                </c:pt>
                <c:pt idx="9">
                  <c:v>836.82</c:v>
                </c:pt>
                <c:pt idx="10">
                  <c:v>573.40899999999999</c:v>
                </c:pt>
                <c:pt idx="11">
                  <c:v>558.53899999999999</c:v>
                </c:pt>
                <c:pt idx="12">
                  <c:v>218.66499999999999</c:v>
                </c:pt>
                <c:pt idx="13">
                  <c:v>734.67700000000002</c:v>
                </c:pt>
                <c:pt idx="14">
                  <c:v>754.84699999999998</c:v>
                </c:pt>
                <c:pt idx="15">
                  <c:v>436.52300000000002</c:v>
                </c:pt>
                <c:pt idx="16">
                  <c:v>581.15499999999997</c:v>
                </c:pt>
                <c:pt idx="17">
                  <c:v>794.83140000000003</c:v>
                </c:pt>
                <c:pt idx="18">
                  <c:v>926.16280000000006</c:v>
                </c:pt>
                <c:pt idx="19">
                  <c:v>663.12049999999999</c:v>
                </c:pt>
                <c:pt idx="20">
                  <c:v>670.99480000000005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FEC-4329-A9A6-E242132E61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6494048"/>
        <c:axId val="1137019360"/>
      </c:lineChart>
      <c:catAx>
        <c:axId val="1126494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5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1137019360"/>
        <c:crosses val="autoZero"/>
        <c:auto val="1"/>
        <c:lblAlgn val="ctr"/>
        <c:lblOffset val="100"/>
        <c:noMultiLvlLbl val="0"/>
      </c:catAx>
      <c:valAx>
        <c:axId val="1137019360"/>
        <c:scaling>
          <c:orientation val="minMax"/>
        </c:scaling>
        <c:delete val="1"/>
        <c:axPos val="l"/>
        <c:numFmt formatCode="#,##0.0" sourceLinked="0"/>
        <c:majorTickMark val="none"/>
        <c:minorTickMark val="none"/>
        <c:tickLblPos val="nextTo"/>
        <c:crossAx val="1126494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accent5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spc="0" baseline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Hoja3!$E$1</c:f>
              <c:strCache>
                <c:ptCount val="1"/>
                <c:pt idx="0">
                  <c:v>Prod de plomo</c:v>
                </c:pt>
              </c:strCache>
            </c:strRef>
          </c:tx>
          <c:spPr>
            <a:ln w="38100" cap="rnd">
              <a:solidFill>
                <a:schemeClr val="accent5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Hoja3!$A$2:$A$22</c:f>
              <c:numCache>
                <c:formatCode>General</c:formatCode>
                <c:ptCount val="21"/>
                <c:pt idx="0">
                  <c:v>1920</c:v>
                </c:pt>
                <c:pt idx="1">
                  <c:v>1921</c:v>
                </c:pt>
                <c:pt idx="2">
                  <c:v>1922</c:v>
                </c:pt>
                <c:pt idx="3">
                  <c:v>1923</c:v>
                </c:pt>
                <c:pt idx="4">
                  <c:v>1924</c:v>
                </c:pt>
                <c:pt idx="5">
                  <c:v>1925</c:v>
                </c:pt>
                <c:pt idx="6">
                  <c:v>1926</c:v>
                </c:pt>
                <c:pt idx="7">
                  <c:v>1927</c:v>
                </c:pt>
                <c:pt idx="8">
                  <c:v>1928</c:v>
                </c:pt>
                <c:pt idx="9">
                  <c:v>1929</c:v>
                </c:pt>
                <c:pt idx="10">
                  <c:v>1930</c:v>
                </c:pt>
                <c:pt idx="11">
                  <c:v>1931</c:v>
                </c:pt>
                <c:pt idx="12">
                  <c:v>1932</c:v>
                </c:pt>
                <c:pt idx="13">
                  <c:v>1933</c:v>
                </c:pt>
                <c:pt idx="14">
                  <c:v>1934</c:v>
                </c:pt>
                <c:pt idx="15">
                  <c:v>1935</c:v>
                </c:pt>
                <c:pt idx="16">
                  <c:v>1936</c:v>
                </c:pt>
                <c:pt idx="17">
                  <c:v>1937</c:v>
                </c:pt>
                <c:pt idx="18">
                  <c:v>1938</c:v>
                </c:pt>
                <c:pt idx="19">
                  <c:v>1939</c:v>
                </c:pt>
                <c:pt idx="20">
                  <c:v>1940</c:v>
                </c:pt>
              </c:numCache>
            </c:numRef>
          </c:cat>
          <c:val>
            <c:numRef>
              <c:f>Hoja3!$E$2:$E$22</c:f>
              <c:numCache>
                <c:formatCode>#.##00\ \ </c:formatCode>
                <c:ptCount val="21"/>
                <c:pt idx="0">
                  <c:v>5.6239999999999997</c:v>
                </c:pt>
                <c:pt idx="1">
                  <c:v>9.6240000000000006</c:v>
                </c:pt>
                <c:pt idx="2">
                  <c:v>9.9149999999999991</c:v>
                </c:pt>
                <c:pt idx="3">
                  <c:v>12.215</c:v>
                </c:pt>
                <c:pt idx="4">
                  <c:v>16.045999999999999</c:v>
                </c:pt>
                <c:pt idx="5">
                  <c:v>3.9609999999999999</c:v>
                </c:pt>
                <c:pt idx="6">
                  <c:v>8.3710000000000004</c:v>
                </c:pt>
                <c:pt idx="7">
                  <c:v>6.1710000000000003</c:v>
                </c:pt>
                <c:pt idx="8">
                  <c:v>2.9239999999999999</c:v>
                </c:pt>
                <c:pt idx="9">
                  <c:v>4.5129999999999999</c:v>
                </c:pt>
                <c:pt idx="10">
                  <c:v>4.5460000000000003</c:v>
                </c:pt>
                <c:pt idx="11">
                  <c:v>5.843</c:v>
                </c:pt>
                <c:pt idx="12">
                  <c:v>4.2949999999999999</c:v>
                </c:pt>
                <c:pt idx="13">
                  <c:v>9.0150000000000006</c:v>
                </c:pt>
                <c:pt idx="14">
                  <c:v>3.915</c:v>
                </c:pt>
                <c:pt idx="15">
                  <c:v>3.4</c:v>
                </c:pt>
                <c:pt idx="16">
                  <c:v>9</c:v>
                </c:pt>
                <c:pt idx="17">
                  <c:v>20.5</c:v>
                </c:pt>
                <c:pt idx="18">
                  <c:v>31.8</c:v>
                </c:pt>
                <c:pt idx="19">
                  <c:v>40.299999999999997</c:v>
                </c:pt>
                <c:pt idx="20">
                  <c:v>40.9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60-4B59-9FD5-0E447B3E1F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6494048"/>
        <c:axId val="1137019360"/>
      </c:lineChart>
      <c:catAx>
        <c:axId val="1126494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5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1137019360"/>
        <c:crosses val="autoZero"/>
        <c:auto val="1"/>
        <c:lblAlgn val="ctr"/>
        <c:lblOffset val="100"/>
        <c:noMultiLvlLbl val="0"/>
      </c:catAx>
      <c:valAx>
        <c:axId val="1137019360"/>
        <c:scaling>
          <c:orientation val="minMax"/>
        </c:scaling>
        <c:delete val="1"/>
        <c:axPos val="l"/>
        <c:numFmt formatCode="#,##0.0" sourceLinked="0"/>
        <c:majorTickMark val="none"/>
        <c:minorTickMark val="none"/>
        <c:tickLblPos val="nextTo"/>
        <c:crossAx val="1126494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accent5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spc="0" baseline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Hoja3!$F$1</c:f>
              <c:strCache>
                <c:ptCount val="1"/>
                <c:pt idx="0">
                  <c:v>Prod de Nafta</c:v>
                </c:pt>
              </c:strCache>
            </c:strRef>
          </c:tx>
          <c:spPr>
            <a:ln w="38100" cap="rnd">
              <a:solidFill>
                <a:schemeClr val="accent5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Hoja3!$A$2:$A$22</c:f>
              <c:numCache>
                <c:formatCode>General</c:formatCode>
                <c:ptCount val="21"/>
                <c:pt idx="0">
                  <c:v>1920</c:v>
                </c:pt>
                <c:pt idx="1">
                  <c:v>1921</c:v>
                </c:pt>
                <c:pt idx="2">
                  <c:v>1922</c:v>
                </c:pt>
                <c:pt idx="3">
                  <c:v>1923</c:v>
                </c:pt>
                <c:pt idx="4">
                  <c:v>1924</c:v>
                </c:pt>
                <c:pt idx="5">
                  <c:v>1925</c:v>
                </c:pt>
                <c:pt idx="6">
                  <c:v>1926</c:v>
                </c:pt>
                <c:pt idx="7">
                  <c:v>1927</c:v>
                </c:pt>
                <c:pt idx="8">
                  <c:v>1928</c:v>
                </c:pt>
                <c:pt idx="9">
                  <c:v>1929</c:v>
                </c:pt>
                <c:pt idx="10">
                  <c:v>1930</c:v>
                </c:pt>
                <c:pt idx="11">
                  <c:v>1931</c:v>
                </c:pt>
                <c:pt idx="12">
                  <c:v>1932</c:v>
                </c:pt>
                <c:pt idx="13">
                  <c:v>1933</c:v>
                </c:pt>
                <c:pt idx="14">
                  <c:v>1934</c:v>
                </c:pt>
                <c:pt idx="15">
                  <c:v>1935</c:v>
                </c:pt>
                <c:pt idx="16">
                  <c:v>1936</c:v>
                </c:pt>
                <c:pt idx="17">
                  <c:v>1937</c:v>
                </c:pt>
                <c:pt idx="18">
                  <c:v>1938</c:v>
                </c:pt>
                <c:pt idx="19">
                  <c:v>1939</c:v>
                </c:pt>
                <c:pt idx="20">
                  <c:v>1940</c:v>
                </c:pt>
              </c:numCache>
            </c:numRef>
          </c:cat>
          <c:val>
            <c:numRef>
              <c:f>Hoja3!$F$2:$F$22</c:f>
              <c:numCache>
                <c:formatCode>#.##00\ \ </c:formatCode>
                <c:ptCount val="21"/>
                <c:pt idx="0">
                  <c:v>0.60699999999999998</c:v>
                </c:pt>
                <c:pt idx="1">
                  <c:v>1.0669999999999999</c:v>
                </c:pt>
                <c:pt idx="2">
                  <c:v>23.510999999999999</c:v>
                </c:pt>
                <c:pt idx="3">
                  <c:v>36.808999999999997</c:v>
                </c:pt>
                <c:pt idx="4">
                  <c:v>49.781999999999996</c:v>
                </c:pt>
                <c:pt idx="5">
                  <c:v>51.789000000000001</c:v>
                </c:pt>
                <c:pt idx="6">
                  <c:v>102.682</c:v>
                </c:pt>
                <c:pt idx="7">
                  <c:v>191.691</c:v>
                </c:pt>
                <c:pt idx="8">
                  <c:v>296.32900000000001</c:v>
                </c:pt>
                <c:pt idx="9">
                  <c:v>504.238</c:v>
                </c:pt>
                <c:pt idx="10">
                  <c:v>600.93600000000004</c:v>
                </c:pt>
                <c:pt idx="11">
                  <c:v>687.52700000000004</c:v>
                </c:pt>
                <c:pt idx="12">
                  <c:v>782.45500000000004</c:v>
                </c:pt>
                <c:pt idx="13">
                  <c:v>747.09</c:v>
                </c:pt>
                <c:pt idx="14">
                  <c:v>819.11</c:v>
                </c:pt>
                <c:pt idx="15">
                  <c:v>960.15599999999995</c:v>
                </c:pt>
                <c:pt idx="16">
                  <c:v>950.2</c:v>
                </c:pt>
                <c:pt idx="17">
                  <c:v>1121.2</c:v>
                </c:pt>
                <c:pt idx="18">
                  <c:v>1206.0999999999999</c:v>
                </c:pt>
                <c:pt idx="19">
                  <c:v>1346.8</c:v>
                </c:pt>
                <c:pt idx="20">
                  <c:v>1269.5999999999999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56-4F30-B6EE-2CC7A01E8E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6494048"/>
        <c:axId val="1137019360"/>
      </c:lineChart>
      <c:catAx>
        <c:axId val="1126494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5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1137019360"/>
        <c:crosses val="autoZero"/>
        <c:auto val="1"/>
        <c:lblAlgn val="ctr"/>
        <c:lblOffset val="100"/>
        <c:noMultiLvlLbl val="0"/>
      </c:catAx>
      <c:valAx>
        <c:axId val="1137019360"/>
        <c:scaling>
          <c:orientation val="minMax"/>
        </c:scaling>
        <c:delete val="1"/>
        <c:axPos val="l"/>
        <c:numFmt formatCode="#,##0.0" sourceLinked="0"/>
        <c:majorTickMark val="none"/>
        <c:minorTickMark val="none"/>
        <c:tickLblPos val="nextTo"/>
        <c:crossAx val="1126494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accent5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spc="0" baseline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Hoja3!$D$1</c:f>
              <c:strCache>
                <c:ptCount val="1"/>
                <c:pt idx="0">
                  <c:v>Prod de cemento</c:v>
                </c:pt>
              </c:strCache>
            </c:strRef>
          </c:tx>
          <c:spPr>
            <a:ln w="38100" cap="rnd">
              <a:solidFill>
                <a:schemeClr val="accent5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Hoja3!$A$2:$A$22</c:f>
              <c:numCache>
                <c:formatCode>General</c:formatCode>
                <c:ptCount val="21"/>
                <c:pt idx="0">
                  <c:v>1920</c:v>
                </c:pt>
                <c:pt idx="1">
                  <c:v>1921</c:v>
                </c:pt>
                <c:pt idx="2">
                  <c:v>1922</c:v>
                </c:pt>
                <c:pt idx="3">
                  <c:v>1923</c:v>
                </c:pt>
                <c:pt idx="4">
                  <c:v>1924</c:v>
                </c:pt>
                <c:pt idx="5">
                  <c:v>1925</c:v>
                </c:pt>
                <c:pt idx="6">
                  <c:v>1926</c:v>
                </c:pt>
                <c:pt idx="7">
                  <c:v>1927</c:v>
                </c:pt>
                <c:pt idx="8">
                  <c:v>1928</c:v>
                </c:pt>
                <c:pt idx="9">
                  <c:v>1929</c:v>
                </c:pt>
                <c:pt idx="10">
                  <c:v>1930</c:v>
                </c:pt>
                <c:pt idx="11">
                  <c:v>1931</c:v>
                </c:pt>
                <c:pt idx="12">
                  <c:v>1932</c:v>
                </c:pt>
                <c:pt idx="13">
                  <c:v>1933</c:v>
                </c:pt>
                <c:pt idx="14">
                  <c:v>1934</c:v>
                </c:pt>
                <c:pt idx="15">
                  <c:v>1935</c:v>
                </c:pt>
                <c:pt idx="16">
                  <c:v>1936</c:v>
                </c:pt>
                <c:pt idx="17">
                  <c:v>1937</c:v>
                </c:pt>
                <c:pt idx="18">
                  <c:v>1938</c:v>
                </c:pt>
                <c:pt idx="19">
                  <c:v>1939</c:v>
                </c:pt>
                <c:pt idx="20">
                  <c:v>1940</c:v>
                </c:pt>
              </c:numCache>
            </c:numRef>
          </c:cat>
          <c:val>
            <c:numRef>
              <c:f>Hoja3!$D$2:$D$22</c:f>
              <c:numCache>
                <c:formatCode>#.##00\ \ </c:formatCode>
                <c:ptCount val="21"/>
                <c:pt idx="0">
                  <c:v>79.260000000000005</c:v>
                </c:pt>
                <c:pt idx="1">
                  <c:v>75.816000000000003</c:v>
                </c:pt>
                <c:pt idx="2">
                  <c:v>78.384</c:v>
                </c:pt>
                <c:pt idx="3">
                  <c:v>98.620999999999995</c:v>
                </c:pt>
                <c:pt idx="4">
                  <c:v>142.54300000000001</c:v>
                </c:pt>
                <c:pt idx="5">
                  <c:v>132.73599999999999</c:v>
                </c:pt>
                <c:pt idx="6">
                  <c:v>169.227</c:v>
                </c:pt>
                <c:pt idx="7">
                  <c:v>200.876</c:v>
                </c:pt>
                <c:pt idx="8">
                  <c:v>228.06299999999999</c:v>
                </c:pt>
                <c:pt idx="9">
                  <c:v>343.36599999999999</c:v>
                </c:pt>
                <c:pt idx="10">
                  <c:v>412.17099999999999</c:v>
                </c:pt>
                <c:pt idx="11">
                  <c:v>537.79499999999996</c:v>
                </c:pt>
                <c:pt idx="12">
                  <c:v>502.31700000000001</c:v>
                </c:pt>
                <c:pt idx="13">
                  <c:v>486.96100000000001</c:v>
                </c:pt>
                <c:pt idx="14">
                  <c:v>566.28300000000002</c:v>
                </c:pt>
                <c:pt idx="15">
                  <c:v>721.56399999999996</c:v>
                </c:pt>
                <c:pt idx="16">
                  <c:v>869.31399999999996</c:v>
                </c:pt>
                <c:pt idx="17">
                  <c:v>1010.33</c:v>
                </c:pt>
                <c:pt idx="18">
                  <c:v>1179.394</c:v>
                </c:pt>
                <c:pt idx="19">
                  <c:v>1135.3119999999999</c:v>
                </c:pt>
                <c:pt idx="20">
                  <c:v>1048.7080000000001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4C-401F-BF20-65B4C0DC53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6494048"/>
        <c:axId val="1137019360"/>
      </c:lineChart>
      <c:catAx>
        <c:axId val="1126494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5">
                <a:lumMod val="50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1137019360"/>
        <c:crosses val="autoZero"/>
        <c:auto val="1"/>
        <c:lblAlgn val="ctr"/>
        <c:lblOffset val="100"/>
        <c:noMultiLvlLbl val="0"/>
      </c:catAx>
      <c:valAx>
        <c:axId val="1137019360"/>
        <c:scaling>
          <c:orientation val="minMax"/>
        </c:scaling>
        <c:delete val="1"/>
        <c:axPos val="l"/>
        <c:numFmt formatCode="#,##0.0" sourceLinked="0"/>
        <c:majorTickMark val="none"/>
        <c:minorTickMark val="none"/>
        <c:tickLblPos val="nextTo"/>
        <c:crossAx val="1126494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accent5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38100" cap="rnd">
              <a:solidFill>
                <a:schemeClr val="accent5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Hoja4!$A$2:$A$32</c:f>
              <c:numCache>
                <c:formatCode>General</c:formatCode>
                <c:ptCount val="31"/>
                <c:pt idx="0">
                  <c:v>1910</c:v>
                </c:pt>
                <c:pt idx="1">
                  <c:v>1911</c:v>
                </c:pt>
                <c:pt idx="2">
                  <c:v>1912</c:v>
                </c:pt>
                <c:pt idx="3">
                  <c:v>1913</c:v>
                </c:pt>
                <c:pt idx="4">
                  <c:v>1914</c:v>
                </c:pt>
                <c:pt idx="5">
                  <c:v>1915</c:v>
                </c:pt>
                <c:pt idx="6">
                  <c:v>1916</c:v>
                </c:pt>
                <c:pt idx="7">
                  <c:v>1917</c:v>
                </c:pt>
                <c:pt idx="8">
                  <c:v>1918</c:v>
                </c:pt>
                <c:pt idx="9">
                  <c:v>1919</c:v>
                </c:pt>
                <c:pt idx="10">
                  <c:v>1920</c:v>
                </c:pt>
                <c:pt idx="11">
                  <c:v>1921</c:v>
                </c:pt>
                <c:pt idx="12">
                  <c:v>1922</c:v>
                </c:pt>
                <c:pt idx="13">
                  <c:v>1923</c:v>
                </c:pt>
                <c:pt idx="14">
                  <c:v>1924</c:v>
                </c:pt>
                <c:pt idx="15">
                  <c:v>1925</c:v>
                </c:pt>
                <c:pt idx="16">
                  <c:v>1926</c:v>
                </c:pt>
                <c:pt idx="17">
                  <c:v>1927</c:v>
                </c:pt>
                <c:pt idx="18">
                  <c:v>1928</c:v>
                </c:pt>
                <c:pt idx="19">
                  <c:v>1929</c:v>
                </c:pt>
                <c:pt idx="20">
                  <c:v>1930</c:v>
                </c:pt>
                <c:pt idx="21">
                  <c:v>1931</c:v>
                </c:pt>
                <c:pt idx="22">
                  <c:v>1932</c:v>
                </c:pt>
                <c:pt idx="23">
                  <c:v>1933</c:v>
                </c:pt>
                <c:pt idx="24">
                  <c:v>1934</c:v>
                </c:pt>
                <c:pt idx="25">
                  <c:v>1935</c:v>
                </c:pt>
                <c:pt idx="26">
                  <c:v>1936</c:v>
                </c:pt>
                <c:pt idx="27">
                  <c:v>1937</c:v>
                </c:pt>
                <c:pt idx="28">
                  <c:v>1938</c:v>
                </c:pt>
                <c:pt idx="29">
                  <c:v>1939</c:v>
                </c:pt>
                <c:pt idx="30">
                  <c:v>1940</c:v>
                </c:pt>
              </c:numCache>
            </c:numRef>
          </c:cat>
          <c:val>
            <c:numRef>
              <c:f>Hoja4!$B$2:$B$32</c:f>
              <c:numCache>
                <c:formatCode>#.##00\ \ </c:formatCode>
                <c:ptCount val="31"/>
                <c:pt idx="0" formatCode="#.##000\ \ ">
                  <c:v>991.95894522576577</c:v>
                </c:pt>
                <c:pt idx="1">
                  <c:v>1008.4333514625298</c:v>
                </c:pt>
                <c:pt idx="2">
                  <c:v>1184.1603513213468</c:v>
                </c:pt>
                <c:pt idx="3">
                  <c:v>1284.0052376047656</c:v>
                </c:pt>
                <c:pt idx="4" formatCode="#.##000\ \ ">
                  <c:v>851.17765556614529</c:v>
                </c:pt>
                <c:pt idx="5" formatCode="#.##000\ \ ">
                  <c:v>637.50959891962896</c:v>
                </c:pt>
                <c:pt idx="6" formatCode="#.##000\ \ ">
                  <c:v>651.48788299930766</c:v>
                </c:pt>
                <c:pt idx="7" formatCode="#.##000\ \ ">
                  <c:v>516.69728651669243</c:v>
                </c:pt>
                <c:pt idx="8" formatCode="#.##000\ \ ">
                  <c:v>457.78880360947528</c:v>
                </c:pt>
                <c:pt idx="9" formatCode="#.##000\ \ ">
                  <c:v>608.55458189743763</c:v>
                </c:pt>
                <c:pt idx="10" formatCode="#.##000\ \ ">
                  <c:v>989.96204750009736</c:v>
                </c:pt>
                <c:pt idx="11">
                  <c:v>1099.292197980441</c:v>
                </c:pt>
                <c:pt idx="12" formatCode="#.##000\ \ ">
                  <c:v>983.47212989167519</c:v>
                </c:pt>
                <c:pt idx="13">
                  <c:v>1426.7834249900548</c:v>
                </c:pt>
                <c:pt idx="14">
                  <c:v>1791.2172599245332</c:v>
                </c:pt>
                <c:pt idx="15">
                  <c:v>2101.7348562659658</c:v>
                </c:pt>
                <c:pt idx="16">
                  <c:v>2282.9533248703706</c:v>
                </c:pt>
                <c:pt idx="17">
                  <c:v>2297.9300578128837</c:v>
                </c:pt>
                <c:pt idx="18">
                  <c:v>2775.1886142476251</c:v>
                </c:pt>
                <c:pt idx="19">
                  <c:v>3063.7403356067052</c:v>
                </c:pt>
                <c:pt idx="20">
                  <c:v>2204.0758647064695</c:v>
                </c:pt>
                <c:pt idx="21">
                  <c:v>1465.2237062091706</c:v>
                </c:pt>
                <c:pt idx="22" formatCode="#.##000\ \ ">
                  <c:v>946.03029753539306</c:v>
                </c:pt>
                <c:pt idx="23">
                  <c:v>1053.8627747214853</c:v>
                </c:pt>
                <c:pt idx="24">
                  <c:v>1283.5060131733487</c:v>
                </c:pt>
                <c:pt idx="25">
                  <c:v>1650.4359702649128</c:v>
                </c:pt>
                <c:pt idx="26">
                  <c:v>1806.6301743069778</c:v>
                </c:pt>
                <c:pt idx="27">
                  <c:v>2549.3988969342577</c:v>
                </c:pt>
                <c:pt idx="28">
                  <c:v>2648.0478679081934</c:v>
                </c:pt>
                <c:pt idx="29">
                  <c:v>2038.7454001280025</c:v>
                </c:pt>
                <c:pt idx="30">
                  <c:v>1834.1938573732243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DD-4594-B382-76B9B427F2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6484560"/>
        <c:axId val="1126606256"/>
      </c:lineChart>
      <c:catAx>
        <c:axId val="606484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5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1126606256"/>
        <c:crosses val="autoZero"/>
        <c:auto val="1"/>
        <c:lblAlgn val="ctr"/>
        <c:lblOffset val="100"/>
        <c:noMultiLvlLbl val="0"/>
      </c:catAx>
      <c:valAx>
        <c:axId val="1126606256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606484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accent5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411642688289037"/>
          <c:y val="4.3531496968523535E-2"/>
          <c:w val="0.81724033161720899"/>
          <c:h val="0.7999309713514815"/>
        </c:manualLayout>
      </c:layout>
      <c:lineChart>
        <c:grouping val="standard"/>
        <c:varyColors val="0"/>
        <c:ser>
          <c:idx val="0"/>
          <c:order val="0"/>
          <c:spPr>
            <a:ln w="57150" cap="rnd">
              <a:solidFill>
                <a:schemeClr val="accent5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'4.5.1'!$A$7:$A$25</c:f>
              <c:numCache>
                <c:formatCode>@</c:formatCode>
                <c:ptCount val="19"/>
                <c:pt idx="0">
                  <c:v>1922</c:v>
                </c:pt>
                <c:pt idx="1">
                  <c:v>1923</c:v>
                </c:pt>
                <c:pt idx="2">
                  <c:v>1924</c:v>
                </c:pt>
                <c:pt idx="3">
                  <c:v>1925</c:v>
                </c:pt>
                <c:pt idx="4">
                  <c:v>1926</c:v>
                </c:pt>
                <c:pt idx="5">
                  <c:v>1927</c:v>
                </c:pt>
                <c:pt idx="6">
                  <c:v>1928</c:v>
                </c:pt>
                <c:pt idx="7">
                  <c:v>1929</c:v>
                </c:pt>
                <c:pt idx="8">
                  <c:v>1930</c:v>
                </c:pt>
                <c:pt idx="9">
                  <c:v>1931</c:v>
                </c:pt>
                <c:pt idx="10">
                  <c:v>1932</c:v>
                </c:pt>
                <c:pt idx="11">
                  <c:v>1933</c:v>
                </c:pt>
                <c:pt idx="12">
                  <c:v>1934</c:v>
                </c:pt>
                <c:pt idx="13">
                  <c:v>1935</c:v>
                </c:pt>
                <c:pt idx="14">
                  <c:v>1936</c:v>
                </c:pt>
                <c:pt idx="15">
                  <c:v>1937</c:v>
                </c:pt>
                <c:pt idx="16">
                  <c:v>1938</c:v>
                </c:pt>
                <c:pt idx="17">
                  <c:v>1939</c:v>
                </c:pt>
                <c:pt idx="18">
                  <c:v>1940</c:v>
                </c:pt>
              </c:numCache>
            </c:numRef>
          </c:cat>
          <c:val>
            <c:numRef>
              <c:f>'4.5.1'!$B$7:$B$25</c:f>
              <c:numCache>
                <c:formatCode>#,##0.0\ \ </c:formatCode>
                <c:ptCount val="19"/>
                <c:pt idx="0">
                  <c:v>5105</c:v>
                </c:pt>
                <c:pt idx="1">
                  <c:v>5542.9</c:v>
                </c:pt>
                <c:pt idx="2">
                  <c:v>6414.6</c:v>
                </c:pt>
                <c:pt idx="3">
                  <c:v>6069.4</c:v>
                </c:pt>
                <c:pt idx="4">
                  <c:v>6743.1</c:v>
                </c:pt>
                <c:pt idx="5">
                  <c:v>7440.2</c:v>
                </c:pt>
                <c:pt idx="6">
                  <c:v>7487.9</c:v>
                </c:pt>
                <c:pt idx="7">
                  <c:v>7662.1</c:v>
                </c:pt>
                <c:pt idx="8">
                  <c:v>7500.4</c:v>
                </c:pt>
                <c:pt idx="9">
                  <c:v>7430.3</c:v>
                </c:pt>
                <c:pt idx="10">
                  <c:v>6954.4</c:v>
                </c:pt>
                <c:pt idx="11">
                  <c:v>6863.7</c:v>
                </c:pt>
                <c:pt idx="12">
                  <c:v>7562.4</c:v>
                </c:pt>
                <c:pt idx="13">
                  <c:v>7868.5</c:v>
                </c:pt>
                <c:pt idx="14">
                  <c:v>8080.9</c:v>
                </c:pt>
                <c:pt idx="15">
                  <c:v>8856.7999999999993</c:v>
                </c:pt>
                <c:pt idx="16">
                  <c:v>8661.2000000000007</c:v>
                </c:pt>
                <c:pt idx="17">
                  <c:v>8953.5</c:v>
                </c:pt>
                <c:pt idx="18">
                  <c:v>8797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644-433F-87AB-9F05E7429C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92540232"/>
        <c:axId val="392540560"/>
      </c:lineChart>
      <c:catAx>
        <c:axId val="392540232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392540560"/>
        <c:crosses val="autoZero"/>
        <c:auto val="1"/>
        <c:lblAlgn val="ctr"/>
        <c:lblOffset val="100"/>
        <c:noMultiLvlLbl val="0"/>
      </c:catAx>
      <c:valAx>
        <c:axId val="392540560"/>
        <c:scaling>
          <c:orientation val="minMax"/>
          <c:min val="4000"/>
        </c:scaling>
        <c:delete val="0"/>
        <c:axPos val="l"/>
        <c:numFmt formatCode="#,##0.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392540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5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56DECD-73D1-4C67-8D04-6F97AFB83BCA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AR"/>
        </a:p>
      </dgm:t>
    </dgm:pt>
    <dgm:pt modelId="{978AC82B-3FA8-4C01-8342-BDA3FB719007}">
      <dgm:prSet phldrT="[Texto]" custT="1">
        <dgm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>
        <a:solidFill>
          <a:schemeClr val="accent5">
            <a:lumMod val="50000"/>
          </a:schemeClr>
        </a:solidFill>
        <a:ln>
          <a:noFill/>
        </a:ln>
      </dgm:spPr>
      <dgm:t>
        <a:bodyPr rtlCol="0" anchor="ctr"/>
        <a:lstStyle/>
        <a:p>
          <a:pPr marL="0" algn="ctr" defTabSz="914400" rtl="0" eaLnBrk="1" latinLnBrk="0" hangingPunct="1"/>
          <a:r>
            <a:rPr lang="es-AR" sz="2400" b="1" kern="12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Seguridad de un mercado local en vías de expansión </a:t>
          </a:r>
          <a:r>
            <a:rPr lang="es-AR" sz="2400" b="1" kern="12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Wingdings" pitchFamily="2" charset="2"/>
            </a:rPr>
            <a:t> </a:t>
          </a:r>
        </a:p>
        <a:p>
          <a:pPr marL="0" algn="ctr" defTabSz="914400" rtl="0" eaLnBrk="1" latinLnBrk="0" hangingPunct="1"/>
          <a:r>
            <a:rPr lang="es-AR" sz="3200" b="1" kern="12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Wingdings" pitchFamily="2" charset="2"/>
            </a:rPr>
            <a:t>P</a:t>
          </a:r>
          <a:r>
            <a:rPr lang="es-AR" sz="3200" b="1" kern="12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rotección tarifaria</a:t>
          </a:r>
        </a:p>
      </dgm:t>
    </dgm:pt>
    <dgm:pt modelId="{C11484FC-5B03-4BE4-BCE5-6F61418536E1}" type="parTrans" cxnId="{64CD7EB1-928D-41E6-9610-28993DEC5BA1}">
      <dgm:prSet/>
      <dgm:spPr/>
      <dgm:t>
        <a:bodyPr/>
        <a:lstStyle/>
        <a:p>
          <a:endParaRPr lang="es-AR"/>
        </a:p>
      </dgm:t>
    </dgm:pt>
    <dgm:pt modelId="{226F13C6-245E-44C8-93A7-751C1E00FCB2}" type="sibTrans" cxnId="{64CD7EB1-928D-41E6-9610-28993DEC5BA1}">
      <dgm:prSet/>
      <dgm:spPr/>
      <dgm:t>
        <a:bodyPr/>
        <a:lstStyle/>
        <a:p>
          <a:endParaRPr lang="es-AR"/>
        </a:p>
      </dgm:t>
    </dgm:pt>
    <dgm:pt modelId="{F2D59D81-922C-4A91-ABBC-340D4A5D0FE3}">
      <dgm:prSet phldrT="[Texto]" custT="1"/>
      <dgm:spPr/>
      <dgm:t>
        <a:bodyPr/>
        <a:lstStyle/>
        <a:p>
          <a:pPr algn="ctr">
            <a:buNone/>
          </a:pPr>
          <a:r>
            <a:rPr lang="es-AR" sz="1800" b="1" i="1" u="none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1923: ↑ precios de avalúos acercándolos a los precios reales de mercado internacional</a:t>
          </a:r>
        </a:p>
      </dgm:t>
    </dgm:pt>
    <dgm:pt modelId="{039344F1-3CE5-4042-9131-3FA0E20834EE}" type="parTrans" cxnId="{4AD798E7-E584-47D6-8A7C-7A426BFE6AE3}">
      <dgm:prSet/>
      <dgm:spPr/>
      <dgm:t>
        <a:bodyPr/>
        <a:lstStyle/>
        <a:p>
          <a:endParaRPr lang="es-AR"/>
        </a:p>
      </dgm:t>
    </dgm:pt>
    <dgm:pt modelId="{A2592051-4F47-4662-9DFB-498BF207CBCD}" type="sibTrans" cxnId="{4AD798E7-E584-47D6-8A7C-7A426BFE6AE3}">
      <dgm:prSet/>
      <dgm:spPr/>
      <dgm:t>
        <a:bodyPr/>
        <a:lstStyle/>
        <a:p>
          <a:endParaRPr lang="es-AR"/>
        </a:p>
      </dgm:t>
    </dgm:pt>
    <dgm:pt modelId="{1842DBAF-FCD7-46E7-A841-E5158693F140}">
      <dgm:prSet phldrT="[Texto]" custT="1">
        <dgm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>
        <a:solidFill>
          <a:schemeClr val="accent5">
            <a:lumMod val="50000"/>
          </a:schemeClr>
        </a:solidFill>
        <a:ln>
          <a:noFill/>
        </a:ln>
      </dgm:spPr>
      <dgm:t>
        <a:bodyPr spcFirstLastPara="0" vert="horz" wrap="square" lIns="91440" tIns="91440" rIns="91440" bIns="91440" numCol="1" spcCol="1270" rtlCol="0" anchor="ctr" anchorCtr="0"/>
        <a:lstStyle/>
        <a:p>
          <a:pPr algn="ctr"/>
          <a:r>
            <a:rPr lang="es-AR" sz="2400" b="1" kern="1200" dirty="0">
              <a:solidFill>
                <a:srgbClr val="5B9BD5">
                  <a:lumMod val="20000"/>
                  <a:lumOff val="8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Preservación de los derechos de exclusividad sobre tecnologías y marcas </a:t>
          </a:r>
          <a:r>
            <a:rPr lang="es-AR" sz="2400" b="1" kern="1200" dirty="0">
              <a:solidFill>
                <a:srgbClr val="5B9BD5">
                  <a:lumMod val="20000"/>
                  <a:lumOff val="8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Wingdings" pitchFamily="2" charset="2"/>
            </a:rPr>
            <a:t> </a:t>
          </a:r>
        </a:p>
        <a:p>
          <a:pPr algn="ctr"/>
          <a:r>
            <a:rPr lang="es-AR" sz="3200" b="1" kern="1200" dirty="0">
              <a:solidFill>
                <a:srgbClr val="5B9BD5">
                  <a:lumMod val="20000"/>
                  <a:lumOff val="8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Wingdings" pitchFamily="2" charset="2"/>
            </a:rPr>
            <a:t>P</a:t>
          </a:r>
          <a:r>
            <a:rPr lang="es-AR" sz="3200" b="1" kern="1200" dirty="0">
              <a:solidFill>
                <a:srgbClr val="5B9BD5">
                  <a:lumMod val="20000"/>
                  <a:lumOff val="8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atentes</a:t>
          </a:r>
        </a:p>
      </dgm:t>
    </dgm:pt>
    <dgm:pt modelId="{1F3DD27F-AFD4-41EC-976D-607D1C4E545A}" type="parTrans" cxnId="{D67D165C-4505-4809-ADC6-597BE7DD6095}">
      <dgm:prSet/>
      <dgm:spPr/>
      <dgm:t>
        <a:bodyPr/>
        <a:lstStyle/>
        <a:p>
          <a:endParaRPr lang="es-AR"/>
        </a:p>
      </dgm:t>
    </dgm:pt>
    <dgm:pt modelId="{ED0A805E-8698-4764-93E9-80835DABE865}" type="sibTrans" cxnId="{D67D165C-4505-4809-ADC6-597BE7DD6095}">
      <dgm:prSet/>
      <dgm:spPr/>
      <dgm:t>
        <a:bodyPr/>
        <a:lstStyle/>
        <a:p>
          <a:endParaRPr lang="es-AR"/>
        </a:p>
      </dgm:t>
    </dgm:pt>
    <dgm:pt modelId="{A62DD6B1-50D6-4821-A82B-436E1A1297A0}">
      <dgm:prSet phldrT="[Texto]" custT="1"/>
      <dgm:spPr/>
      <dgm:t>
        <a:bodyPr/>
        <a:lstStyle/>
        <a:p>
          <a:pPr algn="ctr">
            <a:buNone/>
          </a:pPr>
          <a:r>
            <a:rPr lang="es-AR" sz="1800" b="1" i="1" u="none" kern="1200" dirty="0">
              <a:solidFill>
                <a:srgbClr val="5B9BD5">
                  <a:lumMod val="5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1929-1930: ↑ patentes extranjeras fuertemente</a:t>
          </a:r>
        </a:p>
      </dgm:t>
    </dgm:pt>
    <dgm:pt modelId="{396C9ED0-66B6-435C-B6A0-D229051507EC}" type="parTrans" cxnId="{3306F81A-C14B-47FA-ABD6-B8A91DD9FB35}">
      <dgm:prSet/>
      <dgm:spPr/>
      <dgm:t>
        <a:bodyPr/>
        <a:lstStyle/>
        <a:p>
          <a:endParaRPr lang="es-AR"/>
        </a:p>
      </dgm:t>
    </dgm:pt>
    <dgm:pt modelId="{81C7809F-9277-47E0-9D29-B7A1CB34B561}" type="sibTrans" cxnId="{3306F81A-C14B-47FA-ABD6-B8A91DD9FB35}">
      <dgm:prSet/>
      <dgm:spPr/>
      <dgm:t>
        <a:bodyPr/>
        <a:lstStyle/>
        <a:p>
          <a:endParaRPr lang="es-AR"/>
        </a:p>
      </dgm:t>
    </dgm:pt>
    <dgm:pt modelId="{9DB97475-38B9-4491-9059-9886DE77659C}">
      <dgm:prSet phldrT="[Texto]" custT="1"/>
      <dgm:spPr/>
      <dgm:t>
        <a:bodyPr/>
        <a:lstStyle/>
        <a:p>
          <a:pPr algn="ctr">
            <a:buNone/>
          </a:pPr>
          <a:r>
            <a:rPr lang="es-AR" sz="1800" b="1" i="1" u="none" kern="1200" dirty="0">
              <a:solidFill>
                <a:srgbClr val="5B9BD5">
                  <a:lumMod val="5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´30: Número de </a:t>
          </a:r>
          <a:r>
            <a:rPr lang="es-AR" sz="1800" b="1" i="1" u="none" kern="1200" dirty="0" err="1">
              <a:solidFill>
                <a:srgbClr val="5B9BD5">
                  <a:lumMod val="5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patentamientos</a:t>
          </a:r>
          <a:r>
            <a:rPr lang="es-AR" sz="1800" b="1" i="1" u="none" kern="1200" dirty="0">
              <a:solidFill>
                <a:srgbClr val="5B9BD5">
                  <a:lumMod val="5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muy elevado y superior al de cualquier otro período. </a:t>
          </a:r>
        </a:p>
      </dgm:t>
    </dgm:pt>
    <dgm:pt modelId="{C494ACEC-46A7-4B5F-9ECE-55CC5C96479F}" type="parTrans" cxnId="{6AD09CEC-28E6-4A34-A474-30B86B82C971}">
      <dgm:prSet/>
      <dgm:spPr/>
      <dgm:t>
        <a:bodyPr/>
        <a:lstStyle/>
        <a:p>
          <a:endParaRPr lang="es-AR"/>
        </a:p>
      </dgm:t>
    </dgm:pt>
    <dgm:pt modelId="{EB41AA4C-652A-4042-8A92-C7D751480E8F}" type="sibTrans" cxnId="{6AD09CEC-28E6-4A34-A474-30B86B82C971}">
      <dgm:prSet/>
      <dgm:spPr/>
      <dgm:t>
        <a:bodyPr/>
        <a:lstStyle/>
        <a:p>
          <a:endParaRPr lang="es-AR"/>
        </a:p>
      </dgm:t>
    </dgm:pt>
    <dgm:pt modelId="{054FFB3B-F7CF-48F9-B3F6-3BD27A4BB0EC}" type="pres">
      <dgm:prSet presAssocID="{1056DECD-73D1-4C67-8D04-6F97AFB83BCA}" presName="linear" presStyleCnt="0">
        <dgm:presLayoutVars>
          <dgm:animLvl val="lvl"/>
          <dgm:resizeHandles val="exact"/>
        </dgm:presLayoutVars>
      </dgm:prSet>
      <dgm:spPr/>
    </dgm:pt>
    <dgm:pt modelId="{8DCFB95C-AAAB-43DD-B08D-C817260649D6}" type="pres">
      <dgm:prSet presAssocID="{978AC82B-3FA8-4C01-8342-BDA3FB719007}" presName="parentText" presStyleLbl="node1" presStyleIdx="0" presStyleCnt="2" custLinFactY="-42384" custLinFactNeighborX="-17590" custLinFactNeighborY="-100000">
        <dgm:presLayoutVars>
          <dgm:chMax val="0"/>
          <dgm:bulletEnabled val="1"/>
        </dgm:presLayoutVars>
      </dgm:prSet>
      <dgm:spPr>
        <a:xfrm>
          <a:off x="0" y="0"/>
          <a:ext cx="8490632" cy="1216800"/>
        </a:xfrm>
        <a:prstGeom prst="roundRect">
          <a:avLst/>
        </a:prstGeom>
      </dgm:spPr>
    </dgm:pt>
    <dgm:pt modelId="{24B58764-3AF5-419D-923E-0F71B015399F}" type="pres">
      <dgm:prSet presAssocID="{978AC82B-3FA8-4C01-8342-BDA3FB719007}" presName="childText" presStyleLbl="revTx" presStyleIdx="0" presStyleCnt="2" custLinFactNeighborY="-24987">
        <dgm:presLayoutVars>
          <dgm:bulletEnabled val="1"/>
        </dgm:presLayoutVars>
      </dgm:prSet>
      <dgm:spPr/>
    </dgm:pt>
    <dgm:pt modelId="{D8864217-C342-4BFB-9E89-BC0D87E06712}" type="pres">
      <dgm:prSet presAssocID="{1842DBAF-FCD7-46E7-A841-E5158693F140}" presName="parentText" presStyleLbl="node1" presStyleIdx="1" presStyleCnt="2" custLinFactNeighborY="14736">
        <dgm:presLayoutVars>
          <dgm:chMax val="0"/>
          <dgm:bulletEnabled val="1"/>
        </dgm:presLayoutVars>
      </dgm:prSet>
      <dgm:spPr>
        <a:xfrm>
          <a:off x="0" y="2575738"/>
          <a:ext cx="8490632" cy="1216800"/>
        </a:xfrm>
        <a:prstGeom prst="roundRect">
          <a:avLst/>
        </a:prstGeom>
      </dgm:spPr>
    </dgm:pt>
    <dgm:pt modelId="{D5E0585B-FB96-468B-A9CD-67AA8A1E3F42}" type="pres">
      <dgm:prSet presAssocID="{1842DBAF-FCD7-46E7-A841-E5158693F140}" presName="childText" presStyleLbl="revTx" presStyleIdx="1" presStyleCnt="2" custScaleY="65650" custLinFactNeighborX="-603" custLinFactNeighborY="9902">
        <dgm:presLayoutVars>
          <dgm:bulletEnabled val="1"/>
        </dgm:presLayoutVars>
      </dgm:prSet>
      <dgm:spPr/>
    </dgm:pt>
  </dgm:ptLst>
  <dgm:cxnLst>
    <dgm:cxn modelId="{3306F81A-C14B-47FA-ABD6-B8A91DD9FB35}" srcId="{1842DBAF-FCD7-46E7-A841-E5158693F140}" destId="{A62DD6B1-50D6-4821-A82B-436E1A1297A0}" srcOrd="0" destOrd="0" parTransId="{396C9ED0-66B6-435C-B6A0-D229051507EC}" sibTransId="{81C7809F-9277-47E0-9D29-B7A1CB34B561}"/>
    <dgm:cxn modelId="{D67D165C-4505-4809-ADC6-597BE7DD6095}" srcId="{1056DECD-73D1-4C67-8D04-6F97AFB83BCA}" destId="{1842DBAF-FCD7-46E7-A841-E5158693F140}" srcOrd="1" destOrd="0" parTransId="{1F3DD27F-AFD4-41EC-976D-607D1C4E545A}" sibTransId="{ED0A805E-8698-4764-93E9-80835DABE865}"/>
    <dgm:cxn modelId="{23F6D26A-AC81-40EA-9DEA-2809B4BCEA3B}" type="presOf" srcId="{A62DD6B1-50D6-4821-A82B-436E1A1297A0}" destId="{D5E0585B-FB96-468B-A9CD-67AA8A1E3F42}" srcOrd="0" destOrd="0" presId="urn:microsoft.com/office/officeart/2005/8/layout/vList2"/>
    <dgm:cxn modelId="{3FD22D56-8DA7-4AF6-8FD1-F0869667473B}" type="presOf" srcId="{1056DECD-73D1-4C67-8D04-6F97AFB83BCA}" destId="{054FFB3B-F7CF-48F9-B3F6-3BD27A4BB0EC}" srcOrd="0" destOrd="0" presId="urn:microsoft.com/office/officeart/2005/8/layout/vList2"/>
    <dgm:cxn modelId="{4552BFA1-6C7D-4FCE-BB86-912E6EDC84E9}" type="presOf" srcId="{9DB97475-38B9-4491-9059-9886DE77659C}" destId="{D5E0585B-FB96-468B-A9CD-67AA8A1E3F42}" srcOrd="0" destOrd="1" presId="urn:microsoft.com/office/officeart/2005/8/layout/vList2"/>
    <dgm:cxn modelId="{64CD7EB1-928D-41E6-9610-28993DEC5BA1}" srcId="{1056DECD-73D1-4C67-8D04-6F97AFB83BCA}" destId="{978AC82B-3FA8-4C01-8342-BDA3FB719007}" srcOrd="0" destOrd="0" parTransId="{C11484FC-5B03-4BE4-BCE5-6F61418536E1}" sibTransId="{226F13C6-245E-44C8-93A7-751C1E00FCB2}"/>
    <dgm:cxn modelId="{449ABDC0-E00C-441C-966A-E66948818B47}" type="presOf" srcId="{F2D59D81-922C-4A91-ABBC-340D4A5D0FE3}" destId="{24B58764-3AF5-419D-923E-0F71B015399F}" srcOrd="0" destOrd="0" presId="urn:microsoft.com/office/officeart/2005/8/layout/vList2"/>
    <dgm:cxn modelId="{BE0647C8-F4A4-4710-A474-AFC0A9B1E0E6}" type="presOf" srcId="{1842DBAF-FCD7-46E7-A841-E5158693F140}" destId="{D8864217-C342-4BFB-9E89-BC0D87E06712}" srcOrd="0" destOrd="0" presId="urn:microsoft.com/office/officeart/2005/8/layout/vList2"/>
    <dgm:cxn modelId="{331AE7D4-8E5B-4FA3-BFA0-D4BE11EA1D25}" type="presOf" srcId="{978AC82B-3FA8-4C01-8342-BDA3FB719007}" destId="{8DCFB95C-AAAB-43DD-B08D-C817260649D6}" srcOrd="0" destOrd="0" presId="urn:microsoft.com/office/officeart/2005/8/layout/vList2"/>
    <dgm:cxn modelId="{4AD798E7-E584-47D6-8A7C-7A426BFE6AE3}" srcId="{978AC82B-3FA8-4C01-8342-BDA3FB719007}" destId="{F2D59D81-922C-4A91-ABBC-340D4A5D0FE3}" srcOrd="0" destOrd="0" parTransId="{039344F1-3CE5-4042-9131-3FA0E20834EE}" sibTransId="{A2592051-4F47-4662-9DFB-498BF207CBCD}"/>
    <dgm:cxn modelId="{6AD09CEC-28E6-4A34-A474-30B86B82C971}" srcId="{1842DBAF-FCD7-46E7-A841-E5158693F140}" destId="{9DB97475-38B9-4491-9059-9886DE77659C}" srcOrd="1" destOrd="0" parTransId="{C494ACEC-46A7-4B5F-9ECE-55CC5C96479F}" sibTransId="{EB41AA4C-652A-4042-8A92-C7D751480E8F}"/>
    <dgm:cxn modelId="{288ED317-A451-4A99-8BA4-5C871CCAE58B}" type="presParOf" srcId="{054FFB3B-F7CF-48F9-B3F6-3BD27A4BB0EC}" destId="{8DCFB95C-AAAB-43DD-B08D-C817260649D6}" srcOrd="0" destOrd="0" presId="urn:microsoft.com/office/officeart/2005/8/layout/vList2"/>
    <dgm:cxn modelId="{31F1C50A-00A4-41A6-8D50-B2A46D571BDF}" type="presParOf" srcId="{054FFB3B-F7CF-48F9-B3F6-3BD27A4BB0EC}" destId="{24B58764-3AF5-419D-923E-0F71B015399F}" srcOrd="1" destOrd="0" presId="urn:microsoft.com/office/officeart/2005/8/layout/vList2"/>
    <dgm:cxn modelId="{ABB99410-14B5-45BB-A5E1-8CEE7E313D1B}" type="presParOf" srcId="{054FFB3B-F7CF-48F9-B3F6-3BD27A4BB0EC}" destId="{D8864217-C342-4BFB-9E89-BC0D87E06712}" srcOrd="2" destOrd="0" presId="urn:microsoft.com/office/officeart/2005/8/layout/vList2"/>
    <dgm:cxn modelId="{C9A339E9-620F-4558-860A-F2CFF6D3B3A5}" type="presParOf" srcId="{054FFB3B-F7CF-48F9-B3F6-3BD27A4BB0EC}" destId="{D5E0585B-FB96-468B-A9CD-67AA8A1E3F42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CFB95C-AAAB-43DD-B08D-C817260649D6}">
      <dsp:nvSpPr>
        <dsp:cNvPr id="0" name=""/>
        <dsp:cNvSpPr/>
      </dsp:nvSpPr>
      <dsp:spPr>
        <a:xfrm>
          <a:off x="0" y="0"/>
          <a:ext cx="8490632" cy="1533540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400" b="1" kern="12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Seguridad de un mercado local en vías de expansión </a:t>
          </a:r>
          <a:r>
            <a:rPr lang="es-AR" sz="2400" b="1" kern="12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Wingdings" pitchFamily="2" charset="2"/>
            </a:rPr>
            <a:t> </a:t>
          </a:r>
        </a:p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3200" b="1" kern="12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Wingdings" pitchFamily="2" charset="2"/>
            </a:rPr>
            <a:t>P</a:t>
          </a:r>
          <a:r>
            <a:rPr lang="es-AR" sz="3200" b="1" kern="12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rotección tarifaria</a:t>
          </a:r>
        </a:p>
      </dsp:txBody>
      <dsp:txXfrm>
        <a:off x="74861" y="74861"/>
        <a:ext cx="8340910" cy="1383818"/>
      </dsp:txXfrm>
    </dsp:sp>
    <dsp:sp modelId="{24B58764-3AF5-419D-923E-0F71B015399F}">
      <dsp:nvSpPr>
        <dsp:cNvPr id="0" name=""/>
        <dsp:cNvSpPr/>
      </dsp:nvSpPr>
      <dsp:spPr>
        <a:xfrm>
          <a:off x="0" y="1584174"/>
          <a:ext cx="8490632" cy="1058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9578" tIns="22860" rIns="128016" bIns="22860" numCol="1" spcCol="1270" anchor="t" anchorCtr="0">
          <a:noAutofit/>
        </a:bodyPr>
        <a:lstStyle/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1800" b="1" i="1" u="none" kern="12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1923: ↑ precios de avalúos acercándolos a los precios reales de mercado internacional</a:t>
          </a:r>
        </a:p>
      </dsp:txBody>
      <dsp:txXfrm>
        <a:off x="0" y="1584174"/>
        <a:ext cx="8490632" cy="1058804"/>
      </dsp:txXfrm>
    </dsp:sp>
    <dsp:sp modelId="{D8864217-C342-4BFB-9E89-BC0D87E06712}">
      <dsp:nvSpPr>
        <dsp:cNvPr id="0" name=""/>
        <dsp:cNvSpPr/>
      </dsp:nvSpPr>
      <dsp:spPr>
        <a:xfrm>
          <a:off x="0" y="3182191"/>
          <a:ext cx="8490632" cy="1533540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400" b="1" kern="1200" dirty="0">
              <a:solidFill>
                <a:srgbClr val="5B9BD5">
                  <a:lumMod val="20000"/>
                  <a:lumOff val="8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Preservación de los derechos de exclusividad sobre tecnologías y marcas </a:t>
          </a:r>
          <a:r>
            <a:rPr lang="es-AR" sz="2400" b="1" kern="1200" dirty="0">
              <a:solidFill>
                <a:srgbClr val="5B9BD5">
                  <a:lumMod val="20000"/>
                  <a:lumOff val="8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Wingdings" pitchFamily="2" charset="2"/>
            </a:rPr>
            <a:t>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3200" b="1" kern="1200" dirty="0">
              <a:solidFill>
                <a:srgbClr val="5B9BD5">
                  <a:lumMod val="20000"/>
                  <a:lumOff val="8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Wingdings" pitchFamily="2" charset="2"/>
            </a:rPr>
            <a:t>P</a:t>
          </a:r>
          <a:r>
            <a:rPr lang="es-AR" sz="3200" b="1" kern="1200" dirty="0">
              <a:solidFill>
                <a:srgbClr val="5B9BD5">
                  <a:lumMod val="20000"/>
                  <a:lumOff val="8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atentes</a:t>
          </a:r>
        </a:p>
      </dsp:txBody>
      <dsp:txXfrm>
        <a:off x="74861" y="3257052"/>
        <a:ext cx="8340910" cy="1383818"/>
      </dsp:txXfrm>
    </dsp:sp>
    <dsp:sp modelId="{D5E0585B-FB96-468B-A9CD-67AA8A1E3F42}">
      <dsp:nvSpPr>
        <dsp:cNvPr id="0" name=""/>
        <dsp:cNvSpPr/>
      </dsp:nvSpPr>
      <dsp:spPr>
        <a:xfrm>
          <a:off x="0" y="4711557"/>
          <a:ext cx="8490632" cy="695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9578" tIns="22860" rIns="128016" bIns="22860" numCol="1" spcCol="1270" anchor="t" anchorCtr="0">
          <a:noAutofit/>
        </a:bodyPr>
        <a:lstStyle/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1800" b="1" i="1" u="none" kern="1200" dirty="0">
              <a:solidFill>
                <a:srgbClr val="5B9BD5">
                  <a:lumMod val="5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1929-1930: ↑ patentes extranjeras fuertemente</a:t>
          </a:r>
        </a:p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1800" b="1" i="1" u="none" kern="1200" dirty="0">
              <a:solidFill>
                <a:srgbClr val="5B9BD5">
                  <a:lumMod val="5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´30: Número de </a:t>
          </a:r>
          <a:r>
            <a:rPr lang="es-AR" sz="1800" b="1" i="1" u="none" kern="1200" dirty="0" err="1">
              <a:solidFill>
                <a:srgbClr val="5B9BD5">
                  <a:lumMod val="5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patentamientos</a:t>
          </a:r>
          <a:r>
            <a:rPr lang="es-AR" sz="1800" b="1" i="1" u="none" kern="1200" dirty="0">
              <a:solidFill>
                <a:srgbClr val="5B9BD5">
                  <a:lumMod val="5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muy elevado y superior al de cualquier otro período. </a:t>
          </a:r>
        </a:p>
      </dsp:txBody>
      <dsp:txXfrm>
        <a:off x="0" y="4711557"/>
        <a:ext cx="8490632" cy="6951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406AD9-5572-4D77-A0C7-38EA8EA3812C}" type="datetimeFigureOut">
              <a:rPr lang="es-ES" smtClean="0"/>
              <a:pPr/>
              <a:t>13/04/2020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FB8BF-DC25-4471-AA2A-AD42B140C6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094368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es-ES" sz="1200"/>
            </a:lvl1pPr>
            <a:extLst/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es-ES" sz="1200"/>
            </a:lvl1pPr>
            <a:extLst/>
          </a:lstStyle>
          <a:p>
            <a:fld id="{A8ADFD5B-A66C-449C-B6E8-FB716D07777D}" type="datetimeFigureOut">
              <a:rPr lang="es-ES"/>
              <a:pPr/>
              <a:t>13/04/2020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es-ES" sz="1200"/>
            </a:lvl1pPr>
            <a:extLst/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es-ES" sz="1200"/>
            </a:lvl1pPr>
            <a:extLst/>
          </a:lstStyle>
          <a:p>
            <a:fld id="{CA5D3BF3-D352-46FC-8343-31F56E6730EA}" type="slidenum">
              <a:rPr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910508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rtl="0" latinLnBrk="0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es-ES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150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7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7832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8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6490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0516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02387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12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13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14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15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40181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96767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17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18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19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7697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00475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22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82668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25877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24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71581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90988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5286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27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86109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28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2469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29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61178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30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34201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31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54016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32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27898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33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34126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34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44201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35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5843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36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19975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37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71440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38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65925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39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83670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40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41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437285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42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98794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43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7897AD-3FC2-4A59-A514-8CD0814C2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D6D1A7-837F-4A82-A0A7-52361CFD4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965B75-A7EE-4350-9868-43610718C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kumimoji="0" lang="es-ES">
                <a:solidFill>
                  <a:srgbClr val="FFFFFF"/>
                </a:solidFill>
              </a:rPr>
              <a:t>30/6/2006</a:t>
            </a:r>
            <a:endParaRPr kumimoji="0" lang="es-ES" sz="2000">
              <a:solidFill>
                <a:srgbClr val="FFFFFF"/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D12D90-3C70-4C52-9F65-4C213EC6D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kumimoji="0" lang="es-ES">
                <a:solidFill>
                  <a:schemeClr val="tx2"/>
                </a:solidFill>
              </a:rPr>
              <a:t>La Crisis de Baring - Cátedra HEA - FCE - UNC                                                                     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51BD46-34BA-41DB-BF64-132D4AFDE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kumimoji="0" lang="es-ES" smtClean="0">
                <a:solidFill>
                  <a:schemeClr val="tx2"/>
                </a:solidFill>
              </a:rPr>
              <a:pPr/>
              <a:t>‹Nº›</a:t>
            </a:fld>
            <a:endParaRPr kumimoji="0" lang="es-E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852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EBE43-4136-43FB-8962-2BF03BE91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756C87-DF16-4C29-9775-8C5997D63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684151-C82D-4C41-AA75-5B80A276E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30/6/2006</a:t>
            </a:r>
            <a:endParaRPr kumimoji="0" lang="es-ES" sz="1400">
              <a:solidFill>
                <a:schemeClr val="tx2"/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5A3B1A-82A9-496B-8C3E-29E1E2C8C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kumimoji="0" lang="es-ES" sz="1400">
                <a:solidFill>
                  <a:schemeClr val="tx2"/>
                </a:solidFill>
              </a:rPr>
              <a:t>La Crisis de Baring - Cátedra HEA - FCE - UNC                                                                     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E846F4-9D34-4430-8FC0-A7219C509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es-ES" sz="1400" b="1" smtClean="0">
                <a:solidFill>
                  <a:srgbClr val="FFFFFF"/>
                </a:solidFill>
              </a:rPr>
              <a:pPr algn="ctr"/>
              <a:t>‹Nº›</a:t>
            </a:fld>
            <a:endParaRPr kumimoji="0" lang="es-E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87601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AA311C-A8A7-4537-B88D-0E261F6AD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C18399-F105-4A6F-BD22-A76E9A55B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642C06-9C20-488B-92C7-5ABFAC399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30/6/2006</a:t>
            </a:r>
            <a:endParaRPr kumimoji="0"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074898-DCE0-471E-8BFD-FF679FAB6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s-ES"/>
              <a:t>La Crisis de Baring - Cátedra HEA - FCE - UNC                                                                     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4408E4-AD58-49FB-8A99-D3397ECCE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es-ES" sz="2400" b="1" smtClean="0">
                <a:solidFill>
                  <a:srgbClr val="FFFFFF"/>
                </a:solidFill>
              </a:rPr>
              <a:pPr algn="ctr"/>
              <a:t>‹Nº›</a:t>
            </a:fld>
            <a:endParaRPr kumimoji="0" lang="es-ES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241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E2E9F-343F-4A1A-BF89-0C55DCFB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FC284D-2239-444F-8CD1-C7C961B5CD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31361ED-9E54-48CF-A4DA-89D65A156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836BEB9-631E-43CE-A4CD-B1CE6D1F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30/6/2006</a:t>
            </a:r>
            <a:endParaRPr kumimoji="0" lang="es-ES" sz="1400">
              <a:solidFill>
                <a:schemeClr val="tx2"/>
              </a:solidFill>
            </a:endParaRP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2753A7-94FF-4B67-8025-0DC66A269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kumimoji="0" lang="es-ES" sz="1400">
                <a:solidFill>
                  <a:schemeClr val="tx2"/>
                </a:solidFill>
              </a:rPr>
              <a:t>La Crisis de Baring - Cátedra HEA - FCE - UNC                                                                      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5FD165-FD2D-4483-80BD-14C03E64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es-ES" sz="1400" b="1" smtClean="0">
                <a:solidFill>
                  <a:srgbClr val="FFFFFF"/>
                </a:solidFill>
              </a:rPr>
              <a:pPr algn="ctr"/>
              <a:t>‹Nº›</a:t>
            </a:fld>
            <a:endParaRPr kumimoji="0" lang="es-E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399824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9AE994-F013-4FC2-966F-D9C71DE9F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5C9F3-B063-497C-8E6E-131EB15F1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F1E35C-98AE-404E-AFD1-A9E2CD4FB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77B8BD9-7839-443D-A249-C52CAF44A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1A73800-2FF4-487E-8E56-0830603C1E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37F4134-3886-407D-A9D6-A97D23366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30/6/2006</a:t>
            </a:r>
            <a:endParaRPr kumimoji="0" lang="es-ES" sz="1400">
              <a:solidFill>
                <a:schemeClr val="tx2"/>
              </a:solidFill>
            </a:endParaRP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4ED3E23-4ADE-423B-BF72-FFD0E6882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kumimoji="0" lang="es-ES" sz="1400">
                <a:solidFill>
                  <a:schemeClr val="tx2"/>
                </a:solidFill>
              </a:rPr>
              <a:t>La Crisis de Baring - Cátedra HEA - FCE - UNC                                                                      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EC9E80-3889-4674-91FC-30BD5937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es-ES" sz="1400" b="1" smtClean="0">
                <a:solidFill>
                  <a:srgbClr val="FFFFFF"/>
                </a:solidFill>
              </a:rPr>
              <a:pPr algn="ctr"/>
              <a:t>‹Nº›</a:t>
            </a:fld>
            <a:endParaRPr kumimoji="0" lang="es-E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342647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968670-E758-4C7B-A4F9-89F76C803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F213FD1-54D5-4BBE-B27B-07DFA3FEA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30/6/2006</a:t>
            </a:r>
            <a:endParaRPr kumimoji="0" lang="es-ES" sz="1400">
              <a:solidFill>
                <a:schemeClr val="tx2"/>
              </a:solidFill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468AECD-222A-4A11-AAF9-CCA7FA624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kumimoji="0" lang="es-ES" sz="1400">
                <a:solidFill>
                  <a:schemeClr val="tx2"/>
                </a:solidFill>
              </a:rPr>
              <a:t>La Crisis de Baring - Cátedra HEA - FCE - UNC                                                                      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754A2EA-548E-48A9-8435-FBA5E6F4B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es-ES" sz="1400" b="1" smtClean="0">
                <a:solidFill>
                  <a:srgbClr val="FFFFFF"/>
                </a:solidFill>
              </a:rPr>
              <a:pPr algn="ctr"/>
              <a:t>‹Nº›</a:t>
            </a:fld>
            <a:endParaRPr kumimoji="0" lang="es-E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363681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6F9ECDF-9A26-4C93-A8B9-E0D9B8D2A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30/6/2006</a:t>
            </a:r>
            <a:endParaRPr kumimoji="0"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95E70E8-908E-4809-B7D2-AA1881120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s-ES"/>
              <a:t>La Crisis de Baring - Cátedra HEA - FCE - UNC                                                                     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B209A8-492B-40B8-8061-4B44E88F2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kumimoji="0" lang="es-ES" smtClean="0">
                <a:solidFill>
                  <a:schemeClr val="tx2"/>
                </a:solidFill>
              </a:rPr>
              <a:pPr/>
              <a:t>‹Nº›</a:t>
            </a:fld>
            <a:endParaRPr kumimoji="0" lang="es-E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193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F1AE7-0E3C-41CD-A783-232BCA3AD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306239-5BAB-476E-8A21-3D95765C7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AA72C01-F873-4EF1-85CE-B916A5A82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C91A90-C3D8-4307-9F3A-FE4283B5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30/6/2006</a:t>
            </a:r>
            <a:endParaRPr kumimoji="0" lang="es-ES" sz="1400">
              <a:solidFill>
                <a:schemeClr val="tx2"/>
              </a:solidFill>
            </a:endParaRP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940F42F-1BE5-44FC-8A8A-D5B2252CE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kumimoji="0" lang="es-ES" sz="1400">
                <a:solidFill>
                  <a:schemeClr val="tx2"/>
                </a:solidFill>
              </a:rPr>
              <a:t>La Crisis de Baring - Cátedra HEA - FCE - UNC                                                                      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36B11C-5337-48CF-BD94-A5C0882CF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es-ES" sz="1400" b="1" smtClean="0">
                <a:solidFill>
                  <a:srgbClr val="FFFFFF"/>
                </a:solidFill>
              </a:rPr>
              <a:pPr algn="ctr"/>
              <a:t>‹Nº›</a:t>
            </a:fld>
            <a:endParaRPr kumimoji="0" lang="es-E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72664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F91A75-3873-482C-8C15-4180B8D9E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9895870-A68F-4548-8370-2081CFE147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83F448-BB87-48B0-B6F0-C31D8B073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0B9E50-F853-490E-9F72-BD26329D4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30/6/2006</a:t>
            </a:r>
            <a:endParaRPr kumimoji="0"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8867E3-FB51-4351-BC01-EE5E59E3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s-ES"/>
              <a:t>La Crisis de Baring - Cátedra HEA - FCE - UNC                                                                      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7C125D-E5DF-4097-8965-D8E697D65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es-ES" sz="2800" b="1" smtClean="0">
                <a:solidFill>
                  <a:srgbClr val="FFFFFF"/>
                </a:solidFill>
              </a:rPr>
              <a:pPr algn="ctr"/>
              <a:t>‹Nº›</a:t>
            </a:fld>
            <a:endParaRPr kumimoji="0" lang="es-ES" sz="2800"/>
          </a:p>
        </p:txBody>
      </p:sp>
    </p:spTree>
    <p:extLst>
      <p:ext uri="{BB962C8B-B14F-4D97-AF65-F5344CB8AC3E}">
        <p14:creationId xmlns:p14="http://schemas.microsoft.com/office/powerpoint/2010/main" val="33307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751E0F-AFF9-4BF5-A1C9-4205A8CC5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9DC008-2B6C-4119-A05C-BB2CFD9E8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D538F2-21CF-41F7-AE25-10C1D4387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30/6/2006</a:t>
            </a:r>
            <a:endParaRPr kumimoji="0" lang="es-ES" sz="1400">
              <a:solidFill>
                <a:schemeClr val="tx2"/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63D3B3-B0AD-4ABD-8499-33B75656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kumimoji="0" lang="es-ES" sz="1400">
                <a:solidFill>
                  <a:schemeClr val="tx2"/>
                </a:solidFill>
              </a:rPr>
              <a:t>La Crisis de Baring - Cátedra HEA - FCE - UNC                                                                     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85F3D1-4085-49A3-B590-2A0D774B5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es-ES" sz="1400" b="1" smtClean="0">
                <a:solidFill>
                  <a:srgbClr val="FFFFFF"/>
                </a:solidFill>
              </a:rPr>
              <a:pPr algn="ctr"/>
              <a:t>‹Nº›</a:t>
            </a:fld>
            <a:endParaRPr kumimoji="0" lang="es-E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903943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A283CD-6662-4394-994C-7408BC650F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06A3EB9-709B-4C45-A2B9-5D06BD354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41DF2E-E9C0-43FD-9C76-9AB107D7E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30/6/2006</a:t>
            </a:r>
            <a:endParaRPr kumimoji="0" lang="es-ES" sz="1400">
              <a:solidFill>
                <a:schemeClr val="tx2"/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F4836F-DE67-47BE-BF0D-243B04EB6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kumimoji="0" lang="es-ES" sz="1400">
                <a:solidFill>
                  <a:schemeClr val="tx2"/>
                </a:solidFill>
              </a:rPr>
              <a:t>La Crisis de Baring - Cátedra HEA - FCE - UNC                                                                     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15D6E3-8380-4E95-8A16-C1D5441AD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es-ES" sz="1400" b="1" smtClean="0">
                <a:solidFill>
                  <a:srgbClr val="FFFFFF"/>
                </a:solidFill>
              </a:rPr>
              <a:pPr algn="ctr"/>
              <a:t>‹Nº›</a:t>
            </a:fld>
            <a:endParaRPr kumimoji="0" lang="es-E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04221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30/6/2006</a:t>
            </a:r>
            <a:endParaRPr kumimoji="0" lang="es-ES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s-ES"/>
              <a:t>La Crisis de Baring - Cátedra HEA - FCE - UNC                                                                      </a:t>
            </a:r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es-ES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es-ES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803400"/>
            <a:ext cx="8153400" cy="43688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499750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803402"/>
            <a:ext cx="3886200" cy="4358165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803399"/>
            <a:ext cx="3886200" cy="4358167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es-ES"/>
              <a:t>30/6/2006</a:t>
            </a:r>
            <a:endParaRPr kumimoji="0" lang="es-E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es-ES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es-E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kumimoji="0" lang="es-ES"/>
              <a:t>La Crisis de Baring - Cátedra HEA - FCE - UNC 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9657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AFB717B-939D-45EA-B3BB-A854E3426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CF19CF-9143-4D1E-8C37-75F1CB12F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435D1B-09AC-4F60-AC86-514F3E4F4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30/6/2006</a:t>
            </a:r>
            <a:endParaRPr kumimoji="0" lang="es-ES" sz="1400">
              <a:solidFill>
                <a:schemeClr val="tx2"/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677EDD-9431-4949-B951-7043A14BDF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kumimoji="0" lang="es-ES" sz="1400">
                <a:solidFill>
                  <a:schemeClr val="tx2"/>
                </a:solidFill>
              </a:rPr>
              <a:t>La Crisis de Baring - Cátedra HEA - FCE - UNC                                                                     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A0A09A-F061-4F9B-93DB-853D2CE3E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8F82E0A0-C266-4798-8C8F-B9F91E9DA37E}" type="slidenum">
              <a:rPr kumimoji="0" lang="es-ES" sz="1400" b="1" smtClean="0">
                <a:solidFill>
                  <a:srgbClr val="FFFFFF"/>
                </a:solidFill>
              </a:rPr>
              <a:pPr algn="ctr"/>
              <a:t>‹Nº›</a:t>
            </a:fld>
            <a:endParaRPr kumimoji="0" lang="es-E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845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1.wdp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19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chart" Target="../charts/chart7.xml"/><Relationship Id="rId4" Type="http://schemas.openxmlformats.org/officeDocument/2006/relationships/image" Target="../media/image27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8.svg"/><Relationship Id="rId18" Type="http://schemas.openxmlformats.org/officeDocument/2006/relationships/image" Target="../media/image18.png"/><Relationship Id="rId3" Type="http://schemas.openxmlformats.org/officeDocument/2006/relationships/image" Target="../media/image30.png"/><Relationship Id="rId7" Type="http://schemas.openxmlformats.org/officeDocument/2006/relationships/image" Target="../media/image34.svg"/><Relationship Id="rId12" Type="http://schemas.openxmlformats.org/officeDocument/2006/relationships/image" Target="../media/image37.png"/><Relationship Id="rId17" Type="http://schemas.openxmlformats.org/officeDocument/2006/relationships/image" Target="../media/image13.sv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png"/><Relationship Id="rId11" Type="http://schemas.openxmlformats.org/officeDocument/2006/relationships/image" Target="../media/image36.svg"/><Relationship Id="rId5" Type="http://schemas.openxmlformats.org/officeDocument/2006/relationships/image" Target="../media/image32.svg"/><Relationship Id="rId15" Type="http://schemas.openxmlformats.org/officeDocument/2006/relationships/image" Target="../media/image40.svg"/><Relationship Id="rId10" Type="http://schemas.openxmlformats.org/officeDocument/2006/relationships/image" Target="../media/image35.png"/><Relationship Id="rId19" Type="http://schemas.openxmlformats.org/officeDocument/2006/relationships/image" Target="../media/image19.svg"/><Relationship Id="rId4" Type="http://schemas.openxmlformats.org/officeDocument/2006/relationships/image" Target="../media/image31.png"/><Relationship Id="rId9" Type="http://schemas.openxmlformats.org/officeDocument/2006/relationships/image" Target="../media/image29.svg"/><Relationship Id="rId1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1.png"/><Relationship Id="rId4" Type="http://schemas.openxmlformats.org/officeDocument/2006/relationships/image" Target="../media/image1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760121C-229F-42DF-BBAD-BF2E003FA26A}"/>
              </a:ext>
            </a:extLst>
          </p:cNvPr>
          <p:cNvSpPr txBox="1"/>
          <p:nvPr/>
        </p:nvSpPr>
        <p:spPr>
          <a:xfrm>
            <a:off x="2166583" y="1798372"/>
            <a:ext cx="1168910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3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DB68376-3601-4F72-98F3-FDAD011EED1E}"/>
              </a:ext>
            </a:extLst>
          </p:cNvPr>
          <p:cNvSpPr txBox="1"/>
          <p:nvPr/>
        </p:nvSpPr>
        <p:spPr>
          <a:xfrm>
            <a:off x="3374983" y="3068960"/>
            <a:ext cx="386131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INDUSTRIA </a:t>
            </a:r>
          </a:p>
          <a:p>
            <a:r>
              <a:rPr lang="es-AR" sz="3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DURANTE LOS </a:t>
            </a:r>
          </a:p>
          <a:p>
            <a:r>
              <a:rPr lang="es-AR" sz="3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AÑOS VEINTE Y </a:t>
            </a:r>
          </a:p>
          <a:p>
            <a:r>
              <a:rPr lang="es-AR" sz="3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TREINTA 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01B6B2D-81F1-4DBD-A9F9-E9C7F8AF5674}"/>
              </a:ext>
            </a:extLst>
          </p:cNvPr>
          <p:cNvCxnSpPr>
            <a:cxnSpLocks/>
          </p:cNvCxnSpPr>
          <p:nvPr/>
        </p:nvCxnSpPr>
        <p:spPr>
          <a:xfrm flipV="1">
            <a:off x="3330511" y="2298052"/>
            <a:ext cx="0" cy="2931148"/>
          </a:xfrm>
          <a:prstGeom prst="line">
            <a:avLst/>
          </a:prstGeom>
          <a:ln w="571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3BE3AF40-C336-4EFD-B5CC-5C0EE4BA8973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HISTORIA ECONÓMICA ARGENTINA</a:t>
            </a:r>
          </a:p>
        </p:txBody>
      </p:sp>
    </p:spTree>
    <p:extLst>
      <p:ext uri="{BB962C8B-B14F-4D97-AF65-F5344CB8AC3E}">
        <p14:creationId xmlns:p14="http://schemas.microsoft.com/office/powerpoint/2010/main" val="1018994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56A156E-AF6C-4901-9E1F-75424B3486A1}"/>
              </a:ext>
            </a:extLst>
          </p:cNvPr>
          <p:cNvCxnSpPr>
            <a:cxnSpLocks/>
          </p:cNvCxnSpPr>
          <p:nvPr/>
        </p:nvCxnSpPr>
        <p:spPr>
          <a:xfrm>
            <a:off x="395536" y="5756216"/>
            <a:ext cx="7920880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284CBEA0-AA06-4606-96FA-FB613A7096B1}"/>
              </a:ext>
            </a:extLst>
          </p:cNvPr>
          <p:cNvCxnSpPr/>
          <p:nvPr/>
        </p:nvCxnSpPr>
        <p:spPr>
          <a:xfrm>
            <a:off x="672341" y="5540192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3976CD0-D1D9-4A81-83F0-D2D8BBA6A85B}"/>
              </a:ext>
            </a:extLst>
          </p:cNvPr>
          <p:cNvSpPr txBox="1"/>
          <p:nvPr/>
        </p:nvSpPr>
        <p:spPr>
          <a:xfrm>
            <a:off x="323528" y="6007142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1900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90793594-9852-4696-9EF1-EA377E6BF3BB}"/>
              </a:ext>
            </a:extLst>
          </p:cNvPr>
          <p:cNvCxnSpPr/>
          <p:nvPr/>
        </p:nvCxnSpPr>
        <p:spPr>
          <a:xfrm>
            <a:off x="3215074" y="5540192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6C3126E-7D09-49F8-AC2B-BC8571BD8B9D}"/>
              </a:ext>
            </a:extLst>
          </p:cNvPr>
          <p:cNvSpPr txBox="1"/>
          <p:nvPr/>
        </p:nvSpPr>
        <p:spPr>
          <a:xfrm>
            <a:off x="2866261" y="6007142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1914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86B3416C-D2CF-4628-9E6C-C8A23CCE977D}"/>
              </a:ext>
            </a:extLst>
          </p:cNvPr>
          <p:cNvCxnSpPr/>
          <p:nvPr/>
        </p:nvCxnSpPr>
        <p:spPr>
          <a:xfrm>
            <a:off x="7863342" y="5540192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33028A5-4CCF-4EAA-88BA-8D8C6E19994F}"/>
              </a:ext>
            </a:extLst>
          </p:cNvPr>
          <p:cNvSpPr txBox="1"/>
          <p:nvPr/>
        </p:nvSpPr>
        <p:spPr>
          <a:xfrm>
            <a:off x="7514529" y="6007142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1930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882BFC21-8832-46A2-9011-AFBBB0B3F802}"/>
              </a:ext>
            </a:extLst>
          </p:cNvPr>
          <p:cNvCxnSpPr>
            <a:cxnSpLocks/>
          </p:cNvCxnSpPr>
          <p:nvPr/>
        </p:nvCxnSpPr>
        <p:spPr>
          <a:xfrm>
            <a:off x="7983358" y="5758915"/>
            <a:ext cx="927501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9">
            <a:extLst>
              <a:ext uri="{FF2B5EF4-FFF2-40B4-BE49-F238E27FC236}">
                <a16:creationId xmlns:a16="http://schemas.microsoft.com/office/drawing/2014/main" id="{98E7352E-277E-4674-93D9-1844B5E7F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97" y="2245527"/>
            <a:ext cx="2825835" cy="24853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noFill/>
            <a:miter lim="800000"/>
            <a:headEnd/>
            <a:tailEnd/>
          </a:ln>
        </p:spPr>
        <p:txBody>
          <a:bodyPr vert="horz" wrap="square" lIns="91440" tIns="18000" rIns="91440" bIns="18000" numCol="1" anchor="b" anchorCtr="0" compatLnSpc="1">
            <a:prstTxWarp prst="textNoShape">
              <a:avLst/>
            </a:prstTxWarp>
          </a:bodyPr>
          <a:lstStyle>
            <a:defPPr>
              <a:defRPr lang="es-AR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AR" dirty="0">
                <a:solidFill>
                  <a:schemeClr val="accent1">
                    <a:lumMod val="50000"/>
                  </a:schemeClr>
                </a:solidFill>
              </a:rPr>
              <a:t>ESLABONAMIENTOS</a:t>
            </a:r>
          </a:p>
        </p:txBody>
      </p:sp>
      <p:pic>
        <p:nvPicPr>
          <p:cNvPr id="23" name="Gráfico 22" descr="Molino de viento">
            <a:extLst>
              <a:ext uri="{FF2B5EF4-FFF2-40B4-BE49-F238E27FC236}">
                <a16:creationId xmlns:a16="http://schemas.microsoft.com/office/drawing/2014/main" id="{E5C49668-07BE-484E-B7B7-A80B3F42D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109" y="3438062"/>
            <a:ext cx="671031" cy="671031"/>
          </a:xfrm>
          <a:prstGeom prst="rect">
            <a:avLst/>
          </a:prstGeom>
        </p:spPr>
      </p:pic>
      <p:pic>
        <p:nvPicPr>
          <p:cNvPr id="38" name="Gráfico 37" descr="Tractor">
            <a:extLst>
              <a:ext uri="{FF2B5EF4-FFF2-40B4-BE49-F238E27FC236}">
                <a16:creationId xmlns:a16="http://schemas.microsoft.com/office/drawing/2014/main" id="{9EA7AD26-3D18-4DFB-80DB-552A767143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8505" y="2668049"/>
            <a:ext cx="748363" cy="748363"/>
          </a:xfrm>
          <a:prstGeom prst="rect">
            <a:avLst/>
          </a:prstGeom>
        </p:spPr>
      </p:pic>
      <p:pic>
        <p:nvPicPr>
          <p:cNvPr id="41" name="Gráfico 40" descr="Fábrica">
            <a:extLst>
              <a:ext uri="{FF2B5EF4-FFF2-40B4-BE49-F238E27FC236}">
                <a16:creationId xmlns:a16="http://schemas.microsoft.com/office/drawing/2014/main" id="{370C21FC-113D-4A24-BE36-211C0A2D3E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51330" y="3505284"/>
            <a:ext cx="739478" cy="739478"/>
          </a:xfrm>
          <a:prstGeom prst="rect">
            <a:avLst/>
          </a:prstGeom>
        </p:spPr>
      </p:pic>
      <p:pic>
        <p:nvPicPr>
          <p:cNvPr id="42" name="Gráfico 41" descr="Tienda">
            <a:extLst>
              <a:ext uri="{FF2B5EF4-FFF2-40B4-BE49-F238E27FC236}">
                <a16:creationId xmlns:a16="http://schemas.microsoft.com/office/drawing/2014/main" id="{6B5A4E69-6427-4733-A0F6-A13FA11B42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07067" y="3093484"/>
            <a:ext cx="671031" cy="671031"/>
          </a:xfrm>
          <a:prstGeom prst="rect">
            <a:avLst/>
          </a:prstGeom>
        </p:spPr>
      </p:pic>
      <p:sp>
        <p:nvSpPr>
          <p:cNvPr id="43" name="Text Box 9">
            <a:extLst>
              <a:ext uri="{FF2B5EF4-FFF2-40B4-BE49-F238E27FC236}">
                <a16:creationId xmlns:a16="http://schemas.microsoft.com/office/drawing/2014/main" id="{66618854-D4AD-4D47-9F49-6E45D4BF4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22" y="777403"/>
            <a:ext cx="2863352" cy="376689"/>
          </a:xfrm>
          <a:prstGeom prst="rect">
            <a:avLst/>
          </a:prstGeom>
          <a:solidFill>
            <a:schemeClr val="accent5">
              <a:lumMod val="75000"/>
            </a:schemeClr>
          </a:solidFill>
          <a:ln w="57150">
            <a:noFill/>
            <a:miter lim="800000"/>
            <a:headEnd/>
            <a:tailEnd/>
          </a:ln>
        </p:spPr>
        <p:txBody>
          <a:bodyPr vert="horz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sz="2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B.P.E.</a:t>
            </a:r>
            <a:endParaRPr kumimoji="0" lang="es-AR" sz="2800" b="1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Box 9">
            <a:extLst>
              <a:ext uri="{FF2B5EF4-FFF2-40B4-BE49-F238E27FC236}">
                <a16:creationId xmlns:a16="http://schemas.microsoft.com/office/drawing/2014/main" id="{6DD29978-AC3B-4972-B532-A32662BF2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1708" y="2265585"/>
            <a:ext cx="1288119" cy="24482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noFill/>
            <a:miter lim="800000"/>
            <a:headEnd/>
            <a:tailEnd/>
          </a:ln>
        </p:spPr>
        <p:txBody>
          <a:bodyPr vert="horz" wrap="square" lIns="91440" tIns="18000" rIns="91440" bIns="1800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</a:t>
            </a:r>
            <a:r>
              <a:rPr lang="es-A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GUERRA</a:t>
            </a:r>
            <a:endParaRPr kumimoji="0" lang="es-AR" sz="2000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Box 9">
            <a:extLst>
              <a:ext uri="{FF2B5EF4-FFF2-40B4-BE49-F238E27FC236}">
                <a16:creationId xmlns:a16="http://schemas.microsoft.com/office/drawing/2014/main" id="{B37F4E1F-6C68-4477-8CE5-72F3DEE4F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9560" y="769707"/>
            <a:ext cx="6365829" cy="384384"/>
          </a:xfrm>
          <a:prstGeom prst="rect">
            <a:avLst/>
          </a:prstGeom>
          <a:solidFill>
            <a:schemeClr val="accent5">
              <a:lumMod val="75000"/>
            </a:schemeClr>
          </a:solidFill>
          <a:ln w="57150">
            <a:noFill/>
            <a:miter lim="800000"/>
            <a:headEnd/>
            <a:tailEnd/>
          </a:ln>
        </p:spPr>
        <p:txBody>
          <a:bodyPr vert="horz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b="1" i="1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OTRO MODELO…</a:t>
            </a:r>
            <a:endParaRPr kumimoji="0" lang="es-AR" b="1" i="1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F3B0156A-809E-471E-B6F6-DA394B1ED495}"/>
              </a:ext>
            </a:extLst>
          </p:cNvPr>
          <p:cNvCxnSpPr>
            <a:cxnSpLocks/>
          </p:cNvCxnSpPr>
          <p:nvPr/>
        </p:nvCxnSpPr>
        <p:spPr>
          <a:xfrm>
            <a:off x="3205989" y="620688"/>
            <a:ext cx="21786" cy="5386454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Gráfico 64" descr="Silo">
            <a:extLst>
              <a:ext uri="{FF2B5EF4-FFF2-40B4-BE49-F238E27FC236}">
                <a16:creationId xmlns:a16="http://schemas.microsoft.com/office/drawing/2014/main" id="{7654A61A-56A9-4E9D-BE7D-47022A96EA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8288" y="2413393"/>
            <a:ext cx="671030" cy="671030"/>
          </a:xfrm>
          <a:prstGeom prst="rect">
            <a:avLst/>
          </a:prstGeom>
        </p:spPr>
      </p:pic>
      <p:pic>
        <p:nvPicPr>
          <p:cNvPr id="66" name="Imagen 65">
            <a:extLst>
              <a:ext uri="{FF2B5EF4-FFF2-40B4-BE49-F238E27FC236}">
                <a16:creationId xmlns:a16="http://schemas.microsoft.com/office/drawing/2014/main" id="{98AC360D-4E28-4BC4-95D0-420CEF9BFDDB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14575" y="2293721"/>
            <a:ext cx="671031" cy="671031"/>
          </a:xfrm>
          <a:prstGeom prst="rect">
            <a:avLst/>
          </a:prstGeom>
          <a:ln>
            <a:noFill/>
          </a:ln>
        </p:spPr>
      </p:pic>
      <p:sp>
        <p:nvSpPr>
          <p:cNvPr id="54" name="Rectángulo 53">
            <a:extLst>
              <a:ext uri="{FF2B5EF4-FFF2-40B4-BE49-F238E27FC236}">
                <a16:creationId xmlns:a16="http://schemas.microsoft.com/office/drawing/2014/main" id="{7D610D56-4821-4B66-BF2D-8D55F7F68089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 DE LOS ‘20 Y ‘30</a:t>
            </a:r>
          </a:p>
        </p:txBody>
      </p: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5EF5CA85-C2FD-487A-BA9F-CEA89ECC3EDD}"/>
              </a:ext>
            </a:extLst>
          </p:cNvPr>
          <p:cNvCxnSpPr/>
          <p:nvPr/>
        </p:nvCxnSpPr>
        <p:spPr>
          <a:xfrm>
            <a:off x="4571613" y="5540192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C8674583-1181-4DF9-8618-B6937F4D7DF0}"/>
              </a:ext>
            </a:extLst>
          </p:cNvPr>
          <p:cNvSpPr txBox="1"/>
          <p:nvPr/>
        </p:nvSpPr>
        <p:spPr>
          <a:xfrm>
            <a:off x="4222800" y="6007142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1918</a:t>
            </a:r>
          </a:p>
        </p:txBody>
      </p: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EE8AEAAA-2283-4B7E-87F9-FB2DD53E96B9}"/>
              </a:ext>
            </a:extLst>
          </p:cNvPr>
          <p:cNvCxnSpPr/>
          <p:nvPr/>
        </p:nvCxnSpPr>
        <p:spPr>
          <a:xfrm>
            <a:off x="6023386" y="5540192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uadroTexto 67">
            <a:extLst>
              <a:ext uri="{FF2B5EF4-FFF2-40B4-BE49-F238E27FC236}">
                <a16:creationId xmlns:a16="http://schemas.microsoft.com/office/drawing/2014/main" id="{DC53BE2E-861F-4F32-B529-50BDA99E7BE1}"/>
              </a:ext>
            </a:extLst>
          </p:cNvPr>
          <p:cNvSpPr txBox="1"/>
          <p:nvPr/>
        </p:nvSpPr>
        <p:spPr>
          <a:xfrm>
            <a:off x="5674573" y="6007142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1924</a:t>
            </a:r>
          </a:p>
        </p:txBody>
      </p:sp>
      <p:sp>
        <p:nvSpPr>
          <p:cNvPr id="69" name="Text Box 9">
            <a:extLst>
              <a:ext uri="{FF2B5EF4-FFF2-40B4-BE49-F238E27FC236}">
                <a16:creationId xmlns:a16="http://schemas.microsoft.com/office/drawing/2014/main" id="{3B716C55-A85A-4FB6-B2A9-6D3BCB0FB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9264" y="2265585"/>
            <a:ext cx="1451236" cy="24482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noFill/>
            <a:miter lim="800000"/>
            <a:headEnd/>
            <a:tailEnd/>
          </a:ln>
        </p:spPr>
        <p:txBody>
          <a:bodyPr vert="horz" wrap="square" lIns="91440" tIns="18000" rIns="91440" bIns="1800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GUERRA</a:t>
            </a:r>
          </a:p>
        </p:txBody>
      </p:sp>
      <p:sp>
        <p:nvSpPr>
          <p:cNvPr id="70" name="Text Box 9">
            <a:extLst>
              <a:ext uri="{FF2B5EF4-FFF2-40B4-BE49-F238E27FC236}">
                <a16:creationId xmlns:a16="http://schemas.microsoft.com/office/drawing/2014/main" id="{31B7A5AA-7D43-4393-8718-E741E7A0F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9937" y="2267068"/>
            <a:ext cx="1823933" cy="24482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noFill/>
            <a:miter lim="800000"/>
            <a:headEnd/>
            <a:tailEnd/>
          </a:ln>
        </p:spPr>
        <p:txBody>
          <a:bodyPr vert="horz" wrap="square" lIns="91440" tIns="18000" rIns="91440" bIns="1800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MERCADOS</a:t>
            </a:r>
          </a:p>
        </p:txBody>
      </p:sp>
    </p:spTree>
    <p:extLst>
      <p:ext uri="{BB962C8B-B14F-4D97-AF65-F5344CB8AC3E}">
        <p14:creationId xmlns:p14="http://schemas.microsoft.com/office/powerpoint/2010/main" val="2857683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323528" y="714356"/>
            <a:ext cx="8496944" cy="5857916"/>
          </a:xfrm>
          <a:prstGeom prst="roundRect">
            <a:avLst>
              <a:gd name="adj" fmla="val 962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Versión “olímpica”: </a:t>
            </a:r>
          </a:p>
          <a:p>
            <a:pPr algn="ctr"/>
            <a:r>
              <a:rPr lang="es-AR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¿Cuándo “despega” la industrialización?</a:t>
            </a:r>
          </a:p>
          <a:p>
            <a:pPr algn="ctr"/>
            <a:endParaRPr lang="es-AR" sz="2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 de Crecimiento Industrial</a:t>
            </a:r>
          </a:p>
          <a:p>
            <a:pPr algn="ctr"/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Cambios con la Gran Guerra</a:t>
            </a:r>
          </a:p>
          <a:p>
            <a:pPr algn="ctr"/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Luego de la Gran Guerra</a:t>
            </a:r>
          </a:p>
          <a:p>
            <a:pPr algn="ctr"/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 quinquenio del ‘20</a:t>
            </a:r>
          </a:p>
          <a:p>
            <a:pPr algn="ctr"/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Luego de la Gran Depresión</a:t>
            </a:r>
          </a:p>
        </p:txBody>
      </p:sp>
      <p:sp>
        <p:nvSpPr>
          <p:cNvPr id="6" name="5 Rectángulo redondeado"/>
          <p:cNvSpPr/>
          <p:nvPr/>
        </p:nvSpPr>
        <p:spPr>
          <a:xfrm>
            <a:off x="323528" y="714356"/>
            <a:ext cx="8496944" cy="50405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Contenido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3B87830-8DB8-406B-8451-D8230865827B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 DE LOS ‘20 Y ‘30</a:t>
            </a:r>
          </a:p>
        </p:txBody>
      </p:sp>
    </p:spTree>
    <p:extLst>
      <p:ext uri="{BB962C8B-B14F-4D97-AF65-F5344CB8AC3E}">
        <p14:creationId xmlns:p14="http://schemas.microsoft.com/office/powerpoint/2010/main" val="633995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60FF3CD1-97CD-424D-B01C-4063658438F7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 DE LOS ‘20 Y ‘30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46CCA3A-FD3A-4E5A-8C0B-C56002B4B783}"/>
              </a:ext>
            </a:extLst>
          </p:cNvPr>
          <p:cNvSpPr txBox="1"/>
          <p:nvPr/>
        </p:nvSpPr>
        <p:spPr>
          <a:xfrm>
            <a:off x="609600" y="950434"/>
            <a:ext cx="55723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TRABAJAMOS BASADOS EN…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EEABE40-3B56-4A21-B978-C60BB60E2E09}"/>
              </a:ext>
            </a:extLst>
          </p:cNvPr>
          <p:cNvSpPr/>
          <p:nvPr/>
        </p:nvSpPr>
        <p:spPr>
          <a:xfrm>
            <a:off x="609600" y="2531219"/>
            <a:ext cx="792284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Villanueva, Javier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“El origen de la industrialización argentina”, Buenos Aires, </a:t>
            </a:r>
            <a:r>
              <a:rPr lang="es-ES" i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Económico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vol. 12, núm. 47, octubre- diciembre 1972. </a:t>
            </a:r>
          </a:p>
          <a:p>
            <a:pPr algn="just">
              <a:buNone/>
            </a:pPr>
            <a:endParaRPr lang="es-ES" i="1" u="sng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endParaRPr lang="es-ES" i="1" u="sng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s-ES" i="1" u="sng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Complementaria</a:t>
            </a:r>
          </a:p>
          <a:p>
            <a:pPr algn="just"/>
            <a:r>
              <a:rPr lang="es-ES" b="1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Gerchunoff</a:t>
            </a:r>
            <a:r>
              <a:rPr lang="es-ES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Pablo y Horacio Aguirre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La economía argentina entre la gran guerra y la gran depresión, CEPAL- SERIE Estudios y perspectivas. Oficina de la CEPAL en Buenos Aires, </a:t>
            </a:r>
            <a:r>
              <a:rPr lang="es-ES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N°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32. 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B7850FB4-B90D-4424-B661-1009895C272C}"/>
              </a:ext>
            </a:extLst>
          </p:cNvPr>
          <p:cNvSpPr/>
          <p:nvPr/>
        </p:nvSpPr>
        <p:spPr>
          <a:xfrm>
            <a:off x="935596" y="2834934"/>
            <a:ext cx="7272808" cy="118813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DESPEGUE INDUSTRIAL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B2B2E30-522C-4410-ADBB-00D94EC7F54F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 DE LOS ‘20 Y ‘30</a:t>
            </a:r>
          </a:p>
        </p:txBody>
      </p:sp>
    </p:spTree>
    <p:extLst>
      <p:ext uri="{BB962C8B-B14F-4D97-AF65-F5344CB8AC3E}">
        <p14:creationId xmlns:p14="http://schemas.microsoft.com/office/powerpoint/2010/main" val="4028901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echa: a la derecha 3"/>
          <p:cNvSpPr/>
          <p:nvPr/>
        </p:nvSpPr>
        <p:spPr>
          <a:xfrm>
            <a:off x="467544" y="1322610"/>
            <a:ext cx="2555776" cy="151355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1930</a:t>
            </a:r>
          </a:p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 Depresión</a:t>
            </a:r>
            <a:endParaRPr lang="es-ES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44E7834-E14A-4C92-B2F6-92CB1E2AD40C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VERSIÓN “OLÍMPICA”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2598B6B-6DD9-4511-B4BB-F191F26AE8D7}"/>
              </a:ext>
            </a:extLst>
          </p:cNvPr>
          <p:cNvSpPr/>
          <p:nvPr/>
        </p:nvSpPr>
        <p:spPr>
          <a:xfrm>
            <a:off x="7822163" y="694615"/>
            <a:ext cx="13218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Villanueva</a:t>
            </a:r>
            <a:endParaRPr lang="es-AR" dirty="0"/>
          </a:p>
        </p:txBody>
      </p:sp>
      <p:sp>
        <p:nvSpPr>
          <p:cNvPr id="12" name="10 Rectángulo redondeado">
            <a:extLst>
              <a:ext uri="{FF2B5EF4-FFF2-40B4-BE49-F238E27FC236}">
                <a16:creationId xmlns:a16="http://schemas.microsoft.com/office/drawing/2014/main" id="{CCB39F85-1817-4029-9C18-3F9C93D31E2B}"/>
              </a:ext>
            </a:extLst>
          </p:cNvPr>
          <p:cNvSpPr/>
          <p:nvPr/>
        </p:nvSpPr>
        <p:spPr>
          <a:xfrm>
            <a:off x="3252870" y="1561233"/>
            <a:ext cx="5423586" cy="103630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Inicio del desarrollo industrial en su forma moderna se produce como consecuencia de la depresión </a:t>
            </a:r>
          </a:p>
          <a:p>
            <a:pPr algn="ctr"/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(si bien existía un cierto grado de industrialización).</a:t>
            </a:r>
          </a:p>
        </p:txBody>
      </p:sp>
      <p:pic>
        <p:nvPicPr>
          <p:cNvPr id="9" name="Gráfico 8" descr="Globo terrestre, América">
            <a:extLst>
              <a:ext uri="{FF2B5EF4-FFF2-40B4-BE49-F238E27FC236}">
                <a16:creationId xmlns:a16="http://schemas.microsoft.com/office/drawing/2014/main" id="{82183D82-9C4C-40AA-B638-272EE0132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59706" y="3094822"/>
            <a:ext cx="914400" cy="914400"/>
          </a:xfrm>
          <a:prstGeom prst="rect">
            <a:avLst/>
          </a:prstGeom>
        </p:spPr>
      </p:pic>
      <p:sp>
        <p:nvSpPr>
          <p:cNvPr id="10" name="Signo de multiplicación 9">
            <a:extLst>
              <a:ext uri="{FF2B5EF4-FFF2-40B4-BE49-F238E27FC236}">
                <a16:creationId xmlns:a16="http://schemas.microsoft.com/office/drawing/2014/main" id="{67421665-D05D-4752-86DE-E3A3D939ED2E}"/>
              </a:ext>
            </a:extLst>
          </p:cNvPr>
          <p:cNvSpPr/>
          <p:nvPr/>
        </p:nvSpPr>
        <p:spPr>
          <a:xfrm>
            <a:off x="3898030" y="2938406"/>
            <a:ext cx="1440160" cy="1224136"/>
          </a:xfrm>
          <a:prstGeom prst="mathMultiply">
            <a:avLst>
              <a:gd name="adj1" fmla="val 10879"/>
            </a:avLst>
          </a:prstGeom>
          <a:solidFill>
            <a:schemeClr val="accent5">
              <a:lumMod val="7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46327B3-A231-4CFC-9FBD-D7145BD5C28C}"/>
              </a:ext>
            </a:extLst>
          </p:cNvPr>
          <p:cNvSpPr/>
          <p:nvPr/>
        </p:nvSpPr>
        <p:spPr>
          <a:xfrm>
            <a:off x="5074106" y="3011865"/>
            <a:ext cx="293407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s-AR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Dificultades para </a:t>
            </a:r>
            <a:r>
              <a:rPr kumimoji="0" lang="es-AR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X e M </a:t>
            </a:r>
            <a:r>
              <a:rPr kumimoji="0" lang="es-AR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es-AR" sz="1600" b="1" i="0" u="none" strike="noStrike" cap="none" normalizeH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 M</a:t>
            </a:r>
            <a:r>
              <a:rPr kumimoji="0" lang="es-AR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ejoraron los Precios relativos de los bienes manufacturados</a:t>
            </a:r>
            <a:endParaRPr kumimoji="0" lang="es-AR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panose="020B0604020202020204" pitchFamily="34" charset="0"/>
              <a:ea typeface="Calibri" pitchFamily="34" charset="0"/>
              <a:cs typeface="Arial" panose="020B060402020202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2F6794B-60E0-462D-A671-04FBAD834C74}"/>
              </a:ext>
            </a:extLst>
          </p:cNvPr>
          <p:cNvSpPr/>
          <p:nvPr/>
        </p:nvSpPr>
        <p:spPr>
          <a:xfrm>
            <a:off x="5136974" y="4169674"/>
            <a:ext cx="293407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Política económica </a:t>
            </a:r>
            <a:r>
              <a:rPr lang="es-ES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ES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 mantener </a:t>
            </a:r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Demanda interna </a:t>
            </a:r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ES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 Acrecentó la rentabilidad de la  industria local</a:t>
            </a:r>
          </a:p>
        </p:txBody>
      </p:sp>
      <p:pic>
        <p:nvPicPr>
          <p:cNvPr id="17" name="Gráfico 16" descr="Centro educativo">
            <a:extLst>
              <a:ext uri="{FF2B5EF4-FFF2-40B4-BE49-F238E27FC236}">
                <a16:creationId xmlns:a16="http://schemas.microsoft.com/office/drawing/2014/main" id="{3ECEB11A-19D7-40E2-9701-377660B622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10010" y="4245294"/>
            <a:ext cx="914400" cy="914400"/>
          </a:xfrm>
          <a:prstGeom prst="rect">
            <a:avLst/>
          </a:prstGeom>
        </p:spPr>
      </p:pic>
      <p:pic>
        <p:nvPicPr>
          <p:cNvPr id="19" name="Gráfico 18" descr="Dinero">
            <a:extLst>
              <a:ext uri="{FF2B5EF4-FFF2-40B4-BE49-F238E27FC236}">
                <a16:creationId xmlns:a16="http://schemas.microsoft.com/office/drawing/2014/main" id="{EA1D97B5-E1B7-42B4-B791-50D46B5ACC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36620" y="5318530"/>
            <a:ext cx="629603" cy="629603"/>
          </a:xfrm>
          <a:prstGeom prst="rect">
            <a:avLst/>
          </a:prstGeom>
        </p:spPr>
      </p:pic>
      <p:pic>
        <p:nvPicPr>
          <p:cNvPr id="21" name="Gráfico 20" descr="Fábrica">
            <a:extLst>
              <a:ext uri="{FF2B5EF4-FFF2-40B4-BE49-F238E27FC236}">
                <a16:creationId xmlns:a16="http://schemas.microsoft.com/office/drawing/2014/main" id="{F0A02AC1-FB39-41F0-AAF0-BA183A61448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59706" y="5518821"/>
            <a:ext cx="914400" cy="914400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AD68EC12-3CFD-4364-AE52-FAAC8267D9BF}"/>
              </a:ext>
            </a:extLst>
          </p:cNvPr>
          <p:cNvSpPr/>
          <p:nvPr/>
        </p:nvSpPr>
        <p:spPr>
          <a:xfrm>
            <a:off x="5074106" y="5478724"/>
            <a:ext cx="29340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Transferencia interna de recursos </a:t>
            </a:r>
            <a:r>
              <a:rPr lang="es-ES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a favor de los bienes importables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5CA2AF6D-FB00-45E4-AF47-0074DD8EB5D0}"/>
              </a:ext>
            </a:extLst>
          </p:cNvPr>
          <p:cNvCxnSpPr/>
          <p:nvPr/>
        </p:nvCxnSpPr>
        <p:spPr>
          <a:xfrm>
            <a:off x="4138002" y="3094822"/>
            <a:ext cx="0" cy="3214899"/>
          </a:xfrm>
          <a:prstGeom prst="line">
            <a:avLst/>
          </a:prstGeom>
          <a:ln w="571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10 Rectángulo redondeado">
            <a:extLst>
              <a:ext uri="{FF2B5EF4-FFF2-40B4-BE49-F238E27FC236}">
                <a16:creationId xmlns:a16="http://schemas.microsoft.com/office/drawing/2014/main" id="{412281AC-A2B7-403F-A966-F8B8CFF0BA7F}"/>
              </a:ext>
            </a:extLst>
          </p:cNvPr>
          <p:cNvSpPr/>
          <p:nvPr/>
        </p:nvSpPr>
        <p:spPr>
          <a:xfrm>
            <a:off x="1259632" y="3955092"/>
            <a:ext cx="2635990" cy="1469502"/>
          </a:xfrm>
          <a:prstGeom prst="roundRect">
            <a:avLst>
              <a:gd name="adj" fmla="val 10923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Medidas anticíclicas de los años ‘30</a:t>
            </a:r>
          </a:p>
          <a:p>
            <a:pPr algn="ctr"/>
            <a:endParaRPr lang="es-ES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Bloqueo relativo del comercio exterior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1456" t="2378" r="1456" b="842"/>
          <a:stretch/>
        </p:blipFill>
        <p:spPr>
          <a:xfrm>
            <a:off x="971600" y="1268760"/>
            <a:ext cx="7200800" cy="5328592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43D6BA6-7231-41BF-85E3-9E2FB3090629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COMERCIO EXTERIOR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60F6184-8C86-48A7-8174-9EA071737DDA}"/>
              </a:ext>
            </a:extLst>
          </p:cNvPr>
          <p:cNvSpPr/>
          <p:nvPr/>
        </p:nvSpPr>
        <p:spPr>
          <a:xfrm>
            <a:off x="6012160" y="3890760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</a:t>
            </a:r>
            <a:endParaRPr lang="es-AR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B65AA0D-18C7-49D3-8D2D-086BF5B737AC}"/>
              </a:ext>
            </a:extLst>
          </p:cNvPr>
          <p:cNvSpPr/>
          <p:nvPr/>
        </p:nvSpPr>
        <p:spPr>
          <a:xfrm>
            <a:off x="6425093" y="489790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</a:t>
            </a:r>
            <a:endParaRPr lang="es-AR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4D003B5-0A1E-458A-AC67-048C5A8BAC89}"/>
              </a:ext>
            </a:extLst>
          </p:cNvPr>
          <p:cNvSpPr/>
          <p:nvPr/>
        </p:nvSpPr>
        <p:spPr>
          <a:xfrm>
            <a:off x="5391648" y="1824042"/>
            <a:ext cx="2592288" cy="8134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AR" dirty="0"/>
          </a:p>
        </p:txBody>
      </p:sp>
      <p:sp>
        <p:nvSpPr>
          <p:cNvPr id="8" name="Elipse 7"/>
          <p:cNvSpPr/>
          <p:nvPr/>
        </p:nvSpPr>
        <p:spPr>
          <a:xfrm>
            <a:off x="3974245" y="2015802"/>
            <a:ext cx="1982795" cy="3704387"/>
          </a:xfrm>
          <a:prstGeom prst="ellipse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23 CuadroTexto">
            <a:extLst>
              <a:ext uri="{FF2B5EF4-FFF2-40B4-BE49-F238E27FC236}">
                <a16:creationId xmlns:a16="http://schemas.microsoft.com/office/drawing/2014/main" id="{8BB16766-0207-4CD7-B365-0146DD0441E6}"/>
              </a:ext>
            </a:extLst>
          </p:cNvPr>
          <p:cNvSpPr txBox="1"/>
          <p:nvPr/>
        </p:nvSpPr>
        <p:spPr>
          <a:xfrm>
            <a:off x="0" y="1084673"/>
            <a:ext cx="9144000" cy="4001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32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sz="2000" dirty="0"/>
              <a:t>Exportaciones e Importaciones (mil de US$)</a:t>
            </a:r>
          </a:p>
        </p:txBody>
      </p:sp>
      <p:sp>
        <p:nvSpPr>
          <p:cNvPr id="2" name="Estrella: 5 puntas 1">
            <a:extLst>
              <a:ext uri="{FF2B5EF4-FFF2-40B4-BE49-F238E27FC236}">
                <a16:creationId xmlns:a16="http://schemas.microsoft.com/office/drawing/2014/main" id="{DF5BE5D6-DA54-4999-B65F-30FFFA1FE1DC}"/>
              </a:ext>
            </a:extLst>
          </p:cNvPr>
          <p:cNvSpPr/>
          <p:nvPr/>
        </p:nvSpPr>
        <p:spPr>
          <a:xfrm>
            <a:off x="7524328" y="1824042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4194124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676" t="1493" r="1542" b="2985"/>
          <a:stretch/>
        </p:blipFill>
        <p:spPr>
          <a:xfrm>
            <a:off x="467544" y="1484784"/>
            <a:ext cx="8136904" cy="4608512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8B3BA40-3502-4847-A973-E9BF3FE43516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VARIACIÓN DE PRECIOS RELATIVOS</a:t>
            </a:r>
          </a:p>
        </p:txBody>
      </p:sp>
      <p:sp>
        <p:nvSpPr>
          <p:cNvPr id="11" name="23 CuadroTexto">
            <a:extLst>
              <a:ext uri="{FF2B5EF4-FFF2-40B4-BE49-F238E27FC236}">
                <a16:creationId xmlns:a16="http://schemas.microsoft.com/office/drawing/2014/main" id="{50030A67-9630-4F2D-AC57-FA628E030567}"/>
              </a:ext>
            </a:extLst>
          </p:cNvPr>
          <p:cNvSpPr txBox="1"/>
          <p:nvPr/>
        </p:nvSpPr>
        <p:spPr>
          <a:xfrm>
            <a:off x="0" y="1448780"/>
            <a:ext cx="9144000" cy="6840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32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sz="2000" dirty="0"/>
              <a:t>Relación de precios mayoristas</a:t>
            </a:r>
          </a:p>
          <a:p>
            <a:r>
              <a:rPr lang="es-AR" sz="2000" dirty="0"/>
              <a:t>No agropecuarios/Agropecuarios</a:t>
            </a:r>
          </a:p>
        </p:txBody>
      </p:sp>
      <p:sp>
        <p:nvSpPr>
          <p:cNvPr id="5" name="Estrella: 5 puntas 4">
            <a:extLst>
              <a:ext uri="{FF2B5EF4-FFF2-40B4-BE49-F238E27FC236}">
                <a16:creationId xmlns:a16="http://schemas.microsoft.com/office/drawing/2014/main" id="{21A58C4E-5655-4C83-9FD5-22D63C1AE257}"/>
              </a:ext>
            </a:extLst>
          </p:cNvPr>
          <p:cNvSpPr/>
          <p:nvPr/>
        </p:nvSpPr>
        <p:spPr>
          <a:xfrm>
            <a:off x="7524328" y="1824042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7509407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3038711-1A87-489E-ABBB-DF7C178971D1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PERO…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9B7AC1B-5F22-4760-B13E-CFAB69D0D8A1}"/>
              </a:ext>
            </a:extLst>
          </p:cNvPr>
          <p:cNvSpPr/>
          <p:nvPr/>
        </p:nvSpPr>
        <p:spPr>
          <a:xfrm>
            <a:off x="899592" y="2319261"/>
            <a:ext cx="7344816" cy="93610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Hechos, observados con más detalle</a:t>
            </a:r>
            <a:endParaRPr lang="es-ES" sz="28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E4E0870-DD60-4FC7-94AE-9460826B8373}"/>
              </a:ext>
            </a:extLst>
          </p:cNvPr>
          <p:cNvSpPr/>
          <p:nvPr/>
        </p:nvSpPr>
        <p:spPr>
          <a:xfrm>
            <a:off x="1295636" y="4149080"/>
            <a:ext cx="65527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INDUSTRIA 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 proceso de evolución 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s-ES" sz="20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Calibri" pitchFamily="34" charset="0"/>
              <a:cs typeface="Arial" panose="020B0604020202020204" pitchFamily="34" charset="0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Comienza desde mucho años antes del `30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/>
          <p:cNvSpPr/>
          <p:nvPr/>
        </p:nvSpPr>
        <p:spPr>
          <a:xfrm>
            <a:off x="256026" y="2472867"/>
            <a:ext cx="1578853" cy="1540315"/>
          </a:xfrm>
          <a:prstGeom prst="roundRect">
            <a:avLst>
              <a:gd name="adj" fmla="val 6868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AR"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Hasta </a:t>
            </a:r>
            <a:r>
              <a:rPr lang="es-US"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 Guerra </a:t>
            </a:r>
            <a:endParaRPr lang="es-ES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: esquinas redondeadas 7"/>
          <p:cNvSpPr/>
          <p:nvPr/>
        </p:nvSpPr>
        <p:spPr>
          <a:xfrm>
            <a:off x="251521" y="4095420"/>
            <a:ext cx="1578854" cy="2069884"/>
          </a:xfrm>
          <a:prstGeom prst="roundRect">
            <a:avLst>
              <a:gd name="adj" fmla="val 6781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5">
                    <a:lumMod val="50000"/>
                  </a:schemeClr>
                </a:solidFill>
              </a:rPr>
              <a:t>Industria incipiente de la mano del BPE</a:t>
            </a:r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353901A-7709-4D10-A379-2B3E3F4C0BC6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ENTONCES…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7EA0720-AEA6-486B-B42E-C574CF211DB6}"/>
              </a:ext>
            </a:extLst>
          </p:cNvPr>
          <p:cNvCxnSpPr>
            <a:cxnSpLocks/>
          </p:cNvCxnSpPr>
          <p:nvPr/>
        </p:nvCxnSpPr>
        <p:spPr>
          <a:xfrm>
            <a:off x="251520" y="1498530"/>
            <a:ext cx="7920880" cy="0"/>
          </a:xfrm>
          <a:prstGeom prst="line">
            <a:avLst/>
          </a:prstGeom>
          <a:ln w="762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A7AAF114-7FD0-4712-8BB8-94AF42A20D4A}"/>
              </a:ext>
            </a:extLst>
          </p:cNvPr>
          <p:cNvCxnSpPr/>
          <p:nvPr/>
        </p:nvCxnSpPr>
        <p:spPr>
          <a:xfrm>
            <a:off x="251520" y="1282506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777F824-7252-4FD6-AB9E-5804412AB1A1}"/>
              </a:ext>
            </a:extLst>
          </p:cNvPr>
          <p:cNvCxnSpPr/>
          <p:nvPr/>
        </p:nvCxnSpPr>
        <p:spPr>
          <a:xfrm>
            <a:off x="1834880" y="1282506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AE77D92-86E3-44BE-AEBE-04B14BB64C54}"/>
              </a:ext>
            </a:extLst>
          </p:cNvPr>
          <p:cNvSpPr txBox="1"/>
          <p:nvPr/>
        </p:nvSpPr>
        <p:spPr>
          <a:xfrm>
            <a:off x="1484041" y="175431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1914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EEF5DD67-DE1F-453B-A371-84DA38C1CCF1}"/>
              </a:ext>
            </a:extLst>
          </p:cNvPr>
          <p:cNvCxnSpPr/>
          <p:nvPr/>
        </p:nvCxnSpPr>
        <p:spPr>
          <a:xfrm>
            <a:off x="3401973" y="1282506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5B040A8-6CCF-416E-B223-A9DFD85F684B}"/>
              </a:ext>
            </a:extLst>
          </p:cNvPr>
          <p:cNvSpPr txBox="1"/>
          <p:nvPr/>
        </p:nvSpPr>
        <p:spPr>
          <a:xfrm>
            <a:off x="3053160" y="176352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1918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15C9841-EC0E-406F-9951-83FA6AE1D480}"/>
              </a:ext>
            </a:extLst>
          </p:cNvPr>
          <p:cNvCxnSpPr/>
          <p:nvPr/>
        </p:nvCxnSpPr>
        <p:spPr>
          <a:xfrm>
            <a:off x="4137110" y="1282506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8103456-318C-4980-8AFA-E2E683358CFD}"/>
              </a:ext>
            </a:extLst>
          </p:cNvPr>
          <p:cNvSpPr txBox="1"/>
          <p:nvPr/>
        </p:nvSpPr>
        <p:spPr>
          <a:xfrm>
            <a:off x="3788297" y="176352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1920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E59D45FB-D4CD-4C32-AC6F-5A52F1983A54}"/>
              </a:ext>
            </a:extLst>
          </p:cNvPr>
          <p:cNvCxnSpPr/>
          <p:nvPr/>
        </p:nvCxnSpPr>
        <p:spPr>
          <a:xfrm>
            <a:off x="6783757" y="1282506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F95BA25-0484-4809-B2A9-94CECA778A05}"/>
              </a:ext>
            </a:extLst>
          </p:cNvPr>
          <p:cNvSpPr txBox="1"/>
          <p:nvPr/>
        </p:nvSpPr>
        <p:spPr>
          <a:xfrm>
            <a:off x="6434944" y="1763524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1930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4BE34620-F0EA-45CE-AFE3-C917324BC99D}"/>
              </a:ext>
            </a:extLst>
          </p:cNvPr>
          <p:cNvCxnSpPr>
            <a:cxnSpLocks/>
          </p:cNvCxnSpPr>
          <p:nvPr/>
        </p:nvCxnSpPr>
        <p:spPr>
          <a:xfrm>
            <a:off x="7839342" y="1501229"/>
            <a:ext cx="927501" cy="0"/>
          </a:xfrm>
          <a:prstGeom prst="line">
            <a:avLst/>
          </a:prstGeom>
          <a:ln w="76200">
            <a:solidFill>
              <a:schemeClr val="accent5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56260023-C4E9-4B21-A1D4-B0D752922646}"/>
              </a:ext>
            </a:extLst>
          </p:cNvPr>
          <p:cNvSpPr/>
          <p:nvPr/>
        </p:nvSpPr>
        <p:spPr>
          <a:xfrm>
            <a:off x="1887259" y="2472866"/>
            <a:ext cx="1929085" cy="1540314"/>
          </a:xfrm>
          <a:prstGeom prst="roundRect">
            <a:avLst>
              <a:gd name="adj" fmla="val 6868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 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Guerra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0E425008-E578-4DD9-ABD6-DA413D0E4EDB}"/>
              </a:ext>
            </a:extLst>
          </p:cNvPr>
          <p:cNvSpPr/>
          <p:nvPr/>
        </p:nvSpPr>
        <p:spPr>
          <a:xfrm>
            <a:off x="3890787" y="2472866"/>
            <a:ext cx="2834597" cy="1540314"/>
          </a:xfrm>
          <a:prstGeom prst="roundRect">
            <a:avLst>
              <a:gd name="adj" fmla="val 6868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Años ‘20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0D0EF42B-2389-4B3A-A562-0C03EE69378B}"/>
              </a:ext>
            </a:extLst>
          </p:cNvPr>
          <p:cNvSpPr/>
          <p:nvPr/>
        </p:nvSpPr>
        <p:spPr>
          <a:xfrm>
            <a:off x="6797798" y="2472866"/>
            <a:ext cx="2090176" cy="1540314"/>
          </a:xfrm>
          <a:prstGeom prst="roundRect">
            <a:avLst>
              <a:gd name="adj" fmla="val 6868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Años ‘30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4B677C62-3DCF-4C93-AC9D-501C9B57194B}"/>
              </a:ext>
            </a:extLst>
          </p:cNvPr>
          <p:cNvSpPr/>
          <p:nvPr/>
        </p:nvSpPr>
        <p:spPr>
          <a:xfrm>
            <a:off x="1887259" y="4095420"/>
            <a:ext cx="1929084" cy="2069884"/>
          </a:xfrm>
          <a:prstGeom prst="roundRect">
            <a:avLst>
              <a:gd name="adj" fmla="val 499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5">
                    <a:lumMod val="50000"/>
                  </a:schemeClr>
                </a:solidFill>
              </a:rPr>
              <a:t>La limitación externa incentiva industria</a:t>
            </a: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37ED1389-8BBF-44CB-9218-82E926D7444B}"/>
              </a:ext>
            </a:extLst>
          </p:cNvPr>
          <p:cNvSpPr/>
          <p:nvPr/>
        </p:nvSpPr>
        <p:spPr>
          <a:xfrm>
            <a:off x="3892440" y="4095420"/>
            <a:ext cx="2832943" cy="2069884"/>
          </a:xfrm>
          <a:prstGeom prst="roundRect">
            <a:avLst>
              <a:gd name="adj" fmla="val 499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Despegue de la industria de la mano del “mercado”.</a:t>
            </a:r>
          </a:p>
          <a:p>
            <a:pPr algn="ctr"/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Primero oferta, luego demanda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93D567D9-7C8E-4122-A2BB-5570CDC65873}"/>
              </a:ext>
            </a:extLst>
          </p:cNvPr>
          <p:cNvSpPr/>
          <p:nvPr/>
        </p:nvSpPr>
        <p:spPr>
          <a:xfrm>
            <a:off x="6808062" y="4095420"/>
            <a:ext cx="2090176" cy="2069884"/>
          </a:xfrm>
          <a:prstGeom prst="roundRect">
            <a:avLst>
              <a:gd name="adj" fmla="val 499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Continuidad de la industria por las medidas paliativas de la Gran Depresión</a:t>
            </a:r>
          </a:p>
        </p:txBody>
      </p:sp>
      <p:sp>
        <p:nvSpPr>
          <p:cNvPr id="32" name="Estrella: 5 puntas 31">
            <a:extLst>
              <a:ext uri="{FF2B5EF4-FFF2-40B4-BE49-F238E27FC236}">
                <a16:creationId xmlns:a16="http://schemas.microsoft.com/office/drawing/2014/main" id="{28F04CB3-C9D0-4575-A26D-76EDE85F078F}"/>
              </a:ext>
            </a:extLst>
          </p:cNvPr>
          <p:cNvSpPr/>
          <p:nvPr/>
        </p:nvSpPr>
        <p:spPr>
          <a:xfrm>
            <a:off x="7715200" y="37197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8685172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B7850FB4-B90D-4424-B661-1009895C272C}"/>
              </a:ext>
            </a:extLst>
          </p:cNvPr>
          <p:cNvSpPr/>
          <p:nvPr/>
        </p:nvSpPr>
        <p:spPr>
          <a:xfrm>
            <a:off x="935596" y="2834934"/>
            <a:ext cx="7272808" cy="118813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ALGUNOS DATOS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B2B2E30-522C-4410-ADBB-00D94EC7F54F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 DE LOS ‘20 Y ‘30</a:t>
            </a:r>
          </a:p>
        </p:txBody>
      </p:sp>
    </p:spTree>
    <p:extLst>
      <p:ext uri="{BB962C8B-B14F-4D97-AF65-F5344CB8AC3E}">
        <p14:creationId xmlns:p14="http://schemas.microsoft.com/office/powerpoint/2010/main" val="3534840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5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1604" r="3784"/>
          <a:stretch>
            <a:fillRect/>
          </a:stretch>
        </p:blipFill>
        <p:spPr bwMode="auto">
          <a:xfrm>
            <a:off x="2617315" y="715600"/>
            <a:ext cx="6194781" cy="5449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4F15904-F83E-4333-BAE1-2F6D2E8D3112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 DE CRECIMIENTO INDUSTRIAL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F907427-26CD-4F55-85ED-85107F25E369}"/>
              </a:ext>
            </a:extLst>
          </p:cNvPr>
          <p:cNvSpPr/>
          <p:nvPr/>
        </p:nvSpPr>
        <p:spPr>
          <a:xfrm>
            <a:off x="-199353" y="748621"/>
            <a:ext cx="293702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s-AR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Tasa de crecimiento 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s-AR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Promedio Anual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pt-BR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1909-19: 3%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1919-29: 7%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pt-BR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1929-39: 3%</a:t>
            </a:r>
            <a:endParaRPr lang="es-ES" sz="20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Calibri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681FC129-6921-4EFC-B997-417977785D0D}"/>
              </a:ext>
            </a:extLst>
          </p:cNvPr>
          <p:cNvCxnSpPr/>
          <p:nvPr/>
        </p:nvCxnSpPr>
        <p:spPr>
          <a:xfrm>
            <a:off x="2223872" y="3207871"/>
            <a:ext cx="3024336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89B5D74F-7162-4691-AB2E-F6DC1FA7ACE8}"/>
              </a:ext>
            </a:extLst>
          </p:cNvPr>
          <p:cNvCxnSpPr/>
          <p:nvPr/>
        </p:nvCxnSpPr>
        <p:spPr>
          <a:xfrm>
            <a:off x="2228879" y="5085184"/>
            <a:ext cx="3024336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B85C0928-C295-4D7F-8D5A-BCA60B861D06}"/>
              </a:ext>
            </a:extLst>
          </p:cNvPr>
          <p:cNvCxnSpPr/>
          <p:nvPr/>
        </p:nvCxnSpPr>
        <p:spPr>
          <a:xfrm>
            <a:off x="2727928" y="4898964"/>
            <a:ext cx="3024336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50FA0DD-1494-45FB-8D07-88933AB2F1B6}"/>
              </a:ext>
            </a:extLst>
          </p:cNvPr>
          <p:cNvCxnSpPr/>
          <p:nvPr/>
        </p:nvCxnSpPr>
        <p:spPr>
          <a:xfrm>
            <a:off x="6012160" y="2708920"/>
            <a:ext cx="3024336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1263B6E5-6D1E-4A7E-AC30-C0E6D1A0291E}"/>
              </a:ext>
            </a:extLst>
          </p:cNvPr>
          <p:cNvCxnSpPr/>
          <p:nvPr/>
        </p:nvCxnSpPr>
        <p:spPr>
          <a:xfrm>
            <a:off x="5536240" y="2535100"/>
            <a:ext cx="3024336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FB90702-7FD3-4816-822F-2833B92C775F}"/>
              </a:ext>
            </a:extLst>
          </p:cNvPr>
          <p:cNvCxnSpPr/>
          <p:nvPr/>
        </p:nvCxnSpPr>
        <p:spPr>
          <a:xfrm>
            <a:off x="5536240" y="4408976"/>
            <a:ext cx="3024336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B475455-269A-40F1-85EA-EFDC4FEE6246}"/>
              </a:ext>
            </a:extLst>
          </p:cNvPr>
          <p:cNvCxnSpPr/>
          <p:nvPr/>
        </p:nvCxnSpPr>
        <p:spPr>
          <a:xfrm>
            <a:off x="2223872" y="3172455"/>
            <a:ext cx="0" cy="1912729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E4B7B632-C7AD-4EE2-BB08-1D3158795369}"/>
              </a:ext>
            </a:extLst>
          </p:cNvPr>
          <p:cNvCxnSpPr>
            <a:cxnSpLocks/>
          </p:cNvCxnSpPr>
          <p:nvPr/>
        </p:nvCxnSpPr>
        <p:spPr>
          <a:xfrm>
            <a:off x="5536240" y="2535100"/>
            <a:ext cx="0" cy="187387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F9A1D7A9-9059-4397-B7BE-C8258C33C6E8}"/>
              </a:ext>
            </a:extLst>
          </p:cNvPr>
          <p:cNvCxnSpPr>
            <a:cxnSpLocks/>
          </p:cNvCxnSpPr>
          <p:nvPr/>
        </p:nvCxnSpPr>
        <p:spPr>
          <a:xfrm>
            <a:off x="5724128" y="4884896"/>
            <a:ext cx="0" cy="97830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162851BE-30EB-4D6F-82BB-FDBBC55BACDE}"/>
              </a:ext>
            </a:extLst>
          </p:cNvPr>
          <p:cNvCxnSpPr>
            <a:cxnSpLocks/>
          </p:cNvCxnSpPr>
          <p:nvPr/>
        </p:nvCxnSpPr>
        <p:spPr>
          <a:xfrm>
            <a:off x="8994292" y="1758748"/>
            <a:ext cx="0" cy="97830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trella: 5 puntas 14">
            <a:extLst>
              <a:ext uri="{FF2B5EF4-FFF2-40B4-BE49-F238E27FC236}">
                <a16:creationId xmlns:a16="http://schemas.microsoft.com/office/drawing/2014/main" id="{5F4CA7A5-4ABB-4EE3-860F-45BA89E8EA57}"/>
              </a:ext>
            </a:extLst>
          </p:cNvPr>
          <p:cNvSpPr/>
          <p:nvPr/>
        </p:nvSpPr>
        <p:spPr>
          <a:xfrm>
            <a:off x="614313" y="2730624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35496" y="725201"/>
            <a:ext cx="6480720" cy="588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7 Rectángulo"/>
          <p:cNvSpPr/>
          <p:nvPr/>
        </p:nvSpPr>
        <p:spPr>
          <a:xfrm>
            <a:off x="6516218" y="1878574"/>
            <a:ext cx="2448272" cy="174541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tasas de crecimiento del sector </a:t>
            </a:r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no muestran que en los ’30 </a:t>
            </a:r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produjera una discontinuidad en el pasado.</a:t>
            </a:r>
            <a:endParaRPr lang="es-ES" sz="1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5 Rectángulo redondeado"/>
          <p:cNvSpPr/>
          <p:nvPr/>
        </p:nvSpPr>
        <p:spPr>
          <a:xfrm>
            <a:off x="6516221" y="4881873"/>
            <a:ext cx="2448267" cy="1161143"/>
          </a:xfrm>
          <a:prstGeom prst="roundRect">
            <a:avLst>
              <a:gd name="adj" fmla="val 11748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'30 son una continuidad de los '20</a:t>
            </a:r>
            <a:endParaRPr lang="es-ES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rma libre: forma 2"/>
          <p:cNvSpPr/>
          <p:nvPr/>
        </p:nvSpPr>
        <p:spPr>
          <a:xfrm>
            <a:off x="2267744" y="3454139"/>
            <a:ext cx="3425371" cy="1161143"/>
          </a:xfrm>
          <a:custGeom>
            <a:avLst/>
            <a:gdLst>
              <a:gd name="connsiteX0" fmla="*/ 0 w 3425371"/>
              <a:gd name="connsiteY0" fmla="*/ 1161143 h 1161143"/>
              <a:gd name="connsiteX1" fmla="*/ 899885 w 3425371"/>
              <a:gd name="connsiteY1" fmla="*/ 841828 h 1161143"/>
              <a:gd name="connsiteX2" fmla="*/ 1799771 w 3425371"/>
              <a:gd name="connsiteY2" fmla="*/ 537028 h 1161143"/>
              <a:gd name="connsiteX3" fmla="*/ 2815771 w 3425371"/>
              <a:gd name="connsiteY3" fmla="*/ 232228 h 1161143"/>
              <a:gd name="connsiteX4" fmla="*/ 3425371 w 3425371"/>
              <a:gd name="connsiteY4" fmla="*/ 0 h 116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5371" h="1161143">
                <a:moveTo>
                  <a:pt x="0" y="1161143"/>
                </a:moveTo>
                <a:lnTo>
                  <a:pt x="899885" y="841828"/>
                </a:lnTo>
                <a:cubicBezTo>
                  <a:pt x="1199847" y="737809"/>
                  <a:pt x="1480457" y="638628"/>
                  <a:pt x="1799771" y="537028"/>
                </a:cubicBezTo>
                <a:cubicBezTo>
                  <a:pt x="2119085" y="435428"/>
                  <a:pt x="2544838" y="321733"/>
                  <a:pt x="2815771" y="232228"/>
                </a:cubicBezTo>
                <a:cubicBezTo>
                  <a:pt x="3086704" y="142723"/>
                  <a:pt x="3256037" y="71361"/>
                  <a:pt x="3425371" y="0"/>
                </a:cubicBezTo>
              </a:path>
            </a:pathLst>
          </a:custGeom>
          <a:noFill/>
          <a:ln w="38100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A1512CB-1049-4AA1-A7F8-CD367A1D5A8A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 DE CRECIMIENTO INDUSTRIAL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C01677D4-CEF2-4C63-9A3B-427F50549973}"/>
              </a:ext>
            </a:extLst>
          </p:cNvPr>
          <p:cNvCxnSpPr/>
          <p:nvPr/>
        </p:nvCxnSpPr>
        <p:spPr>
          <a:xfrm flipV="1">
            <a:off x="4357644" y="1700808"/>
            <a:ext cx="0" cy="4608512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BBBBA36B-6EFC-4020-9E8B-C8B311B6F13E}"/>
              </a:ext>
            </a:extLst>
          </p:cNvPr>
          <p:cNvCxnSpPr/>
          <p:nvPr/>
        </p:nvCxnSpPr>
        <p:spPr>
          <a:xfrm flipV="1">
            <a:off x="3017628" y="1730455"/>
            <a:ext cx="0" cy="4608512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>
            <a:spLocks noChangeArrowheads="1"/>
          </p:cNvSpPr>
          <p:nvPr/>
        </p:nvSpPr>
        <p:spPr bwMode="auto">
          <a:xfrm>
            <a:off x="0" y="6482278"/>
            <a:ext cx="91440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AR" sz="1400" b="1" i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Único cambio sustancial en los treinta </a:t>
            </a:r>
            <a:r>
              <a:rPr lang="es-AR" sz="1400" b="1" i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AR" sz="1400" b="1" i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 expansión de la producción de textiles.   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648759" y="1124744"/>
            <a:ext cx="7874613" cy="108012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Cambios en la composición </a:t>
            </a:r>
          </a:p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producto manufacturero de los ’20 a los ‘30</a:t>
            </a:r>
            <a:endParaRPr lang="es-ES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BD611A3-2F91-46E2-89BB-FA7BDDAA991C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 DE CRECIMIENTO INDUSTRIAL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A5AA927-1CB8-4FE4-BF48-4A93A11B8181}"/>
              </a:ext>
            </a:extLst>
          </p:cNvPr>
          <p:cNvSpPr/>
          <p:nvPr/>
        </p:nvSpPr>
        <p:spPr>
          <a:xfrm>
            <a:off x="648760" y="2454858"/>
            <a:ext cx="7874613" cy="809458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Tendencia a </a:t>
            </a:r>
            <a:r>
              <a:rPr lang="es-E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declinar</a:t>
            </a:r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 participación en el producto industrial de ramas como alimentos y bebidas, calzado e indumentaria, maderas, cueros, y minerales no metálicos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A840A8DA-456B-4CB2-9367-A0F0D1E6EE9E}"/>
              </a:ext>
            </a:extLst>
          </p:cNvPr>
          <p:cNvSpPr/>
          <p:nvPr/>
        </p:nvSpPr>
        <p:spPr>
          <a:xfrm>
            <a:off x="648762" y="4286206"/>
            <a:ext cx="7874613" cy="809458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ramas del papel e imprenta y publicaciones, después de haber expandido su participación en la década del veinte, tienden a </a:t>
            </a:r>
            <a:r>
              <a:rPr lang="es-E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declinar</a:t>
            </a:r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la década del  treinta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FA06E98-65CB-44BA-A0CA-B04A42D670A1}"/>
              </a:ext>
            </a:extLst>
          </p:cNvPr>
          <p:cNvSpPr/>
          <p:nvPr/>
        </p:nvSpPr>
        <p:spPr>
          <a:xfrm>
            <a:off x="649721" y="3370532"/>
            <a:ext cx="7874613" cy="809458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ramas de productos químicos y petróleo </a:t>
            </a:r>
            <a:r>
              <a:rPr lang="es-E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expanden</a:t>
            </a:r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 participación lentamente siguiendo una tendencia ya instaurada desde antes en el sector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A1A35253-8C6E-4DE7-92BB-F153F182D4E5}"/>
              </a:ext>
            </a:extLst>
          </p:cNvPr>
          <p:cNvSpPr/>
          <p:nvPr/>
        </p:nvSpPr>
        <p:spPr>
          <a:xfrm>
            <a:off x="648761" y="5201880"/>
            <a:ext cx="7874613" cy="809458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única ramas que ofrecen sustento a la idea de un </a:t>
            </a:r>
            <a:r>
              <a:rPr lang="es-E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cierto “despegue” </a:t>
            </a:r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la </a:t>
            </a:r>
            <a:r>
              <a:rPr lang="es-E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década del treinta </a:t>
            </a:r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 las de productos metálicos y la de los textiles, especialmente esta última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1C36280F-5736-4565-91CB-9E26EEB04C50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 DE CRECIMIENTO INDUSTRIAL</a:t>
            </a:r>
          </a:p>
        </p:txBody>
      </p:sp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5828A02D-BE4A-4BF8-869D-51892D63A5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2564597"/>
              </p:ext>
            </p:extLst>
          </p:nvPr>
        </p:nvGraphicFramePr>
        <p:xfrm>
          <a:off x="2286000" y="385415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6032F781-5525-4D64-B1FA-4605BD0234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3104238"/>
              </p:ext>
            </p:extLst>
          </p:nvPr>
        </p:nvGraphicFramePr>
        <p:xfrm>
          <a:off x="4572000" y="83617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Gráfico 16">
            <a:extLst>
              <a:ext uri="{FF2B5EF4-FFF2-40B4-BE49-F238E27FC236}">
                <a16:creationId xmlns:a16="http://schemas.microsoft.com/office/drawing/2014/main" id="{7B214DE1-772B-4DCA-A5FC-B4D45E4824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149524"/>
              </p:ext>
            </p:extLst>
          </p:nvPr>
        </p:nvGraphicFramePr>
        <p:xfrm>
          <a:off x="0" y="85674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66168548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1C36280F-5736-4565-91CB-9E26EEB04C50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 DE CRECIMIENTO INDUSTRIAL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60406275-5E7A-46F3-9F5E-1AF866A913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9464540"/>
              </p:ext>
            </p:extLst>
          </p:nvPr>
        </p:nvGraphicFramePr>
        <p:xfrm>
          <a:off x="3586" y="98225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EF271C35-603F-4386-B333-A7F4AD6B6A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0335753"/>
              </p:ext>
            </p:extLst>
          </p:nvPr>
        </p:nvGraphicFramePr>
        <p:xfrm>
          <a:off x="4427984" y="100114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EBD07DF4-19E5-42EE-977D-1470FA2443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3175496"/>
              </p:ext>
            </p:extLst>
          </p:nvPr>
        </p:nvGraphicFramePr>
        <p:xfrm>
          <a:off x="2286000" y="378214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772040397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C642B565-9EA6-4864-8304-89AD51DFF76F}"/>
              </a:ext>
            </a:extLst>
          </p:cNvPr>
          <p:cNvSpPr/>
          <p:nvPr/>
        </p:nvSpPr>
        <p:spPr>
          <a:xfrm>
            <a:off x="724996" y="2507850"/>
            <a:ext cx="7677496" cy="102756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AEDC4EF1-B0E5-4794-9CAD-2ED8DC08ACEA}"/>
              </a:ext>
            </a:extLst>
          </p:cNvPr>
          <p:cNvSpPr/>
          <p:nvPr/>
        </p:nvSpPr>
        <p:spPr>
          <a:xfrm>
            <a:off x="733252" y="1425159"/>
            <a:ext cx="7677496" cy="102756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7 Rectángulo"/>
          <p:cNvSpPr/>
          <p:nvPr/>
        </p:nvSpPr>
        <p:spPr>
          <a:xfrm>
            <a:off x="733252" y="836712"/>
            <a:ext cx="4000528" cy="4749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Censo Industrial de 1935</a:t>
            </a:r>
            <a:endParaRPr lang="es-ES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A0A3366-ED5F-47C0-BDD5-3A34FD5AD0A6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 DE CRECIMIENTO INDUSTRIAL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E46D678A-0503-42BE-A64B-95953E2FFFDD}"/>
              </a:ext>
            </a:extLst>
          </p:cNvPr>
          <p:cNvSpPr/>
          <p:nvPr/>
        </p:nvSpPr>
        <p:spPr>
          <a:xfrm>
            <a:off x="733252" y="1481431"/>
            <a:ext cx="909790" cy="90979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78%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52F9746-C949-4A36-9758-C29CC63CC171}"/>
              </a:ext>
            </a:extLst>
          </p:cNvPr>
          <p:cNvSpPr/>
          <p:nvPr/>
        </p:nvSpPr>
        <p:spPr>
          <a:xfrm>
            <a:off x="2592270" y="1800882"/>
            <a:ext cx="16417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PRODUCCIÓN </a:t>
            </a:r>
          </a:p>
          <a:p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INDUSTRIAL</a:t>
            </a:r>
            <a:endParaRPr lang="es-AR" sz="1600" b="1" dirty="0"/>
          </a:p>
        </p:txBody>
      </p:sp>
      <p:pic>
        <p:nvPicPr>
          <p:cNvPr id="15" name="Gráfico 14" descr="Fábrica">
            <a:extLst>
              <a:ext uri="{FF2B5EF4-FFF2-40B4-BE49-F238E27FC236}">
                <a16:creationId xmlns:a16="http://schemas.microsoft.com/office/drawing/2014/main" id="{CB6782C9-31DE-43CF-9DF5-1B93D31573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8814" y="1499027"/>
            <a:ext cx="914400" cy="914400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D6B5F9EC-D4D1-4FDE-A096-26950ED3E84D}"/>
              </a:ext>
            </a:extLst>
          </p:cNvPr>
          <p:cNvSpPr/>
          <p:nvPr/>
        </p:nvSpPr>
        <p:spPr>
          <a:xfrm>
            <a:off x="5573866" y="1786284"/>
            <a:ext cx="245451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Firmas establecidas </a:t>
            </a:r>
          </a:p>
          <a:p>
            <a:r>
              <a:rPr lang="es-AR" b="1" i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antes</a:t>
            </a:r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1930</a:t>
            </a:r>
            <a:endParaRPr lang="es-AR" dirty="0"/>
          </a:p>
        </p:txBody>
      </p:sp>
      <p:pic>
        <p:nvPicPr>
          <p:cNvPr id="18" name="Gráfico 17" descr="Contrato">
            <a:extLst>
              <a:ext uri="{FF2B5EF4-FFF2-40B4-BE49-F238E27FC236}">
                <a16:creationId xmlns:a16="http://schemas.microsoft.com/office/drawing/2014/main" id="{9E6D4CF9-5AF8-4FC3-9DD8-A91015080C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0460" y="1499027"/>
            <a:ext cx="914400" cy="914400"/>
          </a:xfrm>
          <a:prstGeom prst="rect">
            <a:avLst/>
          </a:prstGeom>
        </p:spPr>
      </p:pic>
      <p:sp>
        <p:nvSpPr>
          <p:cNvPr id="19" name="Elipse 18">
            <a:extLst>
              <a:ext uri="{FF2B5EF4-FFF2-40B4-BE49-F238E27FC236}">
                <a16:creationId xmlns:a16="http://schemas.microsoft.com/office/drawing/2014/main" id="{E7CEE727-FC2C-4667-811B-7C17356165FE}"/>
              </a:ext>
            </a:extLst>
          </p:cNvPr>
          <p:cNvSpPr/>
          <p:nvPr/>
        </p:nvSpPr>
        <p:spPr>
          <a:xfrm>
            <a:off x="733252" y="2549344"/>
            <a:ext cx="909790" cy="90979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66%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30D114B-17F7-40E4-83D8-D26679B84416}"/>
              </a:ext>
            </a:extLst>
          </p:cNvPr>
          <p:cNvSpPr/>
          <p:nvPr/>
        </p:nvSpPr>
        <p:spPr>
          <a:xfrm>
            <a:off x="2592270" y="2868795"/>
            <a:ext cx="23169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ESTABLECIMIENTOS </a:t>
            </a:r>
          </a:p>
          <a:p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INDUSTRIALES</a:t>
            </a:r>
            <a:endParaRPr lang="es-AR" sz="1600" b="1" dirty="0"/>
          </a:p>
        </p:txBody>
      </p:sp>
      <p:pic>
        <p:nvPicPr>
          <p:cNvPr id="21" name="Gráfico 20" descr="Fábrica">
            <a:extLst>
              <a:ext uri="{FF2B5EF4-FFF2-40B4-BE49-F238E27FC236}">
                <a16:creationId xmlns:a16="http://schemas.microsoft.com/office/drawing/2014/main" id="{CC73D6BD-DB40-4837-A730-9E6E9B6EAA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8814" y="2566940"/>
            <a:ext cx="914400" cy="914400"/>
          </a:xfrm>
          <a:prstGeom prst="rect">
            <a:avLst/>
          </a:prstGeom>
        </p:spPr>
      </p:pic>
      <p:sp>
        <p:nvSpPr>
          <p:cNvPr id="22" name="Rectángulo 21">
            <a:extLst>
              <a:ext uri="{FF2B5EF4-FFF2-40B4-BE49-F238E27FC236}">
                <a16:creationId xmlns:a16="http://schemas.microsoft.com/office/drawing/2014/main" id="{E154C6CD-FEE6-4B26-AE18-17FD8E4477ED}"/>
              </a:ext>
            </a:extLst>
          </p:cNvPr>
          <p:cNvSpPr/>
          <p:nvPr/>
        </p:nvSpPr>
        <p:spPr>
          <a:xfrm>
            <a:off x="5573866" y="2854197"/>
            <a:ext cx="16979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Fundados</a:t>
            </a:r>
          </a:p>
          <a:p>
            <a:r>
              <a:rPr lang="es-AR" b="1" i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antes</a:t>
            </a:r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1930</a:t>
            </a:r>
            <a:endParaRPr lang="es-AR" dirty="0"/>
          </a:p>
        </p:txBody>
      </p:sp>
      <p:pic>
        <p:nvPicPr>
          <p:cNvPr id="23" name="Gráfico 22" descr="Contrato">
            <a:extLst>
              <a:ext uri="{FF2B5EF4-FFF2-40B4-BE49-F238E27FC236}">
                <a16:creationId xmlns:a16="http://schemas.microsoft.com/office/drawing/2014/main" id="{6F680272-0ED1-42AA-9206-D9CC002247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0460" y="2566940"/>
            <a:ext cx="914400" cy="914400"/>
          </a:xfrm>
          <a:prstGeom prst="rect">
            <a:avLst/>
          </a:prstGeom>
        </p:spPr>
      </p:pic>
      <p:sp>
        <p:nvSpPr>
          <p:cNvPr id="26" name="7 Rectángulo">
            <a:extLst>
              <a:ext uri="{FF2B5EF4-FFF2-40B4-BE49-F238E27FC236}">
                <a16:creationId xmlns:a16="http://schemas.microsoft.com/office/drawing/2014/main" id="{AEF850B0-88B7-482D-9E43-10BE92D04CD0}"/>
              </a:ext>
            </a:extLst>
          </p:cNvPr>
          <p:cNvSpPr/>
          <p:nvPr/>
        </p:nvSpPr>
        <p:spPr>
          <a:xfrm>
            <a:off x="733252" y="3937461"/>
            <a:ext cx="4000528" cy="4749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Censo de 1946</a:t>
            </a:r>
            <a:endParaRPr lang="es-ES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9F573022-7A2C-42CD-B61B-0A09B340AD71}"/>
              </a:ext>
            </a:extLst>
          </p:cNvPr>
          <p:cNvSpPr/>
          <p:nvPr/>
        </p:nvSpPr>
        <p:spPr>
          <a:xfrm>
            <a:off x="733252" y="4477292"/>
            <a:ext cx="7677496" cy="102756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22BAFB29-2C8D-4F0A-AF57-FCD42E422817}"/>
              </a:ext>
            </a:extLst>
          </p:cNvPr>
          <p:cNvSpPr/>
          <p:nvPr/>
        </p:nvSpPr>
        <p:spPr>
          <a:xfrm>
            <a:off x="733252" y="4533564"/>
            <a:ext cx="909790" cy="90979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60%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4D03A0A-9F54-44F9-BD3D-3B1BA4029A79}"/>
              </a:ext>
            </a:extLst>
          </p:cNvPr>
          <p:cNvSpPr/>
          <p:nvPr/>
        </p:nvSpPr>
        <p:spPr>
          <a:xfrm>
            <a:off x="2592270" y="4853015"/>
            <a:ext cx="16417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PRODUCCIÓN </a:t>
            </a:r>
          </a:p>
          <a:p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INDUSTRIAL</a:t>
            </a:r>
            <a:endParaRPr lang="es-AR" sz="1600" b="1" dirty="0"/>
          </a:p>
        </p:txBody>
      </p:sp>
      <p:pic>
        <p:nvPicPr>
          <p:cNvPr id="30" name="Gráfico 29" descr="Fábrica">
            <a:extLst>
              <a:ext uri="{FF2B5EF4-FFF2-40B4-BE49-F238E27FC236}">
                <a16:creationId xmlns:a16="http://schemas.microsoft.com/office/drawing/2014/main" id="{71F14352-7F3D-42F3-BA81-5B31AD702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8814" y="4551160"/>
            <a:ext cx="914400" cy="914400"/>
          </a:xfrm>
          <a:prstGeom prst="rect">
            <a:avLst/>
          </a:prstGeo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EBCD741E-6C81-4EAB-BE59-CDD00FA57B33}"/>
              </a:ext>
            </a:extLst>
          </p:cNvPr>
          <p:cNvSpPr/>
          <p:nvPr/>
        </p:nvSpPr>
        <p:spPr>
          <a:xfrm>
            <a:off x="5573866" y="4838417"/>
            <a:ext cx="245451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Firmas establecidas </a:t>
            </a:r>
          </a:p>
          <a:p>
            <a:r>
              <a:rPr lang="es-AR" b="1" i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antes</a:t>
            </a:r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1930</a:t>
            </a:r>
            <a:endParaRPr lang="es-AR" dirty="0"/>
          </a:p>
        </p:txBody>
      </p:sp>
      <p:pic>
        <p:nvPicPr>
          <p:cNvPr id="32" name="Gráfico 31" descr="Contrato">
            <a:extLst>
              <a:ext uri="{FF2B5EF4-FFF2-40B4-BE49-F238E27FC236}">
                <a16:creationId xmlns:a16="http://schemas.microsoft.com/office/drawing/2014/main" id="{112F87E9-1651-42C3-86C9-CA198610F3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0460" y="4551160"/>
            <a:ext cx="914400" cy="914400"/>
          </a:xfrm>
          <a:prstGeom prst="rect">
            <a:avLst/>
          </a:prstGeom>
        </p:spPr>
      </p:pic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595107CA-6119-4F44-AA5C-9EDF3DB82E11}"/>
              </a:ext>
            </a:extLst>
          </p:cNvPr>
          <p:cNvSpPr/>
          <p:nvPr/>
        </p:nvSpPr>
        <p:spPr>
          <a:xfrm>
            <a:off x="733252" y="5569783"/>
            <a:ext cx="7677496" cy="102756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13C67CFD-707E-4742-8017-9EC0EAA1BFD4}"/>
              </a:ext>
            </a:extLst>
          </p:cNvPr>
          <p:cNvSpPr/>
          <p:nvPr/>
        </p:nvSpPr>
        <p:spPr>
          <a:xfrm>
            <a:off x="733252" y="5626055"/>
            <a:ext cx="1095562" cy="90979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9.943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24320ECC-8C10-42FA-8901-C17D4D7C6484}"/>
              </a:ext>
            </a:extLst>
          </p:cNvPr>
          <p:cNvSpPr/>
          <p:nvPr/>
        </p:nvSpPr>
        <p:spPr>
          <a:xfrm>
            <a:off x="2527144" y="5945506"/>
            <a:ext cx="20541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EMPRESAS DE LA </a:t>
            </a:r>
          </a:p>
          <a:p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“CEPA” 1926/30</a:t>
            </a:r>
            <a:endParaRPr lang="es-AR" sz="1600" b="1" dirty="0"/>
          </a:p>
        </p:txBody>
      </p:sp>
      <p:pic>
        <p:nvPicPr>
          <p:cNvPr id="36" name="Gráfico 35" descr="Fábrica">
            <a:extLst>
              <a:ext uri="{FF2B5EF4-FFF2-40B4-BE49-F238E27FC236}">
                <a16:creationId xmlns:a16="http://schemas.microsoft.com/office/drawing/2014/main" id="{06B397C4-AA90-4D4C-A2AC-F12F91AF0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3688" y="5643651"/>
            <a:ext cx="914400" cy="914400"/>
          </a:xfrm>
          <a:prstGeom prst="rect">
            <a:avLst/>
          </a:prstGeom>
        </p:spPr>
      </p:pic>
      <p:sp>
        <p:nvSpPr>
          <p:cNvPr id="41" name="Elipse 40">
            <a:extLst>
              <a:ext uri="{FF2B5EF4-FFF2-40B4-BE49-F238E27FC236}">
                <a16:creationId xmlns:a16="http://schemas.microsoft.com/office/drawing/2014/main" id="{325D9799-A5F5-4BF9-9A39-E35EE9336871}"/>
              </a:ext>
            </a:extLst>
          </p:cNvPr>
          <p:cNvSpPr/>
          <p:nvPr/>
        </p:nvSpPr>
        <p:spPr>
          <a:xfrm>
            <a:off x="4700574" y="5621799"/>
            <a:ext cx="1095562" cy="90979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9.962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7BA5817B-888E-44C8-9365-5799DC30C38F}"/>
              </a:ext>
            </a:extLst>
          </p:cNvPr>
          <p:cNvSpPr/>
          <p:nvPr/>
        </p:nvSpPr>
        <p:spPr>
          <a:xfrm>
            <a:off x="6477305" y="5941250"/>
            <a:ext cx="20541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EMPRESAS DE LA </a:t>
            </a:r>
          </a:p>
          <a:p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“CEPA” 1931/35</a:t>
            </a:r>
            <a:endParaRPr lang="es-AR" sz="1600" b="1" dirty="0"/>
          </a:p>
        </p:txBody>
      </p:sp>
      <p:pic>
        <p:nvPicPr>
          <p:cNvPr id="43" name="Gráfico 42" descr="Fábrica">
            <a:extLst>
              <a:ext uri="{FF2B5EF4-FFF2-40B4-BE49-F238E27FC236}">
                <a16:creationId xmlns:a16="http://schemas.microsoft.com/office/drawing/2014/main" id="{D513366B-03E5-41A9-BC0E-90D599D54B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3849" y="5639395"/>
            <a:ext cx="914400" cy="914400"/>
          </a:xfrm>
          <a:prstGeom prst="rect">
            <a:avLst/>
          </a:prstGeom>
        </p:spPr>
      </p:pic>
      <p:sp>
        <p:nvSpPr>
          <p:cNvPr id="37" name="Estrella: 5 puntas 36">
            <a:extLst>
              <a:ext uri="{FF2B5EF4-FFF2-40B4-BE49-F238E27FC236}">
                <a16:creationId xmlns:a16="http://schemas.microsoft.com/office/drawing/2014/main" id="{B7ACDE77-45BF-4D13-A0D3-B93A3C26F152}"/>
              </a:ext>
            </a:extLst>
          </p:cNvPr>
          <p:cNvSpPr/>
          <p:nvPr/>
        </p:nvSpPr>
        <p:spPr>
          <a:xfrm>
            <a:off x="7812360" y="282352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9842" y="6264695"/>
            <a:ext cx="9124139" cy="6206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 Tella y </a:t>
            </a:r>
            <a:r>
              <a:rPr lang="es-AR" sz="1600" b="1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Zymelman</a:t>
            </a:r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‘‘ Estas cifras contradicen la creencia generalizada de que la industria comenzó a desarrollarse durante o después de la Segunda Guerra Mundial ’’</a:t>
            </a:r>
          </a:p>
        </p:txBody>
      </p:sp>
      <p:pic>
        <p:nvPicPr>
          <p:cNvPr id="11" name="Gráfico 10" descr="Cheque bancario">
            <a:extLst>
              <a:ext uri="{FF2B5EF4-FFF2-40B4-BE49-F238E27FC236}">
                <a16:creationId xmlns:a16="http://schemas.microsoft.com/office/drawing/2014/main" id="{87AF2447-1E22-4B9E-8F3B-3B703F3C98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186" y="836712"/>
            <a:ext cx="1368152" cy="1368152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060C7472-40CD-427A-B7B7-5D19BA1E02CB}"/>
              </a:ext>
            </a:extLst>
          </p:cNvPr>
          <p:cNvSpPr/>
          <p:nvPr/>
        </p:nvSpPr>
        <p:spPr>
          <a:xfrm>
            <a:off x="1691680" y="908720"/>
            <a:ext cx="1394934" cy="1015663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Inversión </a:t>
            </a:r>
          </a:p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Bruta </a:t>
            </a:r>
          </a:p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Fija</a:t>
            </a:r>
            <a:endParaRPr lang="es-AR" sz="20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C6FDCAF8-AD8C-43EA-8D2A-E47FDB789CB2}"/>
              </a:ext>
            </a:extLst>
          </p:cNvPr>
          <p:cNvCxnSpPr>
            <a:cxnSpLocks/>
          </p:cNvCxnSpPr>
          <p:nvPr/>
        </p:nvCxnSpPr>
        <p:spPr>
          <a:xfrm>
            <a:off x="3131840" y="1531294"/>
            <a:ext cx="5532967" cy="0"/>
          </a:xfrm>
          <a:prstGeom prst="line">
            <a:avLst/>
          </a:prstGeom>
          <a:ln w="762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8F1A1D7E-C435-43EA-A652-774C388810A9}"/>
              </a:ext>
            </a:extLst>
          </p:cNvPr>
          <p:cNvCxnSpPr/>
          <p:nvPr/>
        </p:nvCxnSpPr>
        <p:spPr>
          <a:xfrm>
            <a:off x="3131840" y="1315270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6C775B9B-C742-40C5-850F-D22812971F97}"/>
              </a:ext>
            </a:extLst>
          </p:cNvPr>
          <p:cNvCxnSpPr/>
          <p:nvPr/>
        </p:nvCxnSpPr>
        <p:spPr>
          <a:xfrm>
            <a:off x="3856787" y="1315270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1A2788A-D9A3-43D0-8DF8-99C7904940C0}"/>
              </a:ext>
            </a:extLst>
          </p:cNvPr>
          <p:cNvSpPr txBox="1"/>
          <p:nvPr/>
        </p:nvSpPr>
        <p:spPr>
          <a:xfrm>
            <a:off x="3505948" y="1787074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1913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AC4D49C3-7433-4C16-9D31-29247F87CBBE}"/>
              </a:ext>
            </a:extLst>
          </p:cNvPr>
          <p:cNvCxnSpPr/>
          <p:nvPr/>
        </p:nvCxnSpPr>
        <p:spPr>
          <a:xfrm>
            <a:off x="6432981" y="1315270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DE1EE5C-12FD-402E-B357-872C55247C4D}"/>
              </a:ext>
            </a:extLst>
          </p:cNvPr>
          <p:cNvSpPr txBox="1"/>
          <p:nvPr/>
        </p:nvSpPr>
        <p:spPr>
          <a:xfrm>
            <a:off x="6084168" y="179628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1929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B621241-0887-4918-AD83-A367AAFD65C9}"/>
              </a:ext>
            </a:extLst>
          </p:cNvPr>
          <p:cNvCxnSpPr/>
          <p:nvPr/>
        </p:nvCxnSpPr>
        <p:spPr>
          <a:xfrm>
            <a:off x="7895594" y="1315270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B5FA971-E99B-4C3D-9287-6C9192D06E69}"/>
              </a:ext>
            </a:extLst>
          </p:cNvPr>
          <p:cNvSpPr txBox="1"/>
          <p:nvPr/>
        </p:nvSpPr>
        <p:spPr>
          <a:xfrm>
            <a:off x="7546781" y="1796288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1938</a:t>
            </a:r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5396BF02-4FD8-43BA-BA02-8FF7CF58CB67}"/>
              </a:ext>
            </a:extLst>
          </p:cNvPr>
          <p:cNvCxnSpPr/>
          <p:nvPr/>
        </p:nvCxnSpPr>
        <p:spPr>
          <a:xfrm>
            <a:off x="5281962" y="1312981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BB969A3-644C-426F-A9A4-FDED930DFD44}"/>
              </a:ext>
            </a:extLst>
          </p:cNvPr>
          <p:cNvSpPr txBox="1"/>
          <p:nvPr/>
        </p:nvSpPr>
        <p:spPr>
          <a:xfrm>
            <a:off x="4931123" y="178478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1923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E9A3AB2-5ADB-46FC-8B92-B4731ECE84FB}"/>
              </a:ext>
            </a:extLst>
          </p:cNvPr>
          <p:cNvSpPr/>
          <p:nvPr/>
        </p:nvSpPr>
        <p:spPr>
          <a:xfrm>
            <a:off x="3449040" y="880628"/>
            <a:ext cx="811441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PICO</a:t>
            </a:r>
            <a:endParaRPr lang="es-AR" sz="20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2A1E8A04-BA1C-4DB1-9624-93A799008751}"/>
              </a:ext>
            </a:extLst>
          </p:cNvPr>
          <p:cNvSpPr/>
          <p:nvPr/>
        </p:nvSpPr>
        <p:spPr>
          <a:xfrm>
            <a:off x="6084168" y="890985"/>
            <a:ext cx="811441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PICO</a:t>
            </a:r>
            <a:endParaRPr lang="es-AR" sz="20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9556752C-776B-4753-8B54-1066D284F6A9}"/>
              </a:ext>
            </a:extLst>
          </p:cNvPr>
          <p:cNvSpPr/>
          <p:nvPr/>
        </p:nvSpPr>
        <p:spPr>
          <a:xfrm>
            <a:off x="7489873" y="899192"/>
            <a:ext cx="811441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PICO</a:t>
            </a:r>
            <a:endParaRPr lang="es-AR" sz="20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5" name="Gráfico 34">
            <a:extLst>
              <a:ext uri="{FF2B5EF4-FFF2-40B4-BE49-F238E27FC236}">
                <a16:creationId xmlns:a16="http://schemas.microsoft.com/office/drawing/2014/main" id="{B34738F3-30C2-455B-AB43-EE033AE057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411805"/>
              </p:ext>
            </p:extLst>
          </p:nvPr>
        </p:nvGraphicFramePr>
        <p:xfrm>
          <a:off x="707935" y="2984784"/>
          <a:ext cx="7593374" cy="3277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59AB2DAD-222D-47DC-8C77-21D30D020C64}"/>
              </a:ext>
            </a:extLst>
          </p:cNvPr>
          <p:cNvCxnSpPr>
            <a:cxnSpLocks/>
          </p:cNvCxnSpPr>
          <p:nvPr/>
        </p:nvCxnSpPr>
        <p:spPr>
          <a:xfrm flipV="1">
            <a:off x="4110148" y="3212976"/>
            <a:ext cx="0" cy="252028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2BE9720F-B7C6-4F68-BB76-3CFAF0D7E0E9}"/>
              </a:ext>
            </a:extLst>
          </p:cNvPr>
          <p:cNvCxnSpPr>
            <a:cxnSpLocks/>
          </p:cNvCxnSpPr>
          <p:nvPr/>
        </p:nvCxnSpPr>
        <p:spPr>
          <a:xfrm flipV="1">
            <a:off x="5609916" y="3212976"/>
            <a:ext cx="0" cy="252028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40">
            <a:extLst>
              <a:ext uri="{FF2B5EF4-FFF2-40B4-BE49-F238E27FC236}">
                <a16:creationId xmlns:a16="http://schemas.microsoft.com/office/drawing/2014/main" id="{CDB4160E-6855-4220-BCEC-4988DCCD9F35}"/>
              </a:ext>
            </a:extLst>
          </p:cNvPr>
          <p:cNvSpPr/>
          <p:nvPr/>
        </p:nvSpPr>
        <p:spPr>
          <a:xfrm>
            <a:off x="4471696" y="2348880"/>
            <a:ext cx="909790" cy="90979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18%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4E5BB025-FF9E-46BC-B80E-3F3583863BBE}"/>
              </a:ext>
            </a:extLst>
          </p:cNvPr>
          <p:cNvSpPr/>
          <p:nvPr/>
        </p:nvSpPr>
        <p:spPr>
          <a:xfrm>
            <a:off x="4320922" y="3250084"/>
            <a:ext cx="1211337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PROMEDIO ANUAL</a:t>
            </a:r>
            <a:endParaRPr lang="es-AR" sz="14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EF1CBCF1-2CB3-44C9-A88F-665C46E6B63A}"/>
              </a:ext>
            </a:extLst>
          </p:cNvPr>
          <p:cNvCxnSpPr>
            <a:cxnSpLocks/>
          </p:cNvCxnSpPr>
          <p:nvPr/>
        </p:nvCxnSpPr>
        <p:spPr>
          <a:xfrm flipV="1">
            <a:off x="6312592" y="3212976"/>
            <a:ext cx="0" cy="252028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1ADFFF8A-78CF-4AA8-B0EC-17FA79379310}"/>
              </a:ext>
            </a:extLst>
          </p:cNvPr>
          <p:cNvCxnSpPr>
            <a:cxnSpLocks/>
          </p:cNvCxnSpPr>
          <p:nvPr/>
        </p:nvCxnSpPr>
        <p:spPr>
          <a:xfrm flipV="1">
            <a:off x="7598004" y="3212976"/>
            <a:ext cx="0" cy="252028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>
            <a:extLst>
              <a:ext uri="{FF2B5EF4-FFF2-40B4-BE49-F238E27FC236}">
                <a16:creationId xmlns:a16="http://schemas.microsoft.com/office/drawing/2014/main" id="{9A8047D8-4149-4EDC-9AC8-FA5509A35B17}"/>
              </a:ext>
            </a:extLst>
          </p:cNvPr>
          <p:cNvSpPr/>
          <p:nvPr/>
        </p:nvSpPr>
        <p:spPr>
          <a:xfrm>
            <a:off x="6507637" y="2348880"/>
            <a:ext cx="909790" cy="90979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19%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193F59A6-0DFD-4DBA-8D78-3CCBFDD44887}"/>
              </a:ext>
            </a:extLst>
          </p:cNvPr>
          <p:cNvSpPr/>
          <p:nvPr/>
        </p:nvSpPr>
        <p:spPr>
          <a:xfrm>
            <a:off x="6356863" y="3250084"/>
            <a:ext cx="1211337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PROMEDIO ANUAL</a:t>
            </a:r>
            <a:endParaRPr lang="es-AR" sz="14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5F6D379-FC59-43F9-A54D-6D4C2A731101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 DE CRECIMIENTO INDUSTRIAL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áfic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971838"/>
              </p:ext>
            </p:extLst>
          </p:nvPr>
        </p:nvGraphicFramePr>
        <p:xfrm>
          <a:off x="251520" y="1988840"/>
          <a:ext cx="8568952" cy="396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6021288"/>
            <a:ext cx="9144000" cy="83671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Utilización de electricidad del sector industrial: Triplicó aproximadamente el consumo de energía en el período 1921/1925 con respecto a 1910/1919 y volvió a triplicarlo en el período 1927/1930. En el período 1931/1935, no alcanzó a duplicarlo.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0CD78696-CAEA-4972-9473-6D98E3C3F0C8}"/>
              </a:ext>
            </a:extLst>
          </p:cNvPr>
          <p:cNvCxnSpPr>
            <a:cxnSpLocks/>
          </p:cNvCxnSpPr>
          <p:nvPr/>
        </p:nvCxnSpPr>
        <p:spPr>
          <a:xfrm flipV="1">
            <a:off x="1763688" y="1988840"/>
            <a:ext cx="0" cy="3276364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B05DE916-7DF1-4925-AAE1-DD284710AD29}"/>
              </a:ext>
            </a:extLst>
          </p:cNvPr>
          <p:cNvSpPr/>
          <p:nvPr/>
        </p:nvSpPr>
        <p:spPr>
          <a:xfrm>
            <a:off x="2631110" y="1716544"/>
            <a:ext cx="909790" cy="90979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6%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3C03A8B-94E8-4863-A409-095AA8109EDF}"/>
              </a:ext>
            </a:extLst>
          </p:cNvPr>
          <p:cNvSpPr/>
          <p:nvPr/>
        </p:nvSpPr>
        <p:spPr>
          <a:xfrm>
            <a:off x="2480336" y="2617748"/>
            <a:ext cx="1211337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PROMEDIO ANUAL</a:t>
            </a:r>
            <a:endParaRPr lang="es-AR" sz="14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22A770A8-ADE9-4EC5-ACFE-1D336A746A9C}"/>
              </a:ext>
            </a:extLst>
          </p:cNvPr>
          <p:cNvCxnSpPr>
            <a:cxnSpLocks/>
          </p:cNvCxnSpPr>
          <p:nvPr/>
        </p:nvCxnSpPr>
        <p:spPr>
          <a:xfrm flipV="1">
            <a:off x="4341908" y="1916832"/>
            <a:ext cx="0" cy="3348372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A0525381-593C-4F48-8787-F7C045F4572F}"/>
              </a:ext>
            </a:extLst>
          </p:cNvPr>
          <p:cNvCxnSpPr>
            <a:cxnSpLocks/>
          </p:cNvCxnSpPr>
          <p:nvPr/>
        </p:nvCxnSpPr>
        <p:spPr>
          <a:xfrm flipV="1">
            <a:off x="8014316" y="1844824"/>
            <a:ext cx="0" cy="342038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>
            <a:extLst>
              <a:ext uri="{FF2B5EF4-FFF2-40B4-BE49-F238E27FC236}">
                <a16:creationId xmlns:a16="http://schemas.microsoft.com/office/drawing/2014/main" id="{1AD4CCFE-13E3-4F4A-B6BE-08C7115AEC81}"/>
              </a:ext>
            </a:extLst>
          </p:cNvPr>
          <p:cNvSpPr/>
          <p:nvPr/>
        </p:nvSpPr>
        <p:spPr>
          <a:xfrm>
            <a:off x="5851303" y="1716544"/>
            <a:ext cx="909790" cy="90979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2%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FA2C07B-BAB2-45A6-AFDD-CDE9AEB15AE1}"/>
              </a:ext>
            </a:extLst>
          </p:cNvPr>
          <p:cNvSpPr/>
          <p:nvPr/>
        </p:nvSpPr>
        <p:spPr>
          <a:xfrm>
            <a:off x="5700529" y="2617748"/>
            <a:ext cx="1211337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PROMEDIO ANUAL</a:t>
            </a:r>
            <a:endParaRPr lang="es-AR" sz="14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A53331C-7EC6-4D5C-B657-C6CAFBA5FCF5}"/>
              </a:ext>
            </a:extLst>
          </p:cNvPr>
          <p:cNvSpPr/>
          <p:nvPr/>
        </p:nvSpPr>
        <p:spPr>
          <a:xfrm>
            <a:off x="1298707" y="625617"/>
            <a:ext cx="1467068" cy="1015663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Consumo</a:t>
            </a:r>
          </a:p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energía</a:t>
            </a:r>
          </a:p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eléctrica</a:t>
            </a:r>
            <a:endParaRPr lang="es-AR" sz="20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1DA1749-DD3F-4722-B460-9248AF0FE6A4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 DE CRECIMIENTO INDUSTRIAL</a:t>
            </a:r>
          </a:p>
        </p:txBody>
      </p:sp>
      <p:pic>
        <p:nvPicPr>
          <p:cNvPr id="3" name="Gráfico 2" descr="Bombilla">
            <a:extLst>
              <a:ext uri="{FF2B5EF4-FFF2-40B4-BE49-F238E27FC236}">
                <a16:creationId xmlns:a16="http://schemas.microsoft.com/office/drawing/2014/main" id="{28BD16D6-3B31-4B2D-8535-03F5781FF5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813" y="66754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908106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1815" y="1935884"/>
            <a:ext cx="5295906" cy="3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6803" name="Rectangle 3"/>
          <p:cNvSpPr>
            <a:spLocks noChangeArrowheads="1"/>
          </p:cNvSpPr>
          <p:nvPr/>
        </p:nvSpPr>
        <p:spPr bwMode="auto">
          <a:xfrm>
            <a:off x="6732240" y="692696"/>
            <a:ext cx="2403412" cy="6120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 </a:t>
            </a:r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1900 y 1920 </a:t>
            </a:r>
            <a:r>
              <a:rPr lang="es-AR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mayor número de empresas extranjeras se colocan en la rama de </a:t>
            </a:r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alimentos y bebidas </a:t>
            </a:r>
            <a:r>
              <a:rPr lang="es-AR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(frigoríficos). </a:t>
            </a:r>
          </a:p>
          <a:p>
            <a:endParaRPr lang="es-AR" sz="16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 </a:t>
            </a:r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1921 y 1930 </a:t>
            </a:r>
            <a:r>
              <a:rPr lang="es-AR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entran al país 43 grandes empresas, el mayor número se concentra en las siguientes ramas: </a:t>
            </a:r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químicos, metales y artículos eléctricos</a:t>
            </a:r>
            <a:r>
              <a:rPr lang="es-AR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endParaRPr lang="es-AR" sz="16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 </a:t>
            </a:r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1931 y 1943 </a:t>
            </a:r>
            <a:r>
              <a:rPr lang="es-AR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destaca la instalación en el país de 45 grandes empresas internacionales, las cuales se concentran, además de las tres ramas mencionadas, en la </a:t>
            </a:r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rama de los textiles</a:t>
            </a:r>
            <a:r>
              <a:rPr lang="es-AR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7" name="Gráfico 6" descr="Botella">
            <a:extLst>
              <a:ext uri="{FF2B5EF4-FFF2-40B4-BE49-F238E27FC236}">
                <a16:creationId xmlns:a16="http://schemas.microsoft.com/office/drawing/2014/main" id="{E1A2BC6F-8D25-48A2-8D71-C999CA839A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2106" y="1469671"/>
            <a:ext cx="678003" cy="678003"/>
          </a:xfrm>
          <a:prstGeom prst="rect">
            <a:avLst/>
          </a:prstGeom>
        </p:spPr>
      </p:pic>
      <p:pic>
        <p:nvPicPr>
          <p:cNvPr id="9" name="Gráfico 8" descr="Plato cubierto">
            <a:extLst>
              <a:ext uri="{FF2B5EF4-FFF2-40B4-BE49-F238E27FC236}">
                <a16:creationId xmlns:a16="http://schemas.microsoft.com/office/drawing/2014/main" id="{CE0465CB-2E9F-4D2C-933B-C3558E3BA6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16585" y="703079"/>
            <a:ext cx="678003" cy="678003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6D5973E3-CFAE-41EC-8D8F-1F4F7FE85D4B}"/>
              </a:ext>
            </a:extLst>
          </p:cNvPr>
          <p:cNvCxnSpPr/>
          <p:nvPr/>
        </p:nvCxnSpPr>
        <p:spPr>
          <a:xfrm>
            <a:off x="6732240" y="736568"/>
            <a:ext cx="0" cy="1440160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0A78EE26-A2C9-47D5-A6A0-52F55824C485}"/>
              </a:ext>
            </a:extLst>
          </p:cNvPr>
          <p:cNvCxnSpPr>
            <a:cxnSpLocks/>
          </p:cNvCxnSpPr>
          <p:nvPr/>
        </p:nvCxnSpPr>
        <p:spPr>
          <a:xfrm>
            <a:off x="6732240" y="2446965"/>
            <a:ext cx="0" cy="1918139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áfico 15" descr="Bombilla">
            <a:extLst>
              <a:ext uri="{FF2B5EF4-FFF2-40B4-BE49-F238E27FC236}">
                <a16:creationId xmlns:a16="http://schemas.microsoft.com/office/drawing/2014/main" id="{7E2B0866-5D49-498F-AC4C-60F2EFF6BA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32106" y="3756920"/>
            <a:ext cx="678003" cy="678003"/>
          </a:xfrm>
          <a:prstGeom prst="rect">
            <a:avLst/>
          </a:prstGeom>
        </p:spPr>
      </p:pic>
      <p:pic>
        <p:nvPicPr>
          <p:cNvPr id="18" name="Gráfico 17" descr="Matraz">
            <a:extLst>
              <a:ext uri="{FF2B5EF4-FFF2-40B4-BE49-F238E27FC236}">
                <a16:creationId xmlns:a16="http://schemas.microsoft.com/office/drawing/2014/main" id="{32CF7DB9-EC1B-460C-BE75-0D49189895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14931" y="3023786"/>
            <a:ext cx="678003" cy="678003"/>
          </a:xfrm>
          <a:prstGeom prst="rect">
            <a:avLst/>
          </a:prstGeom>
        </p:spPr>
      </p:pic>
      <p:pic>
        <p:nvPicPr>
          <p:cNvPr id="20" name="Gráfico 19" descr="Martillo">
            <a:extLst>
              <a:ext uri="{FF2B5EF4-FFF2-40B4-BE49-F238E27FC236}">
                <a16:creationId xmlns:a16="http://schemas.microsoft.com/office/drawing/2014/main" id="{354DFAB7-02BE-4718-B6F0-30A7079F00F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16584" y="2422964"/>
            <a:ext cx="678003" cy="678003"/>
          </a:xfrm>
          <a:prstGeom prst="rect">
            <a:avLst/>
          </a:prstGeom>
        </p:spPr>
      </p:pic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46377C7-8547-44FB-84A9-D820F13DEDFA}"/>
              </a:ext>
            </a:extLst>
          </p:cNvPr>
          <p:cNvCxnSpPr>
            <a:cxnSpLocks/>
          </p:cNvCxnSpPr>
          <p:nvPr/>
        </p:nvCxnSpPr>
        <p:spPr>
          <a:xfrm>
            <a:off x="6736235" y="4627824"/>
            <a:ext cx="0" cy="2185552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áfico 23" descr="Bombilla">
            <a:extLst>
              <a:ext uri="{FF2B5EF4-FFF2-40B4-BE49-F238E27FC236}">
                <a16:creationId xmlns:a16="http://schemas.microsoft.com/office/drawing/2014/main" id="{A722E4B1-2D97-4A14-A2DD-2DF6C07A57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14930" y="6063365"/>
            <a:ext cx="678003" cy="678003"/>
          </a:xfrm>
          <a:prstGeom prst="rect">
            <a:avLst/>
          </a:prstGeom>
        </p:spPr>
      </p:pic>
      <p:pic>
        <p:nvPicPr>
          <p:cNvPr id="25" name="Gráfico 24" descr="Matraz">
            <a:extLst>
              <a:ext uri="{FF2B5EF4-FFF2-40B4-BE49-F238E27FC236}">
                <a16:creationId xmlns:a16="http://schemas.microsoft.com/office/drawing/2014/main" id="{67DD3A2E-9D0A-4B8B-8ED8-4A297390843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38085" y="5302971"/>
            <a:ext cx="678003" cy="678003"/>
          </a:xfrm>
          <a:prstGeom prst="rect">
            <a:avLst/>
          </a:prstGeom>
        </p:spPr>
      </p:pic>
      <p:pic>
        <p:nvPicPr>
          <p:cNvPr id="26" name="Gráfico 25" descr="Martillo">
            <a:extLst>
              <a:ext uri="{FF2B5EF4-FFF2-40B4-BE49-F238E27FC236}">
                <a16:creationId xmlns:a16="http://schemas.microsoft.com/office/drawing/2014/main" id="{0E547EA0-4783-4DE3-BCD6-9823FEF3530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32106" y="4776336"/>
            <a:ext cx="678003" cy="678003"/>
          </a:xfrm>
          <a:prstGeom prst="rect">
            <a:avLst/>
          </a:prstGeom>
        </p:spPr>
      </p:pic>
      <p:pic>
        <p:nvPicPr>
          <p:cNvPr id="27" name="Gráfico 26" descr="Camisa">
            <a:extLst>
              <a:ext uri="{FF2B5EF4-FFF2-40B4-BE49-F238E27FC236}">
                <a16:creationId xmlns:a16="http://schemas.microsoft.com/office/drawing/2014/main" id="{4D44FC78-7FA3-4C91-B439-86DBD1674DA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08104" y="5609553"/>
            <a:ext cx="678003" cy="678003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8B17B27A-1D94-4891-8A3D-138A45A7B7F9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 DE CRECIMIENTO INDUSTRIAL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24810C8-6151-4072-A06F-9AD2EE3FCC75}"/>
              </a:ext>
            </a:extLst>
          </p:cNvPr>
          <p:cNvSpPr/>
          <p:nvPr/>
        </p:nvSpPr>
        <p:spPr>
          <a:xfrm>
            <a:off x="1298707" y="625617"/>
            <a:ext cx="1923925" cy="1015663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s-AR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Radicación de</a:t>
            </a:r>
          </a:p>
          <a:p>
            <a:r>
              <a:rPr lang="es-AR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Empresas </a:t>
            </a:r>
          </a:p>
          <a:p>
            <a:r>
              <a:rPr lang="es-AR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Extranjeras </a:t>
            </a:r>
          </a:p>
        </p:txBody>
      </p:sp>
      <p:pic>
        <p:nvPicPr>
          <p:cNvPr id="3" name="Gráfico 2" descr="Globo terrestre, América">
            <a:extLst>
              <a:ext uri="{FF2B5EF4-FFF2-40B4-BE49-F238E27FC236}">
                <a16:creationId xmlns:a16="http://schemas.microsoft.com/office/drawing/2014/main" id="{48D5F519-9959-4F69-9DB0-BC43A2A9121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83394" y="647270"/>
            <a:ext cx="673224" cy="673224"/>
          </a:xfrm>
          <a:prstGeom prst="rect">
            <a:avLst/>
          </a:prstGeom>
        </p:spPr>
      </p:pic>
      <p:pic>
        <p:nvPicPr>
          <p:cNvPr id="5" name="Gráfico 4" descr="Fábrica">
            <a:extLst>
              <a:ext uri="{FF2B5EF4-FFF2-40B4-BE49-F238E27FC236}">
                <a16:creationId xmlns:a16="http://schemas.microsoft.com/office/drawing/2014/main" id="{9DE8EE0B-4C26-45AB-9092-86CADE61845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47611" y="758532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B7850FB4-B90D-4424-B661-1009895C272C}"/>
              </a:ext>
            </a:extLst>
          </p:cNvPr>
          <p:cNvSpPr/>
          <p:nvPr/>
        </p:nvSpPr>
        <p:spPr>
          <a:xfrm>
            <a:off x="935596" y="2834934"/>
            <a:ext cx="7272808" cy="118813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GRAN GUERRA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B2B2E30-522C-4410-ADBB-00D94EC7F54F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 DE LOS ‘20 Y ‘30</a:t>
            </a:r>
          </a:p>
        </p:txBody>
      </p:sp>
    </p:spTree>
    <p:extLst>
      <p:ext uri="{BB962C8B-B14F-4D97-AF65-F5344CB8AC3E}">
        <p14:creationId xmlns:p14="http://schemas.microsoft.com/office/powerpoint/2010/main" val="3484024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4 Rectángulo redondeado"/>
          <p:cNvSpPr/>
          <p:nvPr/>
        </p:nvSpPr>
        <p:spPr>
          <a:xfrm>
            <a:off x="2915816" y="927886"/>
            <a:ext cx="3240360" cy="129319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Motores del crecimiento</a:t>
            </a:r>
            <a:endParaRPr lang="es-AR"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5 Rectángulo redondeado"/>
          <p:cNvSpPr/>
          <p:nvPr/>
        </p:nvSpPr>
        <p:spPr>
          <a:xfrm>
            <a:off x="3419872" y="2690918"/>
            <a:ext cx="2232248" cy="43204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 Guerra</a:t>
            </a:r>
            <a:endParaRPr lang="es-AR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7 Conector recto de flecha"/>
          <p:cNvCxnSpPr>
            <a:cxnSpLocks/>
            <a:stCxn id="6" idx="2"/>
            <a:endCxn id="7" idx="0"/>
          </p:cNvCxnSpPr>
          <p:nvPr/>
        </p:nvCxnSpPr>
        <p:spPr>
          <a:xfrm>
            <a:off x="4535996" y="2221079"/>
            <a:ext cx="0" cy="469839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Rectángulo redondeado"/>
          <p:cNvSpPr/>
          <p:nvPr/>
        </p:nvSpPr>
        <p:spPr>
          <a:xfrm>
            <a:off x="6498214" y="1357394"/>
            <a:ext cx="1818202" cy="4320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Recambio</a:t>
            </a:r>
            <a:endParaRPr lang="es-AR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9 Conector recto de flecha"/>
          <p:cNvCxnSpPr>
            <a:cxnSpLocks/>
            <a:stCxn id="9" idx="1"/>
            <a:endCxn id="6" idx="3"/>
          </p:cNvCxnSpPr>
          <p:nvPr/>
        </p:nvCxnSpPr>
        <p:spPr>
          <a:xfrm flipH="1">
            <a:off x="6156176" y="1573418"/>
            <a:ext cx="342038" cy="1065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2 Rectángulo redondeado"/>
          <p:cNvSpPr/>
          <p:nvPr/>
        </p:nvSpPr>
        <p:spPr>
          <a:xfrm>
            <a:off x="466934" y="2603713"/>
            <a:ext cx="2232248" cy="60554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Interrupción de los flujos de comercio </a:t>
            </a:r>
            <a:endParaRPr lang="es-AR" sz="16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13 Conector recto de flecha"/>
          <p:cNvCxnSpPr>
            <a:stCxn id="7" idx="1"/>
            <a:endCxn id="12" idx="3"/>
          </p:cNvCxnSpPr>
          <p:nvPr/>
        </p:nvCxnSpPr>
        <p:spPr>
          <a:xfrm flipH="1" flipV="1">
            <a:off x="2699182" y="2906484"/>
            <a:ext cx="720690" cy="458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6 Rectángulo redondeado"/>
          <p:cNvSpPr/>
          <p:nvPr/>
        </p:nvSpPr>
        <p:spPr>
          <a:xfrm>
            <a:off x="1286635" y="3835617"/>
            <a:ext cx="2574286" cy="597229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Antes</a:t>
            </a:r>
            <a:endParaRPr lang="es-AR"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17 Rectángulo redondeado"/>
          <p:cNvSpPr/>
          <p:nvPr/>
        </p:nvSpPr>
        <p:spPr>
          <a:xfrm>
            <a:off x="755576" y="5589240"/>
            <a:ext cx="3636404" cy="86409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Sector agropecuario e industria crecieron a tasas comparables</a:t>
            </a:r>
            <a:endParaRPr lang="es-AR" sz="16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18 Rectángulo redondeado"/>
          <p:cNvSpPr/>
          <p:nvPr/>
        </p:nvSpPr>
        <p:spPr>
          <a:xfrm>
            <a:off x="755576" y="4761148"/>
            <a:ext cx="3636404" cy="43204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Agroexportador</a:t>
            </a:r>
            <a:endParaRPr lang="es-AR" sz="16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19 Conector recto de flecha"/>
          <p:cNvCxnSpPr>
            <a:cxnSpLocks/>
            <a:stCxn id="7" idx="2"/>
            <a:endCxn id="14" idx="0"/>
          </p:cNvCxnSpPr>
          <p:nvPr/>
        </p:nvCxnSpPr>
        <p:spPr>
          <a:xfrm flipH="1">
            <a:off x="2573778" y="3122966"/>
            <a:ext cx="1962218" cy="712651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22 Conector recto de flecha"/>
          <p:cNvCxnSpPr>
            <a:cxnSpLocks/>
            <a:stCxn id="14" idx="2"/>
            <a:endCxn id="16" idx="0"/>
          </p:cNvCxnSpPr>
          <p:nvPr/>
        </p:nvCxnSpPr>
        <p:spPr>
          <a:xfrm>
            <a:off x="2573778" y="4432846"/>
            <a:ext cx="0" cy="328302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23 Conector recto de flecha"/>
          <p:cNvCxnSpPr>
            <a:stCxn id="16" idx="2"/>
            <a:endCxn id="15" idx="0"/>
          </p:cNvCxnSpPr>
          <p:nvPr/>
        </p:nvCxnSpPr>
        <p:spPr>
          <a:xfrm>
            <a:off x="2573778" y="5193196"/>
            <a:ext cx="0" cy="396044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28 Rectángulo redondeado"/>
          <p:cNvSpPr/>
          <p:nvPr/>
        </p:nvSpPr>
        <p:spPr>
          <a:xfrm>
            <a:off x="5201038" y="3839029"/>
            <a:ext cx="2574286" cy="59722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Desde 1918</a:t>
            </a:r>
            <a:endParaRPr lang="es-AR"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29 Rectángulo redondeado"/>
          <p:cNvSpPr/>
          <p:nvPr/>
        </p:nvSpPr>
        <p:spPr>
          <a:xfrm>
            <a:off x="4680012" y="4761147"/>
            <a:ext cx="3636404" cy="44700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Sustitución de importaciones</a:t>
            </a:r>
            <a:endParaRPr lang="es-AR" sz="16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30 Rectángulo redondeado"/>
          <p:cNvSpPr/>
          <p:nvPr/>
        </p:nvSpPr>
        <p:spPr>
          <a:xfrm>
            <a:off x="4680012" y="5589240"/>
            <a:ext cx="3636404" cy="86409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producción manufacturera se despega de la agropecuaria</a:t>
            </a:r>
            <a:endParaRPr lang="es-AR" sz="16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31 Conector recto de flecha"/>
          <p:cNvCxnSpPr>
            <a:cxnSpLocks/>
            <a:stCxn id="7" idx="2"/>
            <a:endCxn id="20" idx="0"/>
          </p:cNvCxnSpPr>
          <p:nvPr/>
        </p:nvCxnSpPr>
        <p:spPr>
          <a:xfrm>
            <a:off x="4535996" y="3122966"/>
            <a:ext cx="1952185" cy="716063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35 Conector recto de flecha"/>
          <p:cNvCxnSpPr>
            <a:cxnSpLocks/>
            <a:stCxn id="20" idx="2"/>
            <a:endCxn id="21" idx="0"/>
          </p:cNvCxnSpPr>
          <p:nvPr/>
        </p:nvCxnSpPr>
        <p:spPr>
          <a:xfrm>
            <a:off x="6488181" y="4436258"/>
            <a:ext cx="10033" cy="324889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38 Conector recto de flecha"/>
          <p:cNvCxnSpPr>
            <a:stCxn id="21" idx="2"/>
            <a:endCxn id="22" idx="0"/>
          </p:cNvCxnSpPr>
          <p:nvPr/>
        </p:nvCxnSpPr>
        <p:spPr>
          <a:xfrm>
            <a:off x="6498214" y="5208155"/>
            <a:ext cx="0" cy="381085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51D7DBA-CCF8-439C-8EED-A613C2DA3507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CAMBIOS CON LA GRAN GUERRA</a:t>
            </a:r>
          </a:p>
        </p:txBody>
      </p:sp>
      <p:pic>
        <p:nvPicPr>
          <p:cNvPr id="1026" name="Picture 2" descr="Image result for casco primera guerra mundial icono">
            <a:extLst>
              <a:ext uri="{FF2B5EF4-FFF2-40B4-BE49-F238E27FC236}">
                <a16:creationId xmlns:a16="http://schemas.microsoft.com/office/drawing/2014/main" id="{62DCFD78-D2AE-4CF9-95C7-E69C82C6C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797" y="2203832"/>
            <a:ext cx="1340768" cy="134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Gráfico 38" descr="Tendencia al alza">
            <a:extLst>
              <a:ext uri="{FF2B5EF4-FFF2-40B4-BE49-F238E27FC236}">
                <a16:creationId xmlns:a16="http://schemas.microsoft.com/office/drawing/2014/main" id="{6F04E8C5-AE35-4BEB-8204-FEF6B5B163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59905" y="1116218"/>
            <a:ext cx="914400" cy="914400"/>
          </a:xfrm>
          <a:prstGeom prst="rect">
            <a:avLst/>
          </a:prstGeom>
        </p:spPr>
      </p:pic>
      <p:pic>
        <p:nvPicPr>
          <p:cNvPr id="49" name="Gráfico 48" descr="Globo terrestre, América">
            <a:extLst>
              <a:ext uri="{FF2B5EF4-FFF2-40B4-BE49-F238E27FC236}">
                <a16:creationId xmlns:a16="http://schemas.microsoft.com/office/drawing/2014/main" id="{51D26C0F-A4B3-4B13-8A8B-A3726058D3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86004" y="3665291"/>
            <a:ext cx="914400" cy="914400"/>
          </a:xfrm>
          <a:prstGeom prst="rect">
            <a:avLst/>
          </a:prstGeom>
        </p:spPr>
      </p:pic>
      <p:sp>
        <p:nvSpPr>
          <p:cNvPr id="50" name="Signo de multiplicación 49">
            <a:extLst>
              <a:ext uri="{FF2B5EF4-FFF2-40B4-BE49-F238E27FC236}">
                <a16:creationId xmlns:a16="http://schemas.microsoft.com/office/drawing/2014/main" id="{6A511541-5B1D-4ACF-92F3-73E715ACD8B5}"/>
              </a:ext>
            </a:extLst>
          </p:cNvPr>
          <p:cNvSpPr/>
          <p:nvPr/>
        </p:nvSpPr>
        <p:spPr>
          <a:xfrm>
            <a:off x="7524328" y="3508875"/>
            <a:ext cx="1440160" cy="1224136"/>
          </a:xfrm>
          <a:prstGeom prst="mathMultiply">
            <a:avLst>
              <a:gd name="adj1" fmla="val 10879"/>
            </a:avLst>
          </a:prstGeom>
          <a:solidFill>
            <a:schemeClr val="accent5">
              <a:lumMod val="7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25966448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4" t="8837" r="2927" b="6836"/>
          <a:stretch/>
        </p:blipFill>
        <p:spPr bwMode="auto">
          <a:xfrm>
            <a:off x="-35496" y="1988840"/>
            <a:ext cx="9144000" cy="472699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1 Rectángulo"/>
          <p:cNvSpPr/>
          <p:nvPr/>
        </p:nvSpPr>
        <p:spPr>
          <a:xfrm>
            <a:off x="4833238" y="2708920"/>
            <a:ext cx="25382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i="1" dirty="0">
                <a:solidFill>
                  <a:schemeClr val="accent5">
                    <a:lumMod val="50000"/>
                  </a:schemeClr>
                </a:solidFill>
              </a:rPr>
              <a:t>(Millones de pesos)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8C9DDE3-6C8E-4094-BB4F-E245A995AB38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CAMBIOS CON LA GRAN GUERRA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97A79B7-1896-469B-9593-58FC8BDE184E}"/>
              </a:ext>
            </a:extLst>
          </p:cNvPr>
          <p:cNvSpPr/>
          <p:nvPr/>
        </p:nvSpPr>
        <p:spPr>
          <a:xfrm>
            <a:off x="1298707" y="625617"/>
            <a:ext cx="2278188" cy="1015663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Valor Agregado </a:t>
            </a:r>
          </a:p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por sectores </a:t>
            </a:r>
          </a:p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(precios de 1950)</a:t>
            </a:r>
            <a:endParaRPr lang="es-AR" sz="20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EB62194-0272-40E0-9401-4FC09DCA4E2A}"/>
              </a:ext>
            </a:extLst>
          </p:cNvPr>
          <p:cNvSpPr/>
          <p:nvPr/>
        </p:nvSpPr>
        <p:spPr>
          <a:xfrm>
            <a:off x="7713558" y="3411415"/>
            <a:ext cx="1159228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s-ES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VA </a:t>
            </a:r>
            <a:r>
              <a:rPr lang="es-ES" b="1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agric</a:t>
            </a:r>
            <a:r>
              <a:rPr lang="es-ES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.</a:t>
            </a:r>
            <a:endParaRPr lang="es-AR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456585F-F180-4FF3-8B41-C5F182979EED}"/>
              </a:ext>
            </a:extLst>
          </p:cNvPr>
          <p:cNvSpPr/>
          <p:nvPr/>
        </p:nvSpPr>
        <p:spPr>
          <a:xfrm>
            <a:off x="7713558" y="2198849"/>
            <a:ext cx="1223348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s-ES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VA </a:t>
            </a:r>
            <a:r>
              <a:rPr lang="es-ES" b="1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indus</a:t>
            </a:r>
            <a:r>
              <a:rPr lang="es-ES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.</a:t>
            </a:r>
            <a:endParaRPr lang="es-AR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230332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 Rectángulo redondeado"/>
          <p:cNvSpPr/>
          <p:nvPr/>
        </p:nvSpPr>
        <p:spPr>
          <a:xfrm>
            <a:off x="3275856" y="1351229"/>
            <a:ext cx="2808312" cy="126073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Restricción cuantitativa</a:t>
            </a:r>
            <a:endParaRPr lang="es-AR"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13 Conector recto de flecha"/>
          <p:cNvCxnSpPr>
            <a:cxnSpLocks/>
            <a:stCxn id="15" idx="3"/>
            <a:endCxn id="8" idx="1"/>
          </p:cNvCxnSpPr>
          <p:nvPr/>
        </p:nvCxnSpPr>
        <p:spPr>
          <a:xfrm>
            <a:off x="2699792" y="1981598"/>
            <a:ext cx="576064" cy="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17 Rectángulo redondeado"/>
          <p:cNvSpPr/>
          <p:nvPr/>
        </p:nvSpPr>
        <p:spPr>
          <a:xfrm>
            <a:off x="1471722" y="4365104"/>
            <a:ext cx="2952328" cy="1012325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Incremento de la producción manufacturera</a:t>
            </a:r>
            <a:endParaRPr lang="es-AR" b="1" i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28 Rectángulo redondeado"/>
          <p:cNvSpPr/>
          <p:nvPr/>
        </p:nvSpPr>
        <p:spPr>
          <a:xfrm>
            <a:off x="5076056" y="3237723"/>
            <a:ext cx="2948394" cy="75271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Alza en precios de M</a:t>
            </a:r>
            <a:endParaRPr lang="es-AR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29 Rectángulo redondeado"/>
          <p:cNvSpPr/>
          <p:nvPr/>
        </p:nvSpPr>
        <p:spPr>
          <a:xfrm>
            <a:off x="5080353" y="4364071"/>
            <a:ext cx="2948394" cy="1012325"/>
          </a:xfrm>
          <a:prstGeom prst="roundRect">
            <a:avLst>
              <a:gd name="adj" fmla="val 15237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Caída de las cantidades demandadas</a:t>
            </a:r>
            <a:endParaRPr lang="es-AR" b="1" i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31 Conector recto de flecha"/>
          <p:cNvCxnSpPr>
            <a:cxnSpLocks/>
            <a:stCxn id="8" idx="2"/>
            <a:endCxn id="11" idx="0"/>
          </p:cNvCxnSpPr>
          <p:nvPr/>
        </p:nvCxnSpPr>
        <p:spPr>
          <a:xfrm>
            <a:off x="4680012" y="2611966"/>
            <a:ext cx="1870241" cy="625757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35 Conector recto de flecha"/>
          <p:cNvCxnSpPr>
            <a:cxnSpLocks/>
            <a:stCxn id="11" idx="2"/>
            <a:endCxn id="12" idx="0"/>
          </p:cNvCxnSpPr>
          <p:nvPr/>
        </p:nvCxnSpPr>
        <p:spPr>
          <a:xfrm>
            <a:off x="6550253" y="3990436"/>
            <a:ext cx="4297" cy="373635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27 Rectángulo redondeado"/>
          <p:cNvSpPr/>
          <p:nvPr/>
        </p:nvSpPr>
        <p:spPr>
          <a:xfrm>
            <a:off x="467544" y="1678827"/>
            <a:ext cx="2232248" cy="60554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Interrupción de los flujos de comercio </a:t>
            </a:r>
            <a:endParaRPr lang="es-AR" sz="16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39 Rectángulo redondeado"/>
          <p:cNvSpPr/>
          <p:nvPr/>
        </p:nvSpPr>
        <p:spPr>
          <a:xfrm>
            <a:off x="1475656" y="3237723"/>
            <a:ext cx="2952328" cy="76021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Reemplazo</a:t>
            </a:r>
            <a:r>
              <a:rPr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de </a:t>
            </a:r>
            <a:endParaRPr lang="es-AR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s-AR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importaciones</a:t>
            </a:r>
          </a:p>
        </p:txBody>
      </p:sp>
      <p:cxnSp>
        <p:nvCxnSpPr>
          <p:cNvPr id="17" name="40 Conector recto de flecha"/>
          <p:cNvCxnSpPr>
            <a:cxnSpLocks/>
            <a:stCxn id="16" idx="2"/>
            <a:endCxn id="10" idx="0"/>
          </p:cNvCxnSpPr>
          <p:nvPr/>
        </p:nvCxnSpPr>
        <p:spPr>
          <a:xfrm flipH="1">
            <a:off x="2947886" y="3997941"/>
            <a:ext cx="3934" cy="367163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44 Conector recto de flecha"/>
          <p:cNvCxnSpPr>
            <a:cxnSpLocks/>
            <a:stCxn id="8" idx="2"/>
            <a:endCxn id="16" idx="0"/>
          </p:cNvCxnSpPr>
          <p:nvPr/>
        </p:nvCxnSpPr>
        <p:spPr>
          <a:xfrm flipH="1">
            <a:off x="2951820" y="2611966"/>
            <a:ext cx="1728192" cy="625757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49 Rectángulo redondeado"/>
          <p:cNvSpPr/>
          <p:nvPr/>
        </p:nvSpPr>
        <p:spPr>
          <a:xfrm>
            <a:off x="1475656" y="5644604"/>
            <a:ext cx="2952328" cy="79208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Orientadas al consumo y algunas materias primas</a:t>
            </a:r>
            <a:endParaRPr lang="es-AR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22" name="54 Conector recto de flecha"/>
          <p:cNvCxnSpPr>
            <a:cxnSpLocks/>
            <a:stCxn id="10" idx="2"/>
            <a:endCxn id="19" idx="0"/>
          </p:cNvCxnSpPr>
          <p:nvPr/>
        </p:nvCxnSpPr>
        <p:spPr>
          <a:xfrm>
            <a:off x="2947886" y="5377429"/>
            <a:ext cx="3934" cy="267175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53B3B55-59FE-4385-86BC-0F8B9D205515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CAMBIOS CON LA GRAN GUERRA</a:t>
            </a:r>
          </a:p>
        </p:txBody>
      </p:sp>
      <p:pic>
        <p:nvPicPr>
          <p:cNvPr id="35" name="Gráfico 34" descr="Fábrica">
            <a:extLst>
              <a:ext uri="{FF2B5EF4-FFF2-40B4-BE49-F238E27FC236}">
                <a16:creationId xmlns:a16="http://schemas.microsoft.com/office/drawing/2014/main" id="{8DEB3E25-CBF8-4BCE-A0C5-BCD37A9D4A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866" y="4364072"/>
            <a:ext cx="914400" cy="914400"/>
          </a:xfrm>
          <a:prstGeom prst="rect">
            <a:avLst/>
          </a:prstGeom>
        </p:spPr>
      </p:pic>
      <p:pic>
        <p:nvPicPr>
          <p:cNvPr id="26" name="Picture 2" descr="Image result for casco primera guerra mundial icono">
            <a:extLst>
              <a:ext uri="{FF2B5EF4-FFF2-40B4-BE49-F238E27FC236}">
                <a16:creationId xmlns:a16="http://schemas.microsoft.com/office/drawing/2014/main" id="{766025C2-1D38-43C4-848D-1AC13A0DB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640829"/>
            <a:ext cx="1340768" cy="134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793AD12F-1F79-4650-ABE0-67D3C699F3B8}"/>
              </a:ext>
            </a:extLst>
          </p:cNvPr>
          <p:cNvSpPr/>
          <p:nvPr/>
        </p:nvSpPr>
        <p:spPr>
          <a:xfrm>
            <a:off x="7645411" y="1775317"/>
            <a:ext cx="1211337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GUERRA</a:t>
            </a:r>
            <a:endParaRPr lang="es-AR" sz="14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07441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884" t="9507" r="909" b="1751"/>
          <a:stretch/>
        </p:blipFill>
        <p:spPr>
          <a:xfrm>
            <a:off x="683568" y="2492896"/>
            <a:ext cx="7776863" cy="4032448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822CC669-120E-402F-8E55-042849FDCC33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CAMBIOS CON LA GRAN GUERRA</a:t>
            </a:r>
          </a:p>
        </p:txBody>
      </p:sp>
      <p:sp>
        <p:nvSpPr>
          <p:cNvPr id="10" name="23 CuadroTexto">
            <a:extLst>
              <a:ext uri="{FF2B5EF4-FFF2-40B4-BE49-F238E27FC236}">
                <a16:creationId xmlns:a16="http://schemas.microsoft.com/office/drawing/2014/main" id="{56B98895-2617-4C5F-9E1D-05B446C64DDB}"/>
              </a:ext>
            </a:extLst>
          </p:cNvPr>
          <p:cNvSpPr txBox="1"/>
          <p:nvPr/>
        </p:nvSpPr>
        <p:spPr>
          <a:xfrm>
            <a:off x="0" y="980728"/>
            <a:ext cx="9144000" cy="6840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32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sz="2000" dirty="0"/>
              <a:t>Precio de la Importaciones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53FB8DA9-4084-4468-B86A-55D90C767F23}"/>
              </a:ext>
            </a:extLst>
          </p:cNvPr>
          <p:cNvCxnSpPr>
            <a:cxnSpLocks/>
          </p:cNvCxnSpPr>
          <p:nvPr/>
        </p:nvCxnSpPr>
        <p:spPr>
          <a:xfrm flipV="1">
            <a:off x="2987824" y="1844824"/>
            <a:ext cx="0" cy="4104456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306474D-247E-464C-8B6A-F3E5B38961A1}"/>
              </a:ext>
            </a:extLst>
          </p:cNvPr>
          <p:cNvCxnSpPr>
            <a:cxnSpLocks/>
          </p:cNvCxnSpPr>
          <p:nvPr/>
        </p:nvCxnSpPr>
        <p:spPr>
          <a:xfrm flipV="1">
            <a:off x="4255832" y="1844824"/>
            <a:ext cx="0" cy="4104456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FEEABA4A-3063-407B-94FC-373D2B2AE72D}"/>
              </a:ext>
            </a:extLst>
          </p:cNvPr>
          <p:cNvSpPr/>
          <p:nvPr/>
        </p:nvSpPr>
        <p:spPr>
          <a:xfrm>
            <a:off x="3212672" y="2115465"/>
            <a:ext cx="909790" cy="90979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4DEC413-4BFB-44AC-B94F-B2188EDD257F}"/>
              </a:ext>
            </a:extLst>
          </p:cNvPr>
          <p:cNvSpPr/>
          <p:nvPr/>
        </p:nvSpPr>
        <p:spPr>
          <a:xfrm>
            <a:off x="3061899" y="5373216"/>
            <a:ext cx="1211337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GUERRA</a:t>
            </a:r>
            <a:endParaRPr lang="es-AR" sz="14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9853BEEB-5994-4A52-AE34-F10B865EA68A}"/>
              </a:ext>
            </a:extLst>
          </p:cNvPr>
          <p:cNvCxnSpPr>
            <a:cxnSpLocks/>
          </p:cNvCxnSpPr>
          <p:nvPr/>
        </p:nvCxnSpPr>
        <p:spPr>
          <a:xfrm flipV="1">
            <a:off x="5897948" y="1844824"/>
            <a:ext cx="0" cy="4104456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05C31810-BA99-42E1-A315-6C3BB0BFDA53}"/>
              </a:ext>
            </a:extLst>
          </p:cNvPr>
          <p:cNvSpPr/>
          <p:nvPr/>
        </p:nvSpPr>
        <p:spPr>
          <a:xfrm>
            <a:off x="4642186" y="2115465"/>
            <a:ext cx="909790" cy="90979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B1E7A4C-4C78-4F75-A2B1-7237F7FF26CF}"/>
              </a:ext>
            </a:extLst>
          </p:cNvPr>
          <p:cNvSpPr/>
          <p:nvPr/>
        </p:nvSpPr>
        <p:spPr>
          <a:xfrm>
            <a:off x="4345444" y="5373216"/>
            <a:ext cx="1497699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POSGUERRA</a:t>
            </a:r>
            <a:endParaRPr lang="es-AR" sz="14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riángulo isósceles 21">
            <a:extLst>
              <a:ext uri="{FF2B5EF4-FFF2-40B4-BE49-F238E27FC236}">
                <a16:creationId xmlns:a16="http://schemas.microsoft.com/office/drawing/2014/main" id="{06BC2D00-7659-40D3-8086-2826BBFDAEAC}"/>
              </a:ext>
            </a:extLst>
          </p:cNvPr>
          <p:cNvSpPr/>
          <p:nvPr/>
        </p:nvSpPr>
        <p:spPr>
          <a:xfrm>
            <a:off x="3451544" y="2267565"/>
            <a:ext cx="432046" cy="450661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Triángulo isósceles 22">
            <a:extLst>
              <a:ext uri="{FF2B5EF4-FFF2-40B4-BE49-F238E27FC236}">
                <a16:creationId xmlns:a16="http://schemas.microsoft.com/office/drawing/2014/main" id="{FB2D20E0-11CE-46E9-A188-6F3B057E82FD}"/>
              </a:ext>
            </a:extLst>
          </p:cNvPr>
          <p:cNvSpPr/>
          <p:nvPr/>
        </p:nvSpPr>
        <p:spPr>
          <a:xfrm flipV="1">
            <a:off x="4869784" y="2315171"/>
            <a:ext cx="432046" cy="450661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124527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B7850FB4-B90D-4424-B661-1009895C272C}"/>
              </a:ext>
            </a:extLst>
          </p:cNvPr>
          <p:cNvSpPr/>
          <p:nvPr/>
        </p:nvSpPr>
        <p:spPr>
          <a:xfrm>
            <a:off x="935596" y="2834934"/>
            <a:ext cx="7272808" cy="118813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LUEGO DE LA GRAN GUERRA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B2B2E30-522C-4410-ADBB-00D94EC7F54F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 DE LOS ‘20 Y ‘30</a:t>
            </a:r>
          </a:p>
        </p:txBody>
      </p:sp>
    </p:spTree>
    <p:extLst>
      <p:ext uri="{BB962C8B-B14F-4D97-AF65-F5344CB8AC3E}">
        <p14:creationId xmlns:p14="http://schemas.microsoft.com/office/powerpoint/2010/main" val="41324150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5 Rectángulo redondeado"/>
          <p:cNvSpPr/>
          <p:nvPr/>
        </p:nvSpPr>
        <p:spPr>
          <a:xfrm>
            <a:off x="179512" y="975048"/>
            <a:ext cx="2232248" cy="67755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Luego de 1818</a:t>
            </a:r>
            <a:endParaRPr lang="es-AR"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17 Rectángulo redondeado"/>
          <p:cNvSpPr/>
          <p:nvPr/>
        </p:nvSpPr>
        <p:spPr>
          <a:xfrm>
            <a:off x="179512" y="2996952"/>
            <a:ext cx="2232248" cy="1174982"/>
          </a:xfrm>
          <a:prstGeom prst="roundRect">
            <a:avLst>
              <a:gd name="adj" fmla="val 10681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Pero el incremento fue influenciado por los </a:t>
            </a: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bienes de inversión</a:t>
            </a:r>
            <a:endParaRPr lang="es-AR" sz="16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39 Rectángulo redondeado"/>
          <p:cNvSpPr/>
          <p:nvPr/>
        </p:nvSpPr>
        <p:spPr>
          <a:xfrm>
            <a:off x="179512" y="2060848"/>
            <a:ext cx="2232248" cy="57606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Vuelven a crecer  las importaciones</a:t>
            </a:r>
            <a:endParaRPr lang="es-AR" sz="16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40 Conector recto de flecha"/>
          <p:cNvCxnSpPr>
            <a:stCxn id="25" idx="2"/>
            <a:endCxn id="23" idx="0"/>
          </p:cNvCxnSpPr>
          <p:nvPr/>
        </p:nvCxnSpPr>
        <p:spPr>
          <a:xfrm>
            <a:off x="1295636" y="2636912"/>
            <a:ext cx="0" cy="36004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44 Conector recto de flecha"/>
          <p:cNvCxnSpPr>
            <a:stCxn id="20" idx="2"/>
            <a:endCxn id="25" idx="0"/>
          </p:cNvCxnSpPr>
          <p:nvPr/>
        </p:nvCxnSpPr>
        <p:spPr>
          <a:xfrm>
            <a:off x="1295636" y="1652598"/>
            <a:ext cx="0" cy="40825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49 Rectángulo redondeado"/>
          <p:cNvSpPr/>
          <p:nvPr/>
        </p:nvSpPr>
        <p:spPr>
          <a:xfrm>
            <a:off x="179512" y="4793803"/>
            <a:ext cx="3732098" cy="1357686"/>
          </a:xfrm>
          <a:prstGeom prst="roundRect">
            <a:avLst>
              <a:gd name="adj" fmla="val 10450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industria mantuvo su dinámica</a:t>
            </a:r>
            <a:endParaRPr lang="es-AR" sz="24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50 Rectángulo redondeado"/>
          <p:cNvSpPr/>
          <p:nvPr/>
        </p:nvSpPr>
        <p:spPr>
          <a:xfrm>
            <a:off x="2064473" y="3761892"/>
            <a:ext cx="1268656" cy="53463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accent5">
                    <a:lumMod val="50000"/>
                  </a:schemeClr>
                </a:solidFill>
              </a:rPr>
              <a:t>Entre 1918 y 1928</a:t>
            </a:r>
            <a:endParaRPr lang="es-AR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2" name="41 Rectángulo redondeado"/>
          <p:cNvSpPr/>
          <p:nvPr/>
        </p:nvSpPr>
        <p:spPr>
          <a:xfrm>
            <a:off x="1060251" y="5945931"/>
            <a:ext cx="3277099" cy="576064"/>
          </a:xfrm>
          <a:prstGeom prst="roundRect">
            <a:avLst>
              <a:gd name="adj" fmla="val 1045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accent5">
                    <a:lumMod val="50000"/>
                  </a:schemeClr>
                </a:solidFill>
              </a:rPr>
              <a:t>Aunque el impulso de la sustitución de importaciones se diluyó</a:t>
            </a:r>
            <a:endParaRPr lang="es-AR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1" name="16 Rectángulo redondeado"/>
          <p:cNvSpPr/>
          <p:nvPr/>
        </p:nvSpPr>
        <p:spPr>
          <a:xfrm>
            <a:off x="3514730" y="975048"/>
            <a:ext cx="2757569" cy="1296144"/>
          </a:xfrm>
          <a:prstGeom prst="roundRect">
            <a:avLst>
              <a:gd name="adj" fmla="val 10155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¿Medidas proteccionistas que prolongaran las condiciones favorables para la industria?</a:t>
            </a:r>
            <a:endParaRPr lang="es-AR" sz="1600" b="1" i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40 Rectángulo redondeado"/>
          <p:cNvSpPr/>
          <p:nvPr/>
        </p:nvSpPr>
        <p:spPr>
          <a:xfrm>
            <a:off x="6281852" y="2923501"/>
            <a:ext cx="1145605" cy="73389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dirty="0">
                <a:solidFill>
                  <a:prstClr val="white"/>
                </a:solidFill>
              </a:rPr>
              <a:t>NO</a:t>
            </a:r>
          </a:p>
        </p:txBody>
      </p:sp>
      <p:sp>
        <p:nvSpPr>
          <p:cNvPr id="75" name="41 Rectángulo redondeado"/>
          <p:cNvSpPr/>
          <p:nvPr/>
        </p:nvSpPr>
        <p:spPr>
          <a:xfrm>
            <a:off x="5478300" y="4365104"/>
            <a:ext cx="2765780" cy="73389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Nivel de protección inferior al de pre-guerra</a:t>
            </a:r>
            <a:endParaRPr lang="es-AR" sz="16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6" name="42 Conector recto de flecha"/>
          <p:cNvCxnSpPr>
            <a:cxnSpLocks/>
            <a:stCxn id="74" idx="2"/>
            <a:endCxn id="75" idx="0"/>
          </p:cNvCxnSpPr>
          <p:nvPr/>
        </p:nvCxnSpPr>
        <p:spPr>
          <a:xfrm>
            <a:off x="6854655" y="3657397"/>
            <a:ext cx="6535" cy="707707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ángulo 33">
            <a:extLst>
              <a:ext uri="{FF2B5EF4-FFF2-40B4-BE49-F238E27FC236}">
                <a16:creationId xmlns:a16="http://schemas.microsoft.com/office/drawing/2014/main" id="{69F5233C-64AC-452F-93EA-16D040894164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LUEGO DE LA GRAN GUERRA</a:t>
            </a:r>
          </a:p>
        </p:txBody>
      </p:sp>
      <p:pic>
        <p:nvPicPr>
          <p:cNvPr id="35" name="Picture 2" descr="Image result for casco primera guerra mundial icono">
            <a:extLst>
              <a:ext uri="{FF2B5EF4-FFF2-40B4-BE49-F238E27FC236}">
                <a16:creationId xmlns:a16="http://schemas.microsoft.com/office/drawing/2014/main" id="{7B4B8330-DCC4-4F67-9DC4-5682E3FB4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640829"/>
            <a:ext cx="1340768" cy="134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ángulo 35">
            <a:extLst>
              <a:ext uri="{FF2B5EF4-FFF2-40B4-BE49-F238E27FC236}">
                <a16:creationId xmlns:a16="http://schemas.microsoft.com/office/drawing/2014/main" id="{E4428BEC-101D-4EBD-8D8F-2365FB22F01A}"/>
              </a:ext>
            </a:extLst>
          </p:cNvPr>
          <p:cNvSpPr/>
          <p:nvPr/>
        </p:nvSpPr>
        <p:spPr>
          <a:xfrm>
            <a:off x="7560060" y="1775317"/>
            <a:ext cx="1332420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POSGUERRA</a:t>
            </a:r>
            <a:endParaRPr lang="es-AR" sz="14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8A3B8B6D-10E2-4779-AF48-6ADE3EBB5C23}"/>
              </a:ext>
            </a:extLst>
          </p:cNvPr>
          <p:cNvSpPr/>
          <p:nvPr/>
        </p:nvSpPr>
        <p:spPr>
          <a:xfrm>
            <a:off x="7668344" y="1447399"/>
            <a:ext cx="1332420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FIN</a:t>
            </a:r>
            <a:endParaRPr lang="es-AR" sz="14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30457B3D-7D49-490D-A8CD-E32FAC580B81}"/>
              </a:ext>
            </a:extLst>
          </p:cNvPr>
          <p:cNvCxnSpPr>
            <a:stCxn id="23" idx="2"/>
            <a:endCxn id="28" idx="0"/>
          </p:cNvCxnSpPr>
          <p:nvPr/>
        </p:nvCxnSpPr>
        <p:spPr>
          <a:xfrm rot="16200000" flipH="1">
            <a:off x="1359664" y="4107905"/>
            <a:ext cx="621869" cy="749925"/>
          </a:xfrm>
          <a:prstGeom prst="bentConnector3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FB7FE0C1-6C92-4B47-8DE1-EB4DDE1C0EFC}"/>
              </a:ext>
            </a:extLst>
          </p:cNvPr>
          <p:cNvCxnSpPr>
            <a:cxnSpLocks/>
            <a:stCxn id="28" idx="3"/>
            <a:endCxn id="71" idx="1"/>
          </p:cNvCxnSpPr>
          <p:nvPr/>
        </p:nvCxnSpPr>
        <p:spPr>
          <a:xfrm flipH="1" flipV="1">
            <a:off x="3514730" y="1623120"/>
            <a:ext cx="396880" cy="3849526"/>
          </a:xfrm>
          <a:prstGeom prst="bentConnector5">
            <a:avLst>
              <a:gd name="adj1" fmla="val -57599"/>
              <a:gd name="adj2" fmla="val 50400"/>
              <a:gd name="adj3" fmla="val 267481"/>
            </a:avLst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: angular 52">
            <a:extLst>
              <a:ext uri="{FF2B5EF4-FFF2-40B4-BE49-F238E27FC236}">
                <a16:creationId xmlns:a16="http://schemas.microsoft.com/office/drawing/2014/main" id="{0919AFB2-9722-4088-801B-FA2C1FF069F0}"/>
              </a:ext>
            </a:extLst>
          </p:cNvPr>
          <p:cNvCxnSpPr>
            <a:cxnSpLocks/>
            <a:stCxn id="71" idx="2"/>
            <a:endCxn id="74" idx="0"/>
          </p:cNvCxnSpPr>
          <p:nvPr/>
        </p:nvCxnSpPr>
        <p:spPr>
          <a:xfrm rot="16200000" flipH="1">
            <a:off x="5547931" y="1616776"/>
            <a:ext cx="652309" cy="1961140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24 Rectángulo redondeado"/>
          <p:cNvSpPr/>
          <p:nvPr/>
        </p:nvSpPr>
        <p:spPr>
          <a:xfrm>
            <a:off x="7429366" y="2773253"/>
            <a:ext cx="1386428" cy="1034392"/>
          </a:xfrm>
          <a:prstGeom prst="roundRect">
            <a:avLst>
              <a:gd name="adj" fmla="val 11227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accent5">
                    <a:lumMod val="50000"/>
                  </a:schemeClr>
                </a:solidFill>
              </a:rPr>
              <a:t>Recién en el ’23, Alvear sube valores de avalúos </a:t>
            </a:r>
            <a:endParaRPr lang="es-AR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3" name="34 Rectángulo redondeado"/>
          <p:cNvSpPr/>
          <p:nvPr/>
        </p:nvSpPr>
        <p:spPr>
          <a:xfrm>
            <a:off x="6544353" y="5047382"/>
            <a:ext cx="2349438" cy="733896"/>
          </a:xfrm>
          <a:prstGeom prst="roundRect">
            <a:avLst>
              <a:gd name="adj" fmla="val 15013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accent5">
                    <a:lumMod val="50000"/>
                  </a:schemeClr>
                </a:solidFill>
              </a:rPr>
              <a:t>El mundo SÍ pasaba por una fase proteccionista</a:t>
            </a:r>
            <a:endParaRPr lang="es-AR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69EB7739-EC4D-4480-9128-7F2B77DB0567}"/>
              </a:ext>
            </a:extLst>
          </p:cNvPr>
          <p:cNvSpPr/>
          <p:nvPr/>
        </p:nvSpPr>
        <p:spPr>
          <a:xfrm>
            <a:off x="6147723" y="6053031"/>
            <a:ext cx="1497699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???</a:t>
            </a:r>
            <a:endParaRPr lang="es-AR" sz="36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125911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1975" t="11525" r="2612" b="2864"/>
          <a:stretch/>
        </p:blipFill>
        <p:spPr>
          <a:xfrm>
            <a:off x="323528" y="2160334"/>
            <a:ext cx="8352928" cy="4494274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CEF58661-8D1B-4658-80B6-A9FBC29F4027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LUEGO DE LA GRAN GUERRA</a:t>
            </a:r>
          </a:p>
        </p:txBody>
      </p:sp>
      <p:sp>
        <p:nvSpPr>
          <p:cNvPr id="9" name="23 CuadroTexto">
            <a:extLst>
              <a:ext uri="{FF2B5EF4-FFF2-40B4-BE49-F238E27FC236}">
                <a16:creationId xmlns:a16="http://schemas.microsoft.com/office/drawing/2014/main" id="{37FBC1DF-1E8C-445E-921D-C0FAB4826FCB}"/>
              </a:ext>
            </a:extLst>
          </p:cNvPr>
          <p:cNvSpPr txBox="1"/>
          <p:nvPr/>
        </p:nvSpPr>
        <p:spPr>
          <a:xfrm>
            <a:off x="0" y="980728"/>
            <a:ext cx="9144000" cy="6840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32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sz="2000" dirty="0"/>
              <a:t>Cantidades importadas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58107D4-2DD5-456B-8BB8-38CB23F3DA61}"/>
              </a:ext>
            </a:extLst>
          </p:cNvPr>
          <p:cNvCxnSpPr>
            <a:cxnSpLocks/>
          </p:cNvCxnSpPr>
          <p:nvPr/>
        </p:nvCxnSpPr>
        <p:spPr>
          <a:xfrm flipV="1">
            <a:off x="2843808" y="1844824"/>
            <a:ext cx="0" cy="4104456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0480A295-614C-4392-A0A6-A69F6F884F8D}"/>
              </a:ext>
            </a:extLst>
          </p:cNvPr>
          <p:cNvCxnSpPr>
            <a:cxnSpLocks/>
          </p:cNvCxnSpPr>
          <p:nvPr/>
        </p:nvCxnSpPr>
        <p:spPr>
          <a:xfrm flipV="1">
            <a:off x="4255832" y="1844824"/>
            <a:ext cx="0" cy="4104456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DC624BEE-2469-435E-96DD-667072590F72}"/>
              </a:ext>
            </a:extLst>
          </p:cNvPr>
          <p:cNvSpPr/>
          <p:nvPr/>
        </p:nvSpPr>
        <p:spPr>
          <a:xfrm>
            <a:off x="3100214" y="2115465"/>
            <a:ext cx="909790" cy="90979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B49E997-0907-486D-A0C0-77FAF4C7050F}"/>
              </a:ext>
            </a:extLst>
          </p:cNvPr>
          <p:cNvSpPr/>
          <p:nvPr/>
        </p:nvSpPr>
        <p:spPr>
          <a:xfrm>
            <a:off x="3061899" y="5373216"/>
            <a:ext cx="1211337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GUERRA</a:t>
            </a:r>
            <a:endParaRPr lang="es-AR" sz="14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ADB1D5F-70DB-4A9A-9197-6C93C7FEC714}"/>
              </a:ext>
            </a:extLst>
          </p:cNvPr>
          <p:cNvCxnSpPr>
            <a:cxnSpLocks/>
          </p:cNvCxnSpPr>
          <p:nvPr/>
        </p:nvCxnSpPr>
        <p:spPr>
          <a:xfrm flipV="1">
            <a:off x="6040296" y="1844824"/>
            <a:ext cx="0" cy="4104456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D5E1193E-9741-484A-AB27-35D4C4BC03F6}"/>
              </a:ext>
            </a:extLst>
          </p:cNvPr>
          <p:cNvSpPr/>
          <p:nvPr/>
        </p:nvSpPr>
        <p:spPr>
          <a:xfrm>
            <a:off x="4742330" y="2115465"/>
            <a:ext cx="909790" cy="90979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01F4268-BAF2-453E-8D34-F6184345F0C5}"/>
              </a:ext>
            </a:extLst>
          </p:cNvPr>
          <p:cNvSpPr/>
          <p:nvPr/>
        </p:nvSpPr>
        <p:spPr>
          <a:xfrm>
            <a:off x="4448375" y="5373216"/>
            <a:ext cx="1497699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POSGUERRA</a:t>
            </a:r>
            <a:endParaRPr lang="es-AR" sz="14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riángulo isósceles 16">
            <a:extLst>
              <a:ext uri="{FF2B5EF4-FFF2-40B4-BE49-F238E27FC236}">
                <a16:creationId xmlns:a16="http://schemas.microsoft.com/office/drawing/2014/main" id="{4E0AD91C-336A-4B99-9E55-CC422C7DD344}"/>
              </a:ext>
            </a:extLst>
          </p:cNvPr>
          <p:cNvSpPr/>
          <p:nvPr/>
        </p:nvSpPr>
        <p:spPr>
          <a:xfrm flipV="1">
            <a:off x="3339086" y="2330267"/>
            <a:ext cx="432046" cy="450661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Triángulo isósceles 17">
            <a:extLst>
              <a:ext uri="{FF2B5EF4-FFF2-40B4-BE49-F238E27FC236}">
                <a16:creationId xmlns:a16="http://schemas.microsoft.com/office/drawing/2014/main" id="{A641949D-24DF-4977-86C7-6A8410B905C6}"/>
              </a:ext>
            </a:extLst>
          </p:cNvPr>
          <p:cNvSpPr/>
          <p:nvPr/>
        </p:nvSpPr>
        <p:spPr>
          <a:xfrm>
            <a:off x="4963495" y="2315171"/>
            <a:ext cx="432046" cy="450661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79911424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6" t="2456" r="3683" b="8258"/>
          <a:stretch/>
        </p:blipFill>
        <p:spPr bwMode="auto">
          <a:xfrm>
            <a:off x="251520" y="2269524"/>
            <a:ext cx="8482542" cy="4327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1 Rectángulo"/>
          <p:cNvSpPr/>
          <p:nvPr/>
        </p:nvSpPr>
        <p:spPr>
          <a:xfrm>
            <a:off x="251520" y="508518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AR" i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(En porcentajes)</a:t>
            </a:r>
            <a:endParaRPr lang="es-AR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22BD19B-7AF4-4435-A6E3-D9A3FABA3364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LUEGO DE LA GRAN GUERRA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596D467-4FDE-42E7-9B1C-D9AB3F06BA85}"/>
              </a:ext>
            </a:extLst>
          </p:cNvPr>
          <p:cNvSpPr/>
          <p:nvPr/>
        </p:nvSpPr>
        <p:spPr>
          <a:xfrm>
            <a:off x="6167796" y="4382013"/>
            <a:ext cx="1211337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12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ARANCEL IMPLÍCITO</a:t>
            </a:r>
            <a:endParaRPr lang="es-AR" sz="12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2670F09-1CB4-464E-880A-81A32038F583}"/>
              </a:ext>
            </a:extLst>
          </p:cNvPr>
          <p:cNvSpPr/>
          <p:nvPr/>
        </p:nvSpPr>
        <p:spPr>
          <a:xfrm>
            <a:off x="6914144" y="2511635"/>
            <a:ext cx="1211337" cy="1015663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12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ARANCEL IMPLÍCITO</a:t>
            </a:r>
          </a:p>
          <a:p>
            <a:pPr algn="ctr"/>
            <a:r>
              <a:rPr lang="es-ES" sz="12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Ajustado por precios de importación</a:t>
            </a:r>
            <a:endParaRPr lang="es-AR" sz="12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23 CuadroTexto">
            <a:extLst>
              <a:ext uri="{FF2B5EF4-FFF2-40B4-BE49-F238E27FC236}">
                <a16:creationId xmlns:a16="http://schemas.microsoft.com/office/drawing/2014/main" id="{D0D3375F-DFA0-463F-8751-DB1940F95C08}"/>
              </a:ext>
            </a:extLst>
          </p:cNvPr>
          <p:cNvSpPr txBox="1"/>
          <p:nvPr/>
        </p:nvSpPr>
        <p:spPr>
          <a:xfrm>
            <a:off x="0" y="980728"/>
            <a:ext cx="9144000" cy="6840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32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sz="2000" dirty="0"/>
              <a:t>Protección arancelaria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FDCD1242-0F60-4F0A-B7FF-0E236DDC4546}"/>
              </a:ext>
            </a:extLst>
          </p:cNvPr>
          <p:cNvSpPr/>
          <p:nvPr/>
        </p:nvSpPr>
        <p:spPr>
          <a:xfrm>
            <a:off x="6142042" y="2173444"/>
            <a:ext cx="909790" cy="90979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riángulo isósceles 14">
            <a:extLst>
              <a:ext uri="{FF2B5EF4-FFF2-40B4-BE49-F238E27FC236}">
                <a16:creationId xmlns:a16="http://schemas.microsoft.com/office/drawing/2014/main" id="{72BCC3F5-7FF2-4BC3-8809-D8873DAD125E}"/>
              </a:ext>
            </a:extLst>
          </p:cNvPr>
          <p:cNvSpPr/>
          <p:nvPr/>
        </p:nvSpPr>
        <p:spPr>
          <a:xfrm flipV="1">
            <a:off x="6380914" y="2388246"/>
            <a:ext cx="432046" cy="450661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36582041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6 Rectángulo redondeado"/>
          <p:cNvSpPr/>
          <p:nvPr/>
        </p:nvSpPr>
        <p:spPr>
          <a:xfrm>
            <a:off x="132876" y="2931852"/>
            <a:ext cx="1584176" cy="112265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 de la guerra</a:t>
            </a:r>
            <a:endParaRPr lang="es-AR"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24 Rectángulo redondeado"/>
          <p:cNvSpPr/>
          <p:nvPr/>
        </p:nvSpPr>
        <p:spPr>
          <a:xfrm>
            <a:off x="6516216" y="1560093"/>
            <a:ext cx="2232248" cy="80775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Depreciación REAL</a:t>
            </a:r>
            <a:endParaRPr lang="es-AR"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40 Rectángulo redondeado"/>
          <p:cNvSpPr/>
          <p:nvPr/>
        </p:nvSpPr>
        <p:spPr>
          <a:xfrm>
            <a:off x="6697786" y="2288004"/>
            <a:ext cx="2232248" cy="54919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i="1" dirty="0">
                <a:solidFill>
                  <a:schemeClr val="accent5">
                    <a:lumMod val="50000"/>
                  </a:schemeClr>
                </a:solidFill>
              </a:rPr>
              <a:t>Estímulo para TODOS los bienes transables</a:t>
            </a:r>
            <a:endParaRPr lang="es-AR" sz="1600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19 Rectángulo redondeado"/>
          <p:cNvSpPr/>
          <p:nvPr/>
        </p:nvSpPr>
        <p:spPr>
          <a:xfrm>
            <a:off x="2966559" y="1290025"/>
            <a:ext cx="2232248" cy="4320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Inflación argentina</a:t>
            </a:r>
            <a:endParaRPr lang="es-AR" sz="16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20 Rectángulo redondeado"/>
          <p:cNvSpPr/>
          <p:nvPr/>
        </p:nvSpPr>
        <p:spPr>
          <a:xfrm>
            <a:off x="2987824" y="2255607"/>
            <a:ext cx="2232248" cy="4320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Inflación externa</a:t>
            </a:r>
            <a:endParaRPr lang="es-AR" sz="16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21 Rectángulo redondeado"/>
          <p:cNvSpPr/>
          <p:nvPr/>
        </p:nvSpPr>
        <p:spPr>
          <a:xfrm>
            <a:off x="3830655" y="1772816"/>
            <a:ext cx="504056" cy="4320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endParaRPr lang="es-AR" sz="28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25 Flecha derecha"/>
          <p:cNvSpPr/>
          <p:nvPr/>
        </p:nvSpPr>
        <p:spPr>
          <a:xfrm>
            <a:off x="5292080" y="1196752"/>
            <a:ext cx="1080120" cy="1512168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prstClr val="white"/>
              </a:solidFill>
            </a:endParaRPr>
          </a:p>
        </p:txBody>
      </p:sp>
      <p:sp>
        <p:nvSpPr>
          <p:cNvPr id="17" name="32 Rectángulo redondeado"/>
          <p:cNvSpPr/>
          <p:nvPr/>
        </p:nvSpPr>
        <p:spPr>
          <a:xfrm>
            <a:off x="2966559" y="4530385"/>
            <a:ext cx="2232248" cy="4320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∆Precios industriales</a:t>
            </a:r>
            <a:endParaRPr lang="es-AR" sz="16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35 Rectángulo redondeado"/>
          <p:cNvSpPr/>
          <p:nvPr/>
        </p:nvSpPr>
        <p:spPr>
          <a:xfrm>
            <a:off x="3830655" y="5013176"/>
            <a:ext cx="504056" cy="4320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s-AR" sz="28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38 Rectángulo redondeado"/>
          <p:cNvSpPr/>
          <p:nvPr/>
        </p:nvSpPr>
        <p:spPr>
          <a:xfrm>
            <a:off x="2987824" y="5495967"/>
            <a:ext cx="2232248" cy="4320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∆Precios M.P.</a:t>
            </a:r>
            <a:endParaRPr lang="es-AR" sz="16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39 Rectángulo redondeado"/>
          <p:cNvSpPr/>
          <p:nvPr/>
        </p:nvSpPr>
        <p:spPr>
          <a:xfrm>
            <a:off x="6516216" y="4825288"/>
            <a:ext cx="2232248" cy="76261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Caída de T.I.E.</a:t>
            </a:r>
            <a:endParaRPr lang="es-AR"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44 Rectángulo redondeado"/>
          <p:cNvSpPr/>
          <p:nvPr/>
        </p:nvSpPr>
        <p:spPr>
          <a:xfrm>
            <a:off x="6841802" y="5553152"/>
            <a:ext cx="2050678" cy="97084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i="1" dirty="0">
                <a:solidFill>
                  <a:schemeClr val="accent5">
                    <a:lumMod val="50000"/>
                  </a:schemeClr>
                </a:solidFill>
              </a:rPr>
              <a:t>Deteriora rentabilidad de exportadores, protege  industriales</a:t>
            </a:r>
            <a:endParaRPr lang="es-AR" sz="1600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4" name="46 Flecha derecha"/>
          <p:cNvSpPr/>
          <p:nvPr/>
        </p:nvSpPr>
        <p:spPr>
          <a:xfrm>
            <a:off x="5292080" y="4437112"/>
            <a:ext cx="1080120" cy="1512168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prstClr val="white"/>
              </a:solidFill>
            </a:endParaRPr>
          </a:p>
        </p:txBody>
      </p:sp>
      <p:cxnSp>
        <p:nvCxnSpPr>
          <p:cNvPr id="25" name="51 Conector recto de flecha"/>
          <p:cNvCxnSpPr>
            <a:cxnSpLocks/>
            <a:stCxn id="6" idx="3"/>
          </p:cNvCxnSpPr>
          <p:nvPr/>
        </p:nvCxnSpPr>
        <p:spPr>
          <a:xfrm flipV="1">
            <a:off x="1717052" y="1988840"/>
            <a:ext cx="982740" cy="1504337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54 Conector recto de flecha"/>
          <p:cNvCxnSpPr>
            <a:cxnSpLocks/>
            <a:stCxn id="6" idx="3"/>
          </p:cNvCxnSpPr>
          <p:nvPr/>
        </p:nvCxnSpPr>
        <p:spPr>
          <a:xfrm>
            <a:off x="1717052" y="3493177"/>
            <a:ext cx="982740" cy="1736023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26 Rectángulo redondeado"/>
          <p:cNvSpPr/>
          <p:nvPr/>
        </p:nvSpPr>
        <p:spPr>
          <a:xfrm>
            <a:off x="7132274" y="3658292"/>
            <a:ext cx="1000132" cy="28575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chemeClr val="accent5">
                    <a:lumMod val="50000"/>
                  </a:schemeClr>
                </a:solidFill>
              </a:rPr>
              <a:t>Pero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B335CFDF-C5DE-45A7-AC4C-1CF48AB247E9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LUEGO DE LA GRAN GUERRA</a:t>
            </a:r>
          </a:p>
        </p:txBody>
      </p:sp>
      <p:sp>
        <p:nvSpPr>
          <p:cNvPr id="19" name="Estrella: 5 puntas 18">
            <a:extLst>
              <a:ext uri="{FF2B5EF4-FFF2-40B4-BE49-F238E27FC236}">
                <a16:creationId xmlns:a16="http://schemas.microsoft.com/office/drawing/2014/main" id="{165B7840-1780-4014-85B2-6755BF7F2B30}"/>
              </a:ext>
            </a:extLst>
          </p:cNvPr>
          <p:cNvSpPr/>
          <p:nvPr/>
        </p:nvSpPr>
        <p:spPr>
          <a:xfrm>
            <a:off x="395536" y="784008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06426237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1600" y="692696"/>
            <a:ext cx="7128792" cy="6017408"/>
          </a:xfrm>
          <a:prstGeom prst="rect">
            <a:avLst/>
          </a:prstGeom>
        </p:spPr>
      </p:pic>
      <p:cxnSp>
        <p:nvCxnSpPr>
          <p:cNvPr id="32" name="Conector recto de flecha 31"/>
          <p:cNvCxnSpPr>
            <a:cxnSpLocks/>
          </p:cNvCxnSpPr>
          <p:nvPr/>
        </p:nvCxnSpPr>
        <p:spPr>
          <a:xfrm flipV="1">
            <a:off x="5364088" y="3043861"/>
            <a:ext cx="1512168" cy="521082"/>
          </a:xfrm>
          <a:prstGeom prst="straightConnector1">
            <a:avLst/>
          </a:prstGeom>
          <a:ln w="38100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ángulo 32"/>
          <p:cNvSpPr/>
          <p:nvPr/>
        </p:nvSpPr>
        <p:spPr>
          <a:xfrm>
            <a:off x="3995936" y="4658058"/>
            <a:ext cx="2160240" cy="360040"/>
          </a:xfrm>
          <a:prstGeom prst="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5 Rectángulo redondeado"/>
          <p:cNvSpPr/>
          <p:nvPr/>
        </p:nvSpPr>
        <p:spPr>
          <a:xfrm>
            <a:off x="5220072" y="1453852"/>
            <a:ext cx="1800200" cy="63899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Depreciación REAL</a:t>
            </a:r>
            <a:endParaRPr lang="es-ES" b="1" i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FDFF39A-4C7D-47F4-9F99-E805E7DDDC17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LUEGO DE LA GRAN GUERRA</a:t>
            </a:r>
          </a:p>
        </p:txBody>
      </p:sp>
    </p:spTree>
    <p:extLst>
      <p:ext uri="{BB962C8B-B14F-4D97-AF65-F5344CB8AC3E}">
        <p14:creationId xmlns:p14="http://schemas.microsoft.com/office/powerpoint/2010/main" val="2084961437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928" t="12511" r="1803" b="1962"/>
          <a:stretch/>
        </p:blipFill>
        <p:spPr>
          <a:xfrm>
            <a:off x="827584" y="2276872"/>
            <a:ext cx="7560840" cy="4104456"/>
          </a:xfrm>
          <a:prstGeom prst="rect">
            <a:avLst/>
          </a:prstGeom>
        </p:spPr>
      </p:pic>
      <p:sp>
        <p:nvSpPr>
          <p:cNvPr id="31" name="5 Rectángulo redondeado"/>
          <p:cNvSpPr/>
          <p:nvPr/>
        </p:nvSpPr>
        <p:spPr>
          <a:xfrm>
            <a:off x="6062071" y="4437112"/>
            <a:ext cx="2345166" cy="1278147"/>
          </a:xfrm>
          <a:prstGeom prst="roundRect">
            <a:avLst>
              <a:gd name="adj" fmla="val 896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i="1" dirty="0"/>
              <a:t>Aumenta el precio de importaciones en términos del precio de exportaciones</a:t>
            </a:r>
            <a:endParaRPr lang="es-ES" b="1" i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3AD833F-E7AE-4F93-B93D-5C642C732E69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LUEGO DE LA GRAN GUERRA</a:t>
            </a:r>
          </a:p>
        </p:txBody>
      </p:sp>
      <p:sp>
        <p:nvSpPr>
          <p:cNvPr id="10" name="23 CuadroTexto">
            <a:extLst>
              <a:ext uri="{FF2B5EF4-FFF2-40B4-BE49-F238E27FC236}">
                <a16:creationId xmlns:a16="http://schemas.microsoft.com/office/drawing/2014/main" id="{BA5759A4-F50C-43A3-9605-F3CB75455079}"/>
              </a:ext>
            </a:extLst>
          </p:cNvPr>
          <p:cNvSpPr txBox="1"/>
          <p:nvPr/>
        </p:nvSpPr>
        <p:spPr>
          <a:xfrm>
            <a:off x="0" y="980728"/>
            <a:ext cx="9144000" cy="6840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32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sz="2000" dirty="0"/>
              <a:t>Términos de intercambio externos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ECD5E5AD-D245-4CC5-90BC-65435FBA5695}"/>
              </a:ext>
            </a:extLst>
          </p:cNvPr>
          <p:cNvCxnSpPr>
            <a:cxnSpLocks/>
          </p:cNvCxnSpPr>
          <p:nvPr/>
        </p:nvCxnSpPr>
        <p:spPr>
          <a:xfrm flipV="1">
            <a:off x="4255832" y="1730612"/>
            <a:ext cx="0" cy="4104456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D59FB3A8-F384-47E7-A2C5-DC2FF57589C2}"/>
              </a:ext>
            </a:extLst>
          </p:cNvPr>
          <p:cNvCxnSpPr>
            <a:cxnSpLocks/>
          </p:cNvCxnSpPr>
          <p:nvPr/>
        </p:nvCxnSpPr>
        <p:spPr>
          <a:xfrm flipV="1">
            <a:off x="5580112" y="1730612"/>
            <a:ext cx="0" cy="4104456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8F840615-4C35-4D2B-8325-93D151C632FB}"/>
              </a:ext>
            </a:extLst>
          </p:cNvPr>
          <p:cNvSpPr/>
          <p:nvPr/>
        </p:nvSpPr>
        <p:spPr>
          <a:xfrm>
            <a:off x="4482434" y="2044958"/>
            <a:ext cx="909790" cy="90979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A00489D-8788-4CBD-947E-44606DCAD3D5}"/>
              </a:ext>
            </a:extLst>
          </p:cNvPr>
          <p:cNvSpPr/>
          <p:nvPr/>
        </p:nvSpPr>
        <p:spPr>
          <a:xfrm>
            <a:off x="4196625" y="5301208"/>
            <a:ext cx="1497699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POSGUERRA</a:t>
            </a:r>
            <a:endParaRPr lang="es-AR" sz="14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riángulo isósceles 14">
            <a:extLst>
              <a:ext uri="{FF2B5EF4-FFF2-40B4-BE49-F238E27FC236}">
                <a16:creationId xmlns:a16="http://schemas.microsoft.com/office/drawing/2014/main" id="{BF8A15E3-C9CC-4F58-A948-24D8A2BDE887}"/>
              </a:ext>
            </a:extLst>
          </p:cNvPr>
          <p:cNvSpPr/>
          <p:nvPr/>
        </p:nvSpPr>
        <p:spPr>
          <a:xfrm flipV="1">
            <a:off x="4703599" y="2259760"/>
            <a:ext cx="432046" cy="450661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84630940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6 Rectángulo redondeado"/>
          <p:cNvSpPr/>
          <p:nvPr/>
        </p:nvSpPr>
        <p:spPr>
          <a:xfrm>
            <a:off x="755576" y="1052736"/>
            <a:ext cx="2016224" cy="121032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Diferencias entre </a:t>
            </a:r>
            <a:endParaRPr lang="es-AR"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32 Rectángulo redondeado"/>
          <p:cNvSpPr/>
          <p:nvPr/>
        </p:nvSpPr>
        <p:spPr>
          <a:xfrm>
            <a:off x="3491880" y="1052736"/>
            <a:ext cx="2232248" cy="4320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∆Precios industriales</a:t>
            </a:r>
            <a:endParaRPr lang="es-AR" sz="16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38 Rectángulo redondeado"/>
          <p:cNvSpPr/>
          <p:nvPr/>
        </p:nvSpPr>
        <p:spPr>
          <a:xfrm>
            <a:off x="3491880" y="1844824"/>
            <a:ext cx="2232248" cy="4320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∆Precios M.P.</a:t>
            </a:r>
            <a:endParaRPr lang="es-AR" sz="16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63 Rectángulo redondeado"/>
          <p:cNvSpPr/>
          <p:nvPr/>
        </p:nvSpPr>
        <p:spPr>
          <a:xfrm>
            <a:off x="6228184" y="980728"/>
            <a:ext cx="2376264" cy="142634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Varios factores influyeron</a:t>
            </a:r>
            <a:endParaRPr lang="es-AR"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26 Conector recto de flecha"/>
          <p:cNvCxnSpPr>
            <a:cxnSpLocks/>
            <a:stCxn id="6" idx="3"/>
            <a:endCxn id="7" idx="1"/>
          </p:cNvCxnSpPr>
          <p:nvPr/>
        </p:nvCxnSpPr>
        <p:spPr>
          <a:xfrm flipV="1">
            <a:off x="2771800" y="1268760"/>
            <a:ext cx="720080" cy="38913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29 Conector recto de flecha"/>
          <p:cNvCxnSpPr>
            <a:cxnSpLocks/>
            <a:stCxn id="6" idx="3"/>
            <a:endCxn id="8" idx="1"/>
          </p:cNvCxnSpPr>
          <p:nvPr/>
        </p:nvCxnSpPr>
        <p:spPr>
          <a:xfrm>
            <a:off x="2771800" y="1657896"/>
            <a:ext cx="720080" cy="40295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52 Conector angular"/>
          <p:cNvCxnSpPr>
            <a:cxnSpLocks/>
            <a:stCxn id="6" idx="2"/>
            <a:endCxn id="14" idx="1"/>
          </p:cNvCxnSpPr>
          <p:nvPr/>
        </p:nvCxnSpPr>
        <p:spPr>
          <a:xfrm rot="16200000" flipH="1">
            <a:off x="1727684" y="2299060"/>
            <a:ext cx="864096" cy="792088"/>
          </a:xfrm>
          <a:prstGeom prst="bentConnector2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59 Rectángulo redondeado"/>
          <p:cNvSpPr/>
          <p:nvPr/>
        </p:nvSpPr>
        <p:spPr>
          <a:xfrm>
            <a:off x="2555776" y="2767112"/>
            <a:ext cx="5436096" cy="72008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Aumento de costo de </a:t>
            </a:r>
            <a:r>
              <a:rPr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transporte</a:t>
            </a: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(“cierre de océanos”)</a:t>
            </a:r>
            <a:endParaRPr lang="es-AR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67 Rectángulo redondeado"/>
          <p:cNvSpPr/>
          <p:nvPr/>
        </p:nvSpPr>
        <p:spPr>
          <a:xfrm>
            <a:off x="4168858" y="3423556"/>
            <a:ext cx="4427983" cy="55387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i="1" dirty="0">
                <a:solidFill>
                  <a:schemeClr val="accent5">
                    <a:lumMod val="50000"/>
                  </a:schemeClr>
                </a:solidFill>
              </a:rPr>
              <a:t>FOB=CIF-C.T. (si ∆ C.T. </a:t>
            </a:r>
            <a:r>
              <a:rPr sz="1600" i="1" dirty="0">
                <a:solidFill>
                  <a:schemeClr val="accent5">
                    <a:lumMod val="50000"/>
                  </a:schemeClr>
                </a:solidFill>
                <a:sym typeface="Wingdings" pitchFamily="2" charset="2"/>
              </a:rPr>
              <a:t> -</a:t>
            </a:r>
            <a:r>
              <a:rPr sz="1600" i="1" dirty="0">
                <a:solidFill>
                  <a:schemeClr val="accent5">
                    <a:lumMod val="50000"/>
                  </a:schemeClr>
                </a:solidFill>
              </a:rPr>
              <a:t>∆FOB)</a:t>
            </a:r>
          </a:p>
          <a:p>
            <a:pPr algn="ctr"/>
            <a:r>
              <a:rPr sz="1600" i="1" dirty="0">
                <a:solidFill>
                  <a:schemeClr val="accent5">
                    <a:lumMod val="50000"/>
                  </a:schemeClr>
                </a:solidFill>
                <a:sym typeface="Wingdings" pitchFamily="2" charset="2"/>
              </a:rPr>
              <a:t>CIF=FOB+C.T. (</a:t>
            </a:r>
            <a:r>
              <a:rPr sz="1600" i="1" dirty="0">
                <a:solidFill>
                  <a:schemeClr val="accent5">
                    <a:lumMod val="50000"/>
                  </a:schemeClr>
                </a:solidFill>
              </a:rPr>
              <a:t>si ∆ C.T. </a:t>
            </a:r>
            <a:r>
              <a:rPr sz="1600" i="1" dirty="0">
                <a:solidFill>
                  <a:schemeClr val="accent5">
                    <a:lumMod val="50000"/>
                  </a:schemeClr>
                </a:solidFill>
                <a:sym typeface="Wingdings" pitchFamily="2" charset="2"/>
              </a:rPr>
              <a:t> </a:t>
            </a:r>
            <a:r>
              <a:rPr sz="1600" i="1" dirty="0">
                <a:solidFill>
                  <a:schemeClr val="accent5">
                    <a:lumMod val="50000"/>
                  </a:schemeClr>
                </a:solidFill>
              </a:rPr>
              <a:t>∆</a:t>
            </a:r>
            <a:r>
              <a:rPr lang="es-AR" sz="1600" i="1" dirty="0">
                <a:solidFill>
                  <a:schemeClr val="accent5">
                    <a:lumMod val="50000"/>
                  </a:schemeClr>
                </a:solidFill>
              </a:rPr>
              <a:t>CIF</a:t>
            </a:r>
            <a:r>
              <a:rPr sz="1600" i="1" dirty="0">
                <a:solidFill>
                  <a:schemeClr val="accent5">
                    <a:lumMod val="50000"/>
                  </a:schemeClr>
                </a:solidFill>
              </a:rPr>
              <a:t>)</a:t>
            </a:r>
            <a:endParaRPr lang="es-AR" sz="1600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7" name="71 Rectángulo redondeado"/>
          <p:cNvSpPr/>
          <p:nvPr/>
        </p:nvSpPr>
        <p:spPr>
          <a:xfrm>
            <a:off x="2555776" y="4063256"/>
            <a:ext cx="5436096" cy="72008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oferta de Bs. Industriales se adaptó más lento</a:t>
            </a:r>
            <a:endParaRPr lang="es-AR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72 Rectángulo redondeado"/>
          <p:cNvSpPr/>
          <p:nvPr/>
        </p:nvSpPr>
        <p:spPr>
          <a:xfrm>
            <a:off x="4168858" y="4692697"/>
            <a:ext cx="4435590" cy="60243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i="1" dirty="0">
                <a:solidFill>
                  <a:schemeClr val="accent5">
                    <a:lumMod val="50000"/>
                  </a:schemeClr>
                </a:solidFill>
              </a:rPr>
              <a:t>El mundo contaba con abundantes  productores agropecuarios</a:t>
            </a:r>
            <a:endParaRPr lang="es-AR" sz="1600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19" name="52 Conector angular"/>
          <p:cNvCxnSpPr>
            <a:cxnSpLocks/>
            <a:stCxn id="6" idx="2"/>
            <a:endCxn id="17" idx="1"/>
          </p:cNvCxnSpPr>
          <p:nvPr/>
        </p:nvCxnSpPr>
        <p:spPr>
          <a:xfrm rot="16200000" flipH="1">
            <a:off x="1079612" y="2947132"/>
            <a:ext cx="2160240" cy="792088"/>
          </a:xfrm>
          <a:prstGeom prst="bentConnector2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80 Rectángulo redondeado"/>
          <p:cNvSpPr/>
          <p:nvPr/>
        </p:nvSpPr>
        <p:spPr>
          <a:xfrm>
            <a:off x="2555776" y="5373216"/>
            <a:ext cx="5436096" cy="72008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Recesión ’20-’21: mayor caída de precios agrícolas </a:t>
            </a:r>
            <a:endParaRPr lang="es-AR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81 Rectángulo redondeado"/>
          <p:cNvSpPr/>
          <p:nvPr/>
        </p:nvSpPr>
        <p:spPr>
          <a:xfrm>
            <a:off x="4168858" y="6010400"/>
            <a:ext cx="4412898" cy="60243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i="1" dirty="0">
                <a:solidFill>
                  <a:schemeClr val="accent5">
                    <a:lumMod val="50000"/>
                  </a:schemeClr>
                </a:solidFill>
              </a:rPr>
              <a:t>Sobre oferta de productos primarios</a:t>
            </a:r>
            <a:endParaRPr lang="es-AR" sz="1600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24" name="52 Conector angular"/>
          <p:cNvCxnSpPr>
            <a:cxnSpLocks/>
            <a:stCxn id="6" idx="2"/>
            <a:endCxn id="21" idx="1"/>
          </p:cNvCxnSpPr>
          <p:nvPr/>
        </p:nvCxnSpPr>
        <p:spPr>
          <a:xfrm rot="16200000" flipH="1">
            <a:off x="424632" y="3602112"/>
            <a:ext cx="3470200" cy="792088"/>
          </a:xfrm>
          <a:prstGeom prst="bentConnector2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286DE18-0844-40BB-AF6A-FEB33DC5F161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LUEGO DE LA GRAN GUERRA</a:t>
            </a:r>
          </a:p>
        </p:txBody>
      </p:sp>
    </p:spTree>
    <p:extLst>
      <p:ext uri="{BB962C8B-B14F-4D97-AF65-F5344CB8AC3E}">
        <p14:creationId xmlns:p14="http://schemas.microsoft.com/office/powerpoint/2010/main" val="384071428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: esquinas redondeadas 24"/>
          <p:cNvSpPr/>
          <p:nvPr/>
        </p:nvSpPr>
        <p:spPr>
          <a:xfrm>
            <a:off x="1619672" y="1484784"/>
            <a:ext cx="5904655" cy="86409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48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1914-1923</a:t>
            </a:r>
            <a:endParaRPr lang="es-ES" sz="48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ángulo: esquinas redondeadas 25"/>
          <p:cNvSpPr/>
          <p:nvPr/>
        </p:nvSpPr>
        <p:spPr>
          <a:xfrm>
            <a:off x="1619672" y="2924944"/>
            <a:ext cx="5909163" cy="2016224"/>
          </a:xfrm>
          <a:prstGeom prst="roundRect">
            <a:avLst>
              <a:gd name="adj" fmla="val 8294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ESTÍMULO DE LA INDUSTRIA POR EL LADO DE LA </a:t>
            </a:r>
          </a:p>
          <a:p>
            <a:pPr algn="ctr"/>
            <a:r>
              <a:rPr lang="es-AR" sz="3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OFERTA</a:t>
            </a:r>
            <a:endParaRPr lang="es-ES"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B15E4FC-6A79-4613-80E2-AE79568801D9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GUERRA Y POSGUERRA</a:t>
            </a:r>
          </a:p>
        </p:txBody>
      </p:sp>
      <p:sp>
        <p:nvSpPr>
          <p:cNvPr id="6" name="Estrella: 5 puntas 5">
            <a:extLst>
              <a:ext uri="{FF2B5EF4-FFF2-40B4-BE49-F238E27FC236}">
                <a16:creationId xmlns:a16="http://schemas.microsoft.com/office/drawing/2014/main" id="{E26B8009-0151-443C-8EE6-31027C1E3314}"/>
              </a:ext>
            </a:extLst>
          </p:cNvPr>
          <p:cNvSpPr/>
          <p:nvPr/>
        </p:nvSpPr>
        <p:spPr>
          <a:xfrm>
            <a:off x="7668344" y="3645024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7037121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B7850FB4-B90D-4424-B661-1009895C272C}"/>
              </a:ext>
            </a:extLst>
          </p:cNvPr>
          <p:cNvSpPr/>
          <p:nvPr/>
        </p:nvSpPr>
        <p:spPr>
          <a:xfrm>
            <a:off x="935596" y="2834934"/>
            <a:ext cx="7272808" cy="118813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 QUINQUENIO DEL ‘20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B2B2E30-522C-4410-ADBB-00D94EC7F54F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 DE LOS ‘20 Y ‘30</a:t>
            </a:r>
          </a:p>
        </p:txBody>
      </p:sp>
    </p:spTree>
    <p:extLst>
      <p:ext uri="{BB962C8B-B14F-4D97-AF65-F5344CB8AC3E}">
        <p14:creationId xmlns:p14="http://schemas.microsoft.com/office/powerpoint/2010/main" val="20812003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24 Rectángulo redondeado"/>
          <p:cNvSpPr/>
          <p:nvPr/>
        </p:nvSpPr>
        <p:spPr>
          <a:xfrm>
            <a:off x="441386" y="1342757"/>
            <a:ext cx="2232248" cy="4320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24-29</a:t>
            </a:r>
            <a:endParaRPr lang="es-AR"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40 Rectángulo redondeado"/>
          <p:cNvSpPr/>
          <p:nvPr/>
        </p:nvSpPr>
        <p:spPr>
          <a:xfrm>
            <a:off x="3095836" y="1270749"/>
            <a:ext cx="2611176" cy="57606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Nuevas condiciones mundiales</a:t>
            </a:r>
            <a:endParaRPr lang="es-AR" sz="16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41 Rectángulo redondeado"/>
          <p:cNvSpPr/>
          <p:nvPr/>
        </p:nvSpPr>
        <p:spPr>
          <a:xfrm>
            <a:off x="1865256" y="2317649"/>
            <a:ext cx="3462828" cy="86828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Renovado impulso de la producción primaria</a:t>
            </a:r>
            <a:endParaRPr lang="es-AR" sz="20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43 Conector recto de flecha"/>
          <p:cNvCxnSpPr>
            <a:cxnSpLocks/>
            <a:stCxn id="8" idx="3"/>
            <a:endCxn id="9" idx="1"/>
          </p:cNvCxnSpPr>
          <p:nvPr/>
        </p:nvCxnSpPr>
        <p:spPr>
          <a:xfrm>
            <a:off x="2673634" y="1558781"/>
            <a:ext cx="422202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48 Rectángulo redondeado"/>
          <p:cNvSpPr/>
          <p:nvPr/>
        </p:nvSpPr>
        <p:spPr>
          <a:xfrm>
            <a:off x="5588460" y="1169712"/>
            <a:ext cx="2403920" cy="79044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sz="1600" i="1" dirty="0">
                <a:solidFill>
                  <a:schemeClr val="accent5">
                    <a:lumMod val="50000"/>
                  </a:schemeClr>
                </a:solidFill>
              </a:rPr>
              <a:t>Recuperación de TI</a:t>
            </a:r>
          </a:p>
          <a:p>
            <a:pPr algn="ctr"/>
            <a:r>
              <a:rPr sz="1600" i="1" dirty="0">
                <a:solidFill>
                  <a:schemeClr val="accent5">
                    <a:lumMod val="50000"/>
                  </a:schemeClr>
                </a:solidFill>
              </a:rPr>
              <a:t>Estabilización de TC</a:t>
            </a:r>
          </a:p>
          <a:p>
            <a:pPr algn="ctr"/>
            <a:r>
              <a:rPr sz="1600" i="1" dirty="0">
                <a:solidFill>
                  <a:schemeClr val="accent5">
                    <a:lumMod val="50000"/>
                  </a:schemeClr>
                </a:solidFill>
              </a:rPr>
              <a:t>Reapertura del crédito</a:t>
            </a:r>
            <a:endParaRPr lang="es-AR" sz="1600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4" name="56 Rectángulo redondeado"/>
          <p:cNvSpPr/>
          <p:nvPr/>
        </p:nvSpPr>
        <p:spPr>
          <a:xfrm>
            <a:off x="5708028" y="2320427"/>
            <a:ext cx="2520280" cy="36077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Mayor productividad</a:t>
            </a:r>
            <a:endParaRPr lang="es-AR" sz="1600" i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57 Rectángulo redondeado"/>
          <p:cNvSpPr/>
          <p:nvPr/>
        </p:nvSpPr>
        <p:spPr>
          <a:xfrm>
            <a:off x="5707012" y="2822921"/>
            <a:ext cx="2521296" cy="36301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Mayores inversiones</a:t>
            </a:r>
            <a:endParaRPr lang="es-AR" sz="1600" i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30 Conector recto de flecha"/>
          <p:cNvCxnSpPr>
            <a:cxnSpLocks/>
            <a:stCxn id="10" idx="3"/>
            <a:endCxn id="14" idx="1"/>
          </p:cNvCxnSpPr>
          <p:nvPr/>
        </p:nvCxnSpPr>
        <p:spPr>
          <a:xfrm flipV="1">
            <a:off x="5328084" y="2500813"/>
            <a:ext cx="379944" cy="25098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33 Conector recto de flecha"/>
          <p:cNvCxnSpPr>
            <a:cxnSpLocks/>
            <a:stCxn id="10" idx="3"/>
            <a:endCxn id="15" idx="1"/>
          </p:cNvCxnSpPr>
          <p:nvPr/>
        </p:nvCxnSpPr>
        <p:spPr>
          <a:xfrm>
            <a:off x="5328084" y="2751793"/>
            <a:ext cx="378928" cy="25263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38 Rectángulo redondeado"/>
          <p:cNvSpPr/>
          <p:nvPr/>
        </p:nvSpPr>
        <p:spPr>
          <a:xfrm rot="5400000">
            <a:off x="834344" y="344843"/>
            <a:ext cx="412085" cy="164973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sz="1600" i="1" dirty="0">
                <a:solidFill>
                  <a:schemeClr val="accent5">
                    <a:lumMod val="50000"/>
                  </a:schemeClr>
                </a:solidFill>
              </a:rPr>
              <a:t>“Normalización”</a:t>
            </a:r>
            <a:endParaRPr lang="es-AR" sz="1600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21" name="47 Conector recto de flecha"/>
          <p:cNvCxnSpPr>
            <a:cxnSpLocks/>
            <a:stCxn id="8" idx="2"/>
            <a:endCxn id="22" idx="0"/>
          </p:cNvCxnSpPr>
          <p:nvPr/>
        </p:nvCxnSpPr>
        <p:spPr>
          <a:xfrm flipH="1">
            <a:off x="1547664" y="1774805"/>
            <a:ext cx="9846" cy="266429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52 Rectángulo redondeado"/>
          <p:cNvSpPr/>
          <p:nvPr/>
        </p:nvSpPr>
        <p:spPr>
          <a:xfrm>
            <a:off x="431540" y="4439101"/>
            <a:ext cx="2232248" cy="133912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Nueva demanda interna</a:t>
            </a:r>
            <a:endParaRPr lang="es-AR"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59 Conector recto de flecha"/>
          <p:cNvCxnSpPr>
            <a:cxnSpLocks/>
            <a:stCxn id="22" idx="3"/>
            <a:endCxn id="26" idx="1"/>
          </p:cNvCxnSpPr>
          <p:nvPr/>
        </p:nvCxnSpPr>
        <p:spPr>
          <a:xfrm flipV="1">
            <a:off x="2663788" y="5107446"/>
            <a:ext cx="872198" cy="1217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64 Rectángulo redondeado"/>
          <p:cNvSpPr/>
          <p:nvPr/>
        </p:nvSpPr>
        <p:spPr>
          <a:xfrm>
            <a:off x="2915976" y="3874765"/>
            <a:ext cx="3816424" cy="68542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“Segunda Revolución Industrial”</a:t>
            </a:r>
            <a:endParaRPr lang="es-AR" sz="20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70 Rectángulo redondeado"/>
          <p:cNvSpPr/>
          <p:nvPr/>
        </p:nvSpPr>
        <p:spPr>
          <a:xfrm>
            <a:off x="3535986" y="4789279"/>
            <a:ext cx="4456394" cy="63633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Continuó la expansión de la industria</a:t>
            </a:r>
            <a:endParaRPr lang="es-AR" sz="20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74 Rectángulo redondeado"/>
          <p:cNvSpPr/>
          <p:nvPr/>
        </p:nvSpPr>
        <p:spPr>
          <a:xfrm>
            <a:off x="7668344" y="4416098"/>
            <a:ext cx="1368152" cy="115212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sz="1600" i="1" dirty="0">
                <a:solidFill>
                  <a:schemeClr val="accent5">
                    <a:lumMod val="50000"/>
                  </a:schemeClr>
                </a:solidFill>
              </a:rPr>
              <a:t>Ya no eran impulsos de oferta como en 14-23</a:t>
            </a:r>
            <a:endParaRPr lang="es-AR" sz="1600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0" name="82 Rectángulo redondeado"/>
          <p:cNvSpPr/>
          <p:nvPr/>
        </p:nvSpPr>
        <p:spPr>
          <a:xfrm>
            <a:off x="3535986" y="5744995"/>
            <a:ext cx="4456394" cy="63633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Inversión extranjera</a:t>
            </a:r>
            <a:endParaRPr lang="es-AR" sz="20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D353ED4-C644-4073-83B1-92C8F5247112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 QUINQUENIO DEL ‘20</a:t>
            </a:r>
          </a:p>
        </p:txBody>
      </p:sp>
      <p:cxnSp>
        <p:nvCxnSpPr>
          <p:cNvPr id="36" name="Conector: angular 35">
            <a:extLst>
              <a:ext uri="{FF2B5EF4-FFF2-40B4-BE49-F238E27FC236}">
                <a16:creationId xmlns:a16="http://schemas.microsoft.com/office/drawing/2014/main" id="{30F6E83B-C14D-4CD5-9A74-C5F14C4822B2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rot="5400000">
            <a:off x="3763629" y="1679854"/>
            <a:ext cx="470836" cy="804754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igno más 39">
            <a:extLst>
              <a:ext uri="{FF2B5EF4-FFF2-40B4-BE49-F238E27FC236}">
                <a16:creationId xmlns:a16="http://schemas.microsoft.com/office/drawing/2014/main" id="{17BE97EF-8944-4E54-A0E3-C574426E171E}"/>
              </a:ext>
            </a:extLst>
          </p:cNvPr>
          <p:cNvSpPr/>
          <p:nvPr/>
        </p:nvSpPr>
        <p:spPr>
          <a:xfrm>
            <a:off x="2219613" y="3970681"/>
            <a:ext cx="996522" cy="890834"/>
          </a:xfrm>
          <a:prstGeom prst="mathPlus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4" name="Conector: angular 43">
            <a:extLst>
              <a:ext uri="{FF2B5EF4-FFF2-40B4-BE49-F238E27FC236}">
                <a16:creationId xmlns:a16="http://schemas.microsoft.com/office/drawing/2014/main" id="{CE680F1A-937B-475F-B196-086093AD60B9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>
            <a:off x="2663788" y="5108663"/>
            <a:ext cx="872198" cy="954499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strella: 5 puntas 24">
            <a:extLst>
              <a:ext uri="{FF2B5EF4-FFF2-40B4-BE49-F238E27FC236}">
                <a16:creationId xmlns:a16="http://schemas.microsoft.com/office/drawing/2014/main" id="{5225CAFE-9E59-4D24-8E2E-C6C1929A1FEC}"/>
              </a:ext>
            </a:extLst>
          </p:cNvPr>
          <p:cNvSpPr/>
          <p:nvPr/>
        </p:nvSpPr>
        <p:spPr>
          <a:xfrm>
            <a:off x="7992380" y="-89159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27147105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87624" y="1240035"/>
            <a:ext cx="7128792" cy="5274533"/>
          </a:xfrm>
          <a:prstGeom prst="rect">
            <a:avLst/>
          </a:prstGeom>
        </p:spPr>
      </p:pic>
      <p:sp>
        <p:nvSpPr>
          <p:cNvPr id="6" name="5 Rectángulo redondeado"/>
          <p:cNvSpPr/>
          <p:nvPr/>
        </p:nvSpPr>
        <p:spPr>
          <a:xfrm>
            <a:off x="5004048" y="1809739"/>
            <a:ext cx="2764917" cy="45543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i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Aumento de la demanda</a:t>
            </a:r>
            <a:endParaRPr lang="es-ES" b="1" i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5" name="Conector recto de flecha 4"/>
          <p:cNvCxnSpPr>
            <a:cxnSpLocks/>
          </p:cNvCxnSpPr>
          <p:nvPr/>
        </p:nvCxnSpPr>
        <p:spPr>
          <a:xfrm flipV="1">
            <a:off x="5436096" y="2348880"/>
            <a:ext cx="1800200" cy="1116124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 6"/>
          <p:cNvSpPr/>
          <p:nvPr/>
        </p:nvSpPr>
        <p:spPr>
          <a:xfrm>
            <a:off x="2578191" y="5229200"/>
            <a:ext cx="2952328" cy="288032"/>
          </a:xfrm>
          <a:prstGeom prst="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F05C1E6-F870-48E4-821C-5830C06B9A1E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 QUINQUENIO DEL ‘20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7A0D59C-24C3-4BE1-B546-078323BCCEF9}"/>
              </a:ext>
            </a:extLst>
          </p:cNvPr>
          <p:cNvSpPr/>
          <p:nvPr/>
        </p:nvSpPr>
        <p:spPr>
          <a:xfrm>
            <a:off x="323528" y="1055369"/>
            <a:ext cx="1584176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DEMANDA</a:t>
            </a:r>
            <a:endParaRPr lang="es-AR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774638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5071" y="873952"/>
            <a:ext cx="7043998" cy="4715287"/>
          </a:xfrm>
          <a:prstGeom prst="rect">
            <a:avLst/>
          </a:prstGeom>
        </p:spPr>
      </p:pic>
      <p:sp>
        <p:nvSpPr>
          <p:cNvPr id="8" name="5 Rectángulo redondeado"/>
          <p:cNvSpPr/>
          <p:nvPr/>
        </p:nvSpPr>
        <p:spPr>
          <a:xfrm>
            <a:off x="4283968" y="5733256"/>
            <a:ext cx="4464496" cy="1006876"/>
          </a:xfrm>
          <a:prstGeom prst="roundRect">
            <a:avLst>
              <a:gd name="adj" fmla="val 8029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i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Luego de una caída del salario real durante la guerra; la situación mejoraba desde la segunda mitad de los años </a:t>
            </a:r>
            <a:r>
              <a:rPr lang="es-AR" b="1" i="1">
                <a:solidFill>
                  <a:schemeClr val="accent5">
                    <a:lumMod val="20000"/>
                    <a:lumOff val="80000"/>
                  </a:schemeClr>
                </a:solidFill>
              </a:rPr>
              <a:t>‘20</a:t>
            </a:r>
            <a:endParaRPr lang="es-ES" b="1" i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CF701E4-7876-452D-B664-91A1A4A38398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 QUINQUENIO DEL ‘20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FC5BB0B-70C9-4A1E-BAFD-ED245CEC143F}"/>
              </a:ext>
            </a:extLst>
          </p:cNvPr>
          <p:cNvSpPr/>
          <p:nvPr/>
        </p:nvSpPr>
        <p:spPr>
          <a:xfrm>
            <a:off x="7398763" y="2276872"/>
            <a:ext cx="1584176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SALARIO REAL</a:t>
            </a:r>
            <a:endParaRPr lang="es-AR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040527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16 Rectángulo redondeado"/>
          <p:cNvSpPr/>
          <p:nvPr/>
        </p:nvSpPr>
        <p:spPr>
          <a:xfrm>
            <a:off x="376772" y="1091382"/>
            <a:ext cx="2340768" cy="127488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Quinquenio 25-30</a:t>
            </a:r>
            <a:endParaRPr lang="es-AR"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24 Rectángulo redondeado"/>
          <p:cNvSpPr/>
          <p:nvPr/>
        </p:nvSpPr>
        <p:spPr>
          <a:xfrm>
            <a:off x="4031431" y="1091382"/>
            <a:ext cx="2340753" cy="127488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Continúa auge industrial</a:t>
            </a:r>
            <a:endParaRPr lang="es-AR"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40 Rectángulo redondeado"/>
          <p:cNvSpPr/>
          <p:nvPr/>
        </p:nvSpPr>
        <p:spPr>
          <a:xfrm>
            <a:off x="3959423" y="3356992"/>
            <a:ext cx="2500033" cy="62068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Mercado creciente</a:t>
            </a:r>
            <a:endParaRPr lang="es-AR" sz="16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19 Rectángulo redondeado"/>
          <p:cNvSpPr/>
          <p:nvPr/>
        </p:nvSpPr>
        <p:spPr>
          <a:xfrm>
            <a:off x="431032" y="2852936"/>
            <a:ext cx="2232248" cy="4320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Ingreso de capitales</a:t>
            </a:r>
            <a:endParaRPr lang="es-AR" sz="16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20 Rectángulo redondeado"/>
          <p:cNvSpPr/>
          <p:nvPr/>
        </p:nvSpPr>
        <p:spPr>
          <a:xfrm>
            <a:off x="452297" y="3407735"/>
            <a:ext cx="2232248" cy="4320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Recuperación de X</a:t>
            </a:r>
            <a:endParaRPr lang="es-AR" sz="16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45 Conector recto de flecha"/>
          <p:cNvCxnSpPr>
            <a:cxnSpLocks/>
            <a:stCxn id="31" idx="3"/>
            <a:endCxn id="32" idx="1"/>
          </p:cNvCxnSpPr>
          <p:nvPr/>
        </p:nvCxnSpPr>
        <p:spPr>
          <a:xfrm>
            <a:off x="2717540" y="1728822"/>
            <a:ext cx="1313891" cy="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51 Conector recto de flecha"/>
          <p:cNvCxnSpPr>
            <a:cxnSpLocks/>
            <a:stCxn id="31" idx="2"/>
            <a:endCxn id="34" idx="0"/>
          </p:cNvCxnSpPr>
          <p:nvPr/>
        </p:nvCxnSpPr>
        <p:spPr>
          <a:xfrm>
            <a:off x="1547156" y="2366262"/>
            <a:ext cx="0" cy="486674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26 Rectángulo redondeado"/>
          <p:cNvSpPr/>
          <p:nvPr/>
        </p:nvSpPr>
        <p:spPr>
          <a:xfrm>
            <a:off x="452297" y="3983799"/>
            <a:ext cx="2232248" cy="4320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Patrón</a:t>
            </a:r>
            <a:r>
              <a:rPr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oro</a:t>
            </a:r>
            <a:r>
              <a:rPr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(1927)</a:t>
            </a:r>
            <a:endParaRPr lang="es-AR" sz="16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48 Rectángulo redondeado"/>
          <p:cNvSpPr/>
          <p:nvPr/>
        </p:nvSpPr>
        <p:spPr>
          <a:xfrm>
            <a:off x="3959423" y="4077072"/>
            <a:ext cx="2500033" cy="62068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Innovación tecnológica</a:t>
            </a:r>
            <a:endParaRPr lang="es-AR" sz="16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49 Rectángulo redondeado"/>
          <p:cNvSpPr/>
          <p:nvPr/>
        </p:nvSpPr>
        <p:spPr>
          <a:xfrm>
            <a:off x="3959423" y="4797152"/>
            <a:ext cx="2500033" cy="62068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Nuevos productos</a:t>
            </a:r>
            <a:endParaRPr lang="es-AR" sz="16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52 Conector recto de flecha"/>
          <p:cNvCxnSpPr>
            <a:cxnSpLocks/>
            <a:stCxn id="32" idx="2"/>
            <a:endCxn id="33" idx="0"/>
          </p:cNvCxnSpPr>
          <p:nvPr/>
        </p:nvCxnSpPr>
        <p:spPr>
          <a:xfrm>
            <a:off x="5201808" y="2366262"/>
            <a:ext cx="7632" cy="99073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55 Rectángulo redondeado"/>
          <p:cNvSpPr/>
          <p:nvPr/>
        </p:nvSpPr>
        <p:spPr>
          <a:xfrm>
            <a:off x="7164288" y="4149080"/>
            <a:ext cx="1548680" cy="115212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sz="1600" i="1" dirty="0">
                <a:solidFill>
                  <a:schemeClr val="accent5">
                    <a:lumMod val="50000"/>
                  </a:schemeClr>
                </a:solidFill>
              </a:rPr>
              <a:t>Nuevos medios para el desarrollo industrial</a:t>
            </a:r>
            <a:endParaRPr lang="es-AR" sz="1600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45" name="56 Conector recto de flecha"/>
          <p:cNvCxnSpPr>
            <a:cxnSpLocks/>
            <a:stCxn id="44" idx="1"/>
            <a:endCxn id="33" idx="3"/>
          </p:cNvCxnSpPr>
          <p:nvPr/>
        </p:nvCxnSpPr>
        <p:spPr>
          <a:xfrm flipH="1" flipV="1">
            <a:off x="6459456" y="3667336"/>
            <a:ext cx="704832" cy="1057808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59 Conector recto de flecha"/>
          <p:cNvCxnSpPr>
            <a:cxnSpLocks/>
            <a:stCxn id="44" idx="1"/>
            <a:endCxn id="40" idx="3"/>
          </p:cNvCxnSpPr>
          <p:nvPr/>
        </p:nvCxnSpPr>
        <p:spPr>
          <a:xfrm flipH="1" flipV="1">
            <a:off x="6459456" y="4387416"/>
            <a:ext cx="704832" cy="337728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60 Conector recto de flecha"/>
          <p:cNvCxnSpPr>
            <a:cxnSpLocks/>
            <a:stCxn id="44" idx="1"/>
            <a:endCxn id="41" idx="3"/>
          </p:cNvCxnSpPr>
          <p:nvPr/>
        </p:nvCxnSpPr>
        <p:spPr>
          <a:xfrm flipH="1">
            <a:off x="6459456" y="4725144"/>
            <a:ext cx="704832" cy="382352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49 Rectángulo redondeado"/>
          <p:cNvSpPr/>
          <p:nvPr/>
        </p:nvSpPr>
        <p:spPr>
          <a:xfrm>
            <a:off x="3959423" y="5544616"/>
            <a:ext cx="2500033" cy="62068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Cierto</a:t>
            </a:r>
            <a:r>
              <a:rPr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proteccionismo</a:t>
            </a:r>
          </a:p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(patentes, </a:t>
            </a:r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avaluos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49" name="60 Conector recto de flecha"/>
          <p:cNvCxnSpPr>
            <a:cxnSpLocks/>
            <a:stCxn id="44" idx="1"/>
            <a:endCxn id="48" idx="3"/>
          </p:cNvCxnSpPr>
          <p:nvPr/>
        </p:nvCxnSpPr>
        <p:spPr>
          <a:xfrm flipH="1">
            <a:off x="6459456" y="4725144"/>
            <a:ext cx="704832" cy="1129816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1D39408-653B-4288-8908-4AE31950F0C5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 QUINQUENIO DEL ‘20</a:t>
            </a:r>
          </a:p>
        </p:txBody>
      </p:sp>
    </p:spTree>
    <p:extLst>
      <p:ext uri="{BB962C8B-B14F-4D97-AF65-F5344CB8AC3E}">
        <p14:creationId xmlns:p14="http://schemas.microsoft.com/office/powerpoint/2010/main" val="4215886705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2185296508"/>
              </p:ext>
            </p:extLst>
          </p:nvPr>
        </p:nvGraphicFramePr>
        <p:xfrm>
          <a:off x="326684" y="980728"/>
          <a:ext cx="8490632" cy="56886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B12F8504-0786-4D30-8DAC-E6B75DAFE319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 QUINQUENIO DEL ‘20</a:t>
            </a: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: esquinas redondeadas 24"/>
          <p:cNvSpPr/>
          <p:nvPr/>
        </p:nvSpPr>
        <p:spPr>
          <a:xfrm>
            <a:off x="1624179" y="1772816"/>
            <a:ext cx="5904655" cy="86409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48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1924-1930</a:t>
            </a:r>
            <a:endParaRPr lang="es-ES" sz="48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ángulo: esquinas redondeadas 25"/>
          <p:cNvSpPr/>
          <p:nvPr/>
        </p:nvSpPr>
        <p:spPr>
          <a:xfrm>
            <a:off x="1619672" y="2996952"/>
            <a:ext cx="5909163" cy="201622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ESTÍMULO DE LA INDUSTRIA POR EL LADO DE LA </a:t>
            </a:r>
          </a:p>
          <a:p>
            <a:pPr algn="ctr"/>
            <a:r>
              <a:rPr lang="es-AR" sz="3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DEMANDA</a:t>
            </a:r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 algo de proteccionismo)</a:t>
            </a:r>
            <a:endParaRPr lang="es-ES"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D43F659-1C12-4392-99C7-87B0819492FC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 QUINQUENIO DEL ‘20</a:t>
            </a:r>
          </a:p>
        </p:txBody>
      </p:sp>
      <p:sp>
        <p:nvSpPr>
          <p:cNvPr id="6" name="Estrella: 5 puntas 5">
            <a:extLst>
              <a:ext uri="{FF2B5EF4-FFF2-40B4-BE49-F238E27FC236}">
                <a16:creationId xmlns:a16="http://schemas.microsoft.com/office/drawing/2014/main" id="{1C0AA397-CD47-4856-87B1-79D7709C6775}"/>
              </a:ext>
            </a:extLst>
          </p:cNvPr>
          <p:cNvSpPr/>
          <p:nvPr/>
        </p:nvSpPr>
        <p:spPr>
          <a:xfrm>
            <a:off x="7740352" y="310344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9133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16 Rectángulo redondeado"/>
          <p:cNvSpPr/>
          <p:nvPr/>
        </p:nvSpPr>
        <p:spPr>
          <a:xfrm>
            <a:off x="575810" y="1804292"/>
            <a:ext cx="2160240" cy="102937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1er Quinquenio</a:t>
            </a:r>
            <a:endParaRPr lang="es-AR"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24 Rectángulo redondeado"/>
          <p:cNvSpPr/>
          <p:nvPr/>
        </p:nvSpPr>
        <p:spPr>
          <a:xfrm>
            <a:off x="3059832" y="1660276"/>
            <a:ext cx="3492896" cy="133867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Medidas anticíclicas por la Gran Depresión</a:t>
            </a:r>
          </a:p>
        </p:txBody>
      </p:sp>
      <p:cxnSp>
        <p:nvCxnSpPr>
          <p:cNvPr id="37" name="45 Conector recto de flecha"/>
          <p:cNvCxnSpPr>
            <a:cxnSpLocks/>
            <a:stCxn id="31" idx="3"/>
            <a:endCxn id="32" idx="1"/>
          </p:cNvCxnSpPr>
          <p:nvPr/>
        </p:nvCxnSpPr>
        <p:spPr>
          <a:xfrm>
            <a:off x="2736050" y="2318981"/>
            <a:ext cx="323782" cy="1063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16 Rectángulo redondeado"/>
          <p:cNvSpPr/>
          <p:nvPr/>
        </p:nvSpPr>
        <p:spPr>
          <a:xfrm>
            <a:off x="575810" y="3585741"/>
            <a:ext cx="2160240" cy="102937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2do Quinquenio</a:t>
            </a:r>
            <a:endParaRPr lang="es-AR"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24 Rectángulo redondeado"/>
          <p:cNvSpPr/>
          <p:nvPr/>
        </p:nvSpPr>
        <p:spPr>
          <a:xfrm>
            <a:off x="3059832" y="3429000"/>
            <a:ext cx="3513902" cy="135742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cambiaria: </a:t>
            </a:r>
          </a:p>
          <a:p>
            <a:pPr algn="ctr"/>
            <a:r>
              <a:rPr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de cambios</a:t>
            </a:r>
            <a:endParaRPr lang="es-AR"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45 Conector recto de flecha"/>
          <p:cNvCxnSpPr>
            <a:cxnSpLocks/>
            <a:stCxn id="22" idx="3"/>
            <a:endCxn id="23" idx="1"/>
          </p:cNvCxnSpPr>
          <p:nvPr/>
        </p:nvCxnSpPr>
        <p:spPr>
          <a:xfrm>
            <a:off x="2736050" y="4100430"/>
            <a:ext cx="323782" cy="728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55 Rectángulo redondeado"/>
          <p:cNvSpPr/>
          <p:nvPr/>
        </p:nvSpPr>
        <p:spPr>
          <a:xfrm>
            <a:off x="6480466" y="2031280"/>
            <a:ext cx="2160240" cy="86661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sz="1600" i="1" dirty="0">
                <a:solidFill>
                  <a:schemeClr val="accent5">
                    <a:lumMod val="50000"/>
                  </a:schemeClr>
                </a:solidFill>
              </a:rPr>
              <a:t>Mayor </a:t>
            </a:r>
            <a:r>
              <a:rPr sz="1600" i="1" dirty="0" err="1">
                <a:solidFill>
                  <a:schemeClr val="accent5">
                    <a:lumMod val="50000"/>
                  </a:schemeClr>
                </a:solidFill>
              </a:rPr>
              <a:t>utilización</a:t>
            </a:r>
            <a:r>
              <a:rPr sz="1600" i="1" dirty="0">
                <a:solidFill>
                  <a:schemeClr val="accent5">
                    <a:lumMod val="50000"/>
                  </a:schemeClr>
                </a:solidFill>
              </a:rPr>
              <a:t> de</a:t>
            </a:r>
            <a:r>
              <a:rPr lang="es-AR" sz="1600" i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sz="1600" i="1" dirty="0">
                <a:solidFill>
                  <a:schemeClr val="accent5">
                    <a:lumMod val="50000"/>
                  </a:schemeClr>
                </a:solidFill>
              </a:rPr>
              <a:t>la capacidad instalada nacida en los años '20</a:t>
            </a:r>
            <a:endParaRPr lang="es-AR" sz="1600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1" name="55 Rectángulo redondeado"/>
          <p:cNvSpPr/>
          <p:nvPr/>
        </p:nvSpPr>
        <p:spPr>
          <a:xfrm>
            <a:off x="6480466" y="3814077"/>
            <a:ext cx="2160240" cy="83746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s-AR" sz="1600" i="1" dirty="0">
                <a:solidFill>
                  <a:schemeClr val="accent5">
                    <a:lumMod val="50000"/>
                  </a:schemeClr>
                </a:solidFill>
              </a:rPr>
              <a:t>Fuerte proteccionismo de la actividad industrial</a:t>
            </a:r>
          </a:p>
        </p:txBody>
      </p:sp>
      <p:sp>
        <p:nvSpPr>
          <p:cNvPr id="52" name="24 Rectángulo redondeado"/>
          <p:cNvSpPr/>
          <p:nvPr/>
        </p:nvSpPr>
        <p:spPr>
          <a:xfrm>
            <a:off x="2393758" y="5590194"/>
            <a:ext cx="4356484" cy="80220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 adelante vamos a profundizar en las medidas de la G</a:t>
            </a:r>
            <a:r>
              <a:rPr lang="es-AR" b="1" i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</a:t>
            </a:r>
            <a:r>
              <a:rPr lang="es-AR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AR" b="1" i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epresión</a:t>
            </a:r>
            <a:endParaRPr lang="es-AR" b="1" i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A4AF999-03EE-43DD-A851-C80A304B7080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LUEGO DE LA GRAN DEPRESIÓN</a:t>
            </a:r>
          </a:p>
        </p:txBody>
      </p:sp>
    </p:spTree>
    <p:extLst>
      <p:ext uri="{BB962C8B-B14F-4D97-AF65-F5344CB8AC3E}">
        <p14:creationId xmlns:p14="http://schemas.microsoft.com/office/powerpoint/2010/main" val="3300238920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DDF53502-A6CA-4E09-8CAB-AAB734EFE70B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</a:p>
        </p:txBody>
      </p:sp>
      <p:sp>
        <p:nvSpPr>
          <p:cNvPr id="9" name="24 Rectángulo redondeado">
            <a:extLst>
              <a:ext uri="{FF2B5EF4-FFF2-40B4-BE49-F238E27FC236}">
                <a16:creationId xmlns:a16="http://schemas.microsoft.com/office/drawing/2014/main" id="{05A5BA86-D23C-4FAD-A95F-FB868D555A10}"/>
              </a:ext>
            </a:extLst>
          </p:cNvPr>
          <p:cNvSpPr/>
          <p:nvPr/>
        </p:nvSpPr>
        <p:spPr>
          <a:xfrm>
            <a:off x="1833780" y="1539569"/>
            <a:ext cx="6914684" cy="1944216"/>
          </a:xfrm>
          <a:prstGeom prst="roundRect">
            <a:avLst>
              <a:gd name="adj" fmla="val 7984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industria "moderna" se inicia en los ´20, </a:t>
            </a:r>
          </a:p>
          <a:p>
            <a:pPr algn="ctr"/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periodo en el que se observa:</a:t>
            </a:r>
          </a:p>
          <a:p>
            <a:pPr algn="ctr"/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Elevado nivel de inversión industrial y </a:t>
            </a:r>
          </a:p>
          <a:p>
            <a:pPr algn="ctr"/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importación de equipos</a:t>
            </a:r>
          </a:p>
          <a:p>
            <a:pPr algn="ctr"/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Entrada de numerosas empresas extranjeras.</a:t>
            </a:r>
          </a:p>
          <a:p>
            <a:pPr algn="ctr"/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(asociado a factores de mercado –oferta y demanda-) </a:t>
            </a:r>
            <a:endParaRPr lang="es-AR" sz="16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72C91179-E23D-46CE-9F7D-B845C361BF8B}"/>
              </a:ext>
            </a:extLst>
          </p:cNvPr>
          <p:cNvSpPr/>
          <p:nvPr/>
        </p:nvSpPr>
        <p:spPr>
          <a:xfrm>
            <a:off x="340906" y="1539569"/>
            <a:ext cx="1944216" cy="1944216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762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44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‘20</a:t>
            </a:r>
          </a:p>
        </p:txBody>
      </p:sp>
      <p:sp>
        <p:nvSpPr>
          <p:cNvPr id="11" name="24 Rectángulo redondeado">
            <a:extLst>
              <a:ext uri="{FF2B5EF4-FFF2-40B4-BE49-F238E27FC236}">
                <a16:creationId xmlns:a16="http://schemas.microsoft.com/office/drawing/2014/main" id="{2CE79E9B-981C-4D8B-B7FD-293A06788E3D}"/>
              </a:ext>
            </a:extLst>
          </p:cNvPr>
          <p:cNvSpPr/>
          <p:nvPr/>
        </p:nvSpPr>
        <p:spPr>
          <a:xfrm>
            <a:off x="1835696" y="3974577"/>
            <a:ext cx="6912768" cy="1944216"/>
          </a:xfrm>
          <a:prstGeom prst="roundRect">
            <a:avLst>
              <a:gd name="adj" fmla="val 10154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CONTINUIDAD</a:t>
            </a:r>
          </a:p>
          <a:p>
            <a:pPr algn="ctr"/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la gran depresión:</a:t>
            </a:r>
          </a:p>
          <a:p>
            <a:pPr algn="ctr"/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1° Mitad: </a:t>
            </a:r>
          </a:p>
          <a:p>
            <a:pPr algn="ctr"/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Medidas anticíclicas</a:t>
            </a:r>
          </a:p>
          <a:p>
            <a:pPr algn="ctr"/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2° Mitad: </a:t>
            </a:r>
          </a:p>
          <a:p>
            <a:pPr algn="ctr"/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Cambiaria.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9A48210-B555-4FC6-B94C-228AB1207E1D}"/>
              </a:ext>
            </a:extLst>
          </p:cNvPr>
          <p:cNvSpPr/>
          <p:nvPr/>
        </p:nvSpPr>
        <p:spPr>
          <a:xfrm>
            <a:off x="321612" y="4005064"/>
            <a:ext cx="1944216" cy="1944216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762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AR" sz="44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‘30</a:t>
            </a:r>
          </a:p>
        </p:txBody>
      </p:sp>
    </p:spTree>
    <p:extLst>
      <p:ext uri="{BB962C8B-B14F-4D97-AF65-F5344CB8AC3E}">
        <p14:creationId xmlns:p14="http://schemas.microsoft.com/office/powerpoint/2010/main" val="41938971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1693</Words>
  <Application>Microsoft Office PowerPoint</Application>
  <PresentationFormat>Presentación en pantalla (4:3)</PresentationFormat>
  <Paragraphs>375</Paragraphs>
  <Slides>43</Slides>
  <Notes>40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4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 en los `20 y `30</dc:title>
  <dc:creator/>
  <cp:lastModifiedBy/>
  <cp:revision>2</cp:revision>
  <dcterms:created xsi:type="dcterms:W3CDTF">2012-08-02T15:14:29Z</dcterms:created>
  <dcterms:modified xsi:type="dcterms:W3CDTF">2020-04-13T18:04:25Z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3082</vt:i4>
  </property>
  <property fmtid="{D5CDD505-2E9C-101B-9397-08002B2CF9AE}" pid="3" name="_Version">
    <vt:lpwstr>12.0.4518</vt:lpwstr>
  </property>
</Properties>
</file>