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theme/themeOverride1.xml" ContentType="application/vnd.openxmlformats-officedocument.themeOverr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1.xml" ContentType="application/vnd.openxmlformats-officedocument.drawingml.chart+xml"/>
  <Override PartName="/ppt/slideLayouts/slideLayout10.xml" ContentType="application/vnd.openxmlformats-officedocument.presentationml.slideLayou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10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drawings/drawing1.xml" ContentType="application/vnd.openxmlformats-officedocument.drawingml.chartshape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89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8" r:id="rId34"/>
    <p:sldId id="287" r:id="rId35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-123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Libro1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s\Documents\hist%20kiegel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Libro1" TargetMode="External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file:///C:\Users\lucas\Documents\hist%20kiegel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s\Documents\hist%20kiegel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s\Documents\hist%20kiegel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s\Documents\hist%20kiegel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s\Documents\hist%20kiegel.xlsx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Libro1" TargetMode="External"/></Relationships>
</file>

<file path=ppt/charts/_rels/chart10.xml.rels><?xml version="1.0" encoding="UTF-8" standalone="yes"?>
<Relationships xmlns="http://schemas.openxmlformats.org/package/2006/relationships"><Relationship Id="rId2" Type="http://schemas.openxmlformats.org/officeDocument/2006/relationships/oleObject" Target="Libro1" TargetMode="External"/><Relationship Id="rId1" Type="http://schemas.openxmlformats.org/officeDocument/2006/relationships/themeOverride" Target="../theme/themeOverride1.xm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Libro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AR"/>
  <c:chart>
    <c:plotArea>
      <c:layout>
        <c:manualLayout>
          <c:layoutTarget val="inner"/>
          <c:xMode val="edge"/>
          <c:yMode val="edge"/>
          <c:x val="6.3824146981627292E-2"/>
          <c:y val="2.8424353154063595E-2"/>
          <c:w val="0.91395363079615044"/>
          <c:h val="0.92865518747536424"/>
        </c:manualLayout>
      </c:layout>
      <c:lineChart>
        <c:grouping val="standard"/>
        <c:ser>
          <c:idx val="0"/>
          <c:order val="0"/>
          <c:spPr>
            <a:ln w="57150"/>
          </c:spPr>
          <c:marker>
            <c:symbol val="none"/>
          </c:marker>
          <c:cat>
            <c:numRef>
              <c:f>Hoja2!$A$3:$A$72</c:f>
              <c:numCache>
                <c:formatCode>@</c:formatCode>
                <c:ptCount val="70"/>
                <c:pt idx="0">
                  <c:v>1931</c:v>
                </c:pt>
                <c:pt idx="1">
                  <c:v>1932</c:v>
                </c:pt>
                <c:pt idx="2">
                  <c:v>1933</c:v>
                </c:pt>
                <c:pt idx="3">
                  <c:v>1934</c:v>
                </c:pt>
                <c:pt idx="4">
                  <c:v>1935</c:v>
                </c:pt>
                <c:pt idx="5">
                  <c:v>1936</c:v>
                </c:pt>
                <c:pt idx="6">
                  <c:v>1937</c:v>
                </c:pt>
                <c:pt idx="7">
                  <c:v>1938</c:v>
                </c:pt>
                <c:pt idx="8">
                  <c:v>1939</c:v>
                </c:pt>
                <c:pt idx="9">
                  <c:v>1940</c:v>
                </c:pt>
                <c:pt idx="10">
                  <c:v>1941</c:v>
                </c:pt>
                <c:pt idx="11">
                  <c:v>1942</c:v>
                </c:pt>
                <c:pt idx="12">
                  <c:v>1943</c:v>
                </c:pt>
                <c:pt idx="13">
                  <c:v>1944</c:v>
                </c:pt>
                <c:pt idx="14">
                  <c:v>1945</c:v>
                </c:pt>
                <c:pt idx="15">
                  <c:v>1946</c:v>
                </c:pt>
                <c:pt idx="16">
                  <c:v>1947</c:v>
                </c:pt>
                <c:pt idx="17">
                  <c:v>1948</c:v>
                </c:pt>
                <c:pt idx="18">
                  <c:v>1949</c:v>
                </c:pt>
                <c:pt idx="19">
                  <c:v>1950</c:v>
                </c:pt>
                <c:pt idx="20">
                  <c:v>1951</c:v>
                </c:pt>
                <c:pt idx="21">
                  <c:v>1952</c:v>
                </c:pt>
                <c:pt idx="22">
                  <c:v>1953</c:v>
                </c:pt>
                <c:pt idx="23">
                  <c:v>1954</c:v>
                </c:pt>
                <c:pt idx="24">
                  <c:v>1955</c:v>
                </c:pt>
                <c:pt idx="25">
                  <c:v>1956</c:v>
                </c:pt>
                <c:pt idx="26">
                  <c:v>1957</c:v>
                </c:pt>
                <c:pt idx="27">
                  <c:v>1958</c:v>
                </c:pt>
                <c:pt idx="28">
                  <c:v>1959</c:v>
                </c:pt>
                <c:pt idx="29">
                  <c:v>1960</c:v>
                </c:pt>
                <c:pt idx="30">
                  <c:v>1961</c:v>
                </c:pt>
                <c:pt idx="31">
                  <c:v>1962</c:v>
                </c:pt>
                <c:pt idx="32">
                  <c:v>1963</c:v>
                </c:pt>
                <c:pt idx="33">
                  <c:v>1964</c:v>
                </c:pt>
                <c:pt idx="34">
                  <c:v>1965</c:v>
                </c:pt>
                <c:pt idx="35">
                  <c:v>1966</c:v>
                </c:pt>
                <c:pt idx="36">
                  <c:v>1967</c:v>
                </c:pt>
                <c:pt idx="37">
                  <c:v>1968</c:v>
                </c:pt>
                <c:pt idx="38">
                  <c:v>1969</c:v>
                </c:pt>
                <c:pt idx="39">
                  <c:v>1970</c:v>
                </c:pt>
                <c:pt idx="40">
                  <c:v>1971</c:v>
                </c:pt>
                <c:pt idx="41">
                  <c:v>1972</c:v>
                </c:pt>
                <c:pt idx="42">
                  <c:v>1973</c:v>
                </c:pt>
                <c:pt idx="43">
                  <c:v>1974</c:v>
                </c:pt>
                <c:pt idx="44">
                  <c:v>1975</c:v>
                </c:pt>
                <c:pt idx="45">
                  <c:v>1976</c:v>
                </c:pt>
                <c:pt idx="46">
                  <c:v>1977</c:v>
                </c:pt>
                <c:pt idx="47">
                  <c:v>1978</c:v>
                </c:pt>
                <c:pt idx="48">
                  <c:v>1979</c:v>
                </c:pt>
                <c:pt idx="49">
                  <c:v>1980</c:v>
                </c:pt>
                <c:pt idx="50">
                  <c:v>1981</c:v>
                </c:pt>
                <c:pt idx="51">
                  <c:v>1982</c:v>
                </c:pt>
                <c:pt idx="52">
                  <c:v>1983</c:v>
                </c:pt>
                <c:pt idx="53">
                  <c:v>1984</c:v>
                </c:pt>
                <c:pt idx="54">
                  <c:v>1985</c:v>
                </c:pt>
                <c:pt idx="55">
                  <c:v>1986</c:v>
                </c:pt>
                <c:pt idx="56">
                  <c:v>1987</c:v>
                </c:pt>
                <c:pt idx="57">
                  <c:v>1988</c:v>
                </c:pt>
                <c:pt idx="58">
                  <c:v>1989</c:v>
                </c:pt>
                <c:pt idx="59">
                  <c:v>1990</c:v>
                </c:pt>
                <c:pt idx="60">
                  <c:v>1991</c:v>
                </c:pt>
                <c:pt idx="61">
                  <c:v>1992</c:v>
                </c:pt>
                <c:pt idx="62">
                  <c:v>1993</c:v>
                </c:pt>
                <c:pt idx="63">
                  <c:v>1994</c:v>
                </c:pt>
                <c:pt idx="64">
                  <c:v>1995</c:v>
                </c:pt>
                <c:pt idx="65">
                  <c:v>1996</c:v>
                </c:pt>
                <c:pt idx="66">
                  <c:v>1997</c:v>
                </c:pt>
                <c:pt idx="67">
                  <c:v>1998</c:v>
                </c:pt>
                <c:pt idx="68">
                  <c:v>1999</c:v>
                </c:pt>
                <c:pt idx="69">
                  <c:v>2000</c:v>
                </c:pt>
              </c:numCache>
            </c:numRef>
          </c:cat>
          <c:val>
            <c:numRef>
              <c:f>Hoja2!$E$3:$E$72</c:f>
              <c:numCache>
                <c:formatCode>General</c:formatCode>
                <c:ptCount val="70"/>
                <c:pt idx="0">
                  <c:v>-0.15001331356129785</c:v>
                </c:pt>
                <c:pt idx="1">
                  <c:v>-0.10848494385660797</c:v>
                </c:pt>
                <c:pt idx="2">
                  <c:v>0.12038740327168276</c:v>
                </c:pt>
                <c:pt idx="3">
                  <c:v>-0.12038740327168276</c:v>
                </c:pt>
                <c:pt idx="4">
                  <c:v>5.8103919564255868E-2</c:v>
                </c:pt>
                <c:pt idx="5">
                  <c:v>8.1277790864837648E-2</c:v>
                </c:pt>
                <c:pt idx="6">
                  <c:v>2.6078127355037672E-2</c:v>
                </c:pt>
                <c:pt idx="7">
                  <c:v>-6.6523430611038614E-3</c:v>
                </c:pt>
                <c:pt idx="8">
                  <c:v>1.5582707206571756E-2</c:v>
                </c:pt>
                <c:pt idx="9">
                  <c:v>2.217216210637046E-2</c:v>
                </c:pt>
                <c:pt idx="10">
                  <c:v>2.6120888075636731E-2</c:v>
                </c:pt>
                <c:pt idx="11">
                  <c:v>5.5171583613328877E-2</c:v>
                </c:pt>
                <c:pt idx="12">
                  <c:v>1.1091968140039659E-2</c:v>
                </c:pt>
                <c:pt idx="13">
                  <c:v>-3.1072008427495234E-3</c:v>
                </c:pt>
                <c:pt idx="14">
                  <c:v>0.1801869611237672</c:v>
                </c:pt>
                <c:pt idx="15">
                  <c:v>0.16273548127254098</c:v>
                </c:pt>
                <c:pt idx="16">
                  <c:v>0.12703796323203689</c:v>
                </c:pt>
                <c:pt idx="17">
                  <c:v>0.12307601746520824</c:v>
                </c:pt>
                <c:pt idx="18">
                  <c:v>0.27077608416041532</c:v>
                </c:pt>
                <c:pt idx="19">
                  <c:v>0.22743376235102841</c:v>
                </c:pt>
                <c:pt idx="20">
                  <c:v>0.31282829267710688</c:v>
                </c:pt>
                <c:pt idx="21">
                  <c:v>0.32648952679262844</c:v>
                </c:pt>
                <c:pt idx="22">
                  <c:v>3.9256710305164914E-2</c:v>
                </c:pt>
                <c:pt idx="23">
                  <c:v>3.7773550897190616E-2</c:v>
                </c:pt>
                <c:pt idx="24">
                  <c:v>0.11616311953688217</c:v>
                </c:pt>
                <c:pt idx="25">
                  <c:v>0.12558603939245394</c:v>
                </c:pt>
                <c:pt idx="26">
                  <c:v>0.22058055274548138</c:v>
                </c:pt>
                <c:pt idx="27">
                  <c:v>0.27476744264774222</c:v>
                </c:pt>
                <c:pt idx="28">
                  <c:v>0.75940319074886187</c:v>
                </c:pt>
                <c:pt idx="29">
                  <c:v>0.24125201888744063</c:v>
                </c:pt>
                <c:pt idx="30">
                  <c:v>0.12675593851430578</c:v>
                </c:pt>
                <c:pt idx="31">
                  <c:v>0.24732519030577649</c:v>
                </c:pt>
                <c:pt idx="32">
                  <c:v>0.21570805314282684</c:v>
                </c:pt>
                <c:pt idx="33">
                  <c:v>0.19997982882969739</c:v>
                </c:pt>
                <c:pt idx="34">
                  <c:v>0.25141968512193458</c:v>
                </c:pt>
                <c:pt idx="35">
                  <c:v>0.27658134439076498</c:v>
                </c:pt>
                <c:pt idx="36">
                  <c:v>0.25639294810657276</c:v>
                </c:pt>
                <c:pt idx="37">
                  <c:v>0.15037756431859237</c:v>
                </c:pt>
                <c:pt idx="38">
                  <c:v>7.3048519656577326E-2</c:v>
                </c:pt>
                <c:pt idx="39">
                  <c:v>0.12731620607621441</c:v>
                </c:pt>
                <c:pt idx="40">
                  <c:v>0.29805924468432993</c:v>
                </c:pt>
                <c:pt idx="41">
                  <c:v>0.46030036088006443</c:v>
                </c:pt>
                <c:pt idx="42">
                  <c:v>0.47189513219415247</c:v>
                </c:pt>
                <c:pt idx="43">
                  <c:v>0.21683194992073673</c:v>
                </c:pt>
                <c:pt idx="44">
                  <c:v>1.0395675841427465</c:v>
                </c:pt>
                <c:pt idx="45">
                  <c:v>1.6938044638703609</c:v>
                </c:pt>
                <c:pt idx="46">
                  <c:v>1.0153428539917186</c:v>
                </c:pt>
                <c:pt idx="47">
                  <c:v>1.0134526899693039</c:v>
                </c:pt>
                <c:pt idx="48">
                  <c:v>0.95362533225655866</c:v>
                </c:pt>
                <c:pt idx="49">
                  <c:v>0.69696524734067278</c:v>
                </c:pt>
                <c:pt idx="50">
                  <c:v>0.71527925629359035</c:v>
                </c:pt>
                <c:pt idx="51">
                  <c:v>0.97371683671261455</c:v>
                </c:pt>
                <c:pt idx="52">
                  <c:v>1.4902244015606598</c:v>
                </c:pt>
                <c:pt idx="53">
                  <c:v>1.9833733499255821</c:v>
                </c:pt>
                <c:pt idx="54">
                  <c:v>2.0440472747809184</c:v>
                </c:pt>
                <c:pt idx="55">
                  <c:v>0.64234631316671564</c:v>
                </c:pt>
                <c:pt idx="56">
                  <c:v>0.83867930385972833</c:v>
                </c:pt>
                <c:pt idx="57">
                  <c:v>1.4882980491794298</c:v>
                </c:pt>
                <c:pt idx="58">
                  <c:v>3.4592993798997367</c:v>
                </c:pt>
                <c:pt idx="59">
                  <c:v>3.1838556548027732</c:v>
                </c:pt>
                <c:pt idx="60">
                  <c:v>0.99942415197271017</c:v>
                </c:pt>
                <c:pt idx="61">
                  <c:v>0.22234275784457239</c:v>
                </c:pt>
                <c:pt idx="62">
                  <c:v>0.10085407980349004</c:v>
                </c:pt>
                <c:pt idx="63">
                  <c:v>4.0924380976377954E-2</c:v>
                </c:pt>
                <c:pt idx="64">
                  <c:v>3.3204002721127834E-2</c:v>
                </c:pt>
                <c:pt idx="65">
                  <c:v>1.5552042241608907E-3</c:v>
                </c:pt>
                <c:pt idx="66">
                  <c:v>5.2719654472852609E-3</c:v>
                </c:pt>
                <c:pt idx="67">
                  <c:v>8.8115543282541089E-3</c:v>
                </c:pt>
                <c:pt idx="68">
                  <c:v>-1.1342758392281419E-2</c:v>
                </c:pt>
                <c:pt idx="69">
                  <c:v>-9.4308429610734396E-3</c:v>
                </c:pt>
              </c:numCache>
            </c:numRef>
          </c:val>
        </c:ser>
        <c:marker val="1"/>
        <c:axId val="80332672"/>
        <c:axId val="80334208"/>
      </c:lineChart>
      <c:catAx>
        <c:axId val="80332672"/>
        <c:scaling>
          <c:orientation val="minMax"/>
        </c:scaling>
        <c:axPos val="b"/>
        <c:numFmt formatCode="@" sourceLinked="1"/>
        <c:tickLblPos val="nextTo"/>
        <c:crossAx val="80334208"/>
        <c:crosses val="autoZero"/>
        <c:auto val="1"/>
        <c:lblAlgn val="ctr"/>
        <c:lblOffset val="100"/>
      </c:catAx>
      <c:valAx>
        <c:axId val="80334208"/>
        <c:scaling>
          <c:orientation val="minMax"/>
        </c:scaling>
        <c:axPos val="l"/>
        <c:numFmt formatCode="General" sourceLinked="1"/>
        <c:tickLblPos val="nextTo"/>
        <c:crossAx val="80332672"/>
        <c:crosses val="autoZero"/>
        <c:crossBetween val="between"/>
      </c:valAx>
    </c:plotArea>
    <c:plotVisOnly val="1"/>
  </c:chart>
  <c:txPr>
    <a:bodyPr/>
    <a:lstStyle/>
    <a:p>
      <a:pPr>
        <a:defRPr sz="1600"/>
      </a:pPr>
      <a:endParaRPr lang="es-AR"/>
    </a:p>
  </c:tx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AR"/>
  <c:chart>
    <c:plotArea>
      <c:layout/>
      <c:lineChart>
        <c:grouping val="standard"/>
        <c:ser>
          <c:idx val="0"/>
          <c:order val="0"/>
          <c:spPr>
            <a:ln w="57150">
              <a:solidFill>
                <a:srgbClr val="00B050"/>
              </a:solidFill>
            </a:ln>
          </c:spPr>
          <c:marker>
            <c:symbol val="none"/>
          </c:marker>
          <c:cat>
            <c:numRef>
              <c:f>Hoja2!$A$38:$A$72</c:f>
              <c:numCache>
                <c:formatCode>@</c:formatCode>
                <c:ptCount val="35"/>
                <c:pt idx="0">
                  <c:v>1966</c:v>
                </c:pt>
                <c:pt idx="1">
                  <c:v>1967</c:v>
                </c:pt>
                <c:pt idx="2">
                  <c:v>1968</c:v>
                </c:pt>
                <c:pt idx="3">
                  <c:v>1969</c:v>
                </c:pt>
                <c:pt idx="4">
                  <c:v>1970</c:v>
                </c:pt>
                <c:pt idx="5">
                  <c:v>1971</c:v>
                </c:pt>
                <c:pt idx="6">
                  <c:v>1972</c:v>
                </c:pt>
                <c:pt idx="7">
                  <c:v>1973</c:v>
                </c:pt>
                <c:pt idx="8">
                  <c:v>1974</c:v>
                </c:pt>
                <c:pt idx="9">
                  <c:v>1975</c:v>
                </c:pt>
                <c:pt idx="10">
                  <c:v>1976</c:v>
                </c:pt>
                <c:pt idx="11">
                  <c:v>1977</c:v>
                </c:pt>
                <c:pt idx="12">
                  <c:v>1978</c:v>
                </c:pt>
                <c:pt idx="13">
                  <c:v>1979</c:v>
                </c:pt>
                <c:pt idx="14">
                  <c:v>1980</c:v>
                </c:pt>
                <c:pt idx="15">
                  <c:v>1981</c:v>
                </c:pt>
                <c:pt idx="16">
                  <c:v>1982</c:v>
                </c:pt>
                <c:pt idx="17">
                  <c:v>1983</c:v>
                </c:pt>
                <c:pt idx="18">
                  <c:v>1984</c:v>
                </c:pt>
                <c:pt idx="19">
                  <c:v>1985</c:v>
                </c:pt>
                <c:pt idx="20">
                  <c:v>1986</c:v>
                </c:pt>
                <c:pt idx="21">
                  <c:v>1987</c:v>
                </c:pt>
                <c:pt idx="22">
                  <c:v>1988</c:v>
                </c:pt>
                <c:pt idx="23">
                  <c:v>1989</c:v>
                </c:pt>
                <c:pt idx="24">
                  <c:v>1990</c:v>
                </c:pt>
                <c:pt idx="25">
                  <c:v>1991</c:v>
                </c:pt>
                <c:pt idx="26">
                  <c:v>1992</c:v>
                </c:pt>
                <c:pt idx="27">
                  <c:v>1993</c:v>
                </c:pt>
                <c:pt idx="28">
                  <c:v>1994</c:v>
                </c:pt>
                <c:pt idx="29">
                  <c:v>1995</c:v>
                </c:pt>
                <c:pt idx="30">
                  <c:v>1996</c:v>
                </c:pt>
                <c:pt idx="31">
                  <c:v>1997</c:v>
                </c:pt>
                <c:pt idx="32">
                  <c:v>1998</c:v>
                </c:pt>
                <c:pt idx="33">
                  <c:v>1999</c:v>
                </c:pt>
                <c:pt idx="34">
                  <c:v>2000</c:v>
                </c:pt>
              </c:numCache>
            </c:numRef>
          </c:cat>
          <c:val>
            <c:numRef>
              <c:f>Hoja2!$E$38:$E$72</c:f>
              <c:numCache>
                <c:formatCode>General</c:formatCode>
                <c:ptCount val="35"/>
                <c:pt idx="0">
                  <c:v>0.27658134439076498</c:v>
                </c:pt>
                <c:pt idx="1">
                  <c:v>0.25639294810657276</c:v>
                </c:pt>
                <c:pt idx="2">
                  <c:v>0.15037756431859237</c:v>
                </c:pt>
                <c:pt idx="3">
                  <c:v>7.3048519656577326E-2</c:v>
                </c:pt>
                <c:pt idx="4">
                  <c:v>0.12731620607621441</c:v>
                </c:pt>
                <c:pt idx="5">
                  <c:v>0.29805924468432993</c:v>
                </c:pt>
                <c:pt idx="6">
                  <c:v>0.46030036088006443</c:v>
                </c:pt>
                <c:pt idx="7">
                  <c:v>0.47189513219415247</c:v>
                </c:pt>
                <c:pt idx="8">
                  <c:v>0.21683194992073673</c:v>
                </c:pt>
                <c:pt idx="9">
                  <c:v>1.0395675841427465</c:v>
                </c:pt>
                <c:pt idx="10">
                  <c:v>1.6938044638703609</c:v>
                </c:pt>
                <c:pt idx="11">
                  <c:v>1.0153428539917186</c:v>
                </c:pt>
                <c:pt idx="12">
                  <c:v>1.0134526899693039</c:v>
                </c:pt>
                <c:pt idx="13">
                  <c:v>0.95362533225655866</c:v>
                </c:pt>
                <c:pt idx="14">
                  <c:v>0.696965247340672</c:v>
                </c:pt>
                <c:pt idx="15">
                  <c:v>0.71527925629359035</c:v>
                </c:pt>
                <c:pt idx="16">
                  <c:v>0.97371683671261522</c:v>
                </c:pt>
                <c:pt idx="17">
                  <c:v>1.4902244015606598</c:v>
                </c:pt>
                <c:pt idx="18">
                  <c:v>1.9833733499255821</c:v>
                </c:pt>
                <c:pt idx="19">
                  <c:v>2.0440472747809184</c:v>
                </c:pt>
                <c:pt idx="20">
                  <c:v>0.64234631316671564</c:v>
                </c:pt>
                <c:pt idx="21">
                  <c:v>0.83867930385972833</c:v>
                </c:pt>
                <c:pt idx="22">
                  <c:v>1.4882980491794298</c:v>
                </c:pt>
                <c:pt idx="23">
                  <c:v>3.4592993798997367</c:v>
                </c:pt>
                <c:pt idx="24">
                  <c:v>3.1838556548027732</c:v>
                </c:pt>
                <c:pt idx="25">
                  <c:v>0.99942415197271017</c:v>
                </c:pt>
                <c:pt idx="26">
                  <c:v>0.22234275784457225</c:v>
                </c:pt>
                <c:pt idx="27">
                  <c:v>0.10085407980349004</c:v>
                </c:pt>
                <c:pt idx="28">
                  <c:v>4.0924380976377947E-2</c:v>
                </c:pt>
                <c:pt idx="29">
                  <c:v>3.3204002721127827E-2</c:v>
                </c:pt>
                <c:pt idx="30">
                  <c:v>1.5552042241608901E-3</c:v>
                </c:pt>
                <c:pt idx="31">
                  <c:v>5.2719654472852574E-3</c:v>
                </c:pt>
                <c:pt idx="32">
                  <c:v>8.8115543282541089E-3</c:v>
                </c:pt>
                <c:pt idx="33">
                  <c:v>-1.134275839228141E-2</c:v>
                </c:pt>
                <c:pt idx="34">
                  <c:v>-9.4308429610734396E-3</c:v>
                </c:pt>
              </c:numCache>
            </c:numRef>
          </c:val>
        </c:ser>
        <c:marker val="1"/>
        <c:axId val="82332288"/>
        <c:axId val="82338176"/>
      </c:lineChart>
      <c:catAx>
        <c:axId val="82332288"/>
        <c:scaling>
          <c:orientation val="minMax"/>
        </c:scaling>
        <c:axPos val="b"/>
        <c:numFmt formatCode="@" sourceLinked="1"/>
        <c:tickLblPos val="low"/>
        <c:txPr>
          <a:bodyPr rot="-5400000" vert="horz"/>
          <a:lstStyle/>
          <a:p>
            <a:pPr>
              <a:defRPr/>
            </a:pPr>
            <a:endParaRPr lang="es-AR"/>
          </a:p>
        </c:txPr>
        <c:crossAx val="82338176"/>
        <c:crosses val="autoZero"/>
        <c:auto val="1"/>
        <c:lblAlgn val="ctr"/>
        <c:lblOffset val="100"/>
      </c:catAx>
      <c:valAx>
        <c:axId val="82338176"/>
        <c:scaling>
          <c:orientation val="minMax"/>
        </c:scaling>
        <c:axPos val="l"/>
        <c:numFmt formatCode="General" sourceLinked="1"/>
        <c:tickLblPos val="nextTo"/>
        <c:crossAx val="82332288"/>
        <c:crosses val="autoZero"/>
        <c:crossBetween val="between"/>
      </c:valAx>
    </c:plotArea>
    <c:plotVisOnly val="1"/>
  </c:chart>
  <c:txPr>
    <a:bodyPr/>
    <a:lstStyle/>
    <a:p>
      <a:pPr>
        <a:defRPr sz="1600"/>
      </a:pPr>
      <a:endParaRPr lang="es-AR"/>
    </a:p>
  </c:txPr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AR"/>
  <c:chart>
    <c:plotArea>
      <c:layout/>
      <c:barChart>
        <c:barDir val="col"/>
        <c:grouping val="clustered"/>
        <c:ser>
          <c:idx val="0"/>
          <c:order val="0"/>
          <c:cat>
            <c:numRef>
              <c:f>Hoja4!$A$14:$A$22</c:f>
              <c:numCache>
                <c:formatCode>General</c:formatCode>
                <c:ptCount val="9"/>
                <c:pt idx="0">
                  <c:v>1992</c:v>
                </c:pt>
                <c:pt idx="1">
                  <c:v>1993</c:v>
                </c:pt>
                <c:pt idx="2">
                  <c:v>1994</c:v>
                </c:pt>
                <c:pt idx="3">
                  <c:v>1995</c:v>
                </c:pt>
                <c:pt idx="4">
                  <c:v>1996</c:v>
                </c:pt>
                <c:pt idx="5">
                  <c:v>1997</c:v>
                </c:pt>
                <c:pt idx="6">
                  <c:v>1998</c:v>
                </c:pt>
                <c:pt idx="7">
                  <c:v>1999</c:v>
                </c:pt>
                <c:pt idx="8">
                  <c:v>2000</c:v>
                </c:pt>
              </c:numCache>
            </c:numRef>
          </c:cat>
          <c:val>
            <c:numRef>
              <c:f>Hoja4!$C$14:$C$22</c:f>
              <c:numCache>
                <c:formatCode>#,##0\ \ </c:formatCode>
                <c:ptCount val="9"/>
                <c:pt idx="0">
                  <c:v>36799.999999999272</c:v>
                </c:pt>
                <c:pt idx="1">
                  <c:v>-717400</c:v>
                </c:pt>
                <c:pt idx="2">
                  <c:v>-2408700</c:v>
                </c:pt>
                <c:pt idx="3">
                  <c:v>-3951600</c:v>
                </c:pt>
                <c:pt idx="4">
                  <c:v>-6073000</c:v>
                </c:pt>
                <c:pt idx="5">
                  <c:v>-3810700</c:v>
                </c:pt>
                <c:pt idx="6">
                  <c:v>-3604600</c:v>
                </c:pt>
                <c:pt idx="7">
                  <c:v>-4979200</c:v>
                </c:pt>
                <c:pt idx="8">
                  <c:v>-4667200</c:v>
                </c:pt>
              </c:numCache>
            </c:numRef>
          </c:val>
        </c:ser>
        <c:axId val="82353536"/>
        <c:axId val="82384000"/>
      </c:barChart>
      <c:catAx>
        <c:axId val="82353536"/>
        <c:scaling>
          <c:orientation val="minMax"/>
        </c:scaling>
        <c:axPos val="b"/>
        <c:numFmt formatCode="General" sourceLinked="1"/>
        <c:tickLblPos val="low"/>
        <c:txPr>
          <a:bodyPr rot="-5400000" vert="horz"/>
          <a:lstStyle/>
          <a:p>
            <a:pPr>
              <a:defRPr/>
            </a:pPr>
            <a:endParaRPr lang="es-AR"/>
          </a:p>
        </c:txPr>
        <c:crossAx val="82384000"/>
        <c:crosses val="autoZero"/>
        <c:auto val="1"/>
        <c:lblAlgn val="ctr"/>
        <c:lblOffset val="100"/>
      </c:catAx>
      <c:valAx>
        <c:axId val="82384000"/>
        <c:scaling>
          <c:orientation val="minMax"/>
        </c:scaling>
        <c:axPos val="l"/>
        <c:numFmt formatCode="#,##0\ \ " sourceLinked="1"/>
        <c:tickLblPos val="nextTo"/>
        <c:crossAx val="82353536"/>
        <c:crosses val="autoZero"/>
        <c:crossBetween val="between"/>
      </c:valAx>
    </c:plotArea>
    <c:plotVisOnly val="1"/>
  </c:chart>
  <c:txPr>
    <a:bodyPr/>
    <a:lstStyle/>
    <a:p>
      <a:pPr>
        <a:defRPr sz="1600"/>
      </a:pPr>
      <a:endParaRPr lang="es-AR"/>
    </a:p>
  </c:txPr>
  <c:externalData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AR"/>
  <c:chart>
    <c:plotArea>
      <c:layout/>
      <c:lineChart>
        <c:grouping val="standard"/>
        <c:ser>
          <c:idx val="0"/>
          <c:order val="0"/>
          <c:tx>
            <c:v>Ingresos</c:v>
          </c:tx>
          <c:spPr>
            <a:ln w="57150"/>
          </c:spPr>
          <c:marker>
            <c:symbol val="none"/>
          </c:marker>
          <c:cat>
            <c:numRef>
              <c:f>Hoja3!$A$8:$A$38</c:f>
              <c:numCache>
                <c:formatCode>@</c:formatCode>
                <c:ptCount val="31"/>
                <c:pt idx="0">
                  <c:v>1970</c:v>
                </c:pt>
                <c:pt idx="1">
                  <c:v>1971</c:v>
                </c:pt>
                <c:pt idx="2">
                  <c:v>1972</c:v>
                </c:pt>
                <c:pt idx="3">
                  <c:v>1973</c:v>
                </c:pt>
                <c:pt idx="4">
                  <c:v>1974</c:v>
                </c:pt>
                <c:pt idx="5">
                  <c:v>1975</c:v>
                </c:pt>
                <c:pt idx="6">
                  <c:v>1976</c:v>
                </c:pt>
                <c:pt idx="7">
                  <c:v>1977</c:v>
                </c:pt>
                <c:pt idx="8">
                  <c:v>1978</c:v>
                </c:pt>
                <c:pt idx="9">
                  <c:v>1979</c:v>
                </c:pt>
                <c:pt idx="10">
                  <c:v>1980</c:v>
                </c:pt>
                <c:pt idx="11">
                  <c:v>1981</c:v>
                </c:pt>
                <c:pt idx="12">
                  <c:v>1982</c:v>
                </c:pt>
                <c:pt idx="13">
                  <c:v>1983</c:v>
                </c:pt>
                <c:pt idx="14">
                  <c:v>1984</c:v>
                </c:pt>
                <c:pt idx="15">
                  <c:v>1985</c:v>
                </c:pt>
                <c:pt idx="16">
                  <c:v>1986</c:v>
                </c:pt>
                <c:pt idx="17">
                  <c:v>1987</c:v>
                </c:pt>
                <c:pt idx="18">
                  <c:v>1988</c:v>
                </c:pt>
                <c:pt idx="19">
                  <c:v>1989</c:v>
                </c:pt>
                <c:pt idx="20">
                  <c:v>1990</c:v>
                </c:pt>
                <c:pt idx="21">
                  <c:v>1991</c:v>
                </c:pt>
                <c:pt idx="22">
                  <c:v>1992</c:v>
                </c:pt>
                <c:pt idx="23">
                  <c:v>1993</c:v>
                </c:pt>
                <c:pt idx="24">
                  <c:v>1994</c:v>
                </c:pt>
                <c:pt idx="25">
                  <c:v>1995</c:v>
                </c:pt>
                <c:pt idx="26">
                  <c:v>1996</c:v>
                </c:pt>
                <c:pt idx="27">
                  <c:v>1997</c:v>
                </c:pt>
                <c:pt idx="28">
                  <c:v>1998</c:v>
                </c:pt>
                <c:pt idx="29">
                  <c:v>1999</c:v>
                </c:pt>
                <c:pt idx="30">
                  <c:v>2000</c:v>
                </c:pt>
              </c:numCache>
            </c:numRef>
          </c:cat>
          <c:val>
            <c:numRef>
              <c:f>Hoja3!$B$8:$B$38</c:f>
              <c:numCache>
                <c:formatCode>_ * #,##0.00_ ;_ * \-#,##0.00_ ;_ * "-"_ ;_ @_ </c:formatCode>
                <c:ptCount val="31"/>
                <c:pt idx="0">
                  <c:v>25.649016006333163</c:v>
                </c:pt>
                <c:pt idx="1">
                  <c:v>23.023925850922812</c:v>
                </c:pt>
                <c:pt idx="2">
                  <c:v>21.335703838964385</c:v>
                </c:pt>
                <c:pt idx="3">
                  <c:v>21.82627716617263</c:v>
                </c:pt>
                <c:pt idx="4">
                  <c:v>25.180382900330361</c:v>
                </c:pt>
                <c:pt idx="5">
                  <c:v>19.499138156162829</c:v>
                </c:pt>
                <c:pt idx="6">
                  <c:v>22.669056888334016</c:v>
                </c:pt>
                <c:pt idx="7">
                  <c:v>26.804515615961026</c:v>
                </c:pt>
                <c:pt idx="8">
                  <c:v>29.830378993042046</c:v>
                </c:pt>
                <c:pt idx="9">
                  <c:v>27.540444183782139</c:v>
                </c:pt>
                <c:pt idx="10">
                  <c:v>28.801310166902521</c:v>
                </c:pt>
                <c:pt idx="11">
                  <c:v>27.851521900964862</c:v>
                </c:pt>
                <c:pt idx="12">
                  <c:v>24.080652527392093</c:v>
                </c:pt>
                <c:pt idx="13">
                  <c:v>23.319183164872804</c:v>
                </c:pt>
                <c:pt idx="14">
                  <c:v>24.208615696805641</c:v>
                </c:pt>
                <c:pt idx="15">
                  <c:v>33.678375024562555</c:v>
                </c:pt>
                <c:pt idx="16">
                  <c:v>31.657483996089283</c:v>
                </c:pt>
                <c:pt idx="17">
                  <c:v>29.41267230567486</c:v>
                </c:pt>
                <c:pt idx="18">
                  <c:v>27.172766682720869</c:v>
                </c:pt>
                <c:pt idx="19">
                  <c:v>29.837812744335533</c:v>
                </c:pt>
                <c:pt idx="20">
                  <c:v>26.066452832203584</c:v>
                </c:pt>
                <c:pt idx="21">
                  <c:v>26.482825826935219</c:v>
                </c:pt>
                <c:pt idx="22">
                  <c:v>27.855016142359467</c:v>
                </c:pt>
                <c:pt idx="23">
                  <c:v>27.705843629948465</c:v>
                </c:pt>
                <c:pt idx="24">
                  <c:v>25.065689206866523</c:v>
                </c:pt>
                <c:pt idx="25">
                  <c:v>24.04109867840312</c:v>
                </c:pt>
                <c:pt idx="26">
                  <c:v>22.771874059677661</c:v>
                </c:pt>
                <c:pt idx="27">
                  <c:v>23.915512056353563</c:v>
                </c:pt>
                <c:pt idx="28">
                  <c:v>23.616386608784875</c:v>
                </c:pt>
                <c:pt idx="29">
                  <c:v>24.212848448678027</c:v>
                </c:pt>
                <c:pt idx="30">
                  <c:v>25.181125445766543</c:v>
                </c:pt>
              </c:numCache>
            </c:numRef>
          </c:val>
        </c:ser>
        <c:ser>
          <c:idx val="1"/>
          <c:order val="1"/>
          <c:tx>
            <c:v>Gastos</c:v>
          </c:tx>
          <c:spPr>
            <a:ln w="57150"/>
          </c:spPr>
          <c:marker>
            <c:symbol val="none"/>
          </c:marker>
          <c:cat>
            <c:numRef>
              <c:f>Hoja3!$A$8:$A$38</c:f>
              <c:numCache>
                <c:formatCode>@</c:formatCode>
                <c:ptCount val="31"/>
                <c:pt idx="0">
                  <c:v>1970</c:v>
                </c:pt>
                <c:pt idx="1">
                  <c:v>1971</c:v>
                </c:pt>
                <c:pt idx="2">
                  <c:v>1972</c:v>
                </c:pt>
                <c:pt idx="3">
                  <c:v>1973</c:v>
                </c:pt>
                <c:pt idx="4">
                  <c:v>1974</c:v>
                </c:pt>
                <c:pt idx="5">
                  <c:v>1975</c:v>
                </c:pt>
                <c:pt idx="6">
                  <c:v>1976</c:v>
                </c:pt>
                <c:pt idx="7">
                  <c:v>1977</c:v>
                </c:pt>
                <c:pt idx="8">
                  <c:v>1978</c:v>
                </c:pt>
                <c:pt idx="9">
                  <c:v>1979</c:v>
                </c:pt>
                <c:pt idx="10">
                  <c:v>1980</c:v>
                </c:pt>
                <c:pt idx="11">
                  <c:v>1981</c:v>
                </c:pt>
                <c:pt idx="12">
                  <c:v>1982</c:v>
                </c:pt>
                <c:pt idx="13">
                  <c:v>1983</c:v>
                </c:pt>
                <c:pt idx="14">
                  <c:v>1984</c:v>
                </c:pt>
                <c:pt idx="15">
                  <c:v>1985</c:v>
                </c:pt>
                <c:pt idx="16">
                  <c:v>1986</c:v>
                </c:pt>
                <c:pt idx="17">
                  <c:v>1987</c:v>
                </c:pt>
                <c:pt idx="18">
                  <c:v>1988</c:v>
                </c:pt>
                <c:pt idx="19">
                  <c:v>1989</c:v>
                </c:pt>
                <c:pt idx="20">
                  <c:v>1990</c:v>
                </c:pt>
                <c:pt idx="21">
                  <c:v>1991</c:v>
                </c:pt>
                <c:pt idx="22">
                  <c:v>1992</c:v>
                </c:pt>
                <c:pt idx="23">
                  <c:v>1993</c:v>
                </c:pt>
                <c:pt idx="24">
                  <c:v>1994</c:v>
                </c:pt>
                <c:pt idx="25">
                  <c:v>1995</c:v>
                </c:pt>
                <c:pt idx="26">
                  <c:v>1996</c:v>
                </c:pt>
                <c:pt idx="27">
                  <c:v>1997</c:v>
                </c:pt>
                <c:pt idx="28">
                  <c:v>1998</c:v>
                </c:pt>
                <c:pt idx="29">
                  <c:v>1999</c:v>
                </c:pt>
                <c:pt idx="30">
                  <c:v>2000</c:v>
                </c:pt>
              </c:numCache>
            </c:numRef>
          </c:cat>
          <c:val>
            <c:numRef>
              <c:f>Hoja3!$C$8:$C$38</c:f>
              <c:numCache>
                <c:formatCode>_ * #,##0.00_ ;_ * \-#,##0.00_ ;_ * "-"_ ;_ @_ </c:formatCode>
                <c:ptCount val="31"/>
                <c:pt idx="0">
                  <c:v>27.158782068253032</c:v>
                </c:pt>
                <c:pt idx="1">
                  <c:v>26.573022219200087</c:v>
                </c:pt>
                <c:pt idx="2">
                  <c:v>25.978653591958743</c:v>
                </c:pt>
                <c:pt idx="3">
                  <c:v>27.846104674623007</c:v>
                </c:pt>
                <c:pt idx="4">
                  <c:v>31.711055504908881</c:v>
                </c:pt>
                <c:pt idx="5">
                  <c:v>31.532137438753512</c:v>
                </c:pt>
                <c:pt idx="6">
                  <c:v>32.130485480711236</c:v>
                </c:pt>
                <c:pt idx="7">
                  <c:v>30.613812150359891</c:v>
                </c:pt>
                <c:pt idx="8">
                  <c:v>35.089289206375767</c:v>
                </c:pt>
                <c:pt idx="9">
                  <c:v>33.248069047963916</c:v>
                </c:pt>
                <c:pt idx="10">
                  <c:v>35.277294060386133</c:v>
                </c:pt>
                <c:pt idx="11">
                  <c:v>39.120038591352504</c:v>
                </c:pt>
                <c:pt idx="12">
                  <c:v>35.443949507167467</c:v>
                </c:pt>
                <c:pt idx="13">
                  <c:v>33.695464785028072</c:v>
                </c:pt>
                <c:pt idx="14">
                  <c:v>32.937627983769268</c:v>
                </c:pt>
                <c:pt idx="15">
                  <c:v>38.632043308659611</c:v>
                </c:pt>
                <c:pt idx="16">
                  <c:v>35.752137861906455</c:v>
                </c:pt>
                <c:pt idx="17">
                  <c:v>36.447740655424589</c:v>
                </c:pt>
                <c:pt idx="18">
                  <c:v>35.09979537532648</c:v>
                </c:pt>
                <c:pt idx="19">
                  <c:v>37.648762443659912</c:v>
                </c:pt>
                <c:pt idx="20">
                  <c:v>30.800392324089593</c:v>
                </c:pt>
                <c:pt idx="21">
                  <c:v>27.905071614703314</c:v>
                </c:pt>
                <c:pt idx="22">
                  <c:v>28.304763716443841</c:v>
                </c:pt>
                <c:pt idx="23">
                  <c:v>27.719796824493322</c:v>
                </c:pt>
                <c:pt idx="24">
                  <c:v>26.732524463449785</c:v>
                </c:pt>
                <c:pt idx="25">
                  <c:v>26.926749810763742</c:v>
                </c:pt>
                <c:pt idx="26">
                  <c:v>25.92752633115963</c:v>
                </c:pt>
                <c:pt idx="27">
                  <c:v>24.736692560051157</c:v>
                </c:pt>
                <c:pt idx="28">
                  <c:v>26.034362759219473</c:v>
                </c:pt>
                <c:pt idx="29">
                  <c:v>28.718584823019548</c:v>
                </c:pt>
                <c:pt idx="30">
                  <c:v>28.482032055278761</c:v>
                </c:pt>
              </c:numCache>
            </c:numRef>
          </c:val>
        </c:ser>
        <c:ser>
          <c:idx val="2"/>
          <c:order val="2"/>
          <c:tx>
            <c:v>R. primario</c:v>
          </c:tx>
          <c:spPr>
            <a:ln w="57150"/>
          </c:spPr>
          <c:marker>
            <c:symbol val="none"/>
          </c:marker>
          <c:cat>
            <c:numRef>
              <c:f>Hoja3!$A$8:$A$38</c:f>
              <c:numCache>
                <c:formatCode>@</c:formatCode>
                <c:ptCount val="31"/>
                <c:pt idx="0">
                  <c:v>1970</c:v>
                </c:pt>
                <c:pt idx="1">
                  <c:v>1971</c:v>
                </c:pt>
                <c:pt idx="2">
                  <c:v>1972</c:v>
                </c:pt>
                <c:pt idx="3">
                  <c:v>1973</c:v>
                </c:pt>
                <c:pt idx="4">
                  <c:v>1974</c:v>
                </c:pt>
                <c:pt idx="5">
                  <c:v>1975</c:v>
                </c:pt>
                <c:pt idx="6">
                  <c:v>1976</c:v>
                </c:pt>
                <c:pt idx="7">
                  <c:v>1977</c:v>
                </c:pt>
                <c:pt idx="8">
                  <c:v>1978</c:v>
                </c:pt>
                <c:pt idx="9">
                  <c:v>1979</c:v>
                </c:pt>
                <c:pt idx="10">
                  <c:v>1980</c:v>
                </c:pt>
                <c:pt idx="11">
                  <c:v>1981</c:v>
                </c:pt>
                <c:pt idx="12">
                  <c:v>1982</c:v>
                </c:pt>
                <c:pt idx="13">
                  <c:v>1983</c:v>
                </c:pt>
                <c:pt idx="14">
                  <c:v>1984</c:v>
                </c:pt>
                <c:pt idx="15">
                  <c:v>1985</c:v>
                </c:pt>
                <c:pt idx="16">
                  <c:v>1986</c:v>
                </c:pt>
                <c:pt idx="17">
                  <c:v>1987</c:v>
                </c:pt>
                <c:pt idx="18">
                  <c:v>1988</c:v>
                </c:pt>
                <c:pt idx="19">
                  <c:v>1989</c:v>
                </c:pt>
                <c:pt idx="20">
                  <c:v>1990</c:v>
                </c:pt>
                <c:pt idx="21">
                  <c:v>1991</c:v>
                </c:pt>
                <c:pt idx="22">
                  <c:v>1992</c:v>
                </c:pt>
                <c:pt idx="23">
                  <c:v>1993</c:v>
                </c:pt>
                <c:pt idx="24">
                  <c:v>1994</c:v>
                </c:pt>
                <c:pt idx="25">
                  <c:v>1995</c:v>
                </c:pt>
                <c:pt idx="26">
                  <c:v>1996</c:v>
                </c:pt>
                <c:pt idx="27">
                  <c:v>1997</c:v>
                </c:pt>
                <c:pt idx="28">
                  <c:v>1998</c:v>
                </c:pt>
                <c:pt idx="29">
                  <c:v>1999</c:v>
                </c:pt>
                <c:pt idx="30">
                  <c:v>2000</c:v>
                </c:pt>
              </c:numCache>
            </c:numRef>
          </c:cat>
          <c:val>
            <c:numRef>
              <c:f>Hoja3!$D$8:$D$38</c:f>
              <c:numCache>
                <c:formatCode>_ * #,##0.00_ ;_ * \-#,##0.00_ ;_ * "-"_ ;_ @_ </c:formatCode>
                <c:ptCount val="31"/>
                <c:pt idx="0">
                  <c:v>-0.89227238610449222</c:v>
                </c:pt>
                <c:pt idx="1">
                  <c:v>-2.8653858044932083</c:v>
                </c:pt>
                <c:pt idx="2">
                  <c:v>-3.8076423161724677</c:v>
                </c:pt>
                <c:pt idx="3">
                  <c:v>-5.2320472763062345</c:v>
                </c:pt>
                <c:pt idx="4">
                  <c:v>-5.5834137934334711</c:v>
                </c:pt>
                <c:pt idx="5">
                  <c:v>-11.022814372057589</c:v>
                </c:pt>
                <c:pt idx="6">
                  <c:v>-7.829130944907905</c:v>
                </c:pt>
                <c:pt idx="7">
                  <c:v>-2.1785066369914272</c:v>
                </c:pt>
                <c:pt idx="8">
                  <c:v>-2.7925496529384644</c:v>
                </c:pt>
                <c:pt idx="9">
                  <c:v>-3.1416003344978938</c:v>
                </c:pt>
                <c:pt idx="10">
                  <c:v>-3.7232511410026112</c:v>
                </c:pt>
                <c:pt idx="11">
                  <c:v>-5.3657799206914865</c:v>
                </c:pt>
                <c:pt idx="12">
                  <c:v>-3.7323952352178709</c:v>
                </c:pt>
                <c:pt idx="13">
                  <c:v>-6.4090904417108199</c:v>
                </c:pt>
                <c:pt idx="14">
                  <c:v>-5.1223455477674804</c:v>
                </c:pt>
                <c:pt idx="15">
                  <c:v>-0.52451812954280985</c:v>
                </c:pt>
                <c:pt idx="16">
                  <c:v>-0.97037777159970262</c:v>
                </c:pt>
                <c:pt idx="17">
                  <c:v>-4.0804516662362245</c:v>
                </c:pt>
                <c:pt idx="18">
                  <c:v>-5.1459643455579149</c:v>
                </c:pt>
                <c:pt idx="19">
                  <c:v>-3.6595164221868663</c:v>
                </c:pt>
                <c:pt idx="20">
                  <c:v>-3.076847350913043</c:v>
                </c:pt>
                <c:pt idx="21">
                  <c:v>2.9439476389205785E-2</c:v>
                </c:pt>
                <c:pt idx="22">
                  <c:v>1.6941388123707679</c:v>
                </c:pt>
                <c:pt idx="23">
                  <c:v>1.4160801166727048</c:v>
                </c:pt>
                <c:pt idx="24">
                  <c:v>-0.16947640988260931</c:v>
                </c:pt>
                <c:pt idx="25">
                  <c:v>-0.92934251271181112</c:v>
                </c:pt>
                <c:pt idx="26">
                  <c:v>-1.2383255574715626</c:v>
                </c:pt>
                <c:pt idx="27">
                  <c:v>1.4853229128172338</c:v>
                </c:pt>
                <c:pt idx="28">
                  <c:v>0.21833202371012642</c:v>
                </c:pt>
                <c:pt idx="29">
                  <c:v>-1.1111266947496727</c:v>
                </c:pt>
                <c:pt idx="30">
                  <c:v>0.75885701179314591</c:v>
                </c:pt>
              </c:numCache>
            </c:numRef>
          </c:val>
        </c:ser>
        <c:ser>
          <c:idx val="3"/>
          <c:order val="3"/>
          <c:tx>
            <c:v>R. financiero</c:v>
          </c:tx>
          <c:spPr>
            <a:ln w="57150"/>
          </c:spPr>
          <c:marker>
            <c:symbol val="none"/>
          </c:marker>
          <c:cat>
            <c:numRef>
              <c:f>Hoja3!$A$8:$A$38</c:f>
              <c:numCache>
                <c:formatCode>@</c:formatCode>
                <c:ptCount val="31"/>
                <c:pt idx="0">
                  <c:v>1970</c:v>
                </c:pt>
                <c:pt idx="1">
                  <c:v>1971</c:v>
                </c:pt>
                <c:pt idx="2">
                  <c:v>1972</c:v>
                </c:pt>
                <c:pt idx="3">
                  <c:v>1973</c:v>
                </c:pt>
                <c:pt idx="4">
                  <c:v>1974</c:v>
                </c:pt>
                <c:pt idx="5">
                  <c:v>1975</c:v>
                </c:pt>
                <c:pt idx="6">
                  <c:v>1976</c:v>
                </c:pt>
                <c:pt idx="7">
                  <c:v>1977</c:v>
                </c:pt>
                <c:pt idx="8">
                  <c:v>1978</c:v>
                </c:pt>
                <c:pt idx="9">
                  <c:v>1979</c:v>
                </c:pt>
                <c:pt idx="10">
                  <c:v>1980</c:v>
                </c:pt>
                <c:pt idx="11">
                  <c:v>1981</c:v>
                </c:pt>
                <c:pt idx="12">
                  <c:v>1982</c:v>
                </c:pt>
                <c:pt idx="13">
                  <c:v>1983</c:v>
                </c:pt>
                <c:pt idx="14">
                  <c:v>1984</c:v>
                </c:pt>
                <c:pt idx="15">
                  <c:v>1985</c:v>
                </c:pt>
                <c:pt idx="16">
                  <c:v>1986</c:v>
                </c:pt>
                <c:pt idx="17">
                  <c:v>1987</c:v>
                </c:pt>
                <c:pt idx="18">
                  <c:v>1988</c:v>
                </c:pt>
                <c:pt idx="19">
                  <c:v>1989</c:v>
                </c:pt>
                <c:pt idx="20">
                  <c:v>1990</c:v>
                </c:pt>
                <c:pt idx="21">
                  <c:v>1991</c:v>
                </c:pt>
                <c:pt idx="22">
                  <c:v>1992</c:v>
                </c:pt>
                <c:pt idx="23">
                  <c:v>1993</c:v>
                </c:pt>
                <c:pt idx="24">
                  <c:v>1994</c:v>
                </c:pt>
                <c:pt idx="25">
                  <c:v>1995</c:v>
                </c:pt>
                <c:pt idx="26">
                  <c:v>1996</c:v>
                </c:pt>
                <c:pt idx="27">
                  <c:v>1997</c:v>
                </c:pt>
                <c:pt idx="28">
                  <c:v>1998</c:v>
                </c:pt>
                <c:pt idx="29">
                  <c:v>1999</c:v>
                </c:pt>
                <c:pt idx="30">
                  <c:v>2000</c:v>
                </c:pt>
              </c:numCache>
            </c:numRef>
          </c:cat>
          <c:val>
            <c:numRef>
              <c:f>Hoja3!$E$8:$E$38</c:f>
              <c:numCache>
                <c:formatCode>_ * #,##0.00_ ;_ * \-#,##0.00_ ;_ * "-"_ ;_ @_ </c:formatCode>
                <c:ptCount val="31"/>
                <c:pt idx="0">
                  <c:v>-1.5097660619198499</c:v>
                </c:pt>
                <c:pt idx="1">
                  <c:v>-3.5490963682772798</c:v>
                </c:pt>
                <c:pt idx="2">
                  <c:v>-4.6429497529943529</c:v>
                </c:pt>
                <c:pt idx="3">
                  <c:v>-6.0198275084503905</c:v>
                </c:pt>
                <c:pt idx="4">
                  <c:v>-6.5306726045784895</c:v>
                </c:pt>
                <c:pt idx="5">
                  <c:v>-12.032999282590685</c:v>
                </c:pt>
                <c:pt idx="6">
                  <c:v>-9.4614285923772528</c:v>
                </c:pt>
                <c:pt idx="7">
                  <c:v>-3.8092965343988383</c:v>
                </c:pt>
                <c:pt idx="8">
                  <c:v>-5.2589102133337358</c:v>
                </c:pt>
                <c:pt idx="9">
                  <c:v>-5.7076248641817671</c:v>
                </c:pt>
                <c:pt idx="10">
                  <c:v>-6.4759838934836633</c:v>
                </c:pt>
                <c:pt idx="11">
                  <c:v>-11.268516690387656</c:v>
                </c:pt>
                <c:pt idx="12">
                  <c:v>-11.363296979775422</c:v>
                </c:pt>
                <c:pt idx="13">
                  <c:v>-10.376281620155282</c:v>
                </c:pt>
                <c:pt idx="14">
                  <c:v>-8.7290122869636573</c:v>
                </c:pt>
                <c:pt idx="15">
                  <c:v>-4.9536682840970832</c:v>
                </c:pt>
                <c:pt idx="16">
                  <c:v>-4.0946538658171949</c:v>
                </c:pt>
                <c:pt idx="17">
                  <c:v>-7.0350683497497624</c:v>
                </c:pt>
                <c:pt idx="18">
                  <c:v>-7.9270286926055959</c:v>
                </c:pt>
                <c:pt idx="19">
                  <c:v>-7.8109496993243734</c:v>
                </c:pt>
                <c:pt idx="20">
                  <c:v>-4.7339394918859874</c:v>
                </c:pt>
                <c:pt idx="21">
                  <c:v>-1.4222457877680916</c:v>
                </c:pt>
                <c:pt idx="22">
                  <c:v>-0.44974757408437277</c:v>
                </c:pt>
                <c:pt idx="23">
                  <c:v>-1.3953194544859401E-2</c:v>
                </c:pt>
                <c:pt idx="24">
                  <c:v>-1.6668352565832323</c:v>
                </c:pt>
                <c:pt idx="25">
                  <c:v>-2.8856511323606631</c:v>
                </c:pt>
                <c:pt idx="26">
                  <c:v>-3.1556522714820114</c:v>
                </c:pt>
                <c:pt idx="27">
                  <c:v>-0.82118050369759465</c:v>
                </c:pt>
                <c:pt idx="28">
                  <c:v>-2.4179761504345771</c:v>
                </c:pt>
                <c:pt idx="29">
                  <c:v>-4.5057363743415326</c:v>
                </c:pt>
                <c:pt idx="30">
                  <c:v>-3.3009066095122339</c:v>
                </c:pt>
              </c:numCache>
            </c:numRef>
          </c:val>
        </c:ser>
        <c:marker val="1"/>
        <c:axId val="82426496"/>
        <c:axId val="82432384"/>
      </c:lineChart>
      <c:catAx>
        <c:axId val="82426496"/>
        <c:scaling>
          <c:orientation val="minMax"/>
        </c:scaling>
        <c:axPos val="b"/>
        <c:numFmt formatCode="@" sourceLinked="1"/>
        <c:tickLblPos val="low"/>
        <c:txPr>
          <a:bodyPr rot="-5400000" vert="horz"/>
          <a:lstStyle/>
          <a:p>
            <a:pPr>
              <a:defRPr/>
            </a:pPr>
            <a:endParaRPr lang="es-AR"/>
          </a:p>
        </c:txPr>
        <c:crossAx val="82432384"/>
        <c:crosses val="autoZero"/>
        <c:auto val="1"/>
        <c:lblAlgn val="ctr"/>
        <c:lblOffset val="100"/>
      </c:catAx>
      <c:valAx>
        <c:axId val="82432384"/>
        <c:scaling>
          <c:orientation val="minMax"/>
        </c:scaling>
        <c:axPos val="l"/>
        <c:majorGridlines/>
        <c:numFmt formatCode="_ * #,##0.00_ ;_ * \-#,##0.00_ ;_ * &quot;-&quot;_ ;_ @_ " sourceLinked="1"/>
        <c:tickLblPos val="nextTo"/>
        <c:crossAx val="82426496"/>
        <c:crosses val="autoZero"/>
        <c:crossBetween val="between"/>
      </c:valAx>
    </c:plotArea>
    <c:legend>
      <c:legendPos val="b"/>
      <c:layout/>
    </c:legend>
    <c:plotVisOnly val="1"/>
  </c:chart>
  <c:txPr>
    <a:bodyPr/>
    <a:lstStyle/>
    <a:p>
      <a:pPr>
        <a:defRPr sz="1600"/>
      </a:pPr>
      <a:endParaRPr lang="es-AR"/>
    </a:p>
  </c:txPr>
  <c:externalData r:id="rId1"/>
  <c:userShapes r:id="rId2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s-AR"/>
  <c:chart>
    <c:plotArea>
      <c:layout/>
      <c:lineChart>
        <c:grouping val="standard"/>
        <c:ser>
          <c:idx val="0"/>
          <c:order val="0"/>
          <c:spPr>
            <a:ln w="57150">
              <a:solidFill>
                <a:srgbClr val="FFC000"/>
              </a:solidFill>
            </a:ln>
          </c:spPr>
          <c:marker>
            <c:symbol val="none"/>
          </c:marker>
          <c:cat>
            <c:numRef>
              <c:f>Hoja4!$A$2:$A$22</c:f>
              <c:numCache>
                <c:formatCode>@</c:formatCode>
                <c:ptCount val="21"/>
                <c:pt idx="0">
                  <c:v>1980</c:v>
                </c:pt>
                <c:pt idx="1">
                  <c:v>1981</c:v>
                </c:pt>
                <c:pt idx="2">
                  <c:v>1982</c:v>
                </c:pt>
                <c:pt idx="3">
                  <c:v>1983</c:v>
                </c:pt>
                <c:pt idx="4">
                  <c:v>1984</c:v>
                </c:pt>
                <c:pt idx="5">
                  <c:v>1985</c:v>
                </c:pt>
                <c:pt idx="6">
                  <c:v>1986</c:v>
                </c:pt>
                <c:pt idx="7">
                  <c:v>1987</c:v>
                </c:pt>
                <c:pt idx="8">
                  <c:v>1988</c:v>
                </c:pt>
                <c:pt idx="9">
                  <c:v>1989</c:v>
                </c:pt>
                <c:pt idx="10">
                  <c:v>1990</c:v>
                </c:pt>
                <c:pt idx="11">
                  <c:v>1991</c:v>
                </c:pt>
                <c:pt idx="12">
                  <c:v>1992</c:v>
                </c:pt>
                <c:pt idx="13">
                  <c:v>1993</c:v>
                </c:pt>
                <c:pt idx="14">
                  <c:v>1994</c:v>
                </c:pt>
                <c:pt idx="15">
                  <c:v>1995</c:v>
                </c:pt>
                <c:pt idx="16">
                  <c:v>1996</c:v>
                </c:pt>
                <c:pt idx="17">
                  <c:v>1997</c:v>
                </c:pt>
                <c:pt idx="18">
                  <c:v>1998</c:v>
                </c:pt>
                <c:pt idx="19">
                  <c:v>1999</c:v>
                </c:pt>
                <c:pt idx="20">
                  <c:v>2000</c:v>
                </c:pt>
              </c:numCache>
            </c:numRef>
          </c:cat>
          <c:val>
            <c:numRef>
              <c:f>Hoja4!$C$2:$C$22</c:f>
              <c:numCache>
                <c:formatCode>#,##0.00\ \ </c:formatCode>
                <c:ptCount val="21"/>
                <c:pt idx="0">
                  <c:v>27.834762338708053</c:v>
                </c:pt>
                <c:pt idx="1">
                  <c:v>29.189615454400393</c:v>
                </c:pt>
                <c:pt idx="2">
                  <c:v>25.168374866938514</c:v>
                </c:pt>
                <c:pt idx="3">
                  <c:v>23.97938711198757</c:v>
                </c:pt>
                <c:pt idx="4">
                  <c:v>22.074101949785536</c:v>
                </c:pt>
                <c:pt idx="5">
                  <c:v>22.522870069824233</c:v>
                </c:pt>
                <c:pt idx="6">
                  <c:v>23.462722252698999</c:v>
                </c:pt>
                <c:pt idx="7">
                  <c:v>25.217209967903457</c:v>
                </c:pt>
                <c:pt idx="8">
                  <c:v>28.275906190671304</c:v>
                </c:pt>
                <c:pt idx="9">
                  <c:v>31.8386016055657</c:v>
                </c:pt>
                <c:pt idx="10">
                  <c:v>13.146349856595712</c:v>
                </c:pt>
                <c:pt idx="11">
                  <c:v>12.469839757329181</c:v>
                </c:pt>
                <c:pt idx="12">
                  <c:v>16.376731196658863</c:v>
                </c:pt>
                <c:pt idx="13">
                  <c:v>21.455768056264329</c:v>
                </c:pt>
                <c:pt idx="14">
                  <c:v>22.686254007517761</c:v>
                </c:pt>
                <c:pt idx="15">
                  <c:v>21.66945495331403</c:v>
                </c:pt>
                <c:pt idx="16">
                  <c:v>24.467818985277933</c:v>
                </c:pt>
                <c:pt idx="17">
                  <c:v>28.724441582996288</c:v>
                </c:pt>
                <c:pt idx="18">
                  <c:v>30.986558214008376</c:v>
                </c:pt>
                <c:pt idx="19">
                  <c:v>33.550340576158305</c:v>
                </c:pt>
                <c:pt idx="20">
                  <c:v>34.591952378846038</c:v>
                </c:pt>
              </c:numCache>
            </c:numRef>
          </c:val>
        </c:ser>
        <c:marker val="1"/>
        <c:axId val="82469632"/>
        <c:axId val="82471168"/>
      </c:lineChart>
      <c:catAx>
        <c:axId val="82469632"/>
        <c:scaling>
          <c:orientation val="minMax"/>
        </c:scaling>
        <c:axPos val="b"/>
        <c:numFmt formatCode="@" sourceLinked="1"/>
        <c:tickLblPos val="nextTo"/>
        <c:txPr>
          <a:bodyPr rot="-5400000" vert="horz"/>
          <a:lstStyle/>
          <a:p>
            <a:pPr>
              <a:defRPr/>
            </a:pPr>
            <a:endParaRPr lang="es-AR"/>
          </a:p>
        </c:txPr>
        <c:crossAx val="82471168"/>
        <c:crosses val="autoZero"/>
        <c:auto val="1"/>
        <c:lblAlgn val="ctr"/>
        <c:lblOffset val="100"/>
      </c:catAx>
      <c:valAx>
        <c:axId val="82471168"/>
        <c:scaling>
          <c:orientation val="minMax"/>
        </c:scaling>
        <c:axPos val="l"/>
        <c:numFmt formatCode="#,##0.00\ \ " sourceLinked="1"/>
        <c:tickLblPos val="nextTo"/>
        <c:crossAx val="82469632"/>
        <c:crosses val="autoZero"/>
        <c:crossBetween val="between"/>
      </c:valAx>
    </c:plotArea>
    <c:plotVisOnly val="1"/>
  </c:chart>
  <c:txPr>
    <a:bodyPr/>
    <a:lstStyle/>
    <a:p>
      <a:pPr>
        <a:defRPr sz="1600"/>
      </a:pPr>
      <a:endParaRPr lang="es-AR"/>
    </a:p>
  </c:txPr>
  <c:externalData r:id="rId1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s-AR"/>
  <c:chart>
    <c:plotArea>
      <c:layout/>
      <c:barChart>
        <c:barDir val="col"/>
        <c:grouping val="clustered"/>
        <c:ser>
          <c:idx val="0"/>
          <c:order val="0"/>
          <c:tx>
            <c:strRef>
              <c:f>Hoja6!$B$2</c:f>
              <c:strCache>
                <c:ptCount val="1"/>
                <c:pt idx="0">
                  <c:v>Exportaciones</c:v>
                </c:pt>
              </c:strCache>
            </c:strRef>
          </c:tx>
          <c:spPr>
            <a:solidFill>
              <a:srgbClr val="00B0F0"/>
            </a:solidFill>
          </c:spPr>
          <c:cat>
            <c:numRef>
              <c:f>Hoja6!$A$3:$A$13</c:f>
              <c:numCache>
                <c:formatCode>0</c:formatCode>
                <c:ptCount val="11"/>
                <c:pt idx="0">
                  <c:v>1990</c:v>
                </c:pt>
                <c:pt idx="1">
                  <c:v>1991</c:v>
                </c:pt>
                <c:pt idx="2">
                  <c:v>1992</c:v>
                </c:pt>
                <c:pt idx="3">
                  <c:v>1993</c:v>
                </c:pt>
                <c:pt idx="4">
                  <c:v>1994</c:v>
                </c:pt>
                <c:pt idx="5">
                  <c:v>1995</c:v>
                </c:pt>
                <c:pt idx="6">
                  <c:v>1996</c:v>
                </c:pt>
                <c:pt idx="7">
                  <c:v>1997</c:v>
                </c:pt>
                <c:pt idx="8">
                  <c:v>1998</c:v>
                </c:pt>
                <c:pt idx="9">
                  <c:v>1999</c:v>
                </c:pt>
                <c:pt idx="10">
                  <c:v>2000</c:v>
                </c:pt>
              </c:numCache>
            </c:numRef>
          </c:cat>
          <c:val>
            <c:numRef>
              <c:f>Hoja6!$B$3:$B$13</c:f>
              <c:numCache>
                <c:formatCode>#,##0\ \ </c:formatCode>
                <c:ptCount val="11"/>
                <c:pt idx="0">
                  <c:v>12354</c:v>
                </c:pt>
                <c:pt idx="1">
                  <c:v>11978</c:v>
                </c:pt>
                <c:pt idx="2">
                  <c:v>12399</c:v>
                </c:pt>
                <c:pt idx="3">
                  <c:v>13269</c:v>
                </c:pt>
                <c:pt idx="4">
                  <c:v>16023.3</c:v>
                </c:pt>
                <c:pt idx="5">
                  <c:v>21161.7</c:v>
                </c:pt>
                <c:pt idx="6">
                  <c:v>24042.7</c:v>
                </c:pt>
                <c:pt idx="7">
                  <c:v>26430.799999999996</c:v>
                </c:pt>
                <c:pt idx="8">
                  <c:v>26433.7</c:v>
                </c:pt>
                <c:pt idx="9">
                  <c:v>23308.6</c:v>
                </c:pt>
                <c:pt idx="10">
                  <c:v>26341</c:v>
                </c:pt>
              </c:numCache>
            </c:numRef>
          </c:val>
        </c:ser>
        <c:ser>
          <c:idx val="1"/>
          <c:order val="1"/>
          <c:tx>
            <c:strRef>
              <c:f>Hoja6!$C$2</c:f>
              <c:strCache>
                <c:ptCount val="1"/>
                <c:pt idx="0">
                  <c:v>Importaciones</c:v>
                </c:pt>
              </c:strCache>
            </c:strRef>
          </c:tx>
          <c:spPr>
            <a:solidFill>
              <a:srgbClr val="FF0000"/>
            </a:solidFill>
          </c:spPr>
          <c:cat>
            <c:numRef>
              <c:f>Hoja6!$A$3:$A$13</c:f>
              <c:numCache>
                <c:formatCode>0</c:formatCode>
                <c:ptCount val="11"/>
                <c:pt idx="0">
                  <c:v>1990</c:v>
                </c:pt>
                <c:pt idx="1">
                  <c:v>1991</c:v>
                </c:pt>
                <c:pt idx="2">
                  <c:v>1992</c:v>
                </c:pt>
                <c:pt idx="3">
                  <c:v>1993</c:v>
                </c:pt>
                <c:pt idx="4">
                  <c:v>1994</c:v>
                </c:pt>
                <c:pt idx="5">
                  <c:v>1995</c:v>
                </c:pt>
                <c:pt idx="6">
                  <c:v>1996</c:v>
                </c:pt>
                <c:pt idx="7">
                  <c:v>1997</c:v>
                </c:pt>
                <c:pt idx="8">
                  <c:v>1998</c:v>
                </c:pt>
                <c:pt idx="9">
                  <c:v>1999</c:v>
                </c:pt>
                <c:pt idx="10">
                  <c:v>2000</c:v>
                </c:pt>
              </c:numCache>
            </c:numRef>
          </c:cat>
          <c:val>
            <c:numRef>
              <c:f>Hoja6!$C$3:$C$13</c:f>
              <c:numCache>
                <c:formatCode>#,##0.0\ \ </c:formatCode>
                <c:ptCount val="11"/>
                <c:pt idx="0">
                  <c:v>4079</c:v>
                </c:pt>
                <c:pt idx="1">
                  <c:v>8275</c:v>
                </c:pt>
                <c:pt idx="2" formatCode="#,##0\ \ ">
                  <c:v>14983</c:v>
                </c:pt>
                <c:pt idx="3" formatCode="#,##0\ \ ">
                  <c:v>16873</c:v>
                </c:pt>
                <c:pt idx="4" formatCode="#,##0\ \ ">
                  <c:v>21590.255000000001</c:v>
                </c:pt>
                <c:pt idx="5" formatCode="#,##0\ \ ">
                  <c:v>20121.682000000001</c:v>
                </c:pt>
                <c:pt idx="6" formatCode="#,##0\ \ ">
                  <c:v>23761.824000000001</c:v>
                </c:pt>
                <c:pt idx="7" formatCode="#,##0\ \ ">
                  <c:v>30450.3</c:v>
                </c:pt>
                <c:pt idx="8" formatCode="#,##0\ \ ">
                  <c:v>31403.5</c:v>
                </c:pt>
                <c:pt idx="9" formatCode="#,##0\ \ ">
                  <c:v>25508.3</c:v>
                </c:pt>
                <c:pt idx="10" formatCode="#,##0\ \ ">
                  <c:v>25242.9</c:v>
                </c:pt>
              </c:numCache>
            </c:numRef>
          </c:val>
        </c:ser>
        <c:axId val="82516608"/>
        <c:axId val="82534784"/>
      </c:barChart>
      <c:lineChart>
        <c:grouping val="standard"/>
        <c:ser>
          <c:idx val="2"/>
          <c:order val="2"/>
          <c:tx>
            <c:strRef>
              <c:f>Hoja6!$D$2</c:f>
              <c:strCache>
                <c:ptCount val="1"/>
                <c:pt idx="0">
                  <c:v>Saldo</c:v>
                </c:pt>
              </c:strCache>
            </c:strRef>
          </c:tx>
          <c:spPr>
            <a:ln w="57150">
              <a:solidFill>
                <a:schemeClr val="accent6">
                  <a:lumMod val="75000"/>
                </a:schemeClr>
              </a:solidFill>
            </a:ln>
          </c:spPr>
          <c:marker>
            <c:symbol val="none"/>
          </c:marker>
          <c:val>
            <c:numRef>
              <c:f>Hoja6!$D$3:$D$13</c:f>
              <c:numCache>
                <c:formatCode>#,##0.0\ \ </c:formatCode>
                <c:ptCount val="11"/>
                <c:pt idx="0">
                  <c:v>8275</c:v>
                </c:pt>
                <c:pt idx="1">
                  <c:v>3703</c:v>
                </c:pt>
                <c:pt idx="2">
                  <c:v>-2584</c:v>
                </c:pt>
                <c:pt idx="3">
                  <c:v>-3604</c:v>
                </c:pt>
                <c:pt idx="4">
                  <c:v>-5566.9550000000017</c:v>
                </c:pt>
                <c:pt idx="5">
                  <c:v>1040.018</c:v>
                </c:pt>
                <c:pt idx="6" formatCode="#,##0.00\ \ ">
                  <c:v>280.87599999999657</c:v>
                </c:pt>
                <c:pt idx="7">
                  <c:v>-4019.5</c:v>
                </c:pt>
                <c:pt idx="8">
                  <c:v>-4969.8</c:v>
                </c:pt>
                <c:pt idx="9">
                  <c:v>-2199.6999999999935</c:v>
                </c:pt>
                <c:pt idx="10">
                  <c:v>1098.0999999999999</c:v>
                </c:pt>
              </c:numCache>
            </c:numRef>
          </c:val>
        </c:ser>
        <c:marker val="1"/>
        <c:axId val="82516608"/>
        <c:axId val="82534784"/>
      </c:lineChart>
      <c:catAx>
        <c:axId val="82516608"/>
        <c:scaling>
          <c:orientation val="minMax"/>
        </c:scaling>
        <c:axPos val="b"/>
        <c:numFmt formatCode="0" sourceLinked="1"/>
        <c:tickLblPos val="nextTo"/>
        <c:crossAx val="82534784"/>
        <c:crosses val="autoZero"/>
        <c:auto val="1"/>
        <c:lblAlgn val="ctr"/>
        <c:lblOffset val="100"/>
      </c:catAx>
      <c:valAx>
        <c:axId val="82534784"/>
        <c:scaling>
          <c:orientation val="minMax"/>
        </c:scaling>
        <c:axPos val="l"/>
        <c:numFmt formatCode="#,##0\ \ " sourceLinked="1"/>
        <c:tickLblPos val="nextTo"/>
        <c:crossAx val="82516608"/>
        <c:crosses val="autoZero"/>
        <c:crossBetween val="between"/>
      </c:valAx>
    </c:plotArea>
    <c:legend>
      <c:legendPos val="b"/>
      <c:layout/>
    </c:legend>
    <c:plotVisOnly val="1"/>
    <c:dispBlanksAs val="gap"/>
  </c:chart>
  <c:txPr>
    <a:bodyPr/>
    <a:lstStyle/>
    <a:p>
      <a:pPr>
        <a:defRPr sz="1600"/>
      </a:pPr>
      <a:endParaRPr lang="es-AR"/>
    </a:p>
  </c:txPr>
  <c:externalData r:id="rId1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s-AR"/>
  <c:chart>
    <c:plotArea>
      <c:layout/>
      <c:lineChart>
        <c:grouping val="standard"/>
        <c:ser>
          <c:idx val="0"/>
          <c:order val="0"/>
          <c:spPr>
            <a:ln w="57150"/>
          </c:spPr>
          <c:marker>
            <c:symbol val="none"/>
          </c:marker>
          <c:cat>
            <c:numRef>
              <c:f>Hoja7!$A$2:$A$12</c:f>
              <c:numCache>
                <c:formatCode>General</c:formatCode>
                <c:ptCount val="11"/>
                <c:pt idx="0">
                  <c:v>1990</c:v>
                </c:pt>
                <c:pt idx="1">
                  <c:v>1991</c:v>
                </c:pt>
                <c:pt idx="2">
                  <c:v>1992</c:v>
                </c:pt>
                <c:pt idx="3">
                  <c:v>1993</c:v>
                </c:pt>
                <c:pt idx="4">
                  <c:v>1994</c:v>
                </c:pt>
                <c:pt idx="5">
                  <c:v>1995</c:v>
                </c:pt>
                <c:pt idx="6">
                  <c:v>1996</c:v>
                </c:pt>
                <c:pt idx="7">
                  <c:v>1997</c:v>
                </c:pt>
                <c:pt idx="8">
                  <c:v>1998</c:v>
                </c:pt>
                <c:pt idx="9">
                  <c:v>1999</c:v>
                </c:pt>
                <c:pt idx="10">
                  <c:v>2000</c:v>
                </c:pt>
              </c:numCache>
            </c:numRef>
          </c:cat>
          <c:val>
            <c:numRef>
              <c:f>Hoja7!$B$2:$B$12</c:f>
              <c:numCache>
                <c:formatCode>#,##0.0\ \ </c:formatCode>
                <c:ptCount val="11"/>
                <c:pt idx="0" formatCode="#,##0.00\ \ ">
                  <c:v>679</c:v>
                </c:pt>
                <c:pt idx="1">
                  <c:v>-6188</c:v>
                </c:pt>
                <c:pt idx="2">
                  <c:v>3274</c:v>
                </c:pt>
                <c:pt idx="3">
                  <c:v>4250</c:v>
                </c:pt>
                <c:pt idx="4" formatCode="#,##0.00\ \ ">
                  <c:v>664.50000000000159</c:v>
                </c:pt>
                <c:pt idx="5" formatCode="#,##0.00\ \ ">
                  <c:v>-116.1999999999985</c:v>
                </c:pt>
                <c:pt idx="6">
                  <c:v>3831.2</c:v>
                </c:pt>
                <c:pt idx="7">
                  <c:v>3206.7</c:v>
                </c:pt>
                <c:pt idx="8">
                  <c:v>3361.9</c:v>
                </c:pt>
                <c:pt idx="9">
                  <c:v>1051.7</c:v>
                </c:pt>
                <c:pt idx="10" formatCode="#,##0.00\ \ ">
                  <c:v>-545.30000000000177</c:v>
                </c:pt>
              </c:numCache>
            </c:numRef>
          </c:val>
        </c:ser>
        <c:marker val="1"/>
        <c:axId val="82558976"/>
        <c:axId val="82560512"/>
      </c:lineChart>
      <c:catAx>
        <c:axId val="82558976"/>
        <c:scaling>
          <c:orientation val="minMax"/>
        </c:scaling>
        <c:axPos val="b"/>
        <c:numFmt formatCode="General" sourceLinked="1"/>
        <c:tickLblPos val="low"/>
        <c:txPr>
          <a:bodyPr rot="-5400000" vert="horz"/>
          <a:lstStyle/>
          <a:p>
            <a:pPr>
              <a:defRPr/>
            </a:pPr>
            <a:endParaRPr lang="es-AR"/>
          </a:p>
        </c:txPr>
        <c:crossAx val="82560512"/>
        <c:crosses val="autoZero"/>
        <c:auto val="1"/>
        <c:lblAlgn val="ctr"/>
        <c:lblOffset val="100"/>
      </c:catAx>
      <c:valAx>
        <c:axId val="82560512"/>
        <c:scaling>
          <c:orientation val="minMax"/>
        </c:scaling>
        <c:axPos val="l"/>
        <c:numFmt formatCode="#,##0.00\ \ " sourceLinked="1"/>
        <c:tickLblPos val="nextTo"/>
        <c:crossAx val="82558976"/>
        <c:crosses val="autoZero"/>
        <c:crossBetween val="between"/>
      </c:valAx>
    </c:plotArea>
    <c:plotVisOnly val="1"/>
  </c:chart>
  <c:txPr>
    <a:bodyPr/>
    <a:lstStyle/>
    <a:p>
      <a:pPr>
        <a:defRPr sz="1600"/>
      </a:pPr>
      <a:endParaRPr lang="es-AR"/>
    </a:p>
  </c:txPr>
  <c:externalData r:id="rId1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s-AR"/>
  <c:chart>
    <c:plotArea>
      <c:layout/>
      <c:lineChart>
        <c:grouping val="standard"/>
        <c:ser>
          <c:idx val="0"/>
          <c:order val="0"/>
          <c:tx>
            <c:strRef>
              <c:f>Hoja8!$B$1</c:f>
              <c:strCache>
                <c:ptCount val="1"/>
                <c:pt idx="0">
                  <c:v>PIB</c:v>
                </c:pt>
              </c:strCache>
            </c:strRef>
          </c:tx>
          <c:spPr>
            <a:ln w="57150"/>
          </c:spPr>
          <c:marker>
            <c:symbol val="none"/>
          </c:marker>
          <c:cat>
            <c:numRef>
              <c:f>Hoja8!$A$2:$A$12</c:f>
              <c:numCache>
                <c:formatCode>@</c:formatCode>
                <c:ptCount val="11"/>
                <c:pt idx="0">
                  <c:v>1990</c:v>
                </c:pt>
                <c:pt idx="1">
                  <c:v>1991</c:v>
                </c:pt>
                <c:pt idx="2">
                  <c:v>1992</c:v>
                </c:pt>
                <c:pt idx="3">
                  <c:v>1993</c:v>
                </c:pt>
                <c:pt idx="4">
                  <c:v>1994</c:v>
                </c:pt>
                <c:pt idx="5">
                  <c:v>1995</c:v>
                </c:pt>
                <c:pt idx="6">
                  <c:v>1996</c:v>
                </c:pt>
                <c:pt idx="7">
                  <c:v>1997</c:v>
                </c:pt>
                <c:pt idx="8">
                  <c:v>1998</c:v>
                </c:pt>
                <c:pt idx="9">
                  <c:v>1999</c:v>
                </c:pt>
                <c:pt idx="10">
                  <c:v>2000</c:v>
                </c:pt>
              </c:numCache>
            </c:numRef>
          </c:cat>
          <c:val>
            <c:numRef>
              <c:f>Hoja8!$B$2:$B$12</c:f>
              <c:numCache>
                <c:formatCode>#,##0\ \ </c:formatCode>
                <c:ptCount val="11"/>
                <c:pt idx="0">
                  <c:v>184568.7670809158</c:v>
                </c:pt>
                <c:pt idx="1">
                  <c:v>204093.82543139855</c:v>
                </c:pt>
                <c:pt idx="2">
                  <c:v>223701.26799433096</c:v>
                </c:pt>
                <c:pt idx="3">
                  <c:v>236504.9802315725</c:v>
                </c:pt>
                <c:pt idx="4">
                  <c:v>250307.88553631509</c:v>
                </c:pt>
                <c:pt idx="5">
                  <c:v>243186.10151946038</c:v>
                </c:pt>
                <c:pt idx="6">
                  <c:v>256626.24305584727</c:v>
                </c:pt>
                <c:pt idx="7">
                  <c:v>277441.31762238016</c:v>
                </c:pt>
                <c:pt idx="8">
                  <c:v>288122.80460772407</c:v>
                </c:pt>
                <c:pt idx="9">
                  <c:v>278369.01387171791</c:v>
                </c:pt>
                <c:pt idx="10">
                  <c:v>276172.18535265006</c:v>
                </c:pt>
              </c:numCache>
            </c:numRef>
          </c:val>
        </c:ser>
        <c:ser>
          <c:idx val="1"/>
          <c:order val="1"/>
          <c:tx>
            <c:strRef>
              <c:f>Hoja8!$C$1</c:f>
              <c:strCache>
                <c:ptCount val="1"/>
                <c:pt idx="0">
                  <c:v>Consumo</c:v>
                </c:pt>
              </c:strCache>
            </c:strRef>
          </c:tx>
          <c:spPr>
            <a:ln w="57150"/>
          </c:spPr>
          <c:marker>
            <c:symbol val="none"/>
          </c:marker>
          <c:cat>
            <c:numRef>
              <c:f>Hoja8!$A$2:$A$12</c:f>
              <c:numCache>
                <c:formatCode>@</c:formatCode>
                <c:ptCount val="11"/>
                <c:pt idx="0">
                  <c:v>1990</c:v>
                </c:pt>
                <c:pt idx="1">
                  <c:v>1991</c:v>
                </c:pt>
                <c:pt idx="2">
                  <c:v>1992</c:v>
                </c:pt>
                <c:pt idx="3">
                  <c:v>1993</c:v>
                </c:pt>
                <c:pt idx="4">
                  <c:v>1994</c:v>
                </c:pt>
                <c:pt idx="5">
                  <c:v>1995</c:v>
                </c:pt>
                <c:pt idx="6">
                  <c:v>1996</c:v>
                </c:pt>
                <c:pt idx="7">
                  <c:v>1997</c:v>
                </c:pt>
                <c:pt idx="8">
                  <c:v>1998</c:v>
                </c:pt>
                <c:pt idx="9">
                  <c:v>1999</c:v>
                </c:pt>
                <c:pt idx="10">
                  <c:v>2000</c:v>
                </c:pt>
              </c:numCache>
            </c:numRef>
          </c:cat>
          <c:val>
            <c:numRef>
              <c:f>Hoja8!$C$2:$C$12</c:f>
              <c:numCache>
                <c:formatCode>#,##0\ \ </c:formatCode>
                <c:ptCount val="11"/>
                <c:pt idx="0">
                  <c:v>151954.18571256922</c:v>
                </c:pt>
                <c:pt idx="1">
                  <c:v>170425.80348805594</c:v>
                </c:pt>
                <c:pt idx="2">
                  <c:v>188175.51172324666</c:v>
                </c:pt>
                <c:pt idx="3">
                  <c:v>197122.20594470634</c:v>
                </c:pt>
                <c:pt idx="4">
                  <c:v>206918.31700283627</c:v>
                </c:pt>
                <c:pt idx="5">
                  <c:v>199638.6570996246</c:v>
                </c:pt>
                <c:pt idx="6">
                  <c:v>211576.4534529699</c:v>
                </c:pt>
                <c:pt idx="7">
                  <c:v>228402.17175572723</c:v>
                </c:pt>
                <c:pt idx="8">
                  <c:v>235408.39249167484</c:v>
                </c:pt>
                <c:pt idx="9">
                  <c:v>229324.39405149626</c:v>
                </c:pt>
                <c:pt idx="10">
                  <c:v>229864.49584329556</c:v>
                </c:pt>
              </c:numCache>
            </c:numRef>
          </c:val>
        </c:ser>
        <c:ser>
          <c:idx val="2"/>
          <c:order val="2"/>
          <c:tx>
            <c:strRef>
              <c:f>Hoja8!$D$1</c:f>
              <c:strCache>
                <c:ptCount val="1"/>
                <c:pt idx="0">
                  <c:v>Inversión</c:v>
                </c:pt>
              </c:strCache>
            </c:strRef>
          </c:tx>
          <c:spPr>
            <a:ln w="57150"/>
          </c:spPr>
          <c:marker>
            <c:symbol val="none"/>
          </c:marker>
          <c:cat>
            <c:numRef>
              <c:f>Hoja8!$A$2:$A$12</c:f>
              <c:numCache>
                <c:formatCode>@</c:formatCode>
                <c:ptCount val="11"/>
                <c:pt idx="0">
                  <c:v>1990</c:v>
                </c:pt>
                <c:pt idx="1">
                  <c:v>1991</c:v>
                </c:pt>
                <c:pt idx="2">
                  <c:v>1992</c:v>
                </c:pt>
                <c:pt idx="3">
                  <c:v>1993</c:v>
                </c:pt>
                <c:pt idx="4">
                  <c:v>1994</c:v>
                </c:pt>
                <c:pt idx="5">
                  <c:v>1995</c:v>
                </c:pt>
                <c:pt idx="6">
                  <c:v>1996</c:v>
                </c:pt>
                <c:pt idx="7">
                  <c:v>1997</c:v>
                </c:pt>
                <c:pt idx="8">
                  <c:v>1998</c:v>
                </c:pt>
                <c:pt idx="9">
                  <c:v>1999</c:v>
                </c:pt>
                <c:pt idx="10">
                  <c:v>2000</c:v>
                </c:pt>
              </c:numCache>
            </c:numRef>
          </c:cat>
          <c:val>
            <c:numRef>
              <c:f>Hoja8!$D$2:$D$12</c:f>
              <c:numCache>
                <c:formatCode>#,##0\ \ </c:formatCode>
                <c:ptCount val="11"/>
                <c:pt idx="0">
                  <c:v>22683.048278486232</c:v>
                </c:pt>
                <c:pt idx="1">
                  <c:v>29474.818611539617</c:v>
                </c:pt>
                <c:pt idx="2">
                  <c:v>39096.336772049843</c:v>
                </c:pt>
                <c:pt idx="3">
                  <c:v>45069.41430299895</c:v>
                </c:pt>
                <c:pt idx="4">
                  <c:v>51231.425163040214</c:v>
                </c:pt>
                <c:pt idx="5">
                  <c:v>44528.277462952094</c:v>
                </c:pt>
                <c:pt idx="6">
                  <c:v>48483.861246519358</c:v>
                </c:pt>
                <c:pt idx="7">
                  <c:v>57047.499570516884</c:v>
                </c:pt>
                <c:pt idx="8">
                  <c:v>60780.669510867425</c:v>
                </c:pt>
                <c:pt idx="9">
                  <c:v>53116.315457637538</c:v>
                </c:pt>
                <c:pt idx="10">
                  <c:v>49502.143195259487</c:v>
                </c:pt>
              </c:numCache>
            </c:numRef>
          </c:val>
        </c:ser>
        <c:marker val="1"/>
        <c:axId val="82663680"/>
        <c:axId val="82685952"/>
      </c:lineChart>
      <c:catAx>
        <c:axId val="82663680"/>
        <c:scaling>
          <c:orientation val="minMax"/>
        </c:scaling>
        <c:axPos val="b"/>
        <c:numFmt formatCode="@" sourceLinked="1"/>
        <c:tickLblPos val="nextTo"/>
        <c:txPr>
          <a:bodyPr rot="-5400000" vert="horz"/>
          <a:lstStyle/>
          <a:p>
            <a:pPr>
              <a:defRPr/>
            </a:pPr>
            <a:endParaRPr lang="es-AR"/>
          </a:p>
        </c:txPr>
        <c:crossAx val="82685952"/>
        <c:crosses val="autoZero"/>
        <c:auto val="1"/>
        <c:lblAlgn val="ctr"/>
        <c:lblOffset val="100"/>
      </c:catAx>
      <c:valAx>
        <c:axId val="82685952"/>
        <c:scaling>
          <c:orientation val="minMax"/>
        </c:scaling>
        <c:axPos val="l"/>
        <c:numFmt formatCode="#,##0\ \ " sourceLinked="1"/>
        <c:tickLblPos val="nextTo"/>
        <c:crossAx val="82663680"/>
        <c:crosses val="autoZero"/>
        <c:crossBetween val="between"/>
      </c:valAx>
    </c:plotArea>
    <c:legend>
      <c:legendPos val="b"/>
      <c:layout/>
    </c:legend>
    <c:plotVisOnly val="1"/>
  </c:chart>
  <c:txPr>
    <a:bodyPr/>
    <a:lstStyle/>
    <a:p>
      <a:pPr>
        <a:defRPr sz="1600"/>
      </a:pPr>
      <a:endParaRPr lang="es-AR"/>
    </a:p>
  </c:txPr>
  <c:externalData r:id="rId1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s-AR"/>
  <c:chart>
    <c:plotArea>
      <c:layout/>
      <c:lineChart>
        <c:grouping val="standard"/>
        <c:ser>
          <c:idx val="0"/>
          <c:order val="0"/>
          <c:tx>
            <c:strRef>
              <c:f>Hoja3!$F$2</c:f>
              <c:strCache>
                <c:ptCount val="1"/>
                <c:pt idx="0">
                  <c:v>ln IPC usa</c:v>
                </c:pt>
              </c:strCache>
            </c:strRef>
          </c:tx>
          <c:spPr>
            <a:ln w="57150"/>
          </c:spPr>
          <c:marker>
            <c:symbol val="none"/>
          </c:marker>
          <c:cat>
            <c:numRef>
              <c:f>Hoja3!$A$3:$A$12</c:f>
              <c:numCache>
                <c:formatCode>General</c:formatCode>
                <c:ptCount val="10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</c:numCache>
            </c:numRef>
          </c:cat>
          <c:val>
            <c:numRef>
              <c:f>Hoja3!$F$3:$F$12</c:f>
              <c:numCache>
                <c:formatCode>General</c:formatCode>
                <c:ptCount val="10"/>
                <c:pt idx="0">
                  <c:v>4.9140632073110115</c:v>
                </c:pt>
                <c:pt idx="1">
                  <c:v>4.9439017731155639</c:v>
                </c:pt>
                <c:pt idx="2">
                  <c:v>4.9729911153370798</c:v>
                </c:pt>
                <c:pt idx="3">
                  <c:v>4.9987313895934324</c:v>
                </c:pt>
                <c:pt idx="4">
                  <c:v>5.0263992759423282</c:v>
                </c:pt>
                <c:pt idx="5">
                  <c:v>5.0552899346366873</c:v>
                </c:pt>
                <c:pt idx="6">
                  <c:v>5.0783977793387631</c:v>
                </c:pt>
                <c:pt idx="7">
                  <c:v>5.0938013242443132</c:v>
                </c:pt>
                <c:pt idx="8">
                  <c:v>5.1154456584485981</c:v>
                </c:pt>
                <c:pt idx="9">
                  <c:v>5.1486081974815594</c:v>
                </c:pt>
              </c:numCache>
            </c:numRef>
          </c:val>
        </c:ser>
        <c:ser>
          <c:idx val="1"/>
          <c:order val="1"/>
          <c:tx>
            <c:strRef>
              <c:f>Hoja3!$G$2</c:f>
              <c:strCache>
                <c:ptCount val="1"/>
                <c:pt idx="0">
                  <c:v>ln IPC arg</c:v>
                </c:pt>
              </c:strCache>
            </c:strRef>
          </c:tx>
          <c:spPr>
            <a:ln w="57150"/>
          </c:spPr>
          <c:marker>
            <c:symbol val="none"/>
          </c:marker>
          <c:cat>
            <c:numRef>
              <c:f>Hoja3!$A$3:$A$12</c:f>
              <c:numCache>
                <c:formatCode>General</c:formatCode>
                <c:ptCount val="10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</c:numCache>
            </c:numRef>
          </c:cat>
          <c:val>
            <c:numRef>
              <c:f>Hoja3!$G$3:$G$12</c:f>
              <c:numCache>
                <c:formatCode>General</c:formatCode>
                <c:ptCount val="10"/>
                <c:pt idx="0">
                  <c:v>4.2035489990351111</c:v>
                </c:pt>
                <c:pt idx="1">
                  <c:v>4.4258917568796798</c:v>
                </c:pt>
                <c:pt idx="2">
                  <c:v>4.526745836683169</c:v>
                </c:pt>
                <c:pt idx="3">
                  <c:v>4.5676702176595487</c:v>
                </c:pt>
                <c:pt idx="4">
                  <c:v>4.6008742203806747</c:v>
                </c:pt>
                <c:pt idx="5">
                  <c:v>4.6024294246048383</c:v>
                </c:pt>
                <c:pt idx="6">
                  <c:v>4.6077013900521271</c:v>
                </c:pt>
                <c:pt idx="7">
                  <c:v>4.616512944380375</c:v>
                </c:pt>
                <c:pt idx="8">
                  <c:v>4.6051701859880918</c:v>
                </c:pt>
                <c:pt idx="9">
                  <c:v>4.5957393430270264</c:v>
                </c:pt>
              </c:numCache>
            </c:numRef>
          </c:val>
        </c:ser>
        <c:marker val="1"/>
        <c:axId val="82583936"/>
        <c:axId val="82585472"/>
      </c:lineChart>
      <c:catAx>
        <c:axId val="82583936"/>
        <c:scaling>
          <c:orientation val="minMax"/>
        </c:scaling>
        <c:axPos val="b"/>
        <c:numFmt formatCode="General" sourceLinked="1"/>
        <c:tickLblPos val="nextTo"/>
        <c:crossAx val="82585472"/>
        <c:crosses val="autoZero"/>
        <c:auto val="1"/>
        <c:lblAlgn val="ctr"/>
        <c:lblOffset val="100"/>
      </c:catAx>
      <c:valAx>
        <c:axId val="82585472"/>
        <c:scaling>
          <c:orientation val="minMax"/>
          <c:min val="3"/>
        </c:scaling>
        <c:axPos val="l"/>
        <c:numFmt formatCode="General" sourceLinked="1"/>
        <c:tickLblPos val="nextTo"/>
        <c:crossAx val="82583936"/>
        <c:crosses val="autoZero"/>
        <c:crossBetween val="between"/>
      </c:valAx>
    </c:plotArea>
    <c:legend>
      <c:legendPos val="b"/>
      <c:layout/>
    </c:legend>
    <c:plotVisOnly val="1"/>
  </c:chart>
  <c:txPr>
    <a:bodyPr/>
    <a:lstStyle/>
    <a:p>
      <a:pPr>
        <a:defRPr sz="1600"/>
      </a:pPr>
      <a:endParaRPr lang="es-AR"/>
    </a:p>
  </c:txPr>
  <c:externalData r:id="rId1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s-AR"/>
  <c:clrMapOvr bg1="lt1" tx1="dk1" bg2="lt2" tx2="dk2" accent1="accent1" accent2="accent2" accent3="accent3" accent4="accent4" accent5="accent5" accent6="accent6" hlink="hlink" folHlink="folHlink"/>
  <c:chart>
    <c:plotArea>
      <c:layout/>
      <c:lineChart>
        <c:grouping val="standard"/>
        <c:ser>
          <c:idx val="0"/>
          <c:order val="0"/>
          <c:tx>
            <c:strRef>
              <c:f>Hoja2!$I$2</c:f>
              <c:strCache>
                <c:ptCount val="1"/>
                <c:pt idx="0">
                  <c:v>Int/ing trib</c:v>
                </c:pt>
              </c:strCache>
            </c:strRef>
          </c:tx>
          <c:spPr>
            <a:ln w="57150"/>
          </c:spPr>
          <c:marker>
            <c:symbol val="none"/>
          </c:marker>
          <c:cat>
            <c:numRef>
              <c:f>Hoja2!$A$3:$A$13</c:f>
              <c:numCache>
                <c:formatCode>General</c:formatCode>
                <c:ptCount val="11"/>
                <c:pt idx="0">
                  <c:v>1990</c:v>
                </c:pt>
                <c:pt idx="1">
                  <c:v>1991</c:v>
                </c:pt>
                <c:pt idx="2">
                  <c:v>1992</c:v>
                </c:pt>
                <c:pt idx="3">
                  <c:v>1993</c:v>
                </c:pt>
                <c:pt idx="4">
                  <c:v>1994</c:v>
                </c:pt>
                <c:pt idx="5">
                  <c:v>1995</c:v>
                </c:pt>
                <c:pt idx="6">
                  <c:v>1996</c:v>
                </c:pt>
                <c:pt idx="7">
                  <c:v>1997</c:v>
                </c:pt>
                <c:pt idx="8">
                  <c:v>1998</c:v>
                </c:pt>
                <c:pt idx="9">
                  <c:v>1999</c:v>
                </c:pt>
                <c:pt idx="10">
                  <c:v>2000</c:v>
                </c:pt>
              </c:numCache>
            </c:numRef>
          </c:cat>
          <c:val>
            <c:numRef>
              <c:f>Hoja2!$I$3:$I$13</c:f>
              <c:numCache>
                <c:formatCode>General</c:formatCode>
                <c:ptCount val="11"/>
                <c:pt idx="0">
                  <c:v>7.6058076349486622E-2</c:v>
                </c:pt>
                <c:pt idx="1">
                  <c:v>8.7435848697966237E-2</c:v>
                </c:pt>
                <c:pt idx="2">
                  <c:v>0.13858170417590315</c:v>
                </c:pt>
                <c:pt idx="3">
                  <c:v>0.13519782623102922</c:v>
                </c:pt>
                <c:pt idx="4">
                  <c:v>0.15212720854789627</c:v>
                </c:pt>
                <c:pt idx="5">
                  <c:v>0.20237512830105417</c:v>
                </c:pt>
                <c:pt idx="6">
                  <c:v>0.18630898315602057</c:v>
                </c:pt>
                <c:pt idx="7">
                  <c:v>0.14609936424492767</c:v>
                </c:pt>
                <c:pt idx="8">
                  <c:v>0.24679061284499296</c:v>
                </c:pt>
                <c:pt idx="9">
                  <c:v>0.31773456444693154</c:v>
                </c:pt>
                <c:pt idx="10">
                  <c:v>0.35274135396631529</c:v>
                </c:pt>
              </c:numCache>
            </c:numRef>
          </c:val>
        </c:ser>
        <c:ser>
          <c:idx val="1"/>
          <c:order val="1"/>
          <c:tx>
            <c:strRef>
              <c:f>Hoja2!$J$2</c:f>
              <c:strCache>
                <c:ptCount val="1"/>
                <c:pt idx="0">
                  <c:v>Int/ing tot*</c:v>
                </c:pt>
              </c:strCache>
            </c:strRef>
          </c:tx>
          <c:spPr>
            <a:ln w="57150"/>
          </c:spPr>
          <c:marker>
            <c:symbol val="none"/>
          </c:marker>
          <c:cat>
            <c:numRef>
              <c:f>Hoja2!$A$3:$A$13</c:f>
              <c:numCache>
                <c:formatCode>General</c:formatCode>
                <c:ptCount val="11"/>
                <c:pt idx="0">
                  <c:v>1990</c:v>
                </c:pt>
                <c:pt idx="1">
                  <c:v>1991</c:v>
                </c:pt>
                <c:pt idx="2">
                  <c:v>1992</c:v>
                </c:pt>
                <c:pt idx="3">
                  <c:v>1993</c:v>
                </c:pt>
                <c:pt idx="4">
                  <c:v>1994</c:v>
                </c:pt>
                <c:pt idx="5">
                  <c:v>1995</c:v>
                </c:pt>
                <c:pt idx="6">
                  <c:v>1996</c:v>
                </c:pt>
                <c:pt idx="7">
                  <c:v>1997</c:v>
                </c:pt>
                <c:pt idx="8">
                  <c:v>1998</c:v>
                </c:pt>
                <c:pt idx="9">
                  <c:v>1999</c:v>
                </c:pt>
                <c:pt idx="10">
                  <c:v>2000</c:v>
                </c:pt>
              </c:numCache>
            </c:numRef>
          </c:cat>
          <c:val>
            <c:numRef>
              <c:f>Hoja2!$J$3:$J$13</c:f>
              <c:numCache>
                <c:formatCode>General</c:formatCode>
                <c:ptCount val="11"/>
                <c:pt idx="0">
                  <c:v>6.4596436058700316E-2</c:v>
                </c:pt>
                <c:pt idx="1">
                  <c:v>7.1481988675543673E-2</c:v>
                </c:pt>
                <c:pt idx="2">
                  <c:v>0.11685852078712998</c:v>
                </c:pt>
                <c:pt idx="3">
                  <c:v>6.6707151866211983E-2</c:v>
                </c:pt>
                <c:pt idx="4">
                  <c:v>8.1980469471998024E-2</c:v>
                </c:pt>
                <c:pt idx="5">
                  <c:v>0.11181157864890144</c:v>
                </c:pt>
                <c:pt idx="6">
                  <c:v>0.11578270832169012</c:v>
                </c:pt>
                <c:pt idx="7">
                  <c:v>0.13794123615807624</c:v>
                </c:pt>
                <c:pt idx="8">
                  <c:v>0.16123141269590388</c:v>
                </c:pt>
                <c:pt idx="9">
                  <c:v>0.20294027853964025</c:v>
                </c:pt>
                <c:pt idx="10">
                  <c:v>0.22405944135531494</c:v>
                </c:pt>
              </c:numCache>
            </c:numRef>
          </c:val>
        </c:ser>
        <c:marker val="1"/>
        <c:axId val="82618624"/>
        <c:axId val="82624512"/>
      </c:lineChart>
      <c:catAx>
        <c:axId val="82618624"/>
        <c:scaling>
          <c:orientation val="minMax"/>
        </c:scaling>
        <c:axPos val="b"/>
        <c:numFmt formatCode="General" sourceLinked="1"/>
        <c:tickLblPos val="nextTo"/>
        <c:txPr>
          <a:bodyPr rot="-5400000" vert="horz"/>
          <a:lstStyle/>
          <a:p>
            <a:pPr>
              <a:defRPr/>
            </a:pPr>
            <a:endParaRPr lang="es-AR"/>
          </a:p>
        </c:txPr>
        <c:crossAx val="82624512"/>
        <c:crosses val="autoZero"/>
        <c:auto val="1"/>
        <c:lblAlgn val="ctr"/>
        <c:lblOffset val="100"/>
      </c:catAx>
      <c:valAx>
        <c:axId val="82624512"/>
        <c:scaling>
          <c:orientation val="minMax"/>
        </c:scaling>
        <c:axPos val="l"/>
        <c:numFmt formatCode="General" sourceLinked="1"/>
        <c:tickLblPos val="nextTo"/>
        <c:crossAx val="82618624"/>
        <c:crosses val="autoZero"/>
        <c:crossBetween val="between"/>
      </c:valAx>
    </c:plotArea>
    <c:legend>
      <c:legendPos val="b"/>
      <c:layout/>
    </c:legend>
    <c:plotVisOnly val="1"/>
  </c:chart>
  <c:txPr>
    <a:bodyPr/>
    <a:lstStyle/>
    <a:p>
      <a:pPr>
        <a:defRPr sz="1600"/>
      </a:pPr>
      <a:endParaRPr lang="es-AR"/>
    </a:p>
  </c:txPr>
  <c:externalData r:id="rId2"/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s-AR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Hoja1!$B$1</c:f>
              <c:strCache>
                <c:ptCount val="1"/>
                <c:pt idx="0">
                  <c:v>cta cptal</c:v>
                </c:pt>
              </c:strCache>
            </c:strRef>
          </c:tx>
          <c:cat>
            <c:numRef>
              <c:f>Hoja1!$A$2:$A$12</c:f>
              <c:numCache>
                <c:formatCode>General</c:formatCode>
                <c:ptCount val="11"/>
                <c:pt idx="0">
                  <c:v>1990</c:v>
                </c:pt>
                <c:pt idx="1">
                  <c:v>1991</c:v>
                </c:pt>
                <c:pt idx="2">
                  <c:v>1992</c:v>
                </c:pt>
                <c:pt idx="3">
                  <c:v>1993</c:v>
                </c:pt>
                <c:pt idx="4">
                  <c:v>1994</c:v>
                </c:pt>
                <c:pt idx="5">
                  <c:v>1995</c:v>
                </c:pt>
                <c:pt idx="6">
                  <c:v>1996</c:v>
                </c:pt>
                <c:pt idx="7">
                  <c:v>1997</c:v>
                </c:pt>
                <c:pt idx="8">
                  <c:v>1998</c:v>
                </c:pt>
                <c:pt idx="9">
                  <c:v>1999</c:v>
                </c:pt>
                <c:pt idx="10">
                  <c:v>2000</c:v>
                </c:pt>
              </c:numCache>
            </c:numRef>
          </c:cat>
          <c:val>
            <c:numRef>
              <c:f>Hoja1!$B$2:$B$12</c:f>
              <c:numCache>
                <c:formatCode>#,##0.0\ \ </c:formatCode>
                <c:ptCount val="11"/>
                <c:pt idx="0">
                  <c:v>-4092</c:v>
                </c:pt>
                <c:pt idx="1">
                  <c:v>-5391</c:v>
                </c:pt>
                <c:pt idx="2">
                  <c:v>8960</c:v>
                </c:pt>
                <c:pt idx="3" formatCode="#,##0\ \ ">
                  <c:v>13496</c:v>
                </c:pt>
                <c:pt idx="4" formatCode="#,##0\ \ ">
                  <c:v>12659.980365545773</c:v>
                </c:pt>
                <c:pt idx="5">
                  <c:v>7225.1337663804015</c:v>
                </c:pt>
                <c:pt idx="6" formatCode="#,##0\ \ ">
                  <c:v>12321.147664226142</c:v>
                </c:pt>
                <c:pt idx="7" formatCode="#,##0\ \ ">
                  <c:v>16714.068401838689</c:v>
                </c:pt>
                <c:pt idx="8" formatCode="#,##0\ \ ">
                  <c:v>18280.798101405067</c:v>
                </c:pt>
                <c:pt idx="9" formatCode="#,##0\ \ ">
                  <c:v>13623.033104273312</c:v>
                </c:pt>
                <c:pt idx="10">
                  <c:v>8631.1564887885215</c:v>
                </c:pt>
              </c:numCache>
            </c:numRef>
          </c:val>
        </c:ser>
        <c:axId val="82640256"/>
        <c:axId val="82715776"/>
      </c:barChart>
      <c:catAx>
        <c:axId val="82640256"/>
        <c:scaling>
          <c:orientation val="minMax"/>
        </c:scaling>
        <c:axPos val="b"/>
        <c:numFmt formatCode="General" sourceLinked="1"/>
        <c:tickLblPos val="low"/>
        <c:txPr>
          <a:bodyPr rot="-5400000" vert="horz"/>
          <a:lstStyle/>
          <a:p>
            <a:pPr>
              <a:defRPr/>
            </a:pPr>
            <a:endParaRPr lang="es-AR"/>
          </a:p>
        </c:txPr>
        <c:crossAx val="82715776"/>
        <c:crosses val="autoZero"/>
        <c:auto val="1"/>
        <c:lblAlgn val="ctr"/>
        <c:lblOffset val="100"/>
      </c:catAx>
      <c:valAx>
        <c:axId val="82715776"/>
        <c:scaling>
          <c:orientation val="minMax"/>
        </c:scaling>
        <c:axPos val="l"/>
        <c:numFmt formatCode="#,##0.0\ \ " sourceLinked="1"/>
        <c:tickLblPos val="nextTo"/>
        <c:crossAx val="82640256"/>
        <c:crosses val="autoZero"/>
        <c:crossBetween val="between"/>
      </c:valAx>
    </c:plotArea>
    <c:plotVisOnly val="1"/>
  </c:chart>
  <c:txPr>
    <a:bodyPr/>
    <a:lstStyle/>
    <a:p>
      <a:pPr>
        <a:defRPr sz="1600"/>
      </a:pPr>
      <a:endParaRPr lang="es-AR"/>
    </a:p>
  </c:txPr>
  <c:externalData r:id="rId1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0.70475</cdr:x>
      <cdr:y>0.47761</cdr:y>
    </cdr:from>
    <cdr:to>
      <cdr:x>0.94099</cdr:x>
      <cdr:y>0.61194</cdr:y>
    </cdr:to>
    <cdr:sp macro="" textlink="">
      <cdr:nvSpPr>
        <cdr:cNvPr id="2" name="1 Elipse"/>
        <cdr:cNvSpPr/>
      </cdr:nvSpPr>
      <cdr:spPr>
        <a:xfrm xmlns:a="http://schemas.openxmlformats.org/drawingml/2006/main">
          <a:off x="6444208" y="2304256"/>
          <a:ext cx="2160240" cy="648072"/>
        </a:xfrm>
        <a:prstGeom xmlns:a="http://schemas.openxmlformats.org/drawingml/2006/main" prst="ellipse">
          <a:avLst/>
        </a:prstGeom>
        <a:solidFill xmlns:a="http://schemas.openxmlformats.org/drawingml/2006/main">
          <a:srgbClr val="FFFF00">
            <a:alpha val="47000"/>
          </a:srgbClr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s-AR"/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3A118-60AA-4C7F-B4F6-C768EC1015A4}" type="datetimeFigureOut">
              <a:rPr lang="es-AR" smtClean="0"/>
              <a:pPr/>
              <a:t>08/11/2012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08C75-C449-490A-BA5D-AC8087B96500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3A118-60AA-4C7F-B4F6-C768EC1015A4}" type="datetimeFigureOut">
              <a:rPr lang="es-AR" smtClean="0"/>
              <a:pPr/>
              <a:t>08/11/2012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08C75-C449-490A-BA5D-AC8087B96500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3A118-60AA-4C7F-B4F6-C768EC1015A4}" type="datetimeFigureOut">
              <a:rPr lang="es-AR" smtClean="0"/>
              <a:pPr/>
              <a:t>08/11/2012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08C75-C449-490A-BA5D-AC8087B96500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3A118-60AA-4C7F-B4F6-C768EC1015A4}" type="datetimeFigureOut">
              <a:rPr lang="es-AR" smtClean="0"/>
              <a:pPr/>
              <a:t>08/11/2012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08C75-C449-490A-BA5D-AC8087B96500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3A118-60AA-4C7F-B4F6-C768EC1015A4}" type="datetimeFigureOut">
              <a:rPr lang="es-AR" smtClean="0"/>
              <a:pPr/>
              <a:t>08/11/2012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08C75-C449-490A-BA5D-AC8087B96500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3A118-60AA-4C7F-B4F6-C768EC1015A4}" type="datetimeFigureOut">
              <a:rPr lang="es-AR" smtClean="0"/>
              <a:pPr/>
              <a:t>08/11/2012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08C75-C449-490A-BA5D-AC8087B96500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3A118-60AA-4C7F-B4F6-C768EC1015A4}" type="datetimeFigureOut">
              <a:rPr lang="es-AR" smtClean="0"/>
              <a:pPr/>
              <a:t>08/11/2012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08C75-C449-490A-BA5D-AC8087B96500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3A118-60AA-4C7F-B4F6-C768EC1015A4}" type="datetimeFigureOut">
              <a:rPr lang="es-AR" smtClean="0"/>
              <a:pPr/>
              <a:t>08/11/2012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08C75-C449-490A-BA5D-AC8087B96500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3A118-60AA-4C7F-B4F6-C768EC1015A4}" type="datetimeFigureOut">
              <a:rPr lang="es-AR" smtClean="0"/>
              <a:pPr/>
              <a:t>08/11/2012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08C75-C449-490A-BA5D-AC8087B96500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3A118-60AA-4C7F-B4F6-C768EC1015A4}" type="datetimeFigureOut">
              <a:rPr lang="es-AR" smtClean="0"/>
              <a:pPr/>
              <a:t>08/11/2012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08C75-C449-490A-BA5D-AC8087B96500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3A118-60AA-4C7F-B4F6-C768EC1015A4}" type="datetimeFigureOut">
              <a:rPr lang="es-AR" smtClean="0"/>
              <a:pPr/>
              <a:t>08/11/2012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08C75-C449-490A-BA5D-AC8087B96500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23A118-60AA-4C7F-B4F6-C768EC1015A4}" type="datetimeFigureOut">
              <a:rPr lang="es-AR" smtClean="0"/>
              <a:pPr/>
              <a:t>08/11/2012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A08C75-C449-490A-BA5D-AC8087B96500}" type="slidenum">
              <a:rPr lang="es-AR" smtClean="0"/>
              <a:pPr/>
              <a:t>‹Nº›</a:t>
            </a:fld>
            <a:endParaRPr 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0" y="2484185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3200" b="1" dirty="0" err="1" smtClean="0"/>
              <a:t>The</a:t>
            </a:r>
            <a:r>
              <a:rPr lang="es-AR" sz="3200" b="1" dirty="0" smtClean="0"/>
              <a:t> </a:t>
            </a:r>
            <a:r>
              <a:rPr lang="es-AR" sz="3200" b="1" dirty="0" err="1" smtClean="0"/>
              <a:t>Argentine</a:t>
            </a:r>
            <a:r>
              <a:rPr lang="es-AR" sz="3200" b="1" dirty="0" smtClean="0"/>
              <a:t> </a:t>
            </a:r>
            <a:r>
              <a:rPr lang="es-AR" sz="3200" b="1" dirty="0" err="1" smtClean="0"/>
              <a:t>Currency</a:t>
            </a:r>
            <a:r>
              <a:rPr lang="es-AR" sz="3200" b="1" dirty="0" smtClean="0"/>
              <a:t> </a:t>
            </a:r>
            <a:r>
              <a:rPr lang="es-AR" sz="3200" b="1" dirty="0" err="1" smtClean="0"/>
              <a:t>Board</a:t>
            </a:r>
            <a:endParaRPr lang="es-AR" sz="3200" b="1" dirty="0"/>
          </a:p>
        </p:txBody>
      </p:sp>
      <p:sp>
        <p:nvSpPr>
          <p:cNvPr id="5" name="4 CuadroTexto"/>
          <p:cNvSpPr txBox="1"/>
          <p:nvPr/>
        </p:nvSpPr>
        <p:spPr>
          <a:xfrm>
            <a:off x="0" y="3348281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3200" dirty="0" smtClean="0"/>
              <a:t>Miguel A. </a:t>
            </a:r>
            <a:r>
              <a:rPr lang="es-AR" sz="3200" dirty="0" err="1" smtClean="0"/>
              <a:t>Kiguel</a:t>
            </a:r>
            <a:endParaRPr lang="es-AR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000" b="1" dirty="0" smtClean="0"/>
              <a:t>Performance de Argentina durante los 90</a:t>
            </a:r>
            <a:endParaRPr lang="es-AR" sz="2000" b="1" dirty="0"/>
          </a:p>
        </p:txBody>
      </p:sp>
      <p:graphicFrame>
        <p:nvGraphicFramePr>
          <p:cNvPr id="6" name="5 Tabla"/>
          <p:cNvGraphicFramePr>
            <a:graphicFrameLocks noGrp="1"/>
          </p:cNvGraphicFramePr>
          <p:nvPr/>
        </p:nvGraphicFramePr>
        <p:xfrm>
          <a:off x="1619672" y="1700808"/>
          <a:ext cx="5934211" cy="3672408"/>
        </p:xfrm>
        <a:graphic>
          <a:graphicData uri="http://schemas.openxmlformats.org/drawingml/2006/table">
            <a:tbl>
              <a:tblPr/>
              <a:tblGrid>
                <a:gridCol w="2013776"/>
                <a:gridCol w="1706519"/>
                <a:gridCol w="213694"/>
                <a:gridCol w="1933379"/>
                <a:gridCol w="66843"/>
              </a:tblGrid>
              <a:tr h="445144">
                <a:tc>
                  <a:txBody>
                    <a:bodyPr/>
                    <a:lstStyle/>
                    <a:p>
                      <a:pPr algn="l" fontAlgn="b"/>
                      <a:r>
                        <a:rPr lang="es-AR" sz="18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PROMEDIO ANUAL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AR" sz="18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1981-1990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s-AR" sz="1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AR" sz="18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1991-1998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s-AR" sz="1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56425">
                <a:tc>
                  <a:txBody>
                    <a:bodyPr/>
                    <a:lstStyle/>
                    <a:p>
                      <a:pPr algn="l" fontAlgn="b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crecimiento PIB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-1,10%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s-AR" sz="1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5,80%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s-AR" sz="1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5140">
                <a:tc>
                  <a:txBody>
                    <a:bodyPr/>
                    <a:lstStyle/>
                    <a:p>
                      <a:pPr algn="l" fontAlgn="b"/>
                      <a:r>
                        <a:rPr lang="es-AR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Crecimiento I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-7,60%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s-AR" sz="1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14,60%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s-AR" sz="1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5140">
                <a:tc>
                  <a:txBody>
                    <a:bodyPr/>
                    <a:lstStyle/>
                    <a:p>
                      <a:pPr algn="l" fontAlgn="b"/>
                      <a:r>
                        <a:rPr lang="es-AR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Crecimiento 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4,40%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s-AR" sz="1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7,90%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s-AR" sz="1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7137">
                <a:tc>
                  <a:txBody>
                    <a:bodyPr/>
                    <a:lstStyle/>
                    <a:p>
                      <a:pPr algn="l" fontAlgn="b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Resultado fiscal/PIB*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-9,70%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s-AR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-0,80%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s-AR" sz="1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3143">
                <a:tc>
                  <a:txBody>
                    <a:bodyPr/>
                    <a:lstStyle/>
                    <a:p>
                      <a:pPr algn="l" fontAlgn="b"/>
                      <a:r>
                        <a:rPr lang="es-AR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Inflación**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386,60%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s-AR" sz="1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2,70%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s-AR" sz="16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02247">
                <a:tc gridSpan="5">
                  <a:txBody>
                    <a:bodyPr/>
                    <a:lstStyle/>
                    <a:p>
                      <a:pPr algn="l" fontAlgn="b"/>
                      <a:r>
                        <a:rPr lang="es-AR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*Excluido lo procedente de privatizaciones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</a:tr>
              <a:tr h="288032"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**Mediana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/>
                      <a:endParaRPr lang="es-AR" sz="18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s-AR" sz="18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smtClean="0"/>
              <a:t>Inflación y Estabilización</a:t>
            </a:r>
            <a:endParaRPr lang="es-AR" sz="2000" b="1" dirty="0"/>
          </a:p>
        </p:txBody>
      </p:sp>
      <p:graphicFrame>
        <p:nvGraphicFramePr>
          <p:cNvPr id="5" name="2 Gráfico"/>
          <p:cNvGraphicFramePr/>
          <p:nvPr/>
        </p:nvGraphicFramePr>
        <p:xfrm>
          <a:off x="0" y="1052736"/>
          <a:ext cx="9144000" cy="5256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6 CuadroTexto"/>
          <p:cNvSpPr txBox="1"/>
          <p:nvPr/>
        </p:nvSpPr>
        <p:spPr>
          <a:xfrm>
            <a:off x="0" y="692696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Primera diferencia del logaritmo natural del IPC</a:t>
            </a:r>
            <a:endParaRPr lang="es-AR" dirty="0"/>
          </a:p>
        </p:txBody>
      </p:sp>
      <p:sp>
        <p:nvSpPr>
          <p:cNvPr id="8" name="7 Elipse"/>
          <p:cNvSpPr/>
          <p:nvPr/>
        </p:nvSpPr>
        <p:spPr>
          <a:xfrm>
            <a:off x="3809390" y="4437112"/>
            <a:ext cx="360040" cy="1080120"/>
          </a:xfrm>
          <a:prstGeom prst="ellipse">
            <a:avLst/>
          </a:prstGeom>
          <a:solidFill>
            <a:schemeClr val="accent3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8 Elipse"/>
          <p:cNvSpPr/>
          <p:nvPr/>
        </p:nvSpPr>
        <p:spPr>
          <a:xfrm>
            <a:off x="5804349" y="3429000"/>
            <a:ext cx="432048" cy="2088232"/>
          </a:xfrm>
          <a:prstGeom prst="ellipse">
            <a:avLst/>
          </a:prstGeom>
          <a:solidFill>
            <a:schemeClr val="accent3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9 Elipse"/>
          <p:cNvSpPr/>
          <p:nvPr/>
        </p:nvSpPr>
        <p:spPr>
          <a:xfrm>
            <a:off x="5436096" y="4797152"/>
            <a:ext cx="288032" cy="720080"/>
          </a:xfrm>
          <a:prstGeom prst="ellipse">
            <a:avLst/>
          </a:prstGeom>
          <a:solidFill>
            <a:schemeClr val="accent3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10 Elipse"/>
          <p:cNvSpPr/>
          <p:nvPr/>
        </p:nvSpPr>
        <p:spPr>
          <a:xfrm>
            <a:off x="6761718" y="3140968"/>
            <a:ext cx="504056" cy="2376264"/>
          </a:xfrm>
          <a:prstGeom prst="ellipse">
            <a:avLst/>
          </a:prstGeom>
          <a:solidFill>
            <a:schemeClr val="accent3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11 Elipse"/>
          <p:cNvSpPr/>
          <p:nvPr/>
        </p:nvSpPr>
        <p:spPr>
          <a:xfrm>
            <a:off x="7337782" y="1556792"/>
            <a:ext cx="576064" cy="3960440"/>
          </a:xfrm>
          <a:prstGeom prst="ellipse">
            <a:avLst/>
          </a:prstGeom>
          <a:solidFill>
            <a:schemeClr val="accent3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12 CuadroTexto"/>
          <p:cNvSpPr txBox="1"/>
          <p:nvPr/>
        </p:nvSpPr>
        <p:spPr>
          <a:xfrm>
            <a:off x="0" y="6423719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smtClean="0"/>
              <a:t>“Inflación Crónica”</a:t>
            </a:r>
            <a:endParaRPr lang="es-AR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smtClean="0"/>
              <a:t>Inflación y Estabilización</a:t>
            </a:r>
            <a:endParaRPr lang="es-AR" sz="2000" b="1" dirty="0"/>
          </a:p>
        </p:txBody>
      </p:sp>
      <p:sp>
        <p:nvSpPr>
          <p:cNvPr id="7" name="6 CuadroTexto"/>
          <p:cNvSpPr txBox="1"/>
          <p:nvPr/>
        </p:nvSpPr>
        <p:spPr>
          <a:xfrm>
            <a:off x="0" y="899428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Déficit fiscal e inflación</a:t>
            </a:r>
            <a:endParaRPr lang="es-AR" dirty="0"/>
          </a:p>
        </p:txBody>
      </p:sp>
      <p:sp>
        <p:nvSpPr>
          <p:cNvPr id="13" name="12 CuadroTexto"/>
          <p:cNvSpPr txBox="1"/>
          <p:nvPr/>
        </p:nvSpPr>
        <p:spPr>
          <a:xfrm>
            <a:off x="0" y="6381328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smtClean="0"/>
              <a:t>Origen de la inflación de Argentina </a:t>
            </a:r>
            <a:r>
              <a:rPr lang="es-ES" sz="2400" b="1" dirty="0" smtClean="0">
                <a:sym typeface="Wingdings" pitchFamily="2" charset="2"/>
              </a:rPr>
              <a:t> Déficits fiscales</a:t>
            </a:r>
            <a:endParaRPr lang="es-AR" sz="2400" b="1" dirty="0"/>
          </a:p>
        </p:txBody>
      </p:sp>
      <p:pic>
        <p:nvPicPr>
          <p:cNvPr id="14" name="13 Imagen" descr="def vs inf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3528" y="1278539"/>
            <a:ext cx="8820471" cy="4464684"/>
          </a:xfrm>
          <a:prstGeom prst="rect">
            <a:avLst/>
          </a:prstGeom>
        </p:spPr>
      </p:pic>
      <p:sp>
        <p:nvSpPr>
          <p:cNvPr id="15" name="14 Elipse"/>
          <p:cNvSpPr/>
          <p:nvPr/>
        </p:nvSpPr>
        <p:spPr>
          <a:xfrm>
            <a:off x="2843808" y="1412776"/>
            <a:ext cx="720080" cy="3960440"/>
          </a:xfrm>
          <a:prstGeom prst="ellipse">
            <a:avLst/>
          </a:prstGeom>
          <a:solidFill>
            <a:schemeClr val="accent3"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15 Elipse"/>
          <p:cNvSpPr/>
          <p:nvPr/>
        </p:nvSpPr>
        <p:spPr>
          <a:xfrm>
            <a:off x="4139952" y="1412776"/>
            <a:ext cx="1152128" cy="3960440"/>
          </a:xfrm>
          <a:prstGeom prst="ellipse">
            <a:avLst/>
          </a:prstGeom>
          <a:solidFill>
            <a:schemeClr val="accent3"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16 Elipse"/>
          <p:cNvSpPr/>
          <p:nvPr/>
        </p:nvSpPr>
        <p:spPr>
          <a:xfrm>
            <a:off x="5580112" y="1420989"/>
            <a:ext cx="936104" cy="3960440"/>
          </a:xfrm>
          <a:prstGeom prst="ellipse">
            <a:avLst/>
          </a:prstGeom>
          <a:solidFill>
            <a:schemeClr val="accent3"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smtClean="0"/>
              <a:t>Inflación y Estabilización</a:t>
            </a:r>
            <a:endParaRPr lang="es-AR" sz="2000" b="1" dirty="0"/>
          </a:p>
        </p:txBody>
      </p:sp>
      <p:sp>
        <p:nvSpPr>
          <p:cNvPr id="7" name="6 CuadroTexto"/>
          <p:cNvSpPr txBox="1"/>
          <p:nvPr/>
        </p:nvSpPr>
        <p:spPr>
          <a:xfrm>
            <a:off x="0" y="899428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Larga historia de programas de estabilización </a:t>
            </a:r>
            <a:r>
              <a:rPr lang="es-ES" dirty="0" smtClean="0">
                <a:sym typeface="Wingdings" pitchFamily="2" charset="2"/>
              </a:rPr>
              <a:t> corta vida</a:t>
            </a:r>
            <a:endParaRPr lang="es-AR" dirty="0"/>
          </a:p>
        </p:txBody>
      </p:sp>
      <p:sp>
        <p:nvSpPr>
          <p:cNvPr id="9" name="8 CuadroTexto"/>
          <p:cNvSpPr txBox="1"/>
          <p:nvPr/>
        </p:nvSpPr>
        <p:spPr>
          <a:xfrm>
            <a:off x="5767837" y="1823559"/>
            <a:ext cx="18356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Tx/>
              <a:buChar char="-"/>
            </a:pPr>
            <a:r>
              <a:rPr lang="es-ES" dirty="0" smtClean="0"/>
              <a:t> </a:t>
            </a:r>
            <a:r>
              <a:rPr lang="es-ES" dirty="0" err="1" smtClean="0"/>
              <a:t>Krieger</a:t>
            </a:r>
            <a:r>
              <a:rPr lang="es-ES" dirty="0" smtClean="0"/>
              <a:t> </a:t>
            </a:r>
            <a:r>
              <a:rPr lang="es-ES" dirty="0" err="1" smtClean="0"/>
              <a:t>Vasena</a:t>
            </a:r>
            <a:endParaRPr lang="es-ES" dirty="0" smtClean="0"/>
          </a:p>
          <a:p>
            <a:pPr>
              <a:buFontTx/>
              <a:buChar char="-"/>
            </a:pPr>
            <a:endParaRPr lang="es-ES" dirty="0" smtClean="0"/>
          </a:p>
          <a:p>
            <a:pPr>
              <a:buFontTx/>
              <a:buChar char="-"/>
            </a:pPr>
            <a:r>
              <a:rPr lang="es-ES" dirty="0" smtClean="0"/>
              <a:t> “Tablita”</a:t>
            </a:r>
          </a:p>
          <a:p>
            <a:pPr>
              <a:buFontTx/>
              <a:buChar char="-"/>
            </a:pPr>
            <a:endParaRPr lang="es-ES" dirty="0" smtClean="0"/>
          </a:p>
          <a:p>
            <a:pPr>
              <a:buFontTx/>
              <a:buChar char="-"/>
            </a:pPr>
            <a:r>
              <a:rPr lang="es-ES" dirty="0" smtClean="0"/>
              <a:t> Plan Austral</a:t>
            </a:r>
            <a:endParaRPr lang="es-AR" dirty="0"/>
          </a:p>
        </p:txBody>
      </p:sp>
      <p:sp>
        <p:nvSpPr>
          <p:cNvPr id="10" name="9 CuadroTexto"/>
          <p:cNvSpPr txBox="1"/>
          <p:nvPr/>
        </p:nvSpPr>
        <p:spPr>
          <a:xfrm>
            <a:off x="1331640" y="2369867"/>
            <a:ext cx="44999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Planes que buscaron un ancla nominal </a:t>
            </a:r>
          </a:p>
          <a:p>
            <a:pPr algn="ctr"/>
            <a:endParaRPr lang="es-ES" dirty="0" smtClean="0"/>
          </a:p>
          <a:p>
            <a:pPr algn="ctr"/>
            <a:r>
              <a:rPr lang="es-ES" dirty="0"/>
              <a:t>(</a:t>
            </a:r>
            <a:r>
              <a:rPr lang="es-ES" dirty="0" smtClean="0"/>
              <a:t>estrategias de estabilización </a:t>
            </a:r>
          </a:p>
          <a:p>
            <a:pPr algn="ctr"/>
            <a:r>
              <a:rPr lang="es-ES" dirty="0" smtClean="0"/>
              <a:t>basadas en el tipo de cambio)</a:t>
            </a:r>
            <a:endParaRPr lang="es-AR" dirty="0"/>
          </a:p>
        </p:txBody>
      </p:sp>
      <p:sp>
        <p:nvSpPr>
          <p:cNvPr id="11" name="10 Abrir llave"/>
          <p:cNvSpPr/>
          <p:nvPr/>
        </p:nvSpPr>
        <p:spPr>
          <a:xfrm>
            <a:off x="5479805" y="1772816"/>
            <a:ext cx="648072" cy="1584176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11 CuadroTexto"/>
          <p:cNvSpPr txBox="1"/>
          <p:nvPr/>
        </p:nvSpPr>
        <p:spPr>
          <a:xfrm>
            <a:off x="1187624" y="4293096"/>
            <a:ext cx="7956376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dirty="0" smtClean="0"/>
              <a:t>En los tres casos </a:t>
            </a:r>
          </a:p>
          <a:p>
            <a:pPr>
              <a:spcAft>
                <a:spcPts val="600"/>
              </a:spcAft>
              <a:buFont typeface="Wingdings"/>
              <a:buChar char="à"/>
            </a:pPr>
            <a:r>
              <a:rPr lang="es-ES" dirty="0" smtClean="0">
                <a:sym typeface="Wingdings" pitchFamily="2" charset="2"/>
              </a:rPr>
              <a:t>esfuerzo inicial para reducir el déficit</a:t>
            </a:r>
          </a:p>
          <a:p>
            <a:pPr>
              <a:spcAft>
                <a:spcPts val="600"/>
              </a:spcAft>
              <a:buFont typeface="Wingdings"/>
              <a:buChar char="à"/>
            </a:pPr>
            <a:r>
              <a:rPr lang="es-ES" dirty="0" smtClean="0">
                <a:sym typeface="Wingdings" pitchFamily="2" charset="2"/>
              </a:rPr>
              <a:t>Terminaron en crisis de BP y “maxi-devaluaciones” </a:t>
            </a:r>
          </a:p>
          <a:p>
            <a:pPr>
              <a:spcAft>
                <a:spcPts val="600"/>
              </a:spcAft>
              <a:buFont typeface="Wingdings"/>
              <a:buChar char="à"/>
            </a:pPr>
            <a:r>
              <a:rPr lang="es-ES" dirty="0" smtClean="0">
                <a:sym typeface="Wingdings" pitchFamily="2" charset="2"/>
              </a:rPr>
              <a:t>Inhabilidad para lograr la reducción de déficit y tener </a:t>
            </a:r>
            <a:r>
              <a:rPr lang="es-ES" dirty="0" err="1" smtClean="0">
                <a:sym typeface="Wingdings" pitchFamily="2" charset="2"/>
              </a:rPr>
              <a:t>pol</a:t>
            </a:r>
            <a:r>
              <a:rPr lang="es-ES" dirty="0" smtClean="0">
                <a:sym typeface="Wingdings" pitchFamily="2" charset="2"/>
              </a:rPr>
              <a:t>. </a:t>
            </a:r>
            <a:r>
              <a:rPr lang="es-ES" dirty="0" err="1" smtClean="0">
                <a:sym typeface="Wingdings" pitchFamily="2" charset="2"/>
              </a:rPr>
              <a:t>Monet</a:t>
            </a:r>
            <a:r>
              <a:rPr lang="es-ES" dirty="0" smtClean="0">
                <a:sym typeface="Wingdings" pitchFamily="2" charset="2"/>
              </a:rPr>
              <a:t> y </a:t>
            </a:r>
            <a:r>
              <a:rPr lang="es-ES" dirty="0" err="1" smtClean="0">
                <a:sym typeface="Wingdings" pitchFamily="2" charset="2"/>
              </a:rPr>
              <a:t>credit</a:t>
            </a:r>
            <a:r>
              <a:rPr lang="es-ES" dirty="0" smtClean="0">
                <a:sym typeface="Wingdings" pitchFamily="2" charset="2"/>
              </a:rPr>
              <a:t>. consistentes </a:t>
            </a:r>
            <a:endParaRPr lang="es-A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smtClean="0"/>
              <a:t>Inflación y Estabilización</a:t>
            </a:r>
            <a:endParaRPr lang="es-AR" sz="2000" b="1" dirty="0"/>
          </a:p>
        </p:txBody>
      </p:sp>
      <p:sp>
        <p:nvSpPr>
          <p:cNvPr id="7" name="6 CuadroTexto"/>
          <p:cNvSpPr txBox="1"/>
          <p:nvPr/>
        </p:nvSpPr>
        <p:spPr>
          <a:xfrm>
            <a:off x="0" y="899428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Larga historia de programas de estabilización </a:t>
            </a:r>
            <a:r>
              <a:rPr lang="es-ES" dirty="0" smtClean="0">
                <a:sym typeface="Wingdings" pitchFamily="2" charset="2"/>
              </a:rPr>
              <a:t> corta vida</a:t>
            </a:r>
            <a:endParaRPr lang="es-AR" dirty="0"/>
          </a:p>
        </p:txBody>
      </p:sp>
      <p:graphicFrame>
        <p:nvGraphicFramePr>
          <p:cNvPr id="8" name="5 Gráfico"/>
          <p:cNvGraphicFramePr/>
          <p:nvPr/>
        </p:nvGraphicFramePr>
        <p:xfrm>
          <a:off x="0" y="1700808"/>
          <a:ext cx="9144000" cy="4248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12 Elipse"/>
          <p:cNvSpPr/>
          <p:nvPr/>
        </p:nvSpPr>
        <p:spPr>
          <a:xfrm>
            <a:off x="1835696" y="4149080"/>
            <a:ext cx="648072" cy="720080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13 Elipse"/>
          <p:cNvSpPr/>
          <p:nvPr/>
        </p:nvSpPr>
        <p:spPr>
          <a:xfrm>
            <a:off x="2555776" y="3356992"/>
            <a:ext cx="720080" cy="1512168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14 Elipse"/>
          <p:cNvSpPr/>
          <p:nvPr/>
        </p:nvSpPr>
        <p:spPr>
          <a:xfrm>
            <a:off x="4283968" y="2996952"/>
            <a:ext cx="1008112" cy="1872208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15 Elipse"/>
          <p:cNvSpPr/>
          <p:nvPr/>
        </p:nvSpPr>
        <p:spPr>
          <a:xfrm>
            <a:off x="5436096" y="1772816"/>
            <a:ext cx="936104" cy="3024336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16 Elipse"/>
          <p:cNvSpPr/>
          <p:nvPr/>
        </p:nvSpPr>
        <p:spPr>
          <a:xfrm>
            <a:off x="6660232" y="4594180"/>
            <a:ext cx="2483768" cy="512440"/>
          </a:xfrm>
          <a:prstGeom prst="ellipse">
            <a:avLst/>
          </a:prstGeom>
          <a:solidFill>
            <a:schemeClr val="tx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8" name="17 CuadroTexto"/>
          <p:cNvSpPr txBox="1"/>
          <p:nvPr/>
        </p:nvSpPr>
        <p:spPr>
          <a:xfrm>
            <a:off x="683568" y="3501008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Fin KV</a:t>
            </a:r>
            <a:endParaRPr lang="es-AR" dirty="0"/>
          </a:p>
        </p:txBody>
      </p:sp>
      <p:sp>
        <p:nvSpPr>
          <p:cNvPr id="19" name="18 CuadroTexto"/>
          <p:cNvSpPr txBox="1"/>
          <p:nvPr/>
        </p:nvSpPr>
        <p:spPr>
          <a:xfrm>
            <a:off x="1979712" y="2204864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Fin Tablita</a:t>
            </a:r>
            <a:endParaRPr lang="es-AR" dirty="0"/>
          </a:p>
        </p:txBody>
      </p:sp>
      <p:sp>
        <p:nvSpPr>
          <p:cNvPr id="20" name="19 CuadroTexto"/>
          <p:cNvSpPr txBox="1"/>
          <p:nvPr/>
        </p:nvSpPr>
        <p:spPr>
          <a:xfrm>
            <a:off x="3707904" y="1412776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Fin Austral</a:t>
            </a:r>
            <a:endParaRPr lang="es-AR" dirty="0"/>
          </a:p>
        </p:txBody>
      </p:sp>
      <p:cxnSp>
        <p:nvCxnSpPr>
          <p:cNvPr id="22" name="21 Conector recto de flecha"/>
          <p:cNvCxnSpPr>
            <a:stCxn id="18" idx="3"/>
            <a:endCxn id="13" idx="0"/>
          </p:cNvCxnSpPr>
          <p:nvPr/>
        </p:nvCxnSpPr>
        <p:spPr>
          <a:xfrm>
            <a:off x="1475656" y="3685674"/>
            <a:ext cx="684076" cy="46340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23 Conector recto de flecha"/>
          <p:cNvCxnSpPr>
            <a:stCxn id="19" idx="3"/>
            <a:endCxn id="15" idx="0"/>
          </p:cNvCxnSpPr>
          <p:nvPr/>
        </p:nvCxnSpPr>
        <p:spPr>
          <a:xfrm>
            <a:off x="3203848" y="2389530"/>
            <a:ext cx="1584176" cy="60742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26 Conector recto de flecha"/>
          <p:cNvCxnSpPr>
            <a:stCxn id="20" idx="3"/>
            <a:endCxn id="16" idx="0"/>
          </p:cNvCxnSpPr>
          <p:nvPr/>
        </p:nvCxnSpPr>
        <p:spPr>
          <a:xfrm>
            <a:off x="4932040" y="1597442"/>
            <a:ext cx="972108" cy="17537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33 CuadroTexto"/>
          <p:cNvSpPr txBox="1"/>
          <p:nvPr/>
        </p:nvSpPr>
        <p:spPr>
          <a:xfrm>
            <a:off x="6999007" y="3140968"/>
            <a:ext cx="18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Convertibilidad</a:t>
            </a:r>
            <a:endParaRPr lang="es-AR" dirty="0"/>
          </a:p>
        </p:txBody>
      </p:sp>
      <p:cxnSp>
        <p:nvCxnSpPr>
          <p:cNvPr id="36" name="35 Conector recto de flecha"/>
          <p:cNvCxnSpPr>
            <a:stCxn id="34" idx="2"/>
            <a:endCxn id="17" idx="0"/>
          </p:cNvCxnSpPr>
          <p:nvPr/>
        </p:nvCxnSpPr>
        <p:spPr>
          <a:xfrm rot="16200000" flipH="1">
            <a:off x="7358671" y="4050735"/>
            <a:ext cx="1083880" cy="3009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smtClean="0"/>
              <a:t>Inflación y Estabilización</a:t>
            </a:r>
            <a:endParaRPr lang="es-AR" sz="2000" b="1" dirty="0"/>
          </a:p>
        </p:txBody>
      </p:sp>
      <p:sp>
        <p:nvSpPr>
          <p:cNvPr id="7" name="6 CuadroTexto"/>
          <p:cNvSpPr txBox="1"/>
          <p:nvPr/>
        </p:nvSpPr>
        <p:spPr>
          <a:xfrm>
            <a:off x="0" y="899428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Larga historia de programas de estabilización </a:t>
            </a:r>
            <a:r>
              <a:rPr lang="es-ES" dirty="0" smtClean="0">
                <a:sym typeface="Wingdings" pitchFamily="2" charset="2"/>
              </a:rPr>
              <a:t> corta vida</a:t>
            </a:r>
            <a:endParaRPr lang="es-AR" dirty="0"/>
          </a:p>
        </p:txBody>
      </p:sp>
      <p:sp>
        <p:nvSpPr>
          <p:cNvPr id="21" name="20 CuadroTexto"/>
          <p:cNvSpPr txBox="1"/>
          <p:nvPr/>
        </p:nvSpPr>
        <p:spPr>
          <a:xfrm>
            <a:off x="0" y="1844824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HIPERINFLACIÓN</a:t>
            </a:r>
            <a:endParaRPr lang="es-AR" dirty="0"/>
          </a:p>
        </p:txBody>
      </p:sp>
      <p:sp>
        <p:nvSpPr>
          <p:cNvPr id="23" name="22 CuadroTexto"/>
          <p:cNvSpPr txBox="1"/>
          <p:nvPr/>
        </p:nvSpPr>
        <p:spPr>
          <a:xfrm>
            <a:off x="0" y="2636912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Febrero de 1989 a Marzo de 1991</a:t>
            </a:r>
            <a:endParaRPr lang="es-AR" dirty="0"/>
          </a:p>
        </p:txBody>
      </p:sp>
      <p:cxnSp>
        <p:nvCxnSpPr>
          <p:cNvPr id="26" name="25 Conector recto de flecha"/>
          <p:cNvCxnSpPr>
            <a:stCxn id="21" idx="2"/>
            <a:endCxn id="23" idx="0"/>
          </p:cNvCxnSpPr>
          <p:nvPr/>
        </p:nvCxnSpPr>
        <p:spPr>
          <a:xfrm rot="5400000">
            <a:off x="4360622" y="2425534"/>
            <a:ext cx="422756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29 CuadroTexto"/>
          <p:cNvSpPr txBox="1"/>
          <p:nvPr/>
        </p:nvSpPr>
        <p:spPr>
          <a:xfrm>
            <a:off x="0" y="3501008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Autoridades pierden el control</a:t>
            </a:r>
            <a:endParaRPr lang="es-AR" dirty="0"/>
          </a:p>
        </p:txBody>
      </p:sp>
      <p:sp>
        <p:nvSpPr>
          <p:cNvPr id="31" name="30 CuadroTexto"/>
          <p:cNvSpPr txBox="1"/>
          <p:nvPr/>
        </p:nvSpPr>
        <p:spPr>
          <a:xfrm>
            <a:off x="0" y="4355812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Necesidad de un programa de estabilización consistente</a:t>
            </a:r>
            <a:endParaRPr lang="es-AR" dirty="0"/>
          </a:p>
        </p:txBody>
      </p:sp>
      <p:sp>
        <p:nvSpPr>
          <p:cNvPr id="32" name="31 CuadroTexto"/>
          <p:cNvSpPr txBox="1"/>
          <p:nvPr/>
        </p:nvSpPr>
        <p:spPr>
          <a:xfrm>
            <a:off x="0" y="514790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Régimen de tipo de cambio fijo</a:t>
            </a:r>
            <a:endParaRPr lang="es-AR" dirty="0"/>
          </a:p>
        </p:txBody>
      </p:sp>
      <p:cxnSp>
        <p:nvCxnSpPr>
          <p:cNvPr id="35" name="34 Conector recto de flecha"/>
          <p:cNvCxnSpPr>
            <a:stCxn id="30" idx="2"/>
            <a:endCxn id="31" idx="0"/>
          </p:cNvCxnSpPr>
          <p:nvPr/>
        </p:nvCxnSpPr>
        <p:spPr>
          <a:xfrm rot="5400000">
            <a:off x="4329264" y="4113076"/>
            <a:ext cx="485472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36 Conector recto de flecha"/>
          <p:cNvCxnSpPr>
            <a:stCxn id="31" idx="2"/>
            <a:endCxn id="32" idx="0"/>
          </p:cNvCxnSpPr>
          <p:nvPr/>
        </p:nvCxnSpPr>
        <p:spPr>
          <a:xfrm rot="5400000">
            <a:off x="4360622" y="4936522"/>
            <a:ext cx="422756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smtClean="0"/>
              <a:t>Plan de Convertibilidad</a:t>
            </a:r>
            <a:endParaRPr lang="es-AR" sz="2000" b="1" dirty="0"/>
          </a:p>
        </p:txBody>
      </p:sp>
      <p:sp>
        <p:nvSpPr>
          <p:cNvPr id="7" name="6 CuadroTexto"/>
          <p:cNvSpPr txBox="1"/>
          <p:nvPr/>
        </p:nvSpPr>
        <p:spPr>
          <a:xfrm>
            <a:off x="0" y="899428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Suma de políticas de estabilización ortodoxas más reformas estructurales </a:t>
            </a:r>
            <a:endParaRPr lang="es-AR" dirty="0"/>
          </a:p>
        </p:txBody>
      </p:sp>
      <p:sp>
        <p:nvSpPr>
          <p:cNvPr id="5" name="4 CuadroTexto"/>
          <p:cNvSpPr txBox="1"/>
          <p:nvPr/>
        </p:nvSpPr>
        <p:spPr>
          <a:xfrm>
            <a:off x="0" y="1772816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Desafío </a:t>
            </a:r>
            <a:r>
              <a:rPr lang="es-ES" dirty="0" smtClean="0">
                <a:sym typeface="Wingdings" pitchFamily="2" charset="2"/>
              </a:rPr>
              <a:t> superar la falta inicial de confianza (intentos de estabilización fallidos)</a:t>
            </a:r>
            <a:endParaRPr lang="es-AR" dirty="0"/>
          </a:p>
        </p:txBody>
      </p:sp>
      <p:sp>
        <p:nvSpPr>
          <p:cNvPr id="6" name="5 CuadroTexto"/>
          <p:cNvSpPr txBox="1"/>
          <p:nvPr/>
        </p:nvSpPr>
        <p:spPr>
          <a:xfrm>
            <a:off x="0" y="2636912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Se adoptó un sistema de Caja de Conversión</a:t>
            </a:r>
            <a:endParaRPr lang="es-AR" dirty="0"/>
          </a:p>
        </p:txBody>
      </p:sp>
      <p:sp>
        <p:nvSpPr>
          <p:cNvPr id="8" name="7 CuadroTexto"/>
          <p:cNvSpPr txBox="1"/>
          <p:nvPr/>
        </p:nvSpPr>
        <p:spPr>
          <a:xfrm>
            <a:off x="0" y="3501008"/>
            <a:ext cx="914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>
                <a:sym typeface="Wingdings" pitchFamily="2" charset="2"/>
              </a:rPr>
              <a:t>Comprometidos a:</a:t>
            </a:r>
          </a:p>
          <a:p>
            <a:pPr lvl="4">
              <a:buFont typeface="Wingdings"/>
              <a:buChar char="à"/>
            </a:pPr>
            <a:r>
              <a:rPr lang="es-ES" dirty="0" smtClean="0">
                <a:sym typeface="Wingdings" pitchFamily="2" charset="2"/>
              </a:rPr>
              <a:t> volver todos los pasivos monetarios en reservas</a:t>
            </a:r>
          </a:p>
          <a:p>
            <a:pPr lvl="4">
              <a:buFont typeface="Wingdings"/>
              <a:buChar char="à"/>
            </a:pPr>
            <a:r>
              <a:rPr lang="es-ES" dirty="0" smtClean="0">
                <a:sym typeface="Wingdings" pitchFamily="2" charset="2"/>
              </a:rPr>
              <a:t> Cambiar un por por un dólar</a:t>
            </a:r>
          </a:p>
        </p:txBody>
      </p:sp>
      <p:sp>
        <p:nvSpPr>
          <p:cNvPr id="9" name="8 CuadroTexto"/>
          <p:cNvSpPr txBox="1"/>
          <p:nvPr/>
        </p:nvSpPr>
        <p:spPr>
          <a:xfrm>
            <a:off x="0" y="4797152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Oferta monetaria endógena </a:t>
            </a:r>
            <a:endParaRPr lang="es-AR" dirty="0"/>
          </a:p>
        </p:txBody>
      </p:sp>
      <p:sp>
        <p:nvSpPr>
          <p:cNvPr id="10" name="9 CuadroTexto"/>
          <p:cNvSpPr txBox="1"/>
          <p:nvPr/>
        </p:nvSpPr>
        <p:spPr>
          <a:xfrm>
            <a:off x="0" y="5445224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B.M. </a:t>
            </a:r>
            <a:r>
              <a:rPr lang="es-ES" dirty="0" smtClean="0">
                <a:sym typeface="Wingdings" pitchFamily="2" charset="2"/>
              </a:rPr>
              <a:t> Determinada primordialmente por reservas internacionales</a:t>
            </a:r>
            <a:endParaRPr lang="es-AR" dirty="0"/>
          </a:p>
        </p:txBody>
      </p:sp>
      <p:sp>
        <p:nvSpPr>
          <p:cNvPr id="11" name="10 CuadroTexto"/>
          <p:cNvSpPr txBox="1"/>
          <p:nvPr/>
        </p:nvSpPr>
        <p:spPr>
          <a:xfrm>
            <a:off x="0" y="6165304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Aumento del crédito </a:t>
            </a:r>
            <a:r>
              <a:rPr lang="es-ES" dirty="0" smtClean="0">
                <a:sym typeface="Wingdings" pitchFamily="2" charset="2"/>
              </a:rPr>
              <a:t> pérdida de reservas</a:t>
            </a:r>
            <a:endParaRPr lang="es-A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smtClean="0"/>
              <a:t>Plan de Convertibilidad</a:t>
            </a:r>
            <a:endParaRPr lang="es-AR" sz="2000" b="1" dirty="0"/>
          </a:p>
        </p:txBody>
      </p:sp>
      <p:sp>
        <p:nvSpPr>
          <p:cNvPr id="7" name="6 CuadroTexto"/>
          <p:cNvSpPr txBox="1"/>
          <p:nvPr/>
        </p:nvSpPr>
        <p:spPr>
          <a:xfrm>
            <a:off x="0" y="899428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Crecimiento de reservas líquidas y pasivos monetarios</a:t>
            </a:r>
            <a:endParaRPr lang="es-AR" dirty="0"/>
          </a:p>
        </p:txBody>
      </p:sp>
      <p:pic>
        <p:nvPicPr>
          <p:cNvPr id="12" name="11 Imagen" descr="res vs pasi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2432" y="1484784"/>
            <a:ext cx="8368932" cy="44644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smtClean="0"/>
              <a:t>Plan de Convertibilidad: El Régimen Monetario</a:t>
            </a:r>
            <a:endParaRPr lang="es-AR" sz="2000" b="1" dirty="0"/>
          </a:p>
        </p:txBody>
      </p:sp>
      <p:sp>
        <p:nvSpPr>
          <p:cNvPr id="7" name="6 CuadroTexto"/>
          <p:cNvSpPr txBox="1"/>
          <p:nvPr/>
        </p:nvSpPr>
        <p:spPr>
          <a:xfrm>
            <a:off x="0" y="620688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Restricciones dadas por la LEY DE CONVERTIBILIDAD y la CARTA DEL BC</a:t>
            </a:r>
            <a:endParaRPr lang="es-AR" dirty="0"/>
          </a:p>
        </p:txBody>
      </p:sp>
      <p:sp>
        <p:nvSpPr>
          <p:cNvPr id="5" name="4 CuadroTexto"/>
          <p:cNvSpPr txBox="1"/>
          <p:nvPr/>
        </p:nvSpPr>
        <p:spPr>
          <a:xfrm>
            <a:off x="0" y="1412776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Brindar credibilidad</a:t>
            </a:r>
            <a:endParaRPr lang="es-AR" dirty="0"/>
          </a:p>
        </p:txBody>
      </p:sp>
      <p:cxnSp>
        <p:nvCxnSpPr>
          <p:cNvPr id="8" name="7 Conector recto de flecha"/>
          <p:cNvCxnSpPr>
            <a:stCxn id="7" idx="2"/>
            <a:endCxn id="5" idx="0"/>
          </p:cNvCxnSpPr>
          <p:nvPr/>
        </p:nvCxnSpPr>
        <p:spPr>
          <a:xfrm rot="5400000">
            <a:off x="4360622" y="1201398"/>
            <a:ext cx="422756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9 CuadroTexto"/>
          <p:cNvSpPr txBox="1"/>
          <p:nvPr/>
        </p:nvSpPr>
        <p:spPr>
          <a:xfrm>
            <a:off x="2339752" y="2708920"/>
            <a:ext cx="680424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buFont typeface="Wingdings"/>
              <a:buChar char="à"/>
            </a:pPr>
            <a:r>
              <a:rPr lang="es-ES" dirty="0" smtClean="0">
                <a:sym typeface="Wingdings" pitchFamily="2" charset="2"/>
              </a:rPr>
              <a:t>BC se vuelve independiente</a:t>
            </a:r>
          </a:p>
          <a:p>
            <a:pPr>
              <a:spcAft>
                <a:spcPts val="600"/>
              </a:spcAft>
              <a:buFont typeface="Wingdings"/>
              <a:buChar char="à"/>
            </a:pPr>
            <a:r>
              <a:rPr lang="es-ES" dirty="0" smtClean="0">
                <a:sym typeface="Wingdings" pitchFamily="2" charset="2"/>
              </a:rPr>
              <a:t> Tipo de cambio fijo por ley</a:t>
            </a:r>
          </a:p>
          <a:p>
            <a:pPr>
              <a:spcAft>
                <a:spcPts val="600"/>
              </a:spcAft>
              <a:buFont typeface="Wingdings"/>
              <a:buChar char="à"/>
            </a:pPr>
            <a:r>
              <a:rPr lang="es-ES" dirty="0" smtClean="0">
                <a:sym typeface="Wingdings" pitchFamily="2" charset="2"/>
              </a:rPr>
              <a:t> Base monetaria completamente respaldada en reservas</a:t>
            </a:r>
          </a:p>
          <a:p>
            <a:pPr>
              <a:spcAft>
                <a:spcPts val="600"/>
              </a:spcAft>
              <a:buFont typeface="Wingdings"/>
              <a:buChar char="à"/>
            </a:pPr>
            <a:r>
              <a:rPr lang="es-ES" dirty="0" smtClean="0">
                <a:sym typeface="Wingdings" pitchFamily="2" charset="2"/>
              </a:rPr>
              <a:t> Restricciones al BC para financiar el Déficit</a:t>
            </a:r>
          </a:p>
          <a:p>
            <a:pPr>
              <a:spcAft>
                <a:spcPts val="600"/>
              </a:spcAft>
              <a:buFont typeface="Wingdings"/>
              <a:buChar char="à"/>
            </a:pPr>
            <a:r>
              <a:rPr lang="es-ES" dirty="0" smtClean="0">
                <a:sym typeface="Wingdings" pitchFamily="2" charset="2"/>
              </a:rPr>
              <a:t> Contratos en dólares</a:t>
            </a:r>
          </a:p>
          <a:p>
            <a:pPr>
              <a:spcAft>
                <a:spcPts val="600"/>
              </a:spcAft>
              <a:buFont typeface="Wingdings"/>
              <a:buChar char="à"/>
            </a:pPr>
            <a:r>
              <a:rPr lang="es-ES" dirty="0" smtClean="0">
                <a:sym typeface="Wingdings" pitchFamily="2" charset="2"/>
              </a:rPr>
              <a:t> se prohíbe la indexación</a:t>
            </a:r>
          </a:p>
          <a:p>
            <a:pPr>
              <a:spcAft>
                <a:spcPts val="600"/>
              </a:spcAft>
              <a:buFont typeface="Wingdings"/>
              <a:buChar char="à"/>
            </a:pPr>
            <a:r>
              <a:rPr lang="es-ES" dirty="0" smtClean="0"/>
              <a:t> Libre movilidad de capital</a:t>
            </a:r>
            <a:endParaRPr lang="es-A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smtClean="0"/>
              <a:t>Plan de Convertibilidad: El Régimen Monetario</a:t>
            </a:r>
            <a:endParaRPr lang="es-AR" sz="2000" b="1" dirty="0"/>
          </a:p>
        </p:txBody>
      </p:sp>
      <p:sp>
        <p:nvSpPr>
          <p:cNvPr id="7" name="6 CuadroTexto"/>
          <p:cNvSpPr txBox="1"/>
          <p:nvPr/>
        </p:nvSpPr>
        <p:spPr>
          <a:xfrm>
            <a:off x="0" y="620688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Restricciones dadas por la LEY DE CONVERTIBILIDAD y la CARTA DEL BC</a:t>
            </a:r>
            <a:endParaRPr lang="es-AR" dirty="0"/>
          </a:p>
        </p:txBody>
      </p:sp>
      <p:sp>
        <p:nvSpPr>
          <p:cNvPr id="9" name="8 CuadroTexto"/>
          <p:cNvSpPr txBox="1"/>
          <p:nvPr/>
        </p:nvSpPr>
        <p:spPr>
          <a:xfrm>
            <a:off x="0" y="126876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Observaciones:</a:t>
            </a:r>
            <a:endParaRPr lang="es-AR" dirty="0"/>
          </a:p>
        </p:txBody>
      </p:sp>
      <p:sp>
        <p:nvSpPr>
          <p:cNvPr id="11" name="10 CuadroTexto"/>
          <p:cNvSpPr txBox="1"/>
          <p:nvPr/>
        </p:nvSpPr>
        <p:spPr>
          <a:xfrm>
            <a:off x="971600" y="2420888"/>
            <a:ext cx="81724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buFont typeface="Wingdings"/>
              <a:buChar char="à"/>
            </a:pPr>
            <a:r>
              <a:rPr lang="es-ES" dirty="0" smtClean="0"/>
              <a:t>Podía haber una fracción de la BM en bonos: proveer flexibilidad</a:t>
            </a:r>
          </a:p>
          <a:p>
            <a:pPr>
              <a:spcAft>
                <a:spcPts val="600"/>
              </a:spcAft>
              <a:buFont typeface="Wingdings"/>
              <a:buChar char="à"/>
            </a:pPr>
            <a:r>
              <a:rPr lang="es-ES" dirty="0" smtClean="0"/>
              <a:t> </a:t>
            </a:r>
            <a:r>
              <a:rPr lang="es-ES" dirty="0" err="1" smtClean="0"/>
              <a:t>Bc</a:t>
            </a:r>
            <a:r>
              <a:rPr lang="es-ES" dirty="0" smtClean="0"/>
              <a:t> puede financiar instituciones con problemas de liquidez</a:t>
            </a:r>
          </a:p>
          <a:p>
            <a:pPr>
              <a:spcAft>
                <a:spcPts val="600"/>
              </a:spcAft>
              <a:buFont typeface="Wingdings"/>
              <a:buChar char="à"/>
            </a:pPr>
            <a:r>
              <a:rPr lang="es-ES" dirty="0" smtClean="0"/>
              <a:t> Eliminación del Déficit cuasi fiscal (reservas remuneradas)</a:t>
            </a:r>
          </a:p>
          <a:p>
            <a:pPr>
              <a:spcAft>
                <a:spcPts val="600"/>
              </a:spcAft>
              <a:buFont typeface="Wingdings"/>
              <a:buChar char="à"/>
            </a:pPr>
            <a:r>
              <a:rPr lang="es-ES" dirty="0" smtClean="0"/>
              <a:t> Limitada habilidad de actuar como prestamista de última instancia</a:t>
            </a:r>
          </a:p>
          <a:p>
            <a:pPr>
              <a:spcAft>
                <a:spcPts val="600"/>
              </a:spcAft>
              <a:buFont typeface="Wingdings"/>
              <a:buChar char="à"/>
            </a:pPr>
            <a:r>
              <a:rPr lang="es-ES" dirty="0" smtClean="0"/>
              <a:t> BC puede manejar la liquidez sistémica cambiando los requerimientos de reservas</a:t>
            </a:r>
          </a:p>
        </p:txBody>
      </p:sp>
      <p:sp>
        <p:nvSpPr>
          <p:cNvPr id="12" name="11 CuadroTexto"/>
          <p:cNvSpPr txBox="1"/>
          <p:nvPr/>
        </p:nvSpPr>
        <p:spPr>
          <a:xfrm>
            <a:off x="0" y="5085184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Argentina disfrutó de las ventajas de una caja de conversión manteniendo apropiados instrumentos para que el BC actúe como prestamista de última instancia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smtClean="0"/>
              <a:t>Plan de Convertibilidad: Ajuste fiscal</a:t>
            </a:r>
            <a:endParaRPr lang="es-AR" sz="2000" b="1" dirty="0"/>
          </a:p>
        </p:txBody>
      </p:sp>
      <p:sp>
        <p:nvSpPr>
          <p:cNvPr id="7" name="6 CuadroTexto"/>
          <p:cNvSpPr txBox="1"/>
          <p:nvPr/>
        </p:nvSpPr>
        <p:spPr>
          <a:xfrm>
            <a:off x="0" y="1340768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El plan de convertibilidad necesitaba equilibrio fiscal</a:t>
            </a:r>
            <a:endParaRPr lang="es-AR" dirty="0"/>
          </a:p>
        </p:txBody>
      </p:sp>
      <p:sp>
        <p:nvSpPr>
          <p:cNvPr id="8" name="7 CuadroTexto"/>
          <p:cNvSpPr txBox="1"/>
          <p:nvPr/>
        </p:nvSpPr>
        <p:spPr>
          <a:xfrm>
            <a:off x="0" y="234888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Reformas estructurales</a:t>
            </a:r>
            <a:endParaRPr lang="es-AR" dirty="0"/>
          </a:p>
        </p:txBody>
      </p:sp>
      <p:sp>
        <p:nvSpPr>
          <p:cNvPr id="10" name="9 CuadroTexto"/>
          <p:cNvSpPr txBox="1"/>
          <p:nvPr/>
        </p:nvSpPr>
        <p:spPr>
          <a:xfrm>
            <a:off x="2411760" y="3212976"/>
            <a:ext cx="6732240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buFont typeface="Wingdings"/>
              <a:buChar char="à"/>
            </a:pPr>
            <a:r>
              <a:rPr lang="es-ES" dirty="0" smtClean="0">
                <a:sym typeface="Wingdings" pitchFamily="2" charset="2"/>
              </a:rPr>
              <a:t>Cambios en el sistema impositivo</a:t>
            </a:r>
          </a:p>
          <a:p>
            <a:pPr>
              <a:spcAft>
                <a:spcPts val="600"/>
              </a:spcAft>
              <a:buFont typeface="Wingdings"/>
              <a:buChar char="à"/>
            </a:pPr>
            <a:r>
              <a:rPr lang="es-ES" dirty="0" smtClean="0">
                <a:sym typeface="Wingdings" pitchFamily="2" charset="2"/>
              </a:rPr>
              <a:t> Privatización de empresas públicas</a:t>
            </a:r>
          </a:p>
          <a:p>
            <a:pPr>
              <a:spcAft>
                <a:spcPts val="600"/>
              </a:spcAft>
              <a:buFont typeface="Wingdings"/>
              <a:buChar char="à"/>
            </a:pPr>
            <a:r>
              <a:rPr lang="es-ES" dirty="0" smtClean="0">
                <a:sym typeface="Wingdings" pitchFamily="2" charset="2"/>
              </a:rPr>
              <a:t> Reformas del SSS</a:t>
            </a:r>
          </a:p>
          <a:p>
            <a:pPr>
              <a:spcAft>
                <a:spcPts val="600"/>
              </a:spcAft>
              <a:buFont typeface="Wingdings"/>
              <a:buChar char="à"/>
            </a:pPr>
            <a:r>
              <a:rPr lang="es-ES" dirty="0" smtClean="0">
                <a:sym typeface="Wingdings" pitchFamily="2" charset="2"/>
              </a:rPr>
              <a:t> Reducción del empleo </a:t>
            </a:r>
            <a:r>
              <a:rPr lang="es-ES" dirty="0" err="1" smtClean="0">
                <a:sym typeface="Wingdings" pitchFamily="2" charset="2"/>
              </a:rPr>
              <a:t>púlbico</a:t>
            </a:r>
            <a:endParaRPr lang="es-A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smtClean="0"/>
              <a:t>Plan de Convertibilidad: Ajuste fiscal</a:t>
            </a:r>
            <a:endParaRPr lang="es-AR" sz="2000" b="1" dirty="0"/>
          </a:p>
        </p:txBody>
      </p:sp>
      <p:sp>
        <p:nvSpPr>
          <p:cNvPr id="7" name="6 CuadroTexto"/>
          <p:cNvSpPr txBox="1"/>
          <p:nvPr/>
        </p:nvSpPr>
        <p:spPr>
          <a:xfrm>
            <a:off x="0" y="980728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Resultado del sistema de seguridad social</a:t>
            </a:r>
            <a:endParaRPr lang="es-AR" dirty="0"/>
          </a:p>
        </p:txBody>
      </p:sp>
      <p:graphicFrame>
        <p:nvGraphicFramePr>
          <p:cNvPr id="6" name="1 Gráfico"/>
          <p:cNvGraphicFramePr/>
          <p:nvPr/>
        </p:nvGraphicFramePr>
        <p:xfrm>
          <a:off x="0" y="1340768"/>
          <a:ext cx="9144000" cy="47525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smtClean="0"/>
              <a:t>Plan de Convertibilidad: Ajuste fiscal</a:t>
            </a:r>
            <a:endParaRPr lang="es-AR" sz="2000" b="1" dirty="0"/>
          </a:p>
        </p:txBody>
      </p:sp>
      <p:sp>
        <p:nvSpPr>
          <p:cNvPr id="7" name="6 CuadroTexto"/>
          <p:cNvSpPr txBox="1"/>
          <p:nvPr/>
        </p:nvSpPr>
        <p:spPr>
          <a:xfrm>
            <a:off x="0" y="620688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El plan de convertibilidad necesitaba equilibrio fiscal</a:t>
            </a:r>
            <a:endParaRPr lang="es-AR" dirty="0"/>
          </a:p>
        </p:txBody>
      </p:sp>
      <p:graphicFrame>
        <p:nvGraphicFramePr>
          <p:cNvPr id="5" name="2 Gráfico"/>
          <p:cNvGraphicFramePr/>
          <p:nvPr/>
        </p:nvGraphicFramePr>
        <p:xfrm>
          <a:off x="0" y="1124744"/>
          <a:ext cx="9144000" cy="48245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smtClean="0"/>
              <a:t>Plan de Convertibilidad: Reforma financiera</a:t>
            </a:r>
            <a:endParaRPr lang="es-AR" sz="2000" b="1" dirty="0"/>
          </a:p>
        </p:txBody>
      </p:sp>
      <p:sp>
        <p:nvSpPr>
          <p:cNvPr id="7" name="6 CuadroTexto"/>
          <p:cNvSpPr txBox="1"/>
          <p:nvPr/>
        </p:nvSpPr>
        <p:spPr>
          <a:xfrm>
            <a:off x="0" y="620688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Reestructuración del sector bancario, mejora en su solvencia, reducción del riesgo</a:t>
            </a:r>
            <a:endParaRPr lang="es-AR" dirty="0"/>
          </a:p>
        </p:txBody>
      </p:sp>
      <p:sp>
        <p:nvSpPr>
          <p:cNvPr id="6" name="5 CuadroTexto"/>
          <p:cNvSpPr txBox="1"/>
          <p:nvPr/>
        </p:nvSpPr>
        <p:spPr>
          <a:xfrm>
            <a:off x="1691680" y="2636912"/>
            <a:ext cx="7452320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dirty="0" smtClean="0"/>
              <a:t>Nuevo “set” de regulaciones prudenciales, adecuada capitalización y liquidez</a:t>
            </a:r>
          </a:p>
          <a:p>
            <a:pPr>
              <a:spcAft>
                <a:spcPts val="600"/>
              </a:spcAft>
            </a:pPr>
            <a:r>
              <a:rPr lang="es-ES" dirty="0" smtClean="0"/>
              <a:t>Limitada asistencia del BC a los bancos</a:t>
            </a:r>
          </a:p>
          <a:p>
            <a:pPr>
              <a:spcAft>
                <a:spcPts val="600"/>
              </a:spcAft>
            </a:pPr>
            <a:r>
              <a:rPr lang="es-ES" dirty="0" smtClean="0"/>
              <a:t>No se pagaría interés por las reservas</a:t>
            </a:r>
          </a:p>
          <a:p>
            <a:pPr>
              <a:spcAft>
                <a:spcPts val="600"/>
              </a:spcAft>
            </a:pPr>
            <a:r>
              <a:rPr lang="es-ES" dirty="0" smtClean="0"/>
              <a:t>Los requerimientos de capital dependerían del riesgo crediticio</a:t>
            </a:r>
          </a:p>
          <a:p>
            <a:pPr>
              <a:spcAft>
                <a:spcPts val="600"/>
              </a:spcAft>
            </a:pPr>
            <a:r>
              <a:rPr lang="es-ES" dirty="0" smtClean="0"/>
              <a:t>BC incrementa los requerimientos de K dependiendo del riesgo de mercado</a:t>
            </a:r>
          </a:p>
          <a:p>
            <a:pPr>
              <a:spcAft>
                <a:spcPts val="600"/>
              </a:spcAft>
            </a:pPr>
            <a:r>
              <a:rPr lang="es-ES" dirty="0" smtClean="0"/>
              <a:t>La regulación promueve competencia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smtClean="0"/>
              <a:t>Los resultados del Plan de Convertibilidad: iniciales</a:t>
            </a:r>
            <a:endParaRPr lang="es-AR" sz="2000" b="1" dirty="0"/>
          </a:p>
        </p:txBody>
      </p:sp>
      <p:sp>
        <p:nvSpPr>
          <p:cNvPr id="7" name="6 CuadroTexto"/>
          <p:cNvSpPr txBox="1"/>
          <p:nvPr/>
        </p:nvSpPr>
        <p:spPr>
          <a:xfrm>
            <a:off x="0" y="620688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Programa de estabilización más exitoso de Argentina, ningún plan en otro país redujo la inflación crónica a niveles internacionales</a:t>
            </a:r>
            <a:endParaRPr lang="es-AR" dirty="0"/>
          </a:p>
        </p:txBody>
      </p:sp>
      <p:sp>
        <p:nvSpPr>
          <p:cNvPr id="5" name="4 CuadroTexto"/>
          <p:cNvSpPr txBox="1"/>
          <p:nvPr/>
        </p:nvSpPr>
        <p:spPr>
          <a:xfrm>
            <a:off x="0" y="1340768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Gozó de mucha más credibilidad que sus predecesores</a:t>
            </a:r>
            <a:endParaRPr lang="es-AR" dirty="0"/>
          </a:p>
        </p:txBody>
      </p:sp>
      <p:sp>
        <p:nvSpPr>
          <p:cNvPr id="8" name="7 CuadroTexto"/>
          <p:cNvSpPr txBox="1"/>
          <p:nvPr/>
        </p:nvSpPr>
        <p:spPr>
          <a:xfrm>
            <a:off x="0" y="198884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Caída en el spread</a:t>
            </a:r>
            <a:endParaRPr lang="es-AR" dirty="0"/>
          </a:p>
        </p:txBody>
      </p:sp>
      <p:pic>
        <p:nvPicPr>
          <p:cNvPr id="9" name="8 Imagen" descr="sprea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43608" y="2564904"/>
            <a:ext cx="7200800" cy="35877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smtClean="0"/>
              <a:t>Los resultados del Plan de Convertibilidad: iniciales</a:t>
            </a:r>
            <a:endParaRPr lang="es-AR" sz="2000" b="1" dirty="0"/>
          </a:p>
        </p:txBody>
      </p:sp>
      <p:sp>
        <p:nvSpPr>
          <p:cNvPr id="7" name="6 CuadroTexto"/>
          <p:cNvSpPr txBox="1"/>
          <p:nvPr/>
        </p:nvSpPr>
        <p:spPr>
          <a:xfrm>
            <a:off x="0" y="620688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Rápida re-monetización de la economía</a:t>
            </a:r>
            <a:endParaRPr lang="es-AR" dirty="0"/>
          </a:p>
        </p:txBody>
      </p:sp>
      <p:graphicFrame>
        <p:nvGraphicFramePr>
          <p:cNvPr id="10" name="1 Gráfico"/>
          <p:cNvGraphicFramePr/>
          <p:nvPr/>
        </p:nvGraphicFramePr>
        <p:xfrm>
          <a:off x="0" y="1412776"/>
          <a:ext cx="9144000" cy="46085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10 CuadroTexto"/>
          <p:cNvSpPr txBox="1"/>
          <p:nvPr/>
        </p:nvSpPr>
        <p:spPr>
          <a:xfrm>
            <a:off x="0" y="1052736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M3 como % del PIB</a:t>
            </a:r>
            <a:endParaRPr lang="es-AR" dirty="0"/>
          </a:p>
        </p:txBody>
      </p:sp>
      <p:sp>
        <p:nvSpPr>
          <p:cNvPr id="12" name="11 Elipse"/>
          <p:cNvSpPr/>
          <p:nvPr/>
        </p:nvSpPr>
        <p:spPr>
          <a:xfrm>
            <a:off x="4355976" y="2276872"/>
            <a:ext cx="864096" cy="1872208"/>
          </a:xfrm>
          <a:prstGeom prst="ellipse">
            <a:avLst/>
          </a:prstGeom>
          <a:solidFill>
            <a:srgbClr val="FF0000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12 Elipse"/>
          <p:cNvSpPr/>
          <p:nvPr/>
        </p:nvSpPr>
        <p:spPr>
          <a:xfrm rot="19799563">
            <a:off x="4948980" y="2536251"/>
            <a:ext cx="4154224" cy="1036370"/>
          </a:xfrm>
          <a:prstGeom prst="ellipse">
            <a:avLst/>
          </a:prstGeom>
          <a:solidFill>
            <a:schemeClr val="accent1">
              <a:alpha val="3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smtClean="0"/>
              <a:t>Los resultados del Plan de Convertibilidad: iniciales</a:t>
            </a:r>
            <a:endParaRPr lang="es-AR" sz="2000" b="1" dirty="0"/>
          </a:p>
        </p:txBody>
      </p:sp>
      <p:sp>
        <p:nvSpPr>
          <p:cNvPr id="7" name="6 CuadroTexto"/>
          <p:cNvSpPr txBox="1"/>
          <p:nvPr/>
        </p:nvSpPr>
        <p:spPr>
          <a:xfrm>
            <a:off x="0" y="620688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re-monetización: Aumentos de los depósitos denominados en dólares</a:t>
            </a:r>
            <a:endParaRPr lang="es-AR" dirty="0"/>
          </a:p>
        </p:txBody>
      </p:sp>
      <p:sp>
        <p:nvSpPr>
          <p:cNvPr id="11" name="10 CuadroTexto"/>
          <p:cNvSpPr txBox="1"/>
          <p:nvPr/>
        </p:nvSpPr>
        <p:spPr>
          <a:xfrm>
            <a:off x="0" y="1403484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Depósitos totales y % de depósitos en dólares</a:t>
            </a:r>
            <a:endParaRPr lang="es-AR" dirty="0"/>
          </a:p>
        </p:txBody>
      </p:sp>
      <p:pic>
        <p:nvPicPr>
          <p:cNvPr id="8" name="7 Imagen" descr="dep en US$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8259" y="1708161"/>
            <a:ext cx="8512213" cy="42411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smtClean="0"/>
              <a:t>Los resultados del Plan de Convertibilidad: iniciales</a:t>
            </a:r>
            <a:endParaRPr lang="es-AR" sz="2000" b="1" dirty="0"/>
          </a:p>
        </p:txBody>
      </p:sp>
      <p:sp>
        <p:nvSpPr>
          <p:cNvPr id="7" name="6 CuadroTexto"/>
          <p:cNvSpPr txBox="1"/>
          <p:nvPr/>
        </p:nvSpPr>
        <p:spPr>
          <a:xfrm>
            <a:off x="0" y="620688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Aumento de depósitos acompañados de aumentos en el crédito local</a:t>
            </a:r>
            <a:endParaRPr lang="es-AR" dirty="0"/>
          </a:p>
        </p:txBody>
      </p:sp>
      <p:sp>
        <p:nvSpPr>
          <p:cNvPr id="11" name="10 CuadroTexto"/>
          <p:cNvSpPr txBox="1"/>
          <p:nvPr/>
        </p:nvSpPr>
        <p:spPr>
          <a:xfrm>
            <a:off x="0" y="126876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Altos requerimientos de reservas (precaución inicial) </a:t>
            </a:r>
            <a:r>
              <a:rPr lang="es-ES" dirty="0" smtClean="0">
                <a:sym typeface="Wingdings" pitchFamily="2" charset="2"/>
              </a:rPr>
              <a:t> multiplicador del crédito </a:t>
            </a:r>
            <a:r>
              <a:rPr lang="es-ES" dirty="0" err="1" smtClean="0">
                <a:sym typeface="Wingdings" pitchFamily="2" charset="2"/>
              </a:rPr>
              <a:t>relativ</a:t>
            </a:r>
            <a:r>
              <a:rPr lang="es-ES" dirty="0" smtClean="0">
                <a:sym typeface="Wingdings" pitchFamily="2" charset="2"/>
              </a:rPr>
              <a:t>// bajo</a:t>
            </a:r>
            <a:endParaRPr lang="es-AR" dirty="0"/>
          </a:p>
        </p:txBody>
      </p:sp>
      <p:sp>
        <p:nvSpPr>
          <p:cNvPr id="6" name="5 CuadroTexto"/>
          <p:cNvSpPr txBox="1"/>
          <p:nvPr/>
        </p:nvSpPr>
        <p:spPr>
          <a:xfrm>
            <a:off x="0" y="1916832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Expansión monetaria tuvo lugar en un contexto de crecimiento de la actividad económica</a:t>
            </a:r>
            <a:endParaRPr lang="es-AR" dirty="0"/>
          </a:p>
        </p:txBody>
      </p:sp>
      <p:graphicFrame>
        <p:nvGraphicFramePr>
          <p:cNvPr id="9" name="8 Tabla"/>
          <p:cNvGraphicFramePr>
            <a:graphicFrameLocks noGrp="1"/>
          </p:cNvGraphicFramePr>
          <p:nvPr/>
        </p:nvGraphicFramePr>
        <p:xfrm>
          <a:off x="-1" y="2762250"/>
          <a:ext cx="9144002" cy="3475059"/>
        </p:xfrm>
        <a:graphic>
          <a:graphicData uri="http://schemas.openxmlformats.org/drawingml/2006/table">
            <a:tbl>
              <a:tblPr/>
              <a:tblGrid>
                <a:gridCol w="1306286"/>
                <a:gridCol w="1306286"/>
                <a:gridCol w="1306286"/>
                <a:gridCol w="1306286"/>
                <a:gridCol w="1306286"/>
                <a:gridCol w="1306286"/>
                <a:gridCol w="1306286"/>
              </a:tblGrid>
              <a:tr h="496437">
                <a:tc>
                  <a:txBody>
                    <a:bodyPr/>
                    <a:lstStyle/>
                    <a:p>
                      <a:pPr algn="ctr" fontAlgn="b"/>
                      <a:endParaRPr lang="es-AR" sz="16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s-AR" sz="16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Tasa de crecimiento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es-AR" sz="1600" b="1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AR" sz="1600" b="1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437">
                <a:tc>
                  <a:txBody>
                    <a:bodyPr/>
                    <a:lstStyle/>
                    <a:p>
                      <a:pPr algn="ctr" fontAlgn="b"/>
                      <a:endParaRPr lang="es-AR" sz="1600" b="1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PIB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INV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1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Inf</a:t>
                      </a:r>
                      <a:endParaRPr lang="es-AR" sz="16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CC/PIB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437"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1991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10,60%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14,80%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29,90%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-3,00%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84,00%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AR" sz="16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437"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1992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9,60%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13,20%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32,60%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3,50%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17,50%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-2,40%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437"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1993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5,70%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5,30%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15,30%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7,00%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7,40%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-3,00%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437"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1994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8,00%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6,70%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20,70%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20,80%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3,90%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-3,60%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437"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1995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-4,00%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-5,80%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-16,00%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32,10%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1,60%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-1,00%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smtClean="0"/>
              <a:t>Los resultados del Plan de Convertibilidad: iniciales</a:t>
            </a:r>
            <a:endParaRPr lang="es-AR" sz="2000" b="1" dirty="0"/>
          </a:p>
        </p:txBody>
      </p:sp>
      <p:sp>
        <p:nvSpPr>
          <p:cNvPr id="7" name="6 CuadroTexto"/>
          <p:cNvSpPr txBox="1"/>
          <p:nvPr/>
        </p:nvSpPr>
        <p:spPr>
          <a:xfrm>
            <a:off x="0" y="755412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Deterioro de la cuenta corriente</a:t>
            </a:r>
            <a:endParaRPr lang="es-AR" dirty="0"/>
          </a:p>
        </p:txBody>
      </p:sp>
      <p:sp>
        <p:nvSpPr>
          <p:cNvPr id="11" name="10 CuadroTexto"/>
          <p:cNvSpPr txBox="1"/>
          <p:nvPr/>
        </p:nvSpPr>
        <p:spPr>
          <a:xfrm>
            <a:off x="0" y="190754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Por incremento en consumo e inversión</a:t>
            </a:r>
            <a:endParaRPr lang="es-AR" dirty="0"/>
          </a:p>
        </p:txBody>
      </p:sp>
      <p:sp>
        <p:nvSpPr>
          <p:cNvPr id="6" name="5 CuadroTexto"/>
          <p:cNvSpPr txBox="1"/>
          <p:nvPr/>
        </p:nvSpPr>
        <p:spPr>
          <a:xfrm>
            <a:off x="0" y="3020759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Típico de un plan de estabilización basado en el T de Cambio</a:t>
            </a:r>
          </a:p>
          <a:p>
            <a:pPr algn="ctr"/>
            <a:r>
              <a:rPr lang="es-ES" dirty="0" smtClean="0"/>
              <a:t>Además había elementos externos: </a:t>
            </a:r>
          </a:p>
          <a:p>
            <a:pPr algn="ctr"/>
            <a:r>
              <a:rPr lang="es-ES" dirty="0" smtClean="0"/>
              <a:t>bajo nivel de las tasas de interés internacionales y </a:t>
            </a:r>
          </a:p>
          <a:p>
            <a:pPr algn="ctr"/>
            <a:r>
              <a:rPr lang="es-ES" dirty="0" smtClean="0"/>
              <a:t>entrada de K en A.L.</a:t>
            </a:r>
            <a:endParaRPr lang="es-AR" dirty="0"/>
          </a:p>
        </p:txBody>
      </p:sp>
      <p:sp>
        <p:nvSpPr>
          <p:cNvPr id="8" name="7 CuadroTexto"/>
          <p:cNvSpPr txBox="1"/>
          <p:nvPr/>
        </p:nvSpPr>
        <p:spPr>
          <a:xfrm>
            <a:off x="0" y="501317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El déficit de CC nunca mostró niveles insostenibles, no había problemas por la entrada de capitales</a:t>
            </a:r>
            <a:endParaRPr lang="es-AR" dirty="0"/>
          </a:p>
        </p:txBody>
      </p:sp>
      <p:cxnSp>
        <p:nvCxnSpPr>
          <p:cNvPr id="12" name="11 Conector recto de flecha"/>
          <p:cNvCxnSpPr>
            <a:stCxn id="7" idx="2"/>
            <a:endCxn id="11" idx="0"/>
          </p:cNvCxnSpPr>
          <p:nvPr/>
        </p:nvCxnSpPr>
        <p:spPr>
          <a:xfrm rot="5400000">
            <a:off x="4180602" y="1516142"/>
            <a:ext cx="782796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13 Conector recto de flecha"/>
          <p:cNvCxnSpPr>
            <a:stCxn id="11" idx="2"/>
            <a:endCxn id="6" idx="0"/>
          </p:cNvCxnSpPr>
          <p:nvPr/>
        </p:nvCxnSpPr>
        <p:spPr>
          <a:xfrm rot="5400000">
            <a:off x="4200057" y="2648815"/>
            <a:ext cx="743887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 de flecha"/>
          <p:cNvCxnSpPr>
            <a:stCxn id="6" idx="2"/>
            <a:endCxn id="8" idx="0"/>
          </p:cNvCxnSpPr>
          <p:nvPr/>
        </p:nvCxnSpPr>
        <p:spPr>
          <a:xfrm rot="5400000">
            <a:off x="4175956" y="4617132"/>
            <a:ext cx="792088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smtClean="0"/>
              <a:t>Los resultados del Plan de Convertibilidad: Efecto Tequila</a:t>
            </a:r>
            <a:endParaRPr lang="es-AR" sz="2000" b="1" dirty="0"/>
          </a:p>
        </p:txBody>
      </p:sp>
      <p:sp>
        <p:nvSpPr>
          <p:cNvPr id="3" name="2 CuadroTexto"/>
          <p:cNvSpPr txBox="1"/>
          <p:nvPr/>
        </p:nvSpPr>
        <p:spPr>
          <a:xfrm>
            <a:off x="0" y="82742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/>
              <a:t>Devaluación Mexicana </a:t>
            </a:r>
            <a:r>
              <a:rPr lang="es-ES" dirty="0" smtClean="0"/>
              <a:t>(20 de diciembre de 1994)</a:t>
            </a:r>
            <a:endParaRPr lang="es-AR" dirty="0"/>
          </a:p>
        </p:txBody>
      </p:sp>
      <p:sp>
        <p:nvSpPr>
          <p:cNvPr id="5" name="4 CuadroTexto"/>
          <p:cNvSpPr txBox="1"/>
          <p:nvPr/>
        </p:nvSpPr>
        <p:spPr>
          <a:xfrm>
            <a:off x="0" y="1835532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Argentina sufre salida de capital privado (corto plazo)</a:t>
            </a:r>
            <a:endParaRPr lang="es-AR" dirty="0"/>
          </a:p>
        </p:txBody>
      </p:sp>
      <p:sp>
        <p:nvSpPr>
          <p:cNvPr id="6" name="5 CuadroTexto"/>
          <p:cNvSpPr txBox="1"/>
          <p:nvPr/>
        </p:nvSpPr>
        <p:spPr>
          <a:xfrm>
            <a:off x="0" y="2771636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Las reservas internacionales caen un 33%</a:t>
            </a:r>
            <a:endParaRPr lang="es-AR" dirty="0"/>
          </a:p>
        </p:txBody>
      </p:sp>
      <p:sp>
        <p:nvSpPr>
          <p:cNvPr id="7" name="6 CuadroTexto"/>
          <p:cNvSpPr txBox="1"/>
          <p:nvPr/>
        </p:nvSpPr>
        <p:spPr>
          <a:xfrm>
            <a:off x="0" y="3635732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Perdida de 18% del total de depósitos en 4 meses</a:t>
            </a:r>
            <a:endParaRPr lang="es-AR" dirty="0"/>
          </a:p>
        </p:txBody>
      </p:sp>
      <p:sp>
        <p:nvSpPr>
          <p:cNvPr id="8" name="7 CuadroTexto"/>
          <p:cNvSpPr txBox="1"/>
          <p:nvPr/>
        </p:nvSpPr>
        <p:spPr>
          <a:xfrm>
            <a:off x="0" y="4377878"/>
            <a:ext cx="914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Dificultad de manejo: </a:t>
            </a:r>
          </a:p>
          <a:p>
            <a:pPr algn="ctr"/>
            <a:r>
              <a:rPr lang="es-ES" dirty="0" smtClean="0"/>
              <a:t>Restricción de la autoridad monetaria a ser prestamista de última instancia</a:t>
            </a:r>
          </a:p>
          <a:p>
            <a:pPr algn="ctr"/>
            <a:r>
              <a:rPr lang="es-ES" dirty="0" smtClean="0"/>
              <a:t>(no podía proveer liquidez)</a:t>
            </a:r>
            <a:endParaRPr lang="es-A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smtClean="0"/>
              <a:t>Los resultados del Plan de Convertibilidad: Efecto Tequila</a:t>
            </a:r>
            <a:endParaRPr lang="es-AR" sz="2000" b="1" dirty="0"/>
          </a:p>
        </p:txBody>
      </p:sp>
      <p:sp>
        <p:nvSpPr>
          <p:cNvPr id="3" name="2 CuadroTexto"/>
          <p:cNvSpPr txBox="1"/>
          <p:nvPr/>
        </p:nvSpPr>
        <p:spPr>
          <a:xfrm>
            <a:off x="0" y="82742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/>
              <a:t>Caída de depósitos y reservas</a:t>
            </a:r>
            <a:endParaRPr lang="es-AR" b="1" dirty="0"/>
          </a:p>
        </p:txBody>
      </p:sp>
      <p:pic>
        <p:nvPicPr>
          <p:cNvPr id="9" name="8 Imagen" descr="tequila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71600" y="1556792"/>
            <a:ext cx="7524327" cy="4244491"/>
          </a:xfrm>
          <a:prstGeom prst="rect">
            <a:avLst/>
          </a:prstGeom>
        </p:spPr>
      </p:pic>
      <p:sp>
        <p:nvSpPr>
          <p:cNvPr id="10" name="9 Elipse"/>
          <p:cNvSpPr/>
          <p:nvPr/>
        </p:nvSpPr>
        <p:spPr>
          <a:xfrm>
            <a:off x="1475656" y="2204864"/>
            <a:ext cx="1152128" cy="2664296"/>
          </a:xfrm>
          <a:prstGeom prst="ellipse">
            <a:avLst/>
          </a:prstGeom>
          <a:solidFill>
            <a:srgbClr val="FF0000">
              <a:alpha val="1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10 Elipse"/>
          <p:cNvSpPr/>
          <p:nvPr/>
        </p:nvSpPr>
        <p:spPr>
          <a:xfrm>
            <a:off x="5148064" y="2204864"/>
            <a:ext cx="1152128" cy="2664296"/>
          </a:xfrm>
          <a:prstGeom prst="ellipse">
            <a:avLst/>
          </a:prstGeom>
          <a:solidFill>
            <a:srgbClr val="FF0000">
              <a:alpha val="1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smtClean="0"/>
              <a:t>Los resultados del Plan de Convertibilidad: Efecto Tequila</a:t>
            </a:r>
            <a:endParaRPr lang="es-AR" sz="2000" b="1" dirty="0"/>
          </a:p>
        </p:txBody>
      </p:sp>
      <p:sp>
        <p:nvSpPr>
          <p:cNvPr id="3" name="2 CuadroTexto"/>
          <p:cNvSpPr txBox="1"/>
          <p:nvPr/>
        </p:nvSpPr>
        <p:spPr>
          <a:xfrm>
            <a:off x="0" y="82742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El plan probó ser </a:t>
            </a:r>
            <a:r>
              <a:rPr lang="es-ES" b="1" dirty="0" smtClean="0"/>
              <a:t>fuerte para resistir la crisis</a:t>
            </a:r>
            <a:endParaRPr lang="es-AR" b="1" dirty="0"/>
          </a:p>
        </p:txBody>
      </p:sp>
      <p:sp>
        <p:nvSpPr>
          <p:cNvPr id="7" name="6 CuadroTexto"/>
          <p:cNvSpPr txBox="1"/>
          <p:nvPr/>
        </p:nvSpPr>
        <p:spPr>
          <a:xfrm>
            <a:off x="0" y="126876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Crecimiento de las exportaciones (sin devaluación) </a:t>
            </a:r>
            <a:r>
              <a:rPr lang="es-ES" dirty="0" smtClean="0">
                <a:sym typeface="Wingdings" pitchFamily="2" charset="2"/>
              </a:rPr>
              <a:t> mejora en la cuenta corriente</a:t>
            </a:r>
            <a:endParaRPr lang="es-AR" dirty="0"/>
          </a:p>
        </p:txBody>
      </p:sp>
      <p:graphicFrame>
        <p:nvGraphicFramePr>
          <p:cNvPr id="8" name="1 Gráfico"/>
          <p:cNvGraphicFramePr/>
          <p:nvPr/>
        </p:nvGraphicFramePr>
        <p:xfrm>
          <a:off x="0" y="1772816"/>
          <a:ext cx="9144000" cy="47525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11 Elipse"/>
          <p:cNvSpPr/>
          <p:nvPr/>
        </p:nvSpPr>
        <p:spPr>
          <a:xfrm>
            <a:off x="4572000" y="2276872"/>
            <a:ext cx="1656184" cy="3528392"/>
          </a:xfrm>
          <a:prstGeom prst="ellipse">
            <a:avLst/>
          </a:prstGeom>
          <a:solidFill>
            <a:srgbClr val="FFFF00">
              <a:alpha val="3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4" name="13 Conector recto de flecha"/>
          <p:cNvCxnSpPr/>
          <p:nvPr/>
        </p:nvCxnSpPr>
        <p:spPr>
          <a:xfrm flipV="1">
            <a:off x="4211960" y="3212976"/>
            <a:ext cx="648072" cy="432048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14 CuadroTexto"/>
          <p:cNvSpPr txBox="1"/>
          <p:nvPr/>
        </p:nvSpPr>
        <p:spPr>
          <a:xfrm>
            <a:off x="3347864" y="2276872"/>
            <a:ext cx="1584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Aumento de cantidades</a:t>
            </a:r>
            <a:endParaRPr lang="es-A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smtClean="0"/>
              <a:t>Los resultados del Plan de Convertibilidad: Efecto Tequila</a:t>
            </a:r>
            <a:endParaRPr lang="es-AR" sz="2000" b="1" dirty="0"/>
          </a:p>
        </p:txBody>
      </p:sp>
      <p:sp>
        <p:nvSpPr>
          <p:cNvPr id="3" name="2 CuadroTexto"/>
          <p:cNvSpPr txBox="1"/>
          <p:nvPr/>
        </p:nvSpPr>
        <p:spPr>
          <a:xfrm>
            <a:off x="0" y="82742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El plan probó ser </a:t>
            </a:r>
            <a:r>
              <a:rPr lang="es-ES" b="1" dirty="0" smtClean="0"/>
              <a:t>fuerte para resistir la crisis</a:t>
            </a:r>
            <a:endParaRPr lang="es-AR" b="1" dirty="0"/>
          </a:p>
        </p:txBody>
      </p:sp>
      <p:sp>
        <p:nvSpPr>
          <p:cNvPr id="7" name="6 CuadroTexto"/>
          <p:cNvSpPr txBox="1"/>
          <p:nvPr/>
        </p:nvSpPr>
        <p:spPr>
          <a:xfrm>
            <a:off x="0" y="2132856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La crisis financiera fue </a:t>
            </a:r>
            <a:r>
              <a:rPr lang="es-ES" b="1" dirty="0" smtClean="0"/>
              <a:t>satisfactoriamente</a:t>
            </a:r>
            <a:r>
              <a:rPr lang="es-ES" dirty="0" smtClean="0"/>
              <a:t> </a:t>
            </a:r>
            <a:r>
              <a:rPr lang="es-ES" b="1" dirty="0" smtClean="0"/>
              <a:t>manejada</a:t>
            </a:r>
            <a:endParaRPr lang="es-AR" b="1" dirty="0"/>
          </a:p>
        </p:txBody>
      </p:sp>
      <p:sp>
        <p:nvSpPr>
          <p:cNvPr id="9" name="8 CuadroTexto"/>
          <p:cNvSpPr txBox="1"/>
          <p:nvPr/>
        </p:nvSpPr>
        <p:spPr>
          <a:xfrm>
            <a:off x="0" y="3140968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Se recuperaron los depósitos</a:t>
            </a:r>
          </a:p>
          <a:p>
            <a:pPr algn="ctr"/>
            <a:r>
              <a:rPr lang="es-ES" dirty="0" smtClean="0"/>
              <a:t>Las tasas de interés retornaron a niveles pre crisis</a:t>
            </a:r>
          </a:p>
          <a:p>
            <a:pPr algn="ctr"/>
            <a:r>
              <a:rPr lang="es-ES" dirty="0" smtClean="0"/>
              <a:t>Se restableció el crédito</a:t>
            </a:r>
          </a:p>
          <a:p>
            <a:pPr algn="ctr"/>
            <a:r>
              <a:rPr lang="es-ES" dirty="0" smtClean="0"/>
              <a:t>Sistema financiero sufrió algunas bancarrotas</a:t>
            </a:r>
            <a:endParaRPr lang="es-A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smtClean="0"/>
              <a:t>Los resultados del Plan de Convertibilidad: Efecto Tequila</a:t>
            </a:r>
            <a:endParaRPr lang="es-AR" sz="2000" b="1" dirty="0"/>
          </a:p>
        </p:txBody>
      </p:sp>
      <p:sp>
        <p:nvSpPr>
          <p:cNvPr id="3" name="2 CuadroTexto"/>
          <p:cNvSpPr txBox="1"/>
          <p:nvPr/>
        </p:nvSpPr>
        <p:spPr>
          <a:xfrm>
            <a:off x="0" y="82742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Tasa de interés interbancaria doméstica (diaria)</a:t>
            </a:r>
            <a:endParaRPr lang="es-AR" dirty="0"/>
          </a:p>
        </p:txBody>
      </p:sp>
      <p:pic>
        <p:nvPicPr>
          <p:cNvPr id="6" name="5 Imagen" descr="interes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95536" y="1196752"/>
            <a:ext cx="8388424" cy="49721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smtClean="0"/>
              <a:t>Los resultados del Plan de Convertibilidad: Efecto Tequila</a:t>
            </a:r>
            <a:endParaRPr lang="es-AR" sz="2000" b="1" dirty="0"/>
          </a:p>
        </p:txBody>
      </p:sp>
      <p:sp>
        <p:nvSpPr>
          <p:cNvPr id="3" name="2 CuadroTexto"/>
          <p:cNvSpPr txBox="1"/>
          <p:nvPr/>
        </p:nvSpPr>
        <p:spPr>
          <a:xfrm>
            <a:off x="0" y="827420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- Costo </a:t>
            </a:r>
            <a:r>
              <a:rPr lang="es-ES" dirty="0" smtClean="0"/>
              <a:t>fiscal de las fallas bancarias relativamente bajo</a:t>
            </a:r>
          </a:p>
          <a:p>
            <a:pPr algn="ctr"/>
            <a:r>
              <a:rPr lang="es-ES" dirty="0" smtClean="0"/>
              <a:t> - Manejo </a:t>
            </a:r>
            <a:r>
              <a:rPr lang="es-ES" dirty="0" smtClean="0"/>
              <a:t>de la crisis sin desviación de la ley de convertibilidad</a:t>
            </a:r>
          </a:p>
          <a:p>
            <a:pPr algn="ctr"/>
            <a:r>
              <a:rPr lang="es-ES" dirty="0" smtClean="0"/>
              <a:t>- La </a:t>
            </a:r>
            <a:r>
              <a:rPr lang="es-ES" dirty="0" smtClean="0"/>
              <a:t>autoridad proveyó redescuentos (con límites legales)</a:t>
            </a:r>
          </a:p>
          <a:p>
            <a:pPr algn="ctr"/>
            <a:r>
              <a:rPr lang="es-ES" dirty="0" smtClean="0"/>
              <a:t>- Emisión </a:t>
            </a:r>
            <a:r>
              <a:rPr lang="es-ES" dirty="0" smtClean="0"/>
              <a:t>basada en reservas internacionales</a:t>
            </a:r>
          </a:p>
        </p:txBody>
      </p:sp>
      <p:graphicFrame>
        <p:nvGraphicFramePr>
          <p:cNvPr id="5" name="1 Gráfico"/>
          <p:cNvGraphicFramePr/>
          <p:nvPr/>
        </p:nvGraphicFramePr>
        <p:xfrm>
          <a:off x="0" y="2996952"/>
          <a:ext cx="8892480" cy="38610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6 CuadroTexto"/>
          <p:cNvSpPr txBox="1"/>
          <p:nvPr/>
        </p:nvSpPr>
        <p:spPr>
          <a:xfrm>
            <a:off x="0" y="2492896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Variación de reservas</a:t>
            </a:r>
          </a:p>
        </p:txBody>
      </p:sp>
      <p:sp>
        <p:nvSpPr>
          <p:cNvPr id="8" name="7 Elipse"/>
          <p:cNvSpPr/>
          <p:nvPr/>
        </p:nvSpPr>
        <p:spPr>
          <a:xfrm>
            <a:off x="2771800" y="3068960"/>
            <a:ext cx="1512168" cy="2160240"/>
          </a:xfrm>
          <a:prstGeom prst="ellipse">
            <a:avLst/>
          </a:prstGeom>
          <a:solidFill>
            <a:srgbClr val="FFFF0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8 CuadroTexto"/>
          <p:cNvSpPr txBox="1"/>
          <p:nvPr/>
        </p:nvSpPr>
        <p:spPr>
          <a:xfrm>
            <a:off x="1619672" y="3140968"/>
            <a:ext cx="1584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Acumulación de reservas</a:t>
            </a:r>
            <a:endParaRPr lang="es-A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smtClean="0"/>
              <a:t>Los resultados del Plan de Convertibilidad: Efecto Tequila</a:t>
            </a:r>
            <a:endParaRPr lang="es-AR" sz="2000" b="1" dirty="0"/>
          </a:p>
        </p:txBody>
      </p:sp>
      <p:sp>
        <p:nvSpPr>
          <p:cNvPr id="3" name="2 CuadroTexto"/>
          <p:cNvSpPr txBox="1"/>
          <p:nvPr/>
        </p:nvSpPr>
        <p:spPr>
          <a:xfrm>
            <a:off x="0" y="82742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Significativos efectos reales</a:t>
            </a:r>
          </a:p>
        </p:txBody>
      </p:sp>
      <p:graphicFrame>
        <p:nvGraphicFramePr>
          <p:cNvPr id="10" name="1 Gráfico"/>
          <p:cNvGraphicFramePr/>
          <p:nvPr/>
        </p:nvGraphicFramePr>
        <p:xfrm>
          <a:off x="0" y="1412776"/>
          <a:ext cx="9144000" cy="4536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10 Rectángulo"/>
          <p:cNvSpPr/>
          <p:nvPr/>
        </p:nvSpPr>
        <p:spPr>
          <a:xfrm>
            <a:off x="4355976" y="1340768"/>
            <a:ext cx="648072" cy="3528392"/>
          </a:xfrm>
          <a:prstGeom prst="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smtClean="0"/>
              <a:t>Los resultados del Plan de Convertibilidad: Efecto Tequila</a:t>
            </a:r>
            <a:endParaRPr lang="es-AR" sz="2000" b="1" dirty="0"/>
          </a:p>
        </p:txBody>
      </p:sp>
      <p:sp>
        <p:nvSpPr>
          <p:cNvPr id="3" name="2 CuadroTexto"/>
          <p:cNvSpPr txBox="1"/>
          <p:nvPr/>
        </p:nvSpPr>
        <p:spPr>
          <a:xfrm>
            <a:off x="0" y="82742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El </a:t>
            </a:r>
            <a:r>
              <a:rPr lang="es-ES" b="1" dirty="0" smtClean="0"/>
              <a:t>sistema bancario durante el Tequila</a:t>
            </a:r>
          </a:p>
          <a:p>
            <a:pPr algn="ctr"/>
            <a:r>
              <a:rPr lang="es-ES" dirty="0" smtClean="0"/>
              <a:t>Período más crítico durante 3 meses (</a:t>
            </a:r>
            <a:r>
              <a:rPr lang="es-ES" dirty="0" err="1" smtClean="0"/>
              <a:t>Dic</a:t>
            </a:r>
            <a:r>
              <a:rPr lang="es-ES" dirty="0" smtClean="0"/>
              <a:t> 94 a Mar 95)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0" y="2062589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BC perdió significativas reservas internacionales</a:t>
            </a:r>
          </a:p>
          <a:p>
            <a:pPr algn="ctr"/>
            <a:r>
              <a:rPr lang="es-ES" dirty="0" smtClean="0"/>
              <a:t>Subió la tasa de interés para defender la paridad del peso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0" y="334770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/>
              <a:t>Fines del 95: situación financiera totalmente estabilizada</a:t>
            </a:r>
          </a:p>
        </p:txBody>
      </p:sp>
      <p:sp>
        <p:nvSpPr>
          <p:cNvPr id="8" name="7 CuadroTexto"/>
          <p:cNvSpPr txBox="1"/>
          <p:nvPr/>
        </p:nvSpPr>
        <p:spPr>
          <a:xfrm>
            <a:off x="0" y="4366845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Inicialmente la pérdida de depósitos estaba concentrada en un pequeño grupo de bancos (con muchas operaciones en bonos del gobierno)</a:t>
            </a:r>
          </a:p>
        </p:txBody>
      </p:sp>
      <p:sp>
        <p:nvSpPr>
          <p:cNvPr id="9" name="8 CuadroTexto"/>
          <p:cNvSpPr txBox="1"/>
          <p:nvPr/>
        </p:nvSpPr>
        <p:spPr>
          <a:xfrm>
            <a:off x="0" y="550794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Se produce un fenómeno de </a:t>
            </a:r>
            <a:r>
              <a:rPr lang="es-ES" dirty="0" err="1" smtClean="0"/>
              <a:t>busqueda</a:t>
            </a:r>
            <a:r>
              <a:rPr lang="es-ES" dirty="0" smtClean="0"/>
              <a:t> </a:t>
            </a:r>
            <a:r>
              <a:rPr lang="es-ES" dirty="0" smtClean="0"/>
              <a:t>de calidad y efecto contagio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smtClean="0"/>
              <a:t>Los resultados del Plan de Convertibilidad: Efecto Tequila</a:t>
            </a:r>
            <a:endParaRPr lang="es-AR" sz="2000" b="1" dirty="0"/>
          </a:p>
        </p:txBody>
      </p:sp>
      <p:sp>
        <p:nvSpPr>
          <p:cNvPr id="3" name="2 CuadroTexto"/>
          <p:cNvSpPr txBox="1"/>
          <p:nvPr/>
        </p:nvSpPr>
        <p:spPr>
          <a:xfrm>
            <a:off x="0" y="82742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Respuesta de política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0" y="2852936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Quedó clara la </a:t>
            </a:r>
            <a:r>
              <a:rPr lang="es-ES" b="1" dirty="0" smtClean="0"/>
              <a:t>necesidad de medidas adicionales para que no se repitiera el episodio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0" y="4221088"/>
            <a:ext cx="9144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Esfuerzo concentrado en</a:t>
            </a:r>
            <a:r>
              <a:rPr lang="es-ES" dirty="0" smtClean="0"/>
              <a:t>:</a:t>
            </a:r>
          </a:p>
          <a:p>
            <a:pPr algn="ctr"/>
            <a:endParaRPr lang="es-ES" dirty="0" smtClean="0"/>
          </a:p>
          <a:p>
            <a:pPr algn="ctr"/>
            <a:r>
              <a:rPr lang="es-ES" dirty="0" smtClean="0"/>
              <a:t>Consolidación del ajuste </a:t>
            </a:r>
            <a:r>
              <a:rPr lang="es-ES" dirty="0" smtClean="0"/>
              <a:t>fiscal</a:t>
            </a:r>
          </a:p>
          <a:p>
            <a:pPr algn="ctr"/>
            <a:endParaRPr lang="es-ES" dirty="0" smtClean="0"/>
          </a:p>
          <a:p>
            <a:pPr algn="ctr"/>
            <a:r>
              <a:rPr lang="es-ES" dirty="0" smtClean="0"/>
              <a:t>Mejora del manejo de la </a:t>
            </a:r>
            <a:r>
              <a:rPr lang="es-ES" dirty="0" smtClean="0"/>
              <a:t>deuda</a:t>
            </a:r>
          </a:p>
          <a:p>
            <a:pPr algn="ctr"/>
            <a:endParaRPr lang="es-ES" dirty="0" smtClean="0"/>
          </a:p>
          <a:p>
            <a:pPr algn="ctr"/>
            <a:r>
              <a:rPr lang="es-ES" dirty="0" smtClean="0"/>
              <a:t>Fortalecimiento del sistema financiero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smtClean="0"/>
              <a:t>Los resultados del Plan de Convertibilidad: Efecto Tequila</a:t>
            </a:r>
            <a:endParaRPr lang="es-AR" sz="2000" b="1" dirty="0"/>
          </a:p>
        </p:txBody>
      </p:sp>
      <p:sp>
        <p:nvSpPr>
          <p:cNvPr id="3" name="2 CuadroTexto"/>
          <p:cNvSpPr txBox="1"/>
          <p:nvPr/>
        </p:nvSpPr>
        <p:spPr>
          <a:xfrm>
            <a:off x="0" y="82742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Respuesta de política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0" y="126876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Mejora fiscal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700808"/>
            <a:ext cx="7632848" cy="4873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smtClean="0"/>
              <a:t>Los resultados del Plan de Convertibilidad: Efecto Tequila</a:t>
            </a:r>
            <a:endParaRPr lang="es-AR" sz="2000" b="1" dirty="0"/>
          </a:p>
        </p:txBody>
      </p:sp>
      <p:sp>
        <p:nvSpPr>
          <p:cNvPr id="3" name="2 CuadroTexto"/>
          <p:cNvSpPr txBox="1"/>
          <p:nvPr/>
        </p:nvSpPr>
        <p:spPr>
          <a:xfrm>
            <a:off x="0" y="82742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Respuesta de política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0" y="126876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Mejora del perfil de deuda: estructura de amortizaciones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7006" y="1657350"/>
            <a:ext cx="8876993" cy="47514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smtClean="0"/>
              <a:t>Plan de Convertibilidad: Inflación</a:t>
            </a:r>
            <a:endParaRPr lang="es-AR" sz="2000" b="1" dirty="0"/>
          </a:p>
        </p:txBody>
      </p:sp>
      <p:sp>
        <p:nvSpPr>
          <p:cNvPr id="3" name="2 CuadroTexto"/>
          <p:cNvSpPr txBox="1"/>
          <p:nvPr/>
        </p:nvSpPr>
        <p:spPr>
          <a:xfrm>
            <a:off x="0" y="82742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IPC de EEUU (1984=100) y Argentina (1999=100) (log naturales)</a:t>
            </a:r>
          </a:p>
        </p:txBody>
      </p:sp>
      <p:graphicFrame>
        <p:nvGraphicFramePr>
          <p:cNvPr id="8" name="4 Gráfico"/>
          <p:cNvGraphicFramePr/>
          <p:nvPr/>
        </p:nvGraphicFramePr>
        <p:xfrm>
          <a:off x="0" y="1484784"/>
          <a:ext cx="9144000" cy="4536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smtClean="0"/>
              <a:t>Plan de Convertibilidad: Deuda</a:t>
            </a:r>
            <a:endParaRPr lang="es-AR" sz="2000" b="1" dirty="0"/>
          </a:p>
        </p:txBody>
      </p:sp>
      <p:sp>
        <p:nvSpPr>
          <p:cNvPr id="3" name="2 CuadroTexto"/>
          <p:cNvSpPr txBox="1"/>
          <p:nvPr/>
        </p:nvSpPr>
        <p:spPr>
          <a:xfrm>
            <a:off x="0" y="82742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Deuda/ ingresos tributarios y deuda/ingresos totales*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0" y="6488668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*incluyen ingresos totales y privatizaciones</a:t>
            </a:r>
          </a:p>
        </p:txBody>
      </p:sp>
      <p:graphicFrame>
        <p:nvGraphicFramePr>
          <p:cNvPr id="7" name="1 Gráfico"/>
          <p:cNvGraphicFramePr/>
          <p:nvPr/>
        </p:nvGraphicFramePr>
        <p:xfrm>
          <a:off x="0" y="1484784"/>
          <a:ext cx="9144000" cy="44644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smtClean="0"/>
              <a:t>Plan de Convertibilidad: Cuenta Capital</a:t>
            </a:r>
            <a:endParaRPr lang="es-AR" sz="2000" b="1" dirty="0"/>
          </a:p>
        </p:txBody>
      </p:sp>
      <p:sp>
        <p:nvSpPr>
          <p:cNvPr id="3" name="2 CuadroTexto"/>
          <p:cNvSpPr txBox="1"/>
          <p:nvPr/>
        </p:nvSpPr>
        <p:spPr>
          <a:xfrm>
            <a:off x="0" y="82742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Cuenta capital</a:t>
            </a:r>
          </a:p>
        </p:txBody>
      </p:sp>
      <p:graphicFrame>
        <p:nvGraphicFramePr>
          <p:cNvPr id="8" name="1 Gráfico"/>
          <p:cNvGraphicFramePr/>
          <p:nvPr/>
        </p:nvGraphicFramePr>
        <p:xfrm>
          <a:off x="0" y="1628800"/>
          <a:ext cx="9144000" cy="4248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400</TotalTime>
  <Words>1318</Words>
  <Application>Microsoft Office PowerPoint</Application>
  <PresentationFormat>Presentación en pantalla (4:3)</PresentationFormat>
  <Paragraphs>233</Paragraphs>
  <Slides>34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34</vt:i4>
      </vt:variant>
    </vt:vector>
  </HeadingPairs>
  <TitlesOfParts>
    <vt:vector size="35" baseType="lpstr">
      <vt:lpstr>Tema de Office</vt:lpstr>
      <vt:lpstr>Diapositiva 1</vt:lpstr>
      <vt:lpstr>Diapositiva 2</vt:lpstr>
      <vt:lpstr>Diapositiva 3</vt:lpstr>
      <vt:lpstr>Diapositiva 4</vt:lpstr>
      <vt:lpstr>Diapositiva 5</vt:lpstr>
      <vt:lpstr>Diapositiva 6</vt:lpstr>
      <vt:lpstr>Diapositiva 7</vt:lpstr>
      <vt:lpstr>Diapositiva 8</vt:lpstr>
      <vt:lpstr>Diapositiva 9</vt:lpstr>
      <vt:lpstr>Diapositiva 10</vt:lpstr>
      <vt:lpstr>Diapositiva 11</vt:lpstr>
      <vt:lpstr>Diapositiva 12</vt:lpstr>
      <vt:lpstr>Diapositiva 13</vt:lpstr>
      <vt:lpstr>Diapositiva 14</vt:lpstr>
      <vt:lpstr>Diapositiva 15</vt:lpstr>
      <vt:lpstr>Diapositiva 16</vt:lpstr>
      <vt:lpstr>Diapositiva 17</vt:lpstr>
      <vt:lpstr>Diapositiva 18</vt:lpstr>
      <vt:lpstr>Diapositiva 19</vt:lpstr>
      <vt:lpstr>Diapositiva 20</vt:lpstr>
      <vt:lpstr>Diapositiva 21</vt:lpstr>
      <vt:lpstr>Diapositiva 22</vt:lpstr>
      <vt:lpstr>Diapositiva 23</vt:lpstr>
      <vt:lpstr>Diapositiva 24</vt:lpstr>
      <vt:lpstr>Diapositiva 25</vt:lpstr>
      <vt:lpstr>Diapositiva 26</vt:lpstr>
      <vt:lpstr>Diapositiva 27</vt:lpstr>
      <vt:lpstr>Diapositiva 28</vt:lpstr>
      <vt:lpstr>Diapositiva 29</vt:lpstr>
      <vt:lpstr>Diapositiva 30</vt:lpstr>
      <vt:lpstr>Diapositiva 31</vt:lpstr>
      <vt:lpstr>Diapositiva 32</vt:lpstr>
      <vt:lpstr>Diapositiva 33</vt:lpstr>
      <vt:lpstr>Diapositiva 34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lucas</dc:creator>
  <cp:lastModifiedBy>lucas</cp:lastModifiedBy>
  <cp:revision>50</cp:revision>
  <dcterms:created xsi:type="dcterms:W3CDTF">2011-06-14T17:03:51Z</dcterms:created>
  <dcterms:modified xsi:type="dcterms:W3CDTF">2012-11-08T19:31:18Z</dcterms:modified>
</cp:coreProperties>
</file>