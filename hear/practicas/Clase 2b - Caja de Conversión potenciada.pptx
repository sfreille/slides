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notesSlides/notesSlide13.xml" ContentType="application/vnd.openxmlformats-officedocument.presentationml.notesSlide+xml"/>
  <Override PartName="/ppt/charts/chart15.xml" ContentType="application/vnd.openxmlformats-officedocument.drawingml.chart+xml"/>
  <Override PartName="/ppt/notesSlides/notesSlide14.xml" ContentType="application/vnd.openxmlformats-officedocument.presentationml.notesSlide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notesSlides/notesSlide15.xml" ContentType="application/vnd.openxmlformats-officedocument.presentationml.notesSlide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notesSlides/notesSlide20.xml" ContentType="application/vnd.openxmlformats-officedocument.presentationml.notesSlide+xml"/>
  <Override PartName="/ppt/charts/chart22.xml" ContentType="application/vnd.openxmlformats-officedocument.drawingml.chart+xml"/>
  <Override PartName="/ppt/notesSlides/notesSlide21.xml" ContentType="application/vnd.openxmlformats-officedocument.presentationml.notesSlide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notesSlides/notesSlide22.xml" ContentType="application/vnd.openxmlformats-officedocument.presentationml.notesSlide+xml"/>
  <Override PartName="/ppt/charts/chart25.xml" ContentType="application/vnd.openxmlformats-officedocument.drawingml.chart+xml"/>
  <Override PartName="/ppt/notesSlides/notesSlide23.xml" ContentType="application/vnd.openxmlformats-officedocument.presentationml.notesSlide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notesSlides/notesSlide24.xml" ContentType="application/vnd.openxmlformats-officedocument.presentationml.notesSlide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notesSlides/notesSlide25.xml" ContentType="application/vnd.openxmlformats-officedocument.presentationml.notesSlide+xml"/>
  <Override PartName="/ppt/charts/chart30.xml" ContentType="application/vnd.openxmlformats-officedocument.drawingml.chart+xml"/>
  <Override PartName="/ppt/notesSlides/notesSlide26.xml" ContentType="application/vnd.openxmlformats-officedocument.presentationml.notesSlide+xml"/>
  <Override PartName="/ppt/charts/chart31.xml" ContentType="application/vnd.openxmlformats-officedocument.drawingml.chart+xml"/>
  <Override PartName="/ppt/theme/themeOverride1.xml" ContentType="application/vnd.openxmlformats-officedocument.themeOverr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rts/chart34.xml" ContentType="application/vnd.openxmlformats-officedocument.drawingml.chart+xml"/>
  <Override PartName="/ppt/notesSlides/notesSlide32.xml" ContentType="application/vnd.openxmlformats-officedocument.presentationml.notesSlide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notesSlides/notesSlide33.xml" ContentType="application/vnd.openxmlformats-officedocument.presentationml.notesSlide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notesSlides/notesSlide34.xml" ContentType="application/vnd.openxmlformats-officedocument.presentationml.notesSlide+xml"/>
  <Override PartName="/ppt/charts/chart40.xml" ContentType="application/vnd.openxmlformats-officedocument.drawingml.chart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1"/>
  </p:sldMasterIdLst>
  <p:notesMasterIdLst>
    <p:notesMasterId r:id="rId64"/>
  </p:notesMasterIdLst>
  <p:sldIdLst>
    <p:sldId id="256" r:id="rId2"/>
    <p:sldId id="265" r:id="rId3"/>
    <p:sldId id="258" r:id="rId4"/>
    <p:sldId id="264" r:id="rId5"/>
    <p:sldId id="283" r:id="rId6"/>
    <p:sldId id="267" r:id="rId7"/>
    <p:sldId id="284" r:id="rId8"/>
    <p:sldId id="287" r:id="rId9"/>
    <p:sldId id="288" r:id="rId10"/>
    <p:sldId id="319" r:id="rId11"/>
    <p:sldId id="275" r:id="rId12"/>
    <p:sldId id="282" r:id="rId13"/>
    <p:sldId id="384" r:id="rId14"/>
    <p:sldId id="280" r:id="rId15"/>
    <p:sldId id="277" r:id="rId16"/>
    <p:sldId id="393" r:id="rId17"/>
    <p:sldId id="389" r:id="rId18"/>
    <p:sldId id="390" r:id="rId19"/>
    <p:sldId id="392" r:id="rId20"/>
    <p:sldId id="290" r:id="rId21"/>
    <p:sldId id="260" r:id="rId22"/>
    <p:sldId id="291" r:id="rId23"/>
    <p:sldId id="293" r:id="rId24"/>
    <p:sldId id="331" r:id="rId25"/>
    <p:sldId id="332" r:id="rId26"/>
    <p:sldId id="294" r:id="rId27"/>
    <p:sldId id="295" r:id="rId28"/>
    <p:sldId id="296" r:id="rId29"/>
    <p:sldId id="270" r:id="rId30"/>
    <p:sldId id="281" r:id="rId31"/>
    <p:sldId id="320" r:id="rId32"/>
    <p:sldId id="326" r:id="rId33"/>
    <p:sldId id="298" r:id="rId34"/>
    <p:sldId id="299" r:id="rId35"/>
    <p:sldId id="300" r:id="rId36"/>
    <p:sldId id="333" r:id="rId37"/>
    <p:sldId id="330" r:id="rId38"/>
    <p:sldId id="301" r:id="rId39"/>
    <p:sldId id="303" r:id="rId40"/>
    <p:sldId id="394" r:id="rId41"/>
    <p:sldId id="395" r:id="rId42"/>
    <p:sldId id="304" r:id="rId43"/>
    <p:sldId id="328" r:id="rId44"/>
    <p:sldId id="278" r:id="rId45"/>
    <p:sldId id="396" r:id="rId46"/>
    <p:sldId id="306" r:id="rId47"/>
    <p:sldId id="329" r:id="rId48"/>
    <p:sldId id="308" r:id="rId49"/>
    <p:sldId id="309" r:id="rId50"/>
    <p:sldId id="311" r:id="rId51"/>
    <p:sldId id="324" r:id="rId52"/>
    <p:sldId id="313" r:id="rId53"/>
    <p:sldId id="314" r:id="rId54"/>
    <p:sldId id="325" r:id="rId55"/>
    <p:sldId id="315" r:id="rId56"/>
    <p:sldId id="397" r:id="rId57"/>
    <p:sldId id="271" r:id="rId58"/>
    <p:sldId id="272" r:id="rId59"/>
    <p:sldId id="316" r:id="rId60"/>
    <p:sldId id="322" r:id="rId61"/>
    <p:sldId id="317" r:id="rId62"/>
    <p:sldId id="318" r:id="rId63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8197"/>
    <a:srgbClr val="D1D9E1"/>
    <a:srgbClr val="4B4B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CFC1E2-CC7F-4F6D-8C3D-9B23DFC48B2E}" v="244" dt="2019-08-27T22:04:31.2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291" autoAdjust="0"/>
  </p:normalViewPr>
  <p:slideViewPr>
    <p:cSldViewPr>
      <p:cViewPr varScale="1">
        <p:scale>
          <a:sx n="72" d="100"/>
          <a:sy n="72" d="100"/>
        </p:scale>
        <p:origin x="132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05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Tossolini" userId="82ff3cc4fadd8f44" providerId="LiveId" clId="{A9CFC1E2-CC7F-4F6D-8C3D-9B23DFC48B2E}"/>
    <pc:docChg chg="undo custSel addSld delSld modSld sldOrd">
      <pc:chgData name="Lucas Tossolini" userId="82ff3cc4fadd8f44" providerId="LiveId" clId="{A9CFC1E2-CC7F-4F6D-8C3D-9B23DFC48B2E}" dt="2019-08-27T22:04:31.242" v="544" actId="207"/>
      <pc:docMkLst>
        <pc:docMk/>
      </pc:docMkLst>
      <pc:sldChg chg="addSp delSp modSp">
        <pc:chgData name="Lucas Tossolini" userId="82ff3cc4fadd8f44" providerId="LiveId" clId="{A9CFC1E2-CC7F-4F6D-8C3D-9B23DFC48B2E}" dt="2019-08-27T21:45:29.106" v="443" actId="14100"/>
        <pc:sldMkLst>
          <pc:docMk/>
          <pc:sldMk cId="0" sldId="260"/>
        </pc:sldMkLst>
        <pc:spChg chg="mod">
          <ac:chgData name="Lucas Tossolini" userId="82ff3cc4fadd8f44" providerId="LiveId" clId="{A9CFC1E2-CC7F-4F6D-8C3D-9B23DFC48B2E}" dt="2019-08-27T21:29:12.561" v="239" actId="6549"/>
          <ac:spMkLst>
            <pc:docMk/>
            <pc:sldMk cId="0" sldId="260"/>
            <ac:spMk id="2" creationId="{00000000-0000-0000-0000-000000000000}"/>
          </ac:spMkLst>
        </pc:spChg>
        <pc:spChg chg="mod">
          <ac:chgData name="Lucas Tossolini" userId="82ff3cc4fadd8f44" providerId="LiveId" clId="{A9CFC1E2-CC7F-4F6D-8C3D-9B23DFC48B2E}" dt="2019-08-27T21:45:29.106" v="443" actId="14100"/>
          <ac:spMkLst>
            <pc:docMk/>
            <pc:sldMk cId="0" sldId="260"/>
            <ac:spMk id="8" creationId="{00000000-0000-0000-0000-000000000000}"/>
          </ac:spMkLst>
        </pc:spChg>
        <pc:spChg chg="mod">
          <ac:chgData name="Lucas Tossolini" userId="82ff3cc4fadd8f44" providerId="LiveId" clId="{A9CFC1E2-CC7F-4F6D-8C3D-9B23DFC48B2E}" dt="2019-08-27T21:45:28.489" v="442" actId="14100"/>
          <ac:spMkLst>
            <pc:docMk/>
            <pc:sldMk cId="0" sldId="260"/>
            <ac:spMk id="9" creationId="{00000000-0000-0000-0000-000000000000}"/>
          </ac:spMkLst>
        </pc:spChg>
        <pc:spChg chg="add del mod">
          <ac:chgData name="Lucas Tossolini" userId="82ff3cc4fadd8f44" providerId="LiveId" clId="{A9CFC1E2-CC7F-4F6D-8C3D-9B23DFC48B2E}" dt="2019-08-27T21:45:17.692" v="441" actId="478"/>
          <ac:spMkLst>
            <pc:docMk/>
            <pc:sldMk cId="0" sldId="260"/>
            <ac:spMk id="10" creationId="{00000000-0000-0000-0000-000000000000}"/>
          </ac:spMkLst>
        </pc:spChg>
        <pc:spChg chg="mod">
          <ac:chgData name="Lucas Tossolini" userId="82ff3cc4fadd8f44" providerId="LiveId" clId="{A9CFC1E2-CC7F-4F6D-8C3D-9B23DFC48B2E}" dt="2019-08-27T21:28:16.204" v="223" actId="108"/>
          <ac:spMkLst>
            <pc:docMk/>
            <pc:sldMk cId="0" sldId="260"/>
            <ac:spMk id="11" creationId="{00000000-0000-0000-0000-000000000000}"/>
          </ac:spMkLst>
        </pc:spChg>
        <pc:spChg chg="mod">
          <ac:chgData name="Lucas Tossolini" userId="82ff3cc4fadd8f44" providerId="LiveId" clId="{A9CFC1E2-CC7F-4F6D-8C3D-9B23DFC48B2E}" dt="2019-08-27T21:28:26.827" v="226" actId="107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Lucas Tossolini" userId="82ff3cc4fadd8f44" providerId="LiveId" clId="{A9CFC1E2-CC7F-4F6D-8C3D-9B23DFC48B2E}" dt="2019-08-27T21:28:44.962" v="231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Lucas Tossolini" userId="82ff3cc4fadd8f44" providerId="LiveId" clId="{A9CFC1E2-CC7F-4F6D-8C3D-9B23DFC48B2E}" dt="2019-08-27T21:27:44.631" v="216" actId="113"/>
          <ac:spMkLst>
            <pc:docMk/>
            <pc:sldMk cId="0" sldId="260"/>
            <ac:spMk id="14" creationId="{00000000-0000-0000-0000-000000000000}"/>
          </ac:spMkLst>
        </pc:spChg>
        <pc:spChg chg="mod">
          <ac:chgData name="Lucas Tossolini" userId="82ff3cc4fadd8f44" providerId="LiveId" clId="{A9CFC1E2-CC7F-4F6D-8C3D-9B23DFC48B2E}" dt="2019-08-27T21:28:59.005" v="237" actId="403"/>
          <ac:spMkLst>
            <pc:docMk/>
            <pc:sldMk cId="0" sldId="260"/>
            <ac:spMk id="17" creationId="{00000000-0000-0000-0000-000000000000}"/>
          </ac:spMkLst>
        </pc:spChg>
        <pc:picChg chg="mod ord">
          <ac:chgData name="Lucas Tossolini" userId="82ff3cc4fadd8f44" providerId="LiveId" clId="{A9CFC1E2-CC7F-4F6D-8C3D-9B23DFC48B2E}" dt="2019-08-27T21:44:49.931" v="437" actId="167"/>
          <ac:picMkLst>
            <pc:docMk/>
            <pc:sldMk cId="0" sldId="260"/>
            <ac:picMk id="7174" creationId="{00000000-0000-0000-0000-000000000000}"/>
          </ac:picMkLst>
        </pc:picChg>
        <pc:cxnChg chg="mod">
          <ac:chgData name="Lucas Tossolini" userId="82ff3cc4fadd8f44" providerId="LiveId" clId="{A9CFC1E2-CC7F-4F6D-8C3D-9B23DFC48B2E}" dt="2019-08-27T21:27:28.655" v="211" actId="208"/>
          <ac:cxnSpMkLst>
            <pc:docMk/>
            <pc:sldMk cId="0" sldId="260"/>
            <ac:cxnSpMk id="16" creationId="{00000000-0000-0000-0000-000000000000}"/>
          </ac:cxnSpMkLst>
        </pc:cxnChg>
      </pc:sldChg>
      <pc:sldChg chg="addSp delSp modSp add delAnim">
        <pc:chgData name="Lucas Tossolini" userId="82ff3cc4fadd8f44" providerId="LiveId" clId="{A9CFC1E2-CC7F-4F6D-8C3D-9B23DFC48B2E}" dt="2019-08-27T21:47:38.522" v="453" actId="1076"/>
        <pc:sldMkLst>
          <pc:docMk/>
          <pc:sldMk cId="0" sldId="270"/>
        </pc:sldMkLst>
        <pc:spChg chg="add mod">
          <ac:chgData name="Lucas Tossolini" userId="82ff3cc4fadd8f44" providerId="LiveId" clId="{A9CFC1E2-CC7F-4F6D-8C3D-9B23DFC48B2E}" dt="2019-08-27T21:47:30.057" v="449" actId="1076"/>
          <ac:spMkLst>
            <pc:docMk/>
            <pc:sldMk cId="0" sldId="270"/>
            <ac:spMk id="2" creationId="{6BFFA4A4-2A0D-42F9-B42A-E638176E1570}"/>
          </ac:spMkLst>
        </pc:spChg>
        <pc:spChg chg="mod">
          <ac:chgData name="Lucas Tossolini" userId="82ff3cc4fadd8f44" providerId="LiveId" clId="{A9CFC1E2-CC7F-4F6D-8C3D-9B23DFC48B2E}" dt="2019-08-27T21:39:55.031" v="373" actId="108"/>
          <ac:spMkLst>
            <pc:docMk/>
            <pc:sldMk cId="0" sldId="270"/>
            <ac:spMk id="4" creationId="{00000000-0000-0000-0000-000000000000}"/>
          </ac:spMkLst>
        </pc:spChg>
        <pc:spChg chg="mod">
          <ac:chgData name="Lucas Tossolini" userId="82ff3cc4fadd8f44" providerId="LiveId" clId="{A9CFC1E2-CC7F-4F6D-8C3D-9B23DFC48B2E}" dt="2019-08-27T21:40:04.380" v="375" actId="108"/>
          <ac:spMkLst>
            <pc:docMk/>
            <pc:sldMk cId="0" sldId="270"/>
            <ac:spMk id="8" creationId="{00000000-0000-0000-0000-000000000000}"/>
          </ac:spMkLst>
        </pc:spChg>
        <pc:spChg chg="mod">
          <ac:chgData name="Lucas Tossolini" userId="82ff3cc4fadd8f44" providerId="LiveId" clId="{A9CFC1E2-CC7F-4F6D-8C3D-9B23DFC48B2E}" dt="2019-08-27T21:40:34.498" v="383" actId="1076"/>
          <ac:spMkLst>
            <pc:docMk/>
            <pc:sldMk cId="0" sldId="270"/>
            <ac:spMk id="9" creationId="{00000000-0000-0000-0000-000000000000}"/>
          </ac:spMkLst>
        </pc:spChg>
        <pc:spChg chg="mod">
          <ac:chgData name="Lucas Tossolini" userId="82ff3cc4fadd8f44" providerId="LiveId" clId="{A9CFC1E2-CC7F-4F6D-8C3D-9B23DFC48B2E}" dt="2019-08-27T21:40:03.739" v="374" actId="108"/>
          <ac:spMkLst>
            <pc:docMk/>
            <pc:sldMk cId="0" sldId="270"/>
            <ac:spMk id="11" creationId="{00000000-0000-0000-0000-000000000000}"/>
          </ac:spMkLst>
        </pc:spChg>
        <pc:spChg chg="mod">
          <ac:chgData name="Lucas Tossolini" userId="82ff3cc4fadd8f44" providerId="LiveId" clId="{A9CFC1E2-CC7F-4F6D-8C3D-9B23DFC48B2E}" dt="2019-08-27T21:40:05.259" v="376" actId="108"/>
          <ac:spMkLst>
            <pc:docMk/>
            <pc:sldMk cId="0" sldId="270"/>
            <ac:spMk id="13" creationId="{00000000-0000-0000-0000-000000000000}"/>
          </ac:spMkLst>
        </pc:spChg>
        <pc:spChg chg="del">
          <ac:chgData name="Lucas Tossolini" userId="82ff3cc4fadd8f44" providerId="LiveId" clId="{A9CFC1E2-CC7F-4F6D-8C3D-9B23DFC48B2E}" dt="2019-08-27T21:41:15.037" v="392" actId="478"/>
          <ac:spMkLst>
            <pc:docMk/>
            <pc:sldMk cId="0" sldId="270"/>
            <ac:spMk id="15" creationId="{00000000-0000-0000-0000-000000000000}"/>
          </ac:spMkLst>
        </pc:spChg>
        <pc:spChg chg="del">
          <ac:chgData name="Lucas Tossolini" userId="82ff3cc4fadd8f44" providerId="LiveId" clId="{A9CFC1E2-CC7F-4F6D-8C3D-9B23DFC48B2E}" dt="2019-08-27T21:41:24.922" v="395" actId="478"/>
          <ac:spMkLst>
            <pc:docMk/>
            <pc:sldMk cId="0" sldId="270"/>
            <ac:spMk id="16" creationId="{00000000-0000-0000-0000-000000000000}"/>
          </ac:spMkLst>
        </pc:spChg>
        <pc:spChg chg="del">
          <ac:chgData name="Lucas Tossolini" userId="82ff3cc4fadd8f44" providerId="LiveId" clId="{A9CFC1E2-CC7F-4F6D-8C3D-9B23DFC48B2E}" dt="2019-08-27T21:41:24.922" v="395" actId="478"/>
          <ac:spMkLst>
            <pc:docMk/>
            <pc:sldMk cId="0" sldId="270"/>
            <ac:spMk id="17" creationId="{00000000-0000-0000-0000-000000000000}"/>
          </ac:spMkLst>
        </pc:spChg>
        <pc:spChg chg="add mod">
          <ac:chgData name="Lucas Tossolini" userId="82ff3cc4fadd8f44" providerId="LiveId" clId="{A9CFC1E2-CC7F-4F6D-8C3D-9B23DFC48B2E}" dt="2019-08-27T21:47:33.913" v="451" actId="1076"/>
          <ac:spMkLst>
            <pc:docMk/>
            <pc:sldMk cId="0" sldId="270"/>
            <ac:spMk id="19" creationId="{26AA4723-0EE6-4BBA-A59C-2D3FC84EACB5}"/>
          </ac:spMkLst>
        </pc:spChg>
        <pc:spChg chg="add mod">
          <ac:chgData name="Lucas Tossolini" userId="82ff3cc4fadd8f44" providerId="LiveId" clId="{A9CFC1E2-CC7F-4F6D-8C3D-9B23DFC48B2E}" dt="2019-08-27T21:47:38.522" v="453" actId="1076"/>
          <ac:spMkLst>
            <pc:docMk/>
            <pc:sldMk cId="0" sldId="270"/>
            <ac:spMk id="20" creationId="{B8AD3FB6-65C9-4106-A188-5E82B405E03B}"/>
          </ac:spMkLst>
        </pc:spChg>
        <pc:graphicFrameChg chg="mod modGraphic">
          <ac:chgData name="Lucas Tossolini" userId="82ff3cc4fadd8f44" providerId="LiveId" clId="{A9CFC1E2-CC7F-4F6D-8C3D-9B23DFC48B2E}" dt="2019-08-27T21:40:48.677" v="390" actId="207"/>
          <ac:graphicFrameMkLst>
            <pc:docMk/>
            <pc:sldMk cId="0" sldId="270"/>
            <ac:graphicFrameMk id="18" creationId="{00000000-0000-0000-0000-000000000000}"/>
          </ac:graphicFrameMkLst>
        </pc:graphicFrameChg>
        <pc:picChg chg="mod">
          <ac:chgData name="Lucas Tossolini" userId="82ff3cc4fadd8f44" providerId="LiveId" clId="{A9CFC1E2-CC7F-4F6D-8C3D-9B23DFC48B2E}" dt="2019-08-27T21:40:24.855" v="381"/>
          <ac:picMkLst>
            <pc:docMk/>
            <pc:sldMk cId="0" sldId="270"/>
            <ac:picMk id="6" creationId="{00000000-0000-0000-0000-000000000000}"/>
          </ac:picMkLst>
        </pc:picChg>
        <pc:picChg chg="mod">
          <ac:chgData name="Lucas Tossolini" userId="82ff3cc4fadd8f44" providerId="LiveId" clId="{A9CFC1E2-CC7F-4F6D-8C3D-9B23DFC48B2E}" dt="2019-08-27T21:41:37.346" v="397" actId="1076"/>
          <ac:picMkLst>
            <pc:docMk/>
            <pc:sldMk cId="0" sldId="270"/>
            <ac:picMk id="10" creationId="{00000000-0000-0000-0000-000000000000}"/>
          </ac:picMkLst>
        </pc:picChg>
        <pc:picChg chg="mod">
          <ac:chgData name="Lucas Tossolini" userId="82ff3cc4fadd8f44" providerId="LiveId" clId="{A9CFC1E2-CC7F-4F6D-8C3D-9B23DFC48B2E}" dt="2019-08-27T21:43:40.746" v="424" actId="1036"/>
          <ac:picMkLst>
            <pc:docMk/>
            <pc:sldMk cId="0" sldId="270"/>
            <ac:picMk id="12" creationId="{00000000-0000-0000-0000-000000000000}"/>
          </ac:picMkLst>
        </pc:picChg>
        <pc:picChg chg="add mod">
          <ac:chgData name="Lucas Tossolini" userId="82ff3cc4fadd8f44" providerId="LiveId" clId="{A9CFC1E2-CC7F-4F6D-8C3D-9B23DFC48B2E}" dt="2019-08-27T21:41:21.521" v="394" actId="1076"/>
          <ac:picMkLst>
            <pc:docMk/>
            <pc:sldMk cId="0" sldId="270"/>
            <ac:picMk id="14" creationId="{923996E7-FE77-44CF-9F8E-A8304CEEF83A}"/>
          </ac:picMkLst>
        </pc:picChg>
      </pc:sldChg>
      <pc:sldChg chg="delSp modSp">
        <pc:chgData name="Lucas Tossolini" userId="82ff3cc4fadd8f44" providerId="LiveId" clId="{A9CFC1E2-CC7F-4F6D-8C3D-9B23DFC48B2E}" dt="2019-08-27T22:03:37.651" v="528" actId="207"/>
        <pc:sldMkLst>
          <pc:docMk/>
          <pc:sldMk cId="0" sldId="271"/>
        </pc:sldMkLst>
        <pc:spChg chg="mod">
          <ac:chgData name="Lucas Tossolini" userId="82ff3cc4fadd8f44" providerId="LiveId" clId="{A9CFC1E2-CC7F-4F6D-8C3D-9B23DFC48B2E}" dt="2019-08-27T22:03:03.658" v="521" actId="108"/>
          <ac:spMkLst>
            <pc:docMk/>
            <pc:sldMk cId="0" sldId="271"/>
            <ac:spMk id="6" creationId="{00000000-0000-0000-0000-000000000000}"/>
          </ac:spMkLst>
        </pc:spChg>
        <pc:spChg chg="mod">
          <ac:chgData name="Lucas Tossolini" userId="82ff3cc4fadd8f44" providerId="LiveId" clId="{A9CFC1E2-CC7F-4F6D-8C3D-9B23DFC48B2E}" dt="2019-08-27T22:03:19.886" v="526" actId="108"/>
          <ac:spMkLst>
            <pc:docMk/>
            <pc:sldMk cId="0" sldId="271"/>
            <ac:spMk id="7" creationId="{00000000-0000-0000-0000-000000000000}"/>
          </ac:spMkLst>
        </pc:spChg>
        <pc:spChg chg="mod">
          <ac:chgData name="Lucas Tossolini" userId="82ff3cc4fadd8f44" providerId="LiveId" clId="{A9CFC1E2-CC7F-4F6D-8C3D-9B23DFC48B2E}" dt="2019-08-27T22:03:04.484" v="522" actId="108"/>
          <ac:spMkLst>
            <pc:docMk/>
            <pc:sldMk cId="0" sldId="271"/>
            <ac:spMk id="8" creationId="{00000000-0000-0000-0000-000000000000}"/>
          </ac:spMkLst>
        </pc:spChg>
        <pc:spChg chg="mod">
          <ac:chgData name="Lucas Tossolini" userId="82ff3cc4fadd8f44" providerId="LiveId" clId="{A9CFC1E2-CC7F-4F6D-8C3D-9B23DFC48B2E}" dt="2019-08-27T22:03:37.651" v="528" actId="207"/>
          <ac:spMkLst>
            <pc:docMk/>
            <pc:sldMk cId="0" sldId="271"/>
            <ac:spMk id="11" creationId="{00000000-0000-0000-0000-000000000000}"/>
          </ac:spMkLst>
        </pc:spChg>
        <pc:spChg chg="mod">
          <ac:chgData name="Lucas Tossolini" userId="82ff3cc4fadd8f44" providerId="LiveId" clId="{A9CFC1E2-CC7F-4F6D-8C3D-9B23DFC48B2E}" dt="2019-08-27T22:02:54.427" v="519" actId="108"/>
          <ac:spMkLst>
            <pc:docMk/>
            <pc:sldMk cId="0" sldId="271"/>
            <ac:spMk id="12" creationId="{00000000-0000-0000-0000-000000000000}"/>
          </ac:spMkLst>
        </pc:spChg>
        <pc:spChg chg="mod">
          <ac:chgData name="Lucas Tossolini" userId="82ff3cc4fadd8f44" providerId="LiveId" clId="{A9CFC1E2-CC7F-4F6D-8C3D-9B23DFC48B2E}" dt="2019-08-27T22:03:16.379" v="525" actId="120"/>
          <ac:spMkLst>
            <pc:docMk/>
            <pc:sldMk cId="0" sldId="271"/>
            <ac:spMk id="13" creationId="{00000000-0000-0000-0000-000000000000}"/>
          </ac:spMkLst>
        </pc:spChg>
        <pc:spChg chg="mod">
          <ac:chgData name="Lucas Tossolini" userId="82ff3cc4fadd8f44" providerId="LiveId" clId="{A9CFC1E2-CC7F-4F6D-8C3D-9B23DFC48B2E}" dt="2019-08-27T22:03:05.461" v="523" actId="108"/>
          <ac:spMkLst>
            <pc:docMk/>
            <pc:sldMk cId="0" sldId="271"/>
            <ac:spMk id="22" creationId="{00000000-0000-0000-0000-000000000000}"/>
          </ac:spMkLst>
        </pc:spChg>
        <pc:spChg chg="del">
          <ac:chgData name="Lucas Tossolini" userId="82ff3cc4fadd8f44" providerId="LiveId" clId="{A9CFC1E2-CC7F-4F6D-8C3D-9B23DFC48B2E}" dt="2019-08-27T22:02:56.850" v="520" actId="478"/>
          <ac:spMkLst>
            <pc:docMk/>
            <pc:sldMk cId="0" sldId="271"/>
            <ac:spMk id="60" creationId="{00000000-0000-0000-0000-000000000000}"/>
          </ac:spMkLst>
        </pc:spChg>
      </pc:sldChg>
      <pc:sldChg chg="modSp">
        <pc:chgData name="Lucas Tossolini" userId="82ff3cc4fadd8f44" providerId="LiveId" clId="{A9CFC1E2-CC7F-4F6D-8C3D-9B23DFC48B2E}" dt="2019-08-27T22:04:31.242" v="544" actId="207"/>
        <pc:sldMkLst>
          <pc:docMk/>
          <pc:sldMk cId="0" sldId="272"/>
        </pc:sldMkLst>
        <pc:spChg chg="mod">
          <ac:chgData name="Lucas Tossolini" userId="82ff3cc4fadd8f44" providerId="LiveId" clId="{A9CFC1E2-CC7F-4F6D-8C3D-9B23DFC48B2E}" dt="2019-08-27T22:03:45.327" v="529" actId="108"/>
          <ac:spMkLst>
            <pc:docMk/>
            <pc:sldMk cId="0" sldId="272"/>
            <ac:spMk id="6" creationId="{00000000-0000-0000-0000-000000000000}"/>
          </ac:spMkLst>
        </pc:spChg>
        <pc:spChg chg="mod">
          <ac:chgData name="Lucas Tossolini" userId="82ff3cc4fadd8f44" providerId="LiveId" clId="{A9CFC1E2-CC7F-4F6D-8C3D-9B23DFC48B2E}" dt="2019-08-27T22:04:07.174" v="538" actId="108"/>
          <ac:spMkLst>
            <pc:docMk/>
            <pc:sldMk cId="0" sldId="272"/>
            <ac:spMk id="7" creationId="{00000000-0000-0000-0000-000000000000}"/>
          </ac:spMkLst>
        </pc:spChg>
        <pc:spChg chg="mod">
          <ac:chgData name="Lucas Tossolini" userId="82ff3cc4fadd8f44" providerId="LiveId" clId="{A9CFC1E2-CC7F-4F6D-8C3D-9B23DFC48B2E}" dt="2019-08-27T22:03:45.927" v="530" actId="108"/>
          <ac:spMkLst>
            <pc:docMk/>
            <pc:sldMk cId="0" sldId="272"/>
            <ac:spMk id="8" creationId="{00000000-0000-0000-0000-000000000000}"/>
          </ac:spMkLst>
        </pc:spChg>
        <pc:spChg chg="mod">
          <ac:chgData name="Lucas Tossolini" userId="82ff3cc4fadd8f44" providerId="LiveId" clId="{A9CFC1E2-CC7F-4F6D-8C3D-9B23DFC48B2E}" dt="2019-08-27T22:04:25.332" v="542" actId="207"/>
          <ac:spMkLst>
            <pc:docMk/>
            <pc:sldMk cId="0" sldId="272"/>
            <ac:spMk id="12" creationId="{00000000-0000-0000-0000-000000000000}"/>
          </ac:spMkLst>
        </pc:spChg>
        <pc:spChg chg="mod">
          <ac:chgData name="Lucas Tossolini" userId="82ff3cc4fadd8f44" providerId="LiveId" clId="{A9CFC1E2-CC7F-4F6D-8C3D-9B23DFC48B2E}" dt="2019-08-27T22:04:31.242" v="544" actId="207"/>
          <ac:spMkLst>
            <pc:docMk/>
            <pc:sldMk cId="0" sldId="272"/>
            <ac:spMk id="13" creationId="{00000000-0000-0000-0000-000000000000}"/>
          </ac:spMkLst>
        </pc:spChg>
        <pc:spChg chg="mod">
          <ac:chgData name="Lucas Tossolini" userId="82ff3cc4fadd8f44" providerId="LiveId" clId="{A9CFC1E2-CC7F-4F6D-8C3D-9B23DFC48B2E}" dt="2019-08-27T22:03:46.798" v="531" actId="108"/>
          <ac:spMkLst>
            <pc:docMk/>
            <pc:sldMk cId="0" sldId="272"/>
            <ac:spMk id="14" creationId="{00000000-0000-0000-0000-000000000000}"/>
          </ac:spMkLst>
        </pc:spChg>
        <pc:spChg chg="mod">
          <ac:chgData name="Lucas Tossolini" userId="82ff3cc4fadd8f44" providerId="LiveId" clId="{A9CFC1E2-CC7F-4F6D-8C3D-9B23DFC48B2E}" dt="2019-08-27T22:03:57.033" v="536" actId="14100"/>
          <ac:spMkLst>
            <pc:docMk/>
            <pc:sldMk cId="0" sldId="272"/>
            <ac:spMk id="16" creationId="{00000000-0000-0000-0000-000000000000}"/>
          </ac:spMkLst>
        </pc:spChg>
        <pc:spChg chg="mod">
          <ac:chgData name="Lucas Tossolini" userId="82ff3cc4fadd8f44" providerId="LiveId" clId="{A9CFC1E2-CC7F-4F6D-8C3D-9B23DFC48B2E}" dt="2019-08-27T22:03:47.515" v="532" actId="108"/>
          <ac:spMkLst>
            <pc:docMk/>
            <pc:sldMk cId="0" sldId="272"/>
            <ac:spMk id="22" creationId="{00000000-0000-0000-0000-000000000000}"/>
          </ac:spMkLst>
        </pc:spChg>
        <pc:graphicFrameChg chg="mod">
          <ac:chgData name="Lucas Tossolini" userId="82ff3cc4fadd8f44" providerId="LiveId" clId="{A9CFC1E2-CC7F-4F6D-8C3D-9B23DFC48B2E}" dt="2019-08-27T22:04:28.944" v="543" actId="1076"/>
          <ac:graphicFrameMkLst>
            <pc:docMk/>
            <pc:sldMk cId="0" sldId="272"/>
            <ac:graphicFrameMk id="15" creationId="{00000000-0000-0000-0000-000000000000}"/>
          </ac:graphicFrameMkLst>
        </pc:graphicFrameChg>
        <pc:graphicFrameChg chg="mod">
          <ac:chgData name="Lucas Tossolini" userId="82ff3cc4fadd8f44" providerId="LiveId" clId="{A9CFC1E2-CC7F-4F6D-8C3D-9B23DFC48B2E}" dt="2019-08-27T22:04:13.304" v="539" actId="1076"/>
          <ac:graphicFrameMkLst>
            <pc:docMk/>
            <pc:sldMk cId="0" sldId="272"/>
            <ac:graphicFrameMk id="17" creationId="{00000000-0000-0000-0000-000000000000}"/>
          </ac:graphicFrameMkLst>
        </pc:graphicFrameChg>
      </pc:sldChg>
      <pc:sldChg chg="modSp">
        <pc:chgData name="Lucas Tossolini" userId="82ff3cc4fadd8f44" providerId="LiveId" clId="{A9CFC1E2-CC7F-4F6D-8C3D-9B23DFC48B2E}" dt="2019-08-27T21:52:58.056" v="486" actId="1582"/>
        <pc:sldMkLst>
          <pc:docMk/>
          <pc:sldMk cId="0" sldId="278"/>
        </pc:sldMkLst>
        <pc:spChg chg="mod">
          <ac:chgData name="Lucas Tossolini" userId="82ff3cc4fadd8f44" providerId="LiveId" clId="{A9CFC1E2-CC7F-4F6D-8C3D-9B23DFC48B2E}" dt="2019-08-27T21:51:31.736" v="478" actId="1076"/>
          <ac:spMkLst>
            <pc:docMk/>
            <pc:sldMk cId="0" sldId="278"/>
            <ac:spMk id="5" creationId="{00000000-0000-0000-0000-000000000000}"/>
          </ac:spMkLst>
        </pc:spChg>
        <pc:graphicFrameChg chg="mod">
          <ac:chgData name="Lucas Tossolini" userId="82ff3cc4fadd8f44" providerId="LiveId" clId="{A9CFC1E2-CC7F-4F6D-8C3D-9B23DFC48B2E}" dt="2019-08-27T21:52:58.056" v="486" actId="1582"/>
          <ac:graphicFrameMkLst>
            <pc:docMk/>
            <pc:sldMk cId="0" sldId="278"/>
            <ac:graphicFrameMk id="4" creationId="{00000000-0000-0000-0000-000000000000}"/>
          </ac:graphicFrameMkLst>
        </pc:graphicFrameChg>
      </pc:sldChg>
      <pc:sldChg chg="addSp delSp modSp add delAnim">
        <pc:chgData name="Lucas Tossolini" userId="82ff3cc4fadd8f44" providerId="LiveId" clId="{A9CFC1E2-CC7F-4F6D-8C3D-9B23DFC48B2E}" dt="2019-08-27T21:47:57.597" v="463" actId="1036"/>
        <pc:sldMkLst>
          <pc:docMk/>
          <pc:sldMk cId="0" sldId="281"/>
        </pc:sldMkLst>
        <pc:spChg chg="add mod">
          <ac:chgData name="Lucas Tossolini" userId="82ff3cc4fadd8f44" providerId="LiveId" clId="{A9CFC1E2-CC7F-4F6D-8C3D-9B23DFC48B2E}" dt="2019-08-27T21:47:44.945" v="455" actId="1076"/>
          <ac:spMkLst>
            <pc:docMk/>
            <pc:sldMk cId="0" sldId="281"/>
            <ac:spMk id="14" creationId="{79C2DC05-146A-4A31-90D2-8798514D8316}"/>
          </ac:spMkLst>
        </pc:spChg>
        <pc:spChg chg="del">
          <ac:chgData name="Lucas Tossolini" userId="82ff3cc4fadd8f44" providerId="LiveId" clId="{A9CFC1E2-CC7F-4F6D-8C3D-9B23DFC48B2E}" dt="2019-08-27T21:42:28.853" v="413" actId="478"/>
          <ac:spMkLst>
            <pc:docMk/>
            <pc:sldMk cId="0" sldId="281"/>
            <ac:spMk id="15" creationId="{00000000-0000-0000-0000-000000000000}"/>
          </ac:spMkLst>
        </pc:spChg>
        <pc:spChg chg="del">
          <ac:chgData name="Lucas Tossolini" userId="82ff3cc4fadd8f44" providerId="LiveId" clId="{A9CFC1E2-CC7F-4F6D-8C3D-9B23DFC48B2E}" dt="2019-08-27T21:42:28.853" v="413" actId="478"/>
          <ac:spMkLst>
            <pc:docMk/>
            <pc:sldMk cId="0" sldId="281"/>
            <ac:spMk id="16" creationId="{00000000-0000-0000-0000-000000000000}"/>
          </ac:spMkLst>
        </pc:spChg>
        <pc:spChg chg="add mod">
          <ac:chgData name="Lucas Tossolini" userId="82ff3cc4fadd8f44" providerId="LiveId" clId="{A9CFC1E2-CC7F-4F6D-8C3D-9B23DFC48B2E}" dt="2019-08-27T21:47:49.586" v="457" actId="1076"/>
          <ac:spMkLst>
            <pc:docMk/>
            <pc:sldMk cId="0" sldId="281"/>
            <ac:spMk id="17" creationId="{96BBBE2A-6C8F-4A70-8159-E03C5E3101AC}"/>
          </ac:spMkLst>
        </pc:spChg>
        <pc:spChg chg="mod">
          <ac:chgData name="Lucas Tossolini" userId="82ff3cc4fadd8f44" providerId="LiveId" clId="{A9CFC1E2-CC7F-4F6D-8C3D-9B23DFC48B2E}" dt="2019-08-27T21:41:48.779" v="398" actId="108"/>
          <ac:spMkLst>
            <pc:docMk/>
            <pc:sldMk cId="0" sldId="281"/>
            <ac:spMk id="18" creationId="{00000000-0000-0000-0000-000000000000}"/>
          </ac:spMkLst>
        </pc:spChg>
        <pc:spChg chg="mod">
          <ac:chgData name="Lucas Tossolini" userId="82ff3cc4fadd8f44" providerId="LiveId" clId="{A9CFC1E2-CC7F-4F6D-8C3D-9B23DFC48B2E}" dt="2019-08-27T21:41:55.002" v="399" actId="108"/>
          <ac:spMkLst>
            <pc:docMk/>
            <pc:sldMk cId="0" sldId="281"/>
            <ac:spMk id="19" creationId="{00000000-0000-0000-0000-000000000000}"/>
          </ac:spMkLst>
        </pc:spChg>
        <pc:spChg chg="mod">
          <ac:chgData name="Lucas Tossolini" userId="82ff3cc4fadd8f44" providerId="LiveId" clId="{A9CFC1E2-CC7F-4F6D-8C3D-9B23DFC48B2E}" dt="2019-08-27T21:42:05.186" v="403" actId="1076"/>
          <ac:spMkLst>
            <pc:docMk/>
            <pc:sldMk cId="0" sldId="281"/>
            <ac:spMk id="21" creationId="{00000000-0000-0000-0000-000000000000}"/>
          </ac:spMkLst>
        </pc:spChg>
        <pc:spChg chg="mod">
          <ac:chgData name="Lucas Tossolini" userId="82ff3cc4fadd8f44" providerId="LiveId" clId="{A9CFC1E2-CC7F-4F6D-8C3D-9B23DFC48B2E}" dt="2019-08-27T21:41:55.753" v="400" actId="108"/>
          <ac:spMkLst>
            <pc:docMk/>
            <pc:sldMk cId="0" sldId="281"/>
            <ac:spMk id="22" creationId="{00000000-0000-0000-0000-000000000000}"/>
          </ac:spMkLst>
        </pc:spChg>
        <pc:spChg chg="mod">
          <ac:chgData name="Lucas Tossolini" userId="82ff3cc4fadd8f44" providerId="LiveId" clId="{A9CFC1E2-CC7F-4F6D-8C3D-9B23DFC48B2E}" dt="2019-08-27T21:41:56.563" v="401" actId="108"/>
          <ac:spMkLst>
            <pc:docMk/>
            <pc:sldMk cId="0" sldId="281"/>
            <ac:spMk id="23" creationId="{00000000-0000-0000-0000-000000000000}"/>
          </ac:spMkLst>
        </pc:spChg>
        <pc:spChg chg="add mod">
          <ac:chgData name="Lucas Tossolini" userId="82ff3cc4fadd8f44" providerId="LiveId" clId="{A9CFC1E2-CC7F-4F6D-8C3D-9B23DFC48B2E}" dt="2019-08-27T21:47:57.597" v="463" actId="1036"/>
          <ac:spMkLst>
            <pc:docMk/>
            <pc:sldMk cId="0" sldId="281"/>
            <ac:spMk id="24" creationId="{B73C2C3E-F233-469A-AA8E-53BBE161B2CF}"/>
          </ac:spMkLst>
        </pc:spChg>
        <pc:graphicFrameChg chg="mod modGraphic">
          <ac:chgData name="Lucas Tossolini" userId="82ff3cc4fadd8f44" providerId="LiveId" clId="{A9CFC1E2-CC7F-4F6D-8C3D-9B23DFC48B2E}" dt="2019-08-27T21:42:23.441" v="412" actId="1076"/>
          <ac:graphicFrameMkLst>
            <pc:docMk/>
            <pc:sldMk cId="0" sldId="281"/>
            <ac:graphicFrameMk id="20" creationId="{00000000-0000-0000-0000-000000000000}"/>
          </ac:graphicFrameMkLst>
        </pc:graphicFrameChg>
        <pc:picChg chg="mod">
          <ac:chgData name="Lucas Tossolini" userId="82ff3cc4fadd8f44" providerId="LiveId" clId="{A9CFC1E2-CC7F-4F6D-8C3D-9B23DFC48B2E}" dt="2019-08-27T21:42:43.777" v="416"/>
          <ac:picMkLst>
            <pc:docMk/>
            <pc:sldMk cId="0" sldId="281"/>
            <ac:picMk id="3074" creationId="{00000000-0000-0000-0000-000000000000}"/>
          </ac:picMkLst>
        </pc:picChg>
        <pc:picChg chg="mod">
          <ac:chgData name="Lucas Tossolini" userId="82ff3cc4fadd8f44" providerId="LiveId" clId="{A9CFC1E2-CC7F-4F6D-8C3D-9B23DFC48B2E}" dt="2019-08-27T21:42:49.879" v="417"/>
          <ac:picMkLst>
            <pc:docMk/>
            <pc:sldMk cId="0" sldId="281"/>
            <ac:picMk id="3076" creationId="{00000000-0000-0000-0000-000000000000}"/>
          </ac:picMkLst>
        </pc:picChg>
        <pc:picChg chg="mod">
          <ac:chgData name="Lucas Tossolini" userId="82ff3cc4fadd8f44" providerId="LiveId" clId="{A9CFC1E2-CC7F-4F6D-8C3D-9B23DFC48B2E}" dt="2019-08-27T21:42:34.018" v="414"/>
          <ac:picMkLst>
            <pc:docMk/>
            <pc:sldMk cId="0" sldId="281"/>
            <ac:picMk id="3078" creationId="{00000000-0000-0000-0000-000000000000}"/>
          </ac:picMkLst>
        </pc:picChg>
        <pc:picChg chg="mod">
          <ac:chgData name="Lucas Tossolini" userId="82ff3cc4fadd8f44" providerId="LiveId" clId="{A9CFC1E2-CC7F-4F6D-8C3D-9B23DFC48B2E}" dt="2019-08-27T21:42:39.770" v="415"/>
          <ac:picMkLst>
            <pc:docMk/>
            <pc:sldMk cId="0" sldId="281"/>
            <ac:picMk id="3080" creationId="{00000000-0000-0000-0000-000000000000}"/>
          </ac:picMkLst>
        </pc:picChg>
      </pc:sldChg>
      <pc:sldChg chg="addSp modSp modAnim">
        <pc:chgData name="Lucas Tossolini" userId="82ff3cc4fadd8f44" providerId="LiveId" clId="{A9CFC1E2-CC7F-4F6D-8C3D-9B23DFC48B2E}" dt="2019-08-27T21:21:50.134" v="163" actId="14100"/>
        <pc:sldMkLst>
          <pc:docMk/>
          <pc:sldMk cId="1571414516" sldId="282"/>
        </pc:sldMkLst>
        <pc:spChg chg="add mod">
          <ac:chgData name="Lucas Tossolini" userId="82ff3cc4fadd8f44" providerId="LiveId" clId="{A9CFC1E2-CC7F-4F6D-8C3D-9B23DFC48B2E}" dt="2019-08-27T21:21:50.134" v="163" actId="14100"/>
          <ac:spMkLst>
            <pc:docMk/>
            <pc:sldMk cId="1571414516" sldId="282"/>
            <ac:spMk id="2" creationId="{CD94391F-8C1F-49B2-8F08-1B7750CF5E45}"/>
          </ac:spMkLst>
        </pc:spChg>
        <pc:spChg chg="add mod">
          <ac:chgData name="Lucas Tossolini" userId="82ff3cc4fadd8f44" providerId="LiveId" clId="{A9CFC1E2-CC7F-4F6D-8C3D-9B23DFC48B2E}" dt="2019-08-27T21:18:04.067" v="145" actId="1076"/>
          <ac:spMkLst>
            <pc:docMk/>
            <pc:sldMk cId="1571414516" sldId="282"/>
            <ac:spMk id="9" creationId="{70AD6407-60DA-4479-9AAA-2476521104B9}"/>
          </ac:spMkLst>
        </pc:spChg>
        <pc:graphicFrameChg chg="mod">
          <ac:chgData name="Lucas Tossolini" userId="82ff3cc4fadd8f44" providerId="LiveId" clId="{A9CFC1E2-CC7F-4F6D-8C3D-9B23DFC48B2E}" dt="2019-08-27T21:17:36.251" v="100" actId="14100"/>
          <ac:graphicFrameMkLst>
            <pc:docMk/>
            <pc:sldMk cId="1571414516" sldId="282"/>
            <ac:graphicFrameMk id="11" creationId="{D33F59FB-B53D-40C6-BF62-B7021677835A}"/>
          </ac:graphicFrameMkLst>
        </pc:graphicFrameChg>
        <pc:graphicFrameChg chg="mod">
          <ac:chgData name="Lucas Tossolini" userId="82ff3cc4fadd8f44" providerId="LiveId" clId="{A9CFC1E2-CC7F-4F6D-8C3D-9B23DFC48B2E}" dt="2019-08-27T21:17:38.531" v="101" actId="14100"/>
          <ac:graphicFrameMkLst>
            <pc:docMk/>
            <pc:sldMk cId="1571414516" sldId="282"/>
            <ac:graphicFrameMk id="12" creationId="{3B5B2584-ABFA-4675-BD34-9D968371A4F8}"/>
          </ac:graphicFrameMkLst>
        </pc:graphicFrameChg>
        <pc:picChg chg="add mod">
          <ac:chgData name="Lucas Tossolini" userId="82ff3cc4fadd8f44" providerId="LiveId" clId="{A9CFC1E2-CC7F-4F6D-8C3D-9B23DFC48B2E}" dt="2019-08-27T21:17:40.971" v="102" actId="1076"/>
          <ac:picMkLst>
            <pc:docMk/>
            <pc:sldMk cId="1571414516" sldId="282"/>
            <ac:picMk id="7" creationId="{6A79FBFB-ECD3-488A-ACB7-D70717E37675}"/>
          </ac:picMkLst>
        </pc:picChg>
      </pc:sldChg>
      <pc:sldChg chg="addSp modSp">
        <pc:chgData name="Lucas Tossolini" userId="82ff3cc4fadd8f44" providerId="LiveId" clId="{A9CFC1E2-CC7F-4F6D-8C3D-9B23DFC48B2E}" dt="2019-08-27T21:20:28.533" v="149" actId="207"/>
        <pc:sldMkLst>
          <pc:docMk/>
          <pc:sldMk cId="1844183546" sldId="288"/>
        </pc:sldMkLst>
        <pc:spChg chg="add mod">
          <ac:chgData name="Lucas Tossolini" userId="82ff3cc4fadd8f44" providerId="LiveId" clId="{A9CFC1E2-CC7F-4F6D-8C3D-9B23DFC48B2E}" dt="2019-08-27T21:20:28.533" v="149" actId="207"/>
          <ac:spMkLst>
            <pc:docMk/>
            <pc:sldMk cId="1844183546" sldId="288"/>
            <ac:spMk id="2" creationId="{3D6D7819-4CB9-48B8-B101-CF1040F32025}"/>
          </ac:spMkLst>
        </pc:spChg>
      </pc:sldChg>
      <pc:sldChg chg="modSp">
        <pc:chgData name="Lucas Tossolini" userId="82ff3cc4fadd8f44" providerId="LiveId" clId="{A9CFC1E2-CC7F-4F6D-8C3D-9B23DFC48B2E}" dt="2019-08-27T21:29:49.747" v="251" actId="20577"/>
        <pc:sldMkLst>
          <pc:docMk/>
          <pc:sldMk cId="1957307466" sldId="293"/>
        </pc:sldMkLst>
        <pc:spChg chg="mod">
          <ac:chgData name="Lucas Tossolini" userId="82ff3cc4fadd8f44" providerId="LiveId" clId="{A9CFC1E2-CC7F-4F6D-8C3D-9B23DFC48B2E}" dt="2019-08-27T21:29:49.747" v="251" actId="20577"/>
          <ac:spMkLst>
            <pc:docMk/>
            <pc:sldMk cId="1957307466" sldId="293"/>
            <ac:spMk id="7" creationId="{960475DD-0732-43E0-9B99-9E2A377AE719}"/>
          </ac:spMkLst>
        </pc:spChg>
      </pc:sldChg>
      <pc:sldChg chg="modSp">
        <pc:chgData name="Lucas Tossolini" userId="82ff3cc4fadd8f44" providerId="LiveId" clId="{A9CFC1E2-CC7F-4F6D-8C3D-9B23DFC48B2E}" dt="2019-08-27T21:31:08.929" v="262" actId="1076"/>
        <pc:sldMkLst>
          <pc:docMk/>
          <pc:sldMk cId="4284876332" sldId="294"/>
        </pc:sldMkLst>
        <pc:spChg chg="mod">
          <ac:chgData name="Lucas Tossolini" userId="82ff3cc4fadd8f44" providerId="LiveId" clId="{A9CFC1E2-CC7F-4F6D-8C3D-9B23DFC48B2E}" dt="2019-08-27T21:31:03.459" v="261" actId="20577"/>
          <ac:spMkLst>
            <pc:docMk/>
            <pc:sldMk cId="4284876332" sldId="294"/>
            <ac:spMk id="6" creationId="{D7307393-4819-45F2-8B47-5F01733714AC}"/>
          </ac:spMkLst>
        </pc:spChg>
        <pc:graphicFrameChg chg="mod">
          <ac:chgData name="Lucas Tossolini" userId="82ff3cc4fadd8f44" providerId="LiveId" clId="{A9CFC1E2-CC7F-4F6D-8C3D-9B23DFC48B2E}" dt="2019-08-27T21:31:08.929" v="262" actId="1076"/>
          <ac:graphicFrameMkLst>
            <pc:docMk/>
            <pc:sldMk cId="4284876332" sldId="294"/>
            <ac:graphicFrameMk id="3" creationId="{7162AE94-BE6C-4B1E-98E2-E628E36AB017}"/>
          </ac:graphicFrameMkLst>
        </pc:graphicFrameChg>
      </pc:sldChg>
      <pc:sldChg chg="modSp">
        <pc:chgData name="Lucas Tossolini" userId="82ff3cc4fadd8f44" providerId="LiveId" clId="{A9CFC1E2-CC7F-4F6D-8C3D-9B23DFC48B2E}" dt="2019-08-27T21:44:32.076" v="436" actId="20577"/>
        <pc:sldMkLst>
          <pc:docMk/>
          <pc:sldMk cId="2898841506" sldId="299"/>
        </pc:sldMkLst>
        <pc:spChg chg="mod">
          <ac:chgData name="Lucas Tossolini" userId="82ff3cc4fadd8f44" providerId="LiveId" clId="{A9CFC1E2-CC7F-4F6D-8C3D-9B23DFC48B2E}" dt="2019-08-27T21:44:32.076" v="436" actId="20577"/>
          <ac:spMkLst>
            <pc:docMk/>
            <pc:sldMk cId="2898841506" sldId="299"/>
            <ac:spMk id="9" creationId="{FEA209F9-E074-4CB3-A496-0AE2B942F187}"/>
          </ac:spMkLst>
        </pc:spChg>
      </pc:sldChg>
      <pc:sldChg chg="modSp">
        <pc:chgData name="Lucas Tossolini" userId="82ff3cc4fadd8f44" providerId="LiveId" clId="{A9CFC1E2-CC7F-4F6D-8C3D-9B23DFC48B2E}" dt="2019-08-27T21:46:26.386" v="444" actId="1076"/>
        <pc:sldMkLst>
          <pc:docMk/>
          <pc:sldMk cId="2321939473" sldId="300"/>
        </pc:sldMkLst>
        <pc:graphicFrameChg chg="mod">
          <ac:chgData name="Lucas Tossolini" userId="82ff3cc4fadd8f44" providerId="LiveId" clId="{A9CFC1E2-CC7F-4F6D-8C3D-9B23DFC48B2E}" dt="2019-08-27T21:46:26.386" v="444" actId="1076"/>
          <ac:graphicFrameMkLst>
            <pc:docMk/>
            <pc:sldMk cId="2321939473" sldId="300"/>
            <ac:graphicFrameMk id="4" creationId="{8A14941D-1125-4549-962C-48D1E864EB60}"/>
          </ac:graphicFrameMkLst>
        </pc:graphicFrameChg>
      </pc:sldChg>
      <pc:sldChg chg="addSp modSp">
        <pc:chgData name="Lucas Tossolini" userId="82ff3cc4fadd8f44" providerId="LiveId" clId="{A9CFC1E2-CC7F-4F6D-8C3D-9B23DFC48B2E}" dt="2019-08-27T21:20:57.862" v="153" actId="1076"/>
        <pc:sldMkLst>
          <pc:docMk/>
          <pc:sldMk cId="376395058" sldId="319"/>
        </pc:sldMkLst>
        <pc:spChg chg="add mod">
          <ac:chgData name="Lucas Tossolini" userId="82ff3cc4fadd8f44" providerId="LiveId" clId="{A9CFC1E2-CC7F-4F6D-8C3D-9B23DFC48B2E}" dt="2019-08-27T21:20:57.862" v="153" actId="1076"/>
          <ac:spMkLst>
            <pc:docMk/>
            <pc:sldMk cId="376395058" sldId="319"/>
            <ac:spMk id="2" creationId="{BEC7FEA3-8095-490E-92F3-1FFBE1F4DE02}"/>
          </ac:spMkLst>
        </pc:spChg>
      </pc:sldChg>
      <pc:sldChg chg="addSp delSp modSp">
        <pc:chgData name="Lucas Tossolini" userId="82ff3cc4fadd8f44" providerId="LiveId" clId="{A9CFC1E2-CC7F-4F6D-8C3D-9B23DFC48B2E}" dt="2019-08-27T21:59:05.816" v="502" actId="1076"/>
        <pc:sldMkLst>
          <pc:docMk/>
          <pc:sldMk cId="1647470827" sldId="324"/>
        </pc:sldMkLst>
        <pc:spChg chg="mod">
          <ac:chgData name="Lucas Tossolini" userId="82ff3cc4fadd8f44" providerId="LiveId" clId="{A9CFC1E2-CC7F-4F6D-8C3D-9B23DFC48B2E}" dt="2019-08-27T21:59:01.729" v="501" actId="14100"/>
          <ac:spMkLst>
            <pc:docMk/>
            <pc:sldMk cId="1647470827" sldId="324"/>
            <ac:spMk id="11" creationId="{33139E2F-C3FC-4192-9638-5EFEDD9F1446}"/>
          </ac:spMkLst>
        </pc:spChg>
        <pc:spChg chg="add del mod">
          <ac:chgData name="Lucas Tossolini" userId="82ff3cc4fadd8f44" providerId="LiveId" clId="{A9CFC1E2-CC7F-4F6D-8C3D-9B23DFC48B2E}" dt="2019-08-27T21:57:56.849" v="490" actId="478"/>
          <ac:spMkLst>
            <pc:docMk/>
            <pc:sldMk cId="1647470827" sldId="324"/>
            <ac:spMk id="18" creationId="{12C68183-F1AA-43D1-BFF7-09C7980E46E1}"/>
          </ac:spMkLst>
        </pc:spChg>
        <pc:spChg chg="add del mod">
          <ac:chgData name="Lucas Tossolini" userId="82ff3cc4fadd8f44" providerId="LiveId" clId="{A9CFC1E2-CC7F-4F6D-8C3D-9B23DFC48B2E}" dt="2019-08-27T21:58:01.245" v="491" actId="478"/>
          <ac:spMkLst>
            <pc:docMk/>
            <pc:sldMk cId="1647470827" sldId="324"/>
            <ac:spMk id="19" creationId="{1B9CADB8-874E-484E-98E3-82DD5B41D4D1}"/>
          </ac:spMkLst>
        </pc:spChg>
        <pc:spChg chg="add del mod">
          <ac:chgData name="Lucas Tossolini" userId="82ff3cc4fadd8f44" providerId="LiveId" clId="{A9CFC1E2-CC7F-4F6D-8C3D-9B23DFC48B2E}" dt="2019-08-27T21:57:51.943" v="489" actId="478"/>
          <ac:spMkLst>
            <pc:docMk/>
            <pc:sldMk cId="1647470827" sldId="324"/>
            <ac:spMk id="20" creationId="{FDE25726-A6C2-45F3-9D8E-D2C4DFE78DA7}"/>
          </ac:spMkLst>
        </pc:spChg>
        <pc:graphicFrameChg chg="mod">
          <ac:chgData name="Lucas Tossolini" userId="82ff3cc4fadd8f44" providerId="LiveId" clId="{A9CFC1E2-CC7F-4F6D-8C3D-9B23DFC48B2E}" dt="2019-08-27T21:58:15.618" v="492" actId="1076"/>
          <ac:graphicFrameMkLst>
            <pc:docMk/>
            <pc:sldMk cId="1647470827" sldId="324"/>
            <ac:graphicFrameMk id="14" creationId="{7E7D8BC2-DD3D-41C2-A59C-912E197E9F02}"/>
          </ac:graphicFrameMkLst>
        </pc:graphicFrameChg>
        <pc:graphicFrameChg chg="add mod">
          <ac:chgData name="Lucas Tossolini" userId="82ff3cc4fadd8f44" providerId="LiveId" clId="{A9CFC1E2-CC7F-4F6D-8C3D-9B23DFC48B2E}" dt="2019-08-27T21:58:32.528" v="495" actId="1076"/>
          <ac:graphicFrameMkLst>
            <pc:docMk/>
            <pc:sldMk cId="1647470827" sldId="324"/>
            <ac:graphicFrameMk id="21" creationId="{99C67564-1499-486C-9444-82DA5F57F470}"/>
          </ac:graphicFrameMkLst>
        </pc:graphicFrameChg>
        <pc:graphicFrameChg chg="add mod">
          <ac:chgData name="Lucas Tossolini" userId="82ff3cc4fadd8f44" providerId="LiveId" clId="{A9CFC1E2-CC7F-4F6D-8C3D-9B23DFC48B2E}" dt="2019-08-27T21:59:05.816" v="502" actId="1076"/>
          <ac:graphicFrameMkLst>
            <pc:docMk/>
            <pc:sldMk cId="1647470827" sldId="324"/>
            <ac:graphicFrameMk id="22" creationId="{5C853CFE-914B-42DE-B87E-2702DA7C12B0}"/>
          </ac:graphicFrameMkLst>
        </pc:graphicFrameChg>
        <pc:picChg chg="mod">
          <ac:chgData name="Lucas Tossolini" userId="82ff3cc4fadd8f44" providerId="LiveId" clId="{A9CFC1E2-CC7F-4F6D-8C3D-9B23DFC48B2E}" dt="2019-08-27T21:58:15.618" v="492" actId="1076"/>
          <ac:picMkLst>
            <pc:docMk/>
            <pc:sldMk cId="1647470827" sldId="324"/>
            <ac:picMk id="10" creationId="{421C1205-478C-415B-866C-FD1D26EE35B2}"/>
          </ac:picMkLst>
        </pc:picChg>
        <pc:picChg chg="mod">
          <ac:chgData name="Lucas Tossolini" userId="82ff3cc4fadd8f44" providerId="LiveId" clId="{A9CFC1E2-CC7F-4F6D-8C3D-9B23DFC48B2E}" dt="2019-08-27T21:58:15.618" v="492" actId="1076"/>
          <ac:picMkLst>
            <pc:docMk/>
            <pc:sldMk cId="1647470827" sldId="324"/>
            <ac:picMk id="16" creationId="{12826C19-23C0-4461-AC85-E0DF2729C80D}"/>
          </ac:picMkLst>
        </pc:picChg>
        <pc:picChg chg="mod">
          <ac:chgData name="Lucas Tossolini" userId="82ff3cc4fadd8f44" providerId="LiveId" clId="{A9CFC1E2-CC7F-4F6D-8C3D-9B23DFC48B2E}" dt="2019-08-27T21:58:15.618" v="492" actId="1076"/>
          <ac:picMkLst>
            <pc:docMk/>
            <pc:sldMk cId="1647470827" sldId="324"/>
            <ac:picMk id="17" creationId="{B4B7B754-B8DC-4506-804B-2347DA815E6C}"/>
          </ac:picMkLst>
        </pc:picChg>
      </pc:sldChg>
      <pc:sldChg chg="addSp modSp">
        <pc:chgData name="Lucas Tossolini" userId="82ff3cc4fadd8f44" providerId="LiveId" clId="{A9CFC1E2-CC7F-4F6D-8C3D-9B23DFC48B2E}" dt="2019-08-27T21:33:06.456" v="269" actId="207"/>
        <pc:sldMkLst>
          <pc:docMk/>
          <pc:sldMk cId="3940582078" sldId="331"/>
        </pc:sldMkLst>
        <pc:spChg chg="add mod">
          <ac:chgData name="Lucas Tossolini" userId="82ff3cc4fadd8f44" providerId="LiveId" clId="{A9CFC1E2-CC7F-4F6D-8C3D-9B23DFC48B2E}" dt="2019-08-27T21:33:06.456" v="269" actId="207"/>
          <ac:spMkLst>
            <pc:docMk/>
            <pc:sldMk cId="3940582078" sldId="331"/>
            <ac:spMk id="2" creationId="{5E344BB2-1367-4624-85F6-53521AD338FA}"/>
          </ac:spMkLst>
        </pc:spChg>
      </pc:sldChg>
      <pc:sldChg chg="addSp modSp">
        <pc:chgData name="Lucas Tossolini" userId="82ff3cc4fadd8f44" providerId="LiveId" clId="{A9CFC1E2-CC7F-4F6D-8C3D-9B23DFC48B2E}" dt="2019-08-27T21:31:53.011" v="265" actId="1076"/>
        <pc:sldMkLst>
          <pc:docMk/>
          <pc:sldMk cId="2187125735" sldId="332"/>
        </pc:sldMkLst>
        <pc:picChg chg="add mod">
          <ac:chgData name="Lucas Tossolini" userId="82ff3cc4fadd8f44" providerId="LiveId" clId="{A9CFC1E2-CC7F-4F6D-8C3D-9B23DFC48B2E}" dt="2019-08-27T21:31:53.011" v="265" actId="1076"/>
          <ac:picMkLst>
            <pc:docMk/>
            <pc:sldMk cId="2187125735" sldId="332"/>
            <ac:picMk id="4" creationId="{989013BF-5512-4BC9-BBA4-A4A562619A14}"/>
          </ac:picMkLst>
        </pc:picChg>
      </pc:sldChg>
      <pc:sldChg chg="addSp delSp modSp modAnim">
        <pc:chgData name="Lucas Tossolini" userId="82ff3cc4fadd8f44" providerId="LiveId" clId="{A9CFC1E2-CC7F-4F6D-8C3D-9B23DFC48B2E}" dt="2019-08-27T21:21:28.565" v="158" actId="14100"/>
        <pc:sldMkLst>
          <pc:docMk/>
          <pc:sldMk cId="0" sldId="384"/>
        </pc:sldMkLst>
        <pc:spChg chg="add del mod">
          <ac:chgData name="Lucas Tossolini" userId="82ff3cc4fadd8f44" providerId="LiveId" clId="{A9CFC1E2-CC7F-4F6D-8C3D-9B23DFC48B2E}" dt="2019-08-27T21:12:57.716" v="10" actId="478"/>
          <ac:spMkLst>
            <pc:docMk/>
            <pc:sldMk cId="0" sldId="384"/>
            <ac:spMk id="3" creationId="{1B9EEEAD-6EC5-411D-9793-B8E8A895FCE9}"/>
          </ac:spMkLst>
        </pc:spChg>
        <pc:spChg chg="add del mod">
          <ac:chgData name="Lucas Tossolini" userId="82ff3cc4fadd8f44" providerId="LiveId" clId="{A9CFC1E2-CC7F-4F6D-8C3D-9B23DFC48B2E}" dt="2019-08-27T21:13:13.889" v="15" actId="478"/>
          <ac:spMkLst>
            <pc:docMk/>
            <pc:sldMk cId="0" sldId="384"/>
            <ac:spMk id="5" creationId="{E4640CE5-04BE-4FBF-9766-2E06849296D0}"/>
          </ac:spMkLst>
        </pc:spChg>
        <pc:spChg chg="mod">
          <ac:chgData name="Lucas Tossolini" userId="82ff3cc4fadd8f44" providerId="LiveId" clId="{A9CFC1E2-CC7F-4F6D-8C3D-9B23DFC48B2E}" dt="2019-08-27T21:14:33.978" v="59" actId="1038"/>
          <ac:spMkLst>
            <pc:docMk/>
            <pc:sldMk cId="0" sldId="384"/>
            <ac:spMk id="6" creationId="{AC47EA3F-927F-419A-9F90-6B7883573F54}"/>
          </ac:spMkLst>
        </pc:spChg>
        <pc:spChg chg="add mod">
          <ac:chgData name="Lucas Tossolini" userId="82ff3cc4fadd8f44" providerId="LiveId" clId="{A9CFC1E2-CC7F-4F6D-8C3D-9B23DFC48B2E}" dt="2019-08-27T21:12:51.540" v="8" actId="1076"/>
          <ac:spMkLst>
            <pc:docMk/>
            <pc:sldMk cId="0" sldId="384"/>
            <ac:spMk id="11" creationId="{EA7ECFEE-305C-44AE-8628-81F3FC1895B2}"/>
          </ac:spMkLst>
        </pc:spChg>
        <pc:spChg chg="add mod">
          <ac:chgData name="Lucas Tossolini" userId="82ff3cc4fadd8f44" providerId="LiveId" clId="{A9CFC1E2-CC7F-4F6D-8C3D-9B23DFC48B2E}" dt="2019-08-27T21:14:37.388" v="60" actId="1076"/>
          <ac:spMkLst>
            <pc:docMk/>
            <pc:sldMk cId="0" sldId="384"/>
            <ac:spMk id="12" creationId="{2FC26F7D-F149-49E2-A94C-FBC77733C6DB}"/>
          </ac:spMkLst>
        </pc:spChg>
        <pc:spChg chg="add mod">
          <ac:chgData name="Lucas Tossolini" userId="82ff3cc4fadd8f44" providerId="LiveId" clId="{A9CFC1E2-CC7F-4F6D-8C3D-9B23DFC48B2E}" dt="2019-08-27T21:21:28.565" v="158" actId="14100"/>
          <ac:spMkLst>
            <pc:docMk/>
            <pc:sldMk cId="0" sldId="384"/>
            <ac:spMk id="14" creationId="{2E909CB5-C1DA-443F-85EE-CDFFB84E3094}"/>
          </ac:spMkLst>
        </pc:spChg>
        <pc:spChg chg="mod">
          <ac:chgData name="Lucas Tossolini" userId="82ff3cc4fadd8f44" providerId="LiveId" clId="{A9CFC1E2-CC7F-4F6D-8C3D-9B23DFC48B2E}" dt="2019-08-27T21:12:03.916" v="4" actId="1076"/>
          <ac:spMkLst>
            <pc:docMk/>
            <pc:sldMk cId="0" sldId="384"/>
            <ac:spMk id="10242" creationId="{CE20388B-7942-48E2-8692-33C227D6B321}"/>
          </ac:spMkLst>
        </pc:spChg>
        <pc:spChg chg="del">
          <ac:chgData name="Lucas Tossolini" userId="82ff3cc4fadd8f44" providerId="LiveId" clId="{A9CFC1E2-CC7F-4F6D-8C3D-9B23DFC48B2E}" dt="2019-08-27T21:12:55.693" v="9" actId="478"/>
          <ac:spMkLst>
            <pc:docMk/>
            <pc:sldMk cId="0" sldId="384"/>
            <ac:spMk id="10243" creationId="{9273C930-00F7-4D1D-8082-6593CC3A176E}"/>
          </ac:spMkLst>
        </pc:spChg>
        <pc:spChg chg="del">
          <ac:chgData name="Lucas Tossolini" userId="82ff3cc4fadd8f44" providerId="LiveId" clId="{A9CFC1E2-CC7F-4F6D-8C3D-9B23DFC48B2E}" dt="2019-08-27T21:13:10.426" v="14" actId="478"/>
          <ac:spMkLst>
            <pc:docMk/>
            <pc:sldMk cId="0" sldId="384"/>
            <ac:spMk id="10276" creationId="{D1B1AA81-9815-4208-9FDD-04D5DDEA57C5}"/>
          </ac:spMkLst>
        </pc:spChg>
        <pc:graphicFrameChg chg="mod modGraphic">
          <ac:chgData name="Lucas Tossolini" userId="82ff3cc4fadd8f44" providerId="LiveId" clId="{A9CFC1E2-CC7F-4F6D-8C3D-9B23DFC48B2E}" dt="2019-08-27T21:16:06.195" v="88" actId="1076"/>
          <ac:graphicFrameMkLst>
            <pc:docMk/>
            <pc:sldMk cId="0" sldId="384"/>
            <ac:graphicFrameMk id="7" creationId="{9794E49D-FD2A-4806-ADEA-C4F05FE41E20}"/>
          </ac:graphicFrameMkLst>
        </pc:graphicFrameChg>
        <pc:graphicFrameChg chg="mod modGraphic">
          <ac:chgData name="Lucas Tossolini" userId="82ff3cc4fadd8f44" providerId="LiveId" clId="{A9CFC1E2-CC7F-4F6D-8C3D-9B23DFC48B2E}" dt="2019-08-27T21:14:33.978" v="59" actId="1038"/>
          <ac:graphicFrameMkLst>
            <pc:docMk/>
            <pc:sldMk cId="0" sldId="384"/>
            <ac:graphicFrameMk id="9" creationId="{7899368A-0EBF-4286-8E41-E16BF483AFA5}"/>
          </ac:graphicFrameMkLst>
        </pc:graphicFrameChg>
        <pc:graphicFrameChg chg="mod modGraphic">
          <ac:chgData name="Lucas Tossolini" userId="82ff3cc4fadd8f44" providerId="LiveId" clId="{A9CFC1E2-CC7F-4F6D-8C3D-9B23DFC48B2E}" dt="2019-08-27T21:14:33.978" v="59" actId="1038"/>
          <ac:graphicFrameMkLst>
            <pc:docMk/>
            <pc:sldMk cId="0" sldId="384"/>
            <ac:graphicFrameMk id="10" creationId="{61CB7227-543B-470A-B21E-6FFEECB7618C}"/>
          </ac:graphicFrameMkLst>
        </pc:graphicFrameChg>
        <pc:picChg chg="add mod">
          <ac:chgData name="Lucas Tossolini" userId="82ff3cc4fadd8f44" providerId="LiveId" clId="{A9CFC1E2-CC7F-4F6D-8C3D-9B23DFC48B2E}" dt="2019-08-27T21:16:12.035" v="89" actId="1076"/>
          <ac:picMkLst>
            <pc:docMk/>
            <pc:sldMk cId="0" sldId="384"/>
            <ac:picMk id="13" creationId="{1D94EDF0-E6D1-48B8-9452-19E2CBFAE4BB}"/>
          </ac:picMkLst>
        </pc:picChg>
        <pc:picChg chg="add mod">
          <ac:chgData name="Lucas Tossolini" userId="82ff3cc4fadd8f44" providerId="LiveId" clId="{A9CFC1E2-CC7F-4F6D-8C3D-9B23DFC48B2E}" dt="2019-08-27T21:16:23.076" v="91" actId="1076"/>
          <ac:picMkLst>
            <pc:docMk/>
            <pc:sldMk cId="0" sldId="384"/>
            <ac:picMk id="17" creationId="{68019097-E698-4223-A4A0-866F9331285C}"/>
          </ac:picMkLst>
        </pc:picChg>
      </pc:sldChg>
      <pc:sldChg chg="del">
        <pc:chgData name="Lucas Tossolini" userId="82ff3cc4fadd8f44" providerId="LiveId" clId="{A9CFC1E2-CC7F-4F6D-8C3D-9B23DFC48B2E}" dt="2019-08-27T21:23:18.927" v="170" actId="2696"/>
        <pc:sldMkLst>
          <pc:docMk/>
          <pc:sldMk cId="0" sldId="387"/>
        </pc:sldMkLst>
      </pc:sldChg>
      <pc:sldChg chg="modSp">
        <pc:chgData name="Lucas Tossolini" userId="82ff3cc4fadd8f44" providerId="LiveId" clId="{A9CFC1E2-CC7F-4F6D-8C3D-9B23DFC48B2E}" dt="2019-08-27T21:24:20.690" v="184" actId="1076"/>
        <pc:sldMkLst>
          <pc:docMk/>
          <pc:sldMk cId="0" sldId="389"/>
        </pc:sldMkLst>
        <pc:spChg chg="mod">
          <ac:chgData name="Lucas Tossolini" userId="82ff3cc4fadd8f44" providerId="LiveId" clId="{A9CFC1E2-CC7F-4F6D-8C3D-9B23DFC48B2E}" dt="2019-08-27T21:23:35.135" v="175" actId="2085"/>
          <ac:spMkLst>
            <pc:docMk/>
            <pc:sldMk cId="0" sldId="389"/>
            <ac:spMk id="2" creationId="{7F0500B2-08D3-4CA4-AE1B-4B8D1AF84043}"/>
          </ac:spMkLst>
        </pc:spChg>
        <pc:picChg chg="mod">
          <ac:chgData name="Lucas Tossolini" userId="82ff3cc4fadd8f44" providerId="LiveId" clId="{A9CFC1E2-CC7F-4F6D-8C3D-9B23DFC48B2E}" dt="2019-08-27T21:23:56.474" v="179" actId="1076"/>
          <ac:picMkLst>
            <pc:docMk/>
            <pc:sldMk cId="0" sldId="389"/>
            <ac:picMk id="15363" creationId="{E560E2C9-02A4-4955-B9A5-D76B5EC10037}"/>
          </ac:picMkLst>
        </pc:picChg>
        <pc:picChg chg="mod">
          <ac:chgData name="Lucas Tossolini" userId="82ff3cc4fadd8f44" providerId="LiveId" clId="{A9CFC1E2-CC7F-4F6D-8C3D-9B23DFC48B2E}" dt="2019-08-27T21:24:20.690" v="184" actId="1076"/>
          <ac:picMkLst>
            <pc:docMk/>
            <pc:sldMk cId="0" sldId="389"/>
            <ac:picMk id="15364" creationId="{CE9E2C5F-78AF-4987-A947-94662A2DA58F}"/>
          </ac:picMkLst>
        </pc:picChg>
      </pc:sldChg>
      <pc:sldChg chg="modSp">
        <pc:chgData name="Lucas Tossolini" userId="82ff3cc4fadd8f44" providerId="LiveId" clId="{A9CFC1E2-CC7F-4F6D-8C3D-9B23DFC48B2E}" dt="2019-08-27T21:24:59.941" v="194"/>
        <pc:sldMkLst>
          <pc:docMk/>
          <pc:sldMk cId="0" sldId="390"/>
        </pc:sldMkLst>
        <pc:spChg chg="mod">
          <ac:chgData name="Lucas Tossolini" userId="82ff3cc4fadd8f44" providerId="LiveId" clId="{A9CFC1E2-CC7F-4F6D-8C3D-9B23DFC48B2E}" dt="2019-08-27T21:24:36.226" v="188" actId="1076"/>
          <ac:spMkLst>
            <pc:docMk/>
            <pc:sldMk cId="0" sldId="390"/>
            <ac:spMk id="2" creationId="{9B0EF14E-1E9A-4832-961A-98549A28C87F}"/>
          </ac:spMkLst>
        </pc:spChg>
        <pc:picChg chg="mod">
          <ac:chgData name="Lucas Tossolini" userId="82ff3cc4fadd8f44" providerId="LiveId" clId="{A9CFC1E2-CC7F-4F6D-8C3D-9B23DFC48B2E}" dt="2019-08-27T21:24:51.637" v="192"/>
          <ac:picMkLst>
            <pc:docMk/>
            <pc:sldMk cId="0" sldId="390"/>
            <ac:picMk id="16387" creationId="{E31C5EE4-1E51-4141-B992-BB3F57EB418C}"/>
          </ac:picMkLst>
        </pc:picChg>
        <pc:picChg chg="mod">
          <ac:chgData name="Lucas Tossolini" userId="82ff3cc4fadd8f44" providerId="LiveId" clId="{A9CFC1E2-CC7F-4F6D-8C3D-9B23DFC48B2E}" dt="2019-08-27T21:24:59.941" v="194"/>
          <ac:picMkLst>
            <pc:docMk/>
            <pc:sldMk cId="0" sldId="390"/>
            <ac:picMk id="16388" creationId="{02EA56B6-BA90-4277-A22A-7B1EB50C392E}"/>
          </ac:picMkLst>
        </pc:picChg>
      </pc:sldChg>
      <pc:sldChg chg="modSp">
        <pc:chgData name="Lucas Tossolini" userId="82ff3cc4fadd8f44" providerId="LiveId" clId="{A9CFC1E2-CC7F-4F6D-8C3D-9B23DFC48B2E}" dt="2019-08-27T21:25:33.516" v="201"/>
        <pc:sldMkLst>
          <pc:docMk/>
          <pc:sldMk cId="0" sldId="392"/>
        </pc:sldMkLst>
        <pc:spChg chg="mod">
          <ac:chgData name="Lucas Tossolini" userId="82ff3cc4fadd8f44" providerId="LiveId" clId="{A9CFC1E2-CC7F-4F6D-8C3D-9B23DFC48B2E}" dt="2019-08-27T21:25:13.986" v="197" actId="14100"/>
          <ac:spMkLst>
            <pc:docMk/>
            <pc:sldMk cId="0" sldId="392"/>
            <ac:spMk id="2" creationId="{11FBF538-D26C-4D36-A6AE-CE694CA37115}"/>
          </ac:spMkLst>
        </pc:spChg>
        <pc:picChg chg="mod">
          <ac:chgData name="Lucas Tossolini" userId="82ff3cc4fadd8f44" providerId="LiveId" clId="{A9CFC1E2-CC7F-4F6D-8C3D-9B23DFC48B2E}" dt="2019-08-27T21:25:33.516" v="201"/>
          <ac:picMkLst>
            <pc:docMk/>
            <pc:sldMk cId="0" sldId="392"/>
            <ac:picMk id="17411" creationId="{6FC7B081-5646-4880-AFCE-7888DAA6BDC7}"/>
          </ac:picMkLst>
        </pc:picChg>
      </pc:sldChg>
      <pc:sldChg chg="modSp add ord modAnim">
        <pc:chgData name="Lucas Tossolini" userId="82ff3cc4fadd8f44" providerId="LiveId" clId="{A9CFC1E2-CC7F-4F6D-8C3D-9B23DFC48B2E}" dt="2019-08-27T21:23:17.012" v="169"/>
        <pc:sldMkLst>
          <pc:docMk/>
          <pc:sldMk cId="2043341601" sldId="393"/>
        </pc:sldMkLst>
        <pc:spChg chg="mod">
          <ac:chgData name="Lucas Tossolini" userId="82ff3cc4fadd8f44" providerId="LiveId" clId="{A9CFC1E2-CC7F-4F6D-8C3D-9B23DFC48B2E}" dt="2019-08-27T21:23:17.012" v="169"/>
          <ac:spMkLst>
            <pc:docMk/>
            <pc:sldMk cId="2043341601" sldId="393"/>
            <ac:spMk id="3" creationId="{39987518-2296-4B57-AE88-0549715C4B52}"/>
          </ac:spMkLst>
        </pc:spChg>
      </pc:sldChg>
      <pc:sldChg chg="add del setBg">
        <pc:chgData name="Lucas Tossolini" userId="82ff3cc4fadd8f44" providerId="LiveId" clId="{A9CFC1E2-CC7F-4F6D-8C3D-9B23DFC48B2E}" dt="2019-08-27T21:22:59.928" v="165"/>
        <pc:sldMkLst>
          <pc:docMk/>
          <pc:sldMk cId="4082557183" sldId="393"/>
        </pc:sldMkLst>
      </pc:sldChg>
      <pc:sldChg chg="addSp delSp modSp add del delAnim modAnim">
        <pc:chgData name="Lucas Tossolini" userId="82ff3cc4fadd8f44" providerId="LiveId" clId="{A9CFC1E2-CC7F-4F6D-8C3D-9B23DFC48B2E}" dt="2019-08-27T21:39:39.281" v="371" actId="2696"/>
        <pc:sldMkLst>
          <pc:docMk/>
          <pc:sldMk cId="1378444576" sldId="394"/>
        </pc:sldMkLst>
        <pc:spChg chg="add mod">
          <ac:chgData name="Lucas Tossolini" userId="82ff3cc4fadd8f44" providerId="LiveId" clId="{A9CFC1E2-CC7F-4F6D-8C3D-9B23DFC48B2E}" dt="2019-08-27T21:37:51.163" v="345" actId="1076"/>
          <ac:spMkLst>
            <pc:docMk/>
            <pc:sldMk cId="1378444576" sldId="394"/>
            <ac:spMk id="8" creationId="{C9E5EA8E-1D75-469D-92BD-C6D592597FF6}"/>
          </ac:spMkLst>
        </pc:spChg>
        <pc:spChg chg="del">
          <ac:chgData name="Lucas Tossolini" userId="82ff3cc4fadd8f44" providerId="LiveId" clId="{A9CFC1E2-CC7F-4F6D-8C3D-9B23DFC48B2E}" dt="2019-08-27T21:34:25.364" v="272" actId="478"/>
          <ac:spMkLst>
            <pc:docMk/>
            <pc:sldMk cId="1378444576" sldId="394"/>
            <ac:spMk id="10" creationId="{B811010B-8190-4A62-A03F-24BE0BBE9488}"/>
          </ac:spMkLst>
        </pc:spChg>
        <pc:spChg chg="del">
          <ac:chgData name="Lucas Tossolini" userId="82ff3cc4fadd8f44" providerId="LiveId" clId="{A9CFC1E2-CC7F-4F6D-8C3D-9B23DFC48B2E}" dt="2019-08-27T21:34:23.806" v="271" actId="478"/>
          <ac:spMkLst>
            <pc:docMk/>
            <pc:sldMk cId="1378444576" sldId="394"/>
            <ac:spMk id="12" creationId="{9CEAEDAF-A743-4B17-AA74-313995AE3AB1}"/>
          </ac:spMkLst>
        </pc:spChg>
        <pc:spChg chg="add mod">
          <ac:chgData name="Lucas Tossolini" userId="82ff3cc4fadd8f44" providerId="LiveId" clId="{A9CFC1E2-CC7F-4F6D-8C3D-9B23DFC48B2E}" dt="2019-08-27T21:39:20.842" v="369" actId="1076"/>
          <ac:spMkLst>
            <pc:docMk/>
            <pc:sldMk cId="1378444576" sldId="394"/>
            <ac:spMk id="14" creationId="{F97E3DD2-DDD1-42A8-9CDA-236F2D66E1A7}"/>
          </ac:spMkLst>
        </pc:spChg>
        <pc:spChg chg="del">
          <ac:chgData name="Lucas Tossolini" userId="82ff3cc4fadd8f44" providerId="LiveId" clId="{A9CFC1E2-CC7F-4F6D-8C3D-9B23DFC48B2E}" dt="2019-08-27T21:34:23.806" v="271" actId="478"/>
          <ac:spMkLst>
            <pc:docMk/>
            <pc:sldMk cId="1378444576" sldId="394"/>
            <ac:spMk id="17" creationId="{C0171D0F-A3FB-4E7D-AEFB-F97D49C4DC90}"/>
          </ac:spMkLst>
        </pc:spChg>
        <pc:spChg chg="del">
          <ac:chgData name="Lucas Tossolini" userId="82ff3cc4fadd8f44" providerId="LiveId" clId="{A9CFC1E2-CC7F-4F6D-8C3D-9B23DFC48B2E}" dt="2019-08-27T21:34:23.806" v="271" actId="478"/>
          <ac:spMkLst>
            <pc:docMk/>
            <pc:sldMk cId="1378444576" sldId="394"/>
            <ac:spMk id="18" creationId="{5DDD0715-A5BD-4C1B-A9BD-F83DD2A7A9B5}"/>
          </ac:spMkLst>
        </pc:spChg>
        <pc:spChg chg="add mod">
          <ac:chgData name="Lucas Tossolini" userId="82ff3cc4fadd8f44" providerId="LiveId" clId="{A9CFC1E2-CC7F-4F6D-8C3D-9B23DFC48B2E}" dt="2019-08-27T21:39:13.123" v="368" actId="14100"/>
          <ac:spMkLst>
            <pc:docMk/>
            <pc:sldMk cId="1378444576" sldId="394"/>
            <ac:spMk id="19" creationId="{4B834640-6C21-4DF2-91F8-956B7053F181}"/>
          </ac:spMkLst>
        </pc:spChg>
        <pc:spChg chg="add mod">
          <ac:chgData name="Lucas Tossolini" userId="82ff3cc4fadd8f44" providerId="LiveId" clId="{A9CFC1E2-CC7F-4F6D-8C3D-9B23DFC48B2E}" dt="2019-08-27T21:39:08.594" v="366" actId="14100"/>
          <ac:spMkLst>
            <pc:docMk/>
            <pc:sldMk cId="1378444576" sldId="394"/>
            <ac:spMk id="20" creationId="{84BDF448-4230-499D-B2A2-30E9D6C613E6}"/>
          </ac:spMkLst>
        </pc:spChg>
        <pc:graphicFrameChg chg="add mod modGraphic">
          <ac:chgData name="Lucas Tossolini" userId="82ff3cc4fadd8f44" providerId="LiveId" clId="{A9CFC1E2-CC7F-4F6D-8C3D-9B23DFC48B2E}" dt="2019-08-27T21:39:24.041" v="370" actId="1076"/>
          <ac:graphicFrameMkLst>
            <pc:docMk/>
            <pc:sldMk cId="1378444576" sldId="394"/>
            <ac:graphicFrameMk id="13" creationId="{DD4ED4B1-F4BC-4D51-BEFD-BC4272EE3C22}"/>
          </ac:graphicFrameMkLst>
        </pc:graphicFrameChg>
        <pc:graphicFrameChg chg="del">
          <ac:chgData name="Lucas Tossolini" userId="82ff3cc4fadd8f44" providerId="LiveId" clId="{A9CFC1E2-CC7F-4F6D-8C3D-9B23DFC48B2E}" dt="2019-08-27T21:34:23.806" v="271" actId="478"/>
          <ac:graphicFrameMkLst>
            <pc:docMk/>
            <pc:sldMk cId="1378444576" sldId="394"/>
            <ac:graphicFrameMk id="15" creationId="{BABB11C8-B662-4D6C-AE88-5838247A08EB}"/>
          </ac:graphicFrameMkLst>
        </pc:graphicFrameChg>
        <pc:graphicFrameChg chg="del">
          <ac:chgData name="Lucas Tossolini" userId="82ff3cc4fadd8f44" providerId="LiveId" clId="{A9CFC1E2-CC7F-4F6D-8C3D-9B23DFC48B2E}" dt="2019-08-27T21:34:23.806" v="271" actId="478"/>
          <ac:graphicFrameMkLst>
            <pc:docMk/>
            <pc:sldMk cId="1378444576" sldId="394"/>
            <ac:graphicFrameMk id="16" creationId="{F00181BE-34B6-46DD-BAAD-C500FFBF886D}"/>
          </ac:graphicFrameMkLst>
        </pc:graphicFrameChg>
        <pc:picChg chg="add mod modCrop">
          <ac:chgData name="Lucas Tossolini" userId="82ff3cc4fadd8f44" providerId="LiveId" clId="{A9CFC1E2-CC7F-4F6D-8C3D-9B23DFC48B2E}" dt="2019-08-27T21:39:03.955" v="364" actId="1076"/>
          <ac:picMkLst>
            <pc:docMk/>
            <pc:sldMk cId="1378444576" sldId="394"/>
            <ac:picMk id="9" creationId="{0C27ABD5-0A1E-4987-973C-840B7482EC11}"/>
          </ac:picMkLst>
        </pc:picChg>
        <pc:picChg chg="add mod modCrop">
          <ac:chgData name="Lucas Tossolini" userId="82ff3cc4fadd8f44" providerId="LiveId" clId="{A9CFC1E2-CC7F-4F6D-8C3D-9B23DFC48B2E}" dt="2019-08-27T21:39:03.955" v="364" actId="1076"/>
          <ac:picMkLst>
            <pc:docMk/>
            <pc:sldMk cId="1378444576" sldId="394"/>
            <ac:picMk id="11" creationId="{D58AA4B5-3FDF-4E1C-A406-69F71B9B99CD}"/>
          </ac:picMkLst>
        </pc:picChg>
        <pc:picChg chg="add mod modCrop">
          <ac:chgData name="Lucas Tossolini" userId="82ff3cc4fadd8f44" providerId="LiveId" clId="{A9CFC1E2-CC7F-4F6D-8C3D-9B23DFC48B2E}" dt="2019-08-27T21:39:11.290" v="367" actId="1076"/>
          <ac:picMkLst>
            <pc:docMk/>
            <pc:sldMk cId="1378444576" sldId="394"/>
            <ac:picMk id="21" creationId="{6A17B433-0A47-4505-A45B-CD36FB831B08}"/>
          </ac:picMkLst>
        </pc:picChg>
        <pc:picChg chg="add mod modCrop">
          <ac:chgData name="Lucas Tossolini" userId="82ff3cc4fadd8f44" providerId="LiveId" clId="{A9CFC1E2-CC7F-4F6D-8C3D-9B23DFC48B2E}" dt="2019-08-27T21:39:06.386" v="365" actId="1076"/>
          <ac:picMkLst>
            <pc:docMk/>
            <pc:sldMk cId="1378444576" sldId="394"/>
            <ac:picMk id="22" creationId="{C533834F-28F1-4F01-8F3C-12F618F2315D}"/>
          </ac:picMkLst>
        </pc:picChg>
      </pc:sldChg>
      <pc:sldChg chg="addSp modSp add">
        <pc:chgData name="Lucas Tossolini" userId="82ff3cc4fadd8f44" providerId="LiveId" clId="{A9CFC1E2-CC7F-4F6D-8C3D-9B23DFC48B2E}" dt="2019-08-27T21:48:39.153" v="470" actId="1076"/>
        <pc:sldMkLst>
          <pc:docMk/>
          <pc:sldMk cId="1459054027" sldId="394"/>
        </pc:sldMkLst>
        <pc:spChg chg="add mod">
          <ac:chgData name="Lucas Tossolini" userId="82ff3cc4fadd8f44" providerId="LiveId" clId="{A9CFC1E2-CC7F-4F6D-8C3D-9B23DFC48B2E}" dt="2019-08-27T21:48:27.241" v="465" actId="1076"/>
          <ac:spMkLst>
            <pc:docMk/>
            <pc:sldMk cId="1459054027" sldId="394"/>
            <ac:spMk id="15" creationId="{C010527F-07CE-4D38-8946-06EEFB0140D3}"/>
          </ac:spMkLst>
        </pc:spChg>
        <pc:spChg chg="add mod">
          <ac:chgData name="Lucas Tossolini" userId="82ff3cc4fadd8f44" providerId="LiveId" clId="{A9CFC1E2-CC7F-4F6D-8C3D-9B23DFC48B2E}" dt="2019-08-27T21:48:31.578" v="467" actId="1076"/>
          <ac:spMkLst>
            <pc:docMk/>
            <pc:sldMk cId="1459054027" sldId="394"/>
            <ac:spMk id="16" creationId="{8F20B0B4-CDE4-471D-8C90-63E5B6837515}"/>
          </ac:spMkLst>
        </pc:spChg>
        <pc:spChg chg="add mod">
          <ac:chgData name="Lucas Tossolini" userId="82ff3cc4fadd8f44" providerId="LiveId" clId="{A9CFC1E2-CC7F-4F6D-8C3D-9B23DFC48B2E}" dt="2019-08-27T21:48:35.937" v="469" actId="1076"/>
          <ac:spMkLst>
            <pc:docMk/>
            <pc:sldMk cId="1459054027" sldId="394"/>
            <ac:spMk id="17" creationId="{06A8990B-5D18-45A1-AEB5-88D5E4DC73AC}"/>
          </ac:spMkLst>
        </pc:spChg>
        <pc:picChg chg="mod">
          <ac:chgData name="Lucas Tossolini" userId="82ff3cc4fadd8f44" providerId="LiveId" clId="{A9CFC1E2-CC7F-4F6D-8C3D-9B23DFC48B2E}" dt="2019-08-27T21:48:39.153" v="470" actId="1076"/>
          <ac:picMkLst>
            <pc:docMk/>
            <pc:sldMk cId="1459054027" sldId="394"/>
            <ac:picMk id="14" creationId="{923996E7-FE77-44CF-9F8E-A8304CEEF83A}"/>
          </ac:picMkLst>
        </pc:picChg>
      </pc:sldChg>
      <pc:sldChg chg="addSp modSp add">
        <pc:chgData name="Lucas Tossolini" userId="82ff3cc4fadd8f44" providerId="LiveId" clId="{A9CFC1E2-CC7F-4F6D-8C3D-9B23DFC48B2E}" dt="2019-08-27T21:49:08.746" v="476" actId="1076"/>
        <pc:sldMkLst>
          <pc:docMk/>
          <pc:sldMk cId="3643883001" sldId="395"/>
        </pc:sldMkLst>
        <pc:spChg chg="add mod">
          <ac:chgData name="Lucas Tossolini" userId="82ff3cc4fadd8f44" providerId="LiveId" clId="{A9CFC1E2-CC7F-4F6D-8C3D-9B23DFC48B2E}" dt="2019-08-27T21:48:55.609" v="472" actId="1076"/>
          <ac:spMkLst>
            <pc:docMk/>
            <pc:sldMk cId="3643883001" sldId="395"/>
            <ac:spMk id="12" creationId="{43FCEFBF-F514-4CA8-9FC9-7739A31A2543}"/>
          </ac:spMkLst>
        </pc:spChg>
        <pc:spChg chg="add mod">
          <ac:chgData name="Lucas Tossolini" userId="82ff3cc4fadd8f44" providerId="LiveId" clId="{A9CFC1E2-CC7F-4F6D-8C3D-9B23DFC48B2E}" dt="2019-08-27T21:48:59.585" v="474" actId="1076"/>
          <ac:spMkLst>
            <pc:docMk/>
            <pc:sldMk cId="3643883001" sldId="395"/>
            <ac:spMk id="13" creationId="{B58F726E-EFE4-425E-A323-9D45D48A7AD0}"/>
          </ac:spMkLst>
        </pc:spChg>
        <pc:spChg chg="add mod">
          <ac:chgData name="Lucas Tossolini" userId="82ff3cc4fadd8f44" providerId="LiveId" clId="{A9CFC1E2-CC7F-4F6D-8C3D-9B23DFC48B2E}" dt="2019-08-27T21:49:08.746" v="476" actId="1076"/>
          <ac:spMkLst>
            <pc:docMk/>
            <pc:sldMk cId="3643883001" sldId="395"/>
            <ac:spMk id="14" creationId="{D8262C85-ED40-46F5-A396-902F76F00447}"/>
          </ac:spMkLst>
        </pc:spChg>
      </pc:sldChg>
      <pc:sldChg chg="modSp">
        <pc:chgData name="Lucas Tossolini" userId="82ff3cc4fadd8f44" providerId="LiveId" clId="{A9CFC1E2-CC7F-4F6D-8C3D-9B23DFC48B2E}" dt="2019-08-27T21:51:49.786" v="481"/>
        <pc:sldMkLst>
          <pc:docMk/>
          <pc:sldMk cId="0" sldId="396"/>
        </pc:sldMkLst>
        <pc:spChg chg="mod">
          <ac:chgData name="Lucas Tossolini" userId="82ff3cc4fadd8f44" providerId="LiveId" clId="{A9CFC1E2-CC7F-4F6D-8C3D-9B23DFC48B2E}" dt="2019-08-27T21:51:42.529" v="480" actId="1076"/>
          <ac:spMkLst>
            <pc:docMk/>
            <pc:sldMk cId="0" sldId="396"/>
            <ac:spMk id="4" creationId="{00000000-0000-0000-0000-000000000000}"/>
          </ac:spMkLst>
        </pc:spChg>
        <pc:picChg chg="mod">
          <ac:chgData name="Lucas Tossolini" userId="82ff3cc4fadd8f44" providerId="LiveId" clId="{A9CFC1E2-CC7F-4F6D-8C3D-9B23DFC48B2E}" dt="2019-08-27T21:51:49.786" v="481"/>
          <ac:picMkLst>
            <pc:docMk/>
            <pc:sldMk cId="0" sldId="396"/>
            <ac:picMk id="5122" creationId="{00000000-0000-0000-0000-000000000000}"/>
          </ac:picMkLst>
        </pc:picChg>
      </pc:sldChg>
      <pc:sldChg chg="modSp">
        <pc:chgData name="Lucas Tossolini" userId="82ff3cc4fadd8f44" providerId="LiveId" clId="{A9CFC1E2-CC7F-4F6D-8C3D-9B23DFC48B2E}" dt="2019-08-27T22:02:47.104" v="518" actId="108"/>
        <pc:sldMkLst>
          <pc:docMk/>
          <pc:sldMk cId="0" sldId="397"/>
        </pc:sldMkLst>
        <pc:spChg chg="mod">
          <ac:chgData name="Lucas Tossolini" userId="82ff3cc4fadd8f44" providerId="LiveId" clId="{A9CFC1E2-CC7F-4F6D-8C3D-9B23DFC48B2E}" dt="2019-08-27T22:02:42.380" v="517" actId="113"/>
          <ac:spMkLst>
            <pc:docMk/>
            <pc:sldMk cId="0" sldId="397"/>
            <ac:spMk id="6" creationId="{00000000-0000-0000-0000-000000000000}"/>
          </ac:spMkLst>
        </pc:spChg>
        <pc:spChg chg="mod">
          <ac:chgData name="Lucas Tossolini" userId="82ff3cc4fadd8f44" providerId="LiveId" clId="{A9CFC1E2-CC7F-4F6D-8C3D-9B23DFC48B2E}" dt="2019-08-27T22:01:56.109" v="508" actId="207"/>
          <ac:spMkLst>
            <pc:docMk/>
            <pc:sldMk cId="0" sldId="397"/>
            <ac:spMk id="7" creationId="{00000000-0000-0000-0000-000000000000}"/>
          </ac:spMkLst>
        </pc:spChg>
        <pc:spChg chg="mod">
          <ac:chgData name="Lucas Tossolini" userId="82ff3cc4fadd8f44" providerId="LiveId" clId="{A9CFC1E2-CC7F-4F6D-8C3D-9B23DFC48B2E}" dt="2019-08-27T22:02:47.104" v="518" actId="108"/>
          <ac:spMkLst>
            <pc:docMk/>
            <pc:sldMk cId="0" sldId="397"/>
            <ac:spMk id="8" creationId="{00000000-0000-0000-0000-000000000000}"/>
          </ac:spMkLst>
        </pc:spChg>
        <pc:spChg chg="mod">
          <ac:chgData name="Lucas Tossolini" userId="82ff3cc4fadd8f44" providerId="LiveId" clId="{A9CFC1E2-CC7F-4F6D-8C3D-9B23DFC48B2E}" dt="2019-08-27T22:01:29.342" v="506" actId="207"/>
          <ac:spMkLst>
            <pc:docMk/>
            <pc:sldMk cId="0" sldId="397"/>
            <ac:spMk id="9" creationId="{00000000-0000-0000-0000-000000000000}"/>
          </ac:spMkLst>
        </pc:spChg>
        <pc:spChg chg="mod">
          <ac:chgData name="Lucas Tossolini" userId="82ff3cc4fadd8f44" providerId="LiveId" clId="{A9CFC1E2-CC7F-4F6D-8C3D-9B23DFC48B2E}" dt="2019-08-27T22:01:56.109" v="508" actId="207"/>
          <ac:spMkLst>
            <pc:docMk/>
            <pc:sldMk cId="0" sldId="397"/>
            <ac:spMk id="13" creationId="{00000000-0000-0000-0000-000000000000}"/>
          </ac:spMkLst>
        </pc:spChg>
        <pc:spChg chg="mod">
          <ac:chgData name="Lucas Tossolini" userId="82ff3cc4fadd8f44" providerId="LiveId" clId="{A9CFC1E2-CC7F-4F6D-8C3D-9B23DFC48B2E}" dt="2019-08-27T22:02:06.209" v="511" actId="207"/>
          <ac:spMkLst>
            <pc:docMk/>
            <pc:sldMk cId="0" sldId="397"/>
            <ac:spMk id="14" creationId="{00000000-0000-0000-0000-000000000000}"/>
          </ac:spMkLst>
        </pc:spChg>
        <pc:spChg chg="mod">
          <ac:chgData name="Lucas Tossolini" userId="82ff3cc4fadd8f44" providerId="LiveId" clId="{A9CFC1E2-CC7F-4F6D-8C3D-9B23DFC48B2E}" dt="2019-08-27T22:02:38.229" v="516" actId="404"/>
          <ac:spMkLst>
            <pc:docMk/>
            <pc:sldMk cId="0" sldId="397"/>
            <ac:spMk id="15" creationId="{00000000-0000-0000-0000-000000000000}"/>
          </ac:spMkLst>
        </pc:spChg>
        <pc:spChg chg="mod">
          <ac:chgData name="Lucas Tossolini" userId="82ff3cc4fadd8f44" providerId="LiveId" clId="{A9CFC1E2-CC7F-4F6D-8C3D-9B23DFC48B2E}" dt="2019-08-27T22:02:38.229" v="516" actId="404"/>
          <ac:spMkLst>
            <pc:docMk/>
            <pc:sldMk cId="0" sldId="397"/>
            <ac:spMk id="22" creationId="{00000000-0000-0000-0000-000000000000}"/>
          </ac:spMkLst>
        </pc:spChg>
        <pc:spChg chg="mod">
          <ac:chgData name="Lucas Tossolini" userId="82ff3cc4fadd8f44" providerId="LiveId" clId="{A9CFC1E2-CC7F-4F6D-8C3D-9B23DFC48B2E}" dt="2019-08-27T22:01:17.410" v="503" actId="108"/>
          <ac:spMkLst>
            <pc:docMk/>
            <pc:sldMk cId="0" sldId="397"/>
            <ac:spMk id="60" creationId="{00000000-0000-0000-0000-000000000000}"/>
          </ac:spMkLst>
        </pc:spChg>
        <pc:graphicFrameChg chg="mod">
          <ac:chgData name="Lucas Tossolini" userId="82ff3cc4fadd8f44" providerId="LiveId" clId="{A9CFC1E2-CC7F-4F6D-8C3D-9B23DFC48B2E}" dt="2019-08-27T22:02:11.904" v="512" actId="1076"/>
          <ac:graphicFrameMkLst>
            <pc:docMk/>
            <pc:sldMk cId="0" sldId="397"/>
            <ac:graphicFrameMk id="23" creationId="{00000000-0000-0000-0000-000000000000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D:\Usuario\Documents\LA%20CAJA%20Y%20EL%20BANCO\LIBRO\CAPITULOS\Cap&#237;tulo%202%201900-1913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D:\Usuario\Documents\LA%20CAJA%20Y%20EL%20BANCO\LIBRO\CAPITULOS\Cap&#237;tulo%202%201900-1913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D:\Usuario\Documents\LA%20CAJA%20Y%20EL%20BANCO\LIBRO\CAPITULOS\Cap&#237;tulo%202%201900-1913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D:\Usuario\Documents\LA%20CAJA%20Y%20EL%20BANCO\LIBRO\CAPITULOS\Cap&#237;tulo%202%201900-1913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D:\Usuario\Documents\LA%20CAJA%20Y%20EL%20BANCO\LIBRO\CAPITULOS\Cap&#237;tulo%202%201900-1913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D:\Usuario\Documents\LA%20CAJA%20Y%20EL%20BANCO\LIBRO\CAPITULOS\Cap&#237;tulo%202%201900-1913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D:\Usuario\Documents\LA%20CAJA%20Y%20EL%20BANCO\LIBRO\CAPITULOS\Cap&#237;tulo%202%201900-1913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D:\Usuario\Documents\LA%20CAJA%20Y%20EL%20BANCO\LIBRO\CAPITULOS\Cap&#237;tulo%202%201900-1913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D:\Usuario\Documents\LA%20CAJA%20Y%20EL%20BANCO\LIBRO\CAPITULOS\Cap&#237;tulo%202%201900-1913.xlsx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D:\Usuario\Documents\LA%20CAJA%20Y%20EL%20BANCO\LIBRO\CAPITULOS\Cap&#237;tulo%202%201900-1913.xlsx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D:\Usuario\Documents\LA%20CAJA%20Y%20EL%20BANCO\LIBRO\CAPITULOS\Cap&#237;tulo%203%201914-1918%20(2).xlsx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D:\Usuario\Documents\LA%20CAJA%20Y%20EL%20BANCO\LIBRO\CAPITULOS\Cap&#237;tulo%203%201914-1918%20(2).xlsx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file:///D:\Usuario\Documents\LA%20CAJA%20Y%20EL%20BANCO\LIBRO\CAPITULOS\Cap&#237;tulo%203%201914-1918%20(2).xlsx" TargetMode="Externa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oleObject" Target="file:///D:\Usuario\Documents\LA%20CAJA%20Y%20EL%20BANCO\LIBRO\CAPITULOS\Cap&#237;tulo%203%201914-1918%20(2).xlsx" TargetMode="External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oleObject" Target="file:///D:\Usuario\Downloads\Nuevas%20tablas%20de%20contingencia%20%20(Oro%20y%20BM)%20(recalculo%20cambiando%203er%20periodo)%20(2).xlsx" TargetMode="Externa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oleObject" Target="file:///D:\Usuario\Documents\LA%20CAJA%20Y%20EL%20BANCO\LIBRO\CAPITULOS\Cap&#237;tulo%203%201914-1918%20(2).xlsx" TargetMode="Externa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Libro%20AVATARES%20final\Gr&#225;ficos%20Avatares%20(modif%20lucas).xlsx" TargetMode="Externa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s\Dropbox\BNA%20para%20Brasil\Graficos%20y%20cuadros%20para%20BNA%20brasil.xlsx" TargetMode="External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s\Dropbox\BNA%20para%20Brasil\Graficos%20y%20cuadros%20para%20BNA%20brasil.xlsx" TargetMode="External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oleObject" Target="file:///D:\Usuario\Documents\LA%20CAJA%20Y%20EL%20BANCO\LIBRO\CAPITULOS\Cap&#237;tulo%204%201919-1928.xlsx" TargetMode="External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oleObject" Target="file:///D:\Usuario\Documents\LA%20CAJA%20Y%20EL%20BANCO\LIBRO\CAPITULOS\Cap&#237;tulo%204%201919-1928.xlsx" TargetMode="External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s\Dropbox\Capitulos%20libro-tablas%20y%20graficos\Nuevas%20tablas%20de%20contingencia%20%20(Oro%20y%20BM)%20(recalculo%20cambiando%203er%20periodo).xlsx" TargetMode="External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oleObject" Target="file:///D:\Usuario\Documents\LA%20CAJA%20Y%20EL%20BANCO\LIBRO\CAPITULOS\Cap&#237;tulo%204%201919-1928.xlsx" TargetMode="External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oleObject" Target="file:///D:\Usuario\Documents\LA%20CAJA%20Y%20EL%20BANCO\LIBRO\CAPITULOS\Cap&#237;tulo%204%201919-1928.xlsx" TargetMode="External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oleObject" Target="file:///D:\Usuario\Documents\LA%20CAJA%20Y%20EL%20BANCO\LIBRO\CAPITULOS\Cap&#237;tulo%204%201919-1928.xlsx" TargetMode="External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oleObject" Target="file:///D:\Usuario\Documents\LA%20CAJA%20Y%20EL%20BANCO\LIBRO\CAPITULOS\Cap&#237;tulo%204%201919-1928.xlsx" TargetMode="External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oleObject" Target="file:///D:\Usuario\Documents\LA%20CAJA%20Y%20EL%20BANCO\LIBRO\CAPITULOS\Cap&#237;tulo%204%201919-1928.xlsx" TargetMode="External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s\Dropbox\BNA%20para%20Brasil\Graficos%20y%20cuadros%20para%20BNA%20brasil.xlsx" TargetMode="External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s\Dropbox\Libro%20AVATARES%20final\Gr&#225;ficos%20Avatares%20(final).xlsx" TargetMode="External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s\Dropbox\Libro%20AVATARES%20final\Gr&#225;ficos%20Avatares.xlsx" TargetMode="External"/></Relationships>
</file>

<file path=ppt/charts/_rels/chart31.xml.rels><?xml version="1.0" encoding="UTF-8" standalone="yes"?>
<Relationships xmlns="http://schemas.openxmlformats.org/package/2006/relationships"><Relationship Id="rId2" Type="http://schemas.openxmlformats.org/officeDocument/2006/relationships/oleObject" Target="file:///D:\Users\Monica\Documents\LA%20CAJA%20Y%20EL%20BANCO\BNA\Banco-Estado.xls" TargetMode="External"/><Relationship Id="rId1" Type="http://schemas.openxmlformats.org/officeDocument/2006/relationships/themeOverride" Target="../theme/themeOverride1.xml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Libro%20AVATARES%20final\Gr&#225;ficos%20Avatares%20(modif%20lucas).xlsx" TargetMode="External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t\Dropbox\HEAnuevo\Libro%20AVATARES%20final\Gr&#225;ficos%20Avatares%20(modif%20lucas).xlsx" TargetMode="External"/></Relationships>
</file>

<file path=ppt/charts/_rels/chart34.xml.rels><?xml version="1.0" encoding="UTF-8" standalone="yes"?>
<Relationships xmlns="http://schemas.openxmlformats.org/package/2006/relationships"><Relationship Id="rId1" Type="http://schemas.openxmlformats.org/officeDocument/2006/relationships/oleObject" Target="file:///D:\Usuario\Documents\LA%20CAJA%20Y%20EL%20BANCO\LIBRO\CAPITULOS\Cap&#237;tulo%205%201929-1934.xlsx" TargetMode="External"/></Relationships>
</file>

<file path=ppt/charts/_rels/chart35.xml.rels><?xml version="1.0" encoding="UTF-8" standalone="yes"?>
<Relationships xmlns="http://schemas.openxmlformats.org/package/2006/relationships"><Relationship Id="rId1" Type="http://schemas.openxmlformats.org/officeDocument/2006/relationships/oleObject" Target="file:///D:\Usuario\Documents\LA%20CAJA%20Y%20EL%20BANCO\LIBRO\CAPITULOS\Cap&#237;tulo%205%201929-1934.xlsx" TargetMode="External"/></Relationships>
</file>

<file path=ppt/charts/_rels/chart3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s\Dropbox\HEA%20caja%20gran%20dep\Liquidez%20y%20solvencia\Radios%20de%20Liquidez%20y%20solvencia.xlsx" TargetMode="External"/></Relationships>
</file>

<file path=ppt/charts/_rels/chart3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s\Dropbox\HEA%20caja%20gran%20dep\Liquidez%20y%20solvencia\Radios%20de%20Liquidez%20y%20solvencia.xlsx" TargetMode="External"/></Relationships>
</file>

<file path=ppt/charts/_rels/chart3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s\Dropbox\BNA%20para%20Brasil\Graficos%20y%20cuadros%20para%20BNA%20brasil.xlsx" TargetMode="External"/></Relationships>
</file>

<file path=ppt/charts/_rels/chart3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s\Dropbox\BNA%20para%20Brasil\Graficos%20y%20cuadros%20para%20BNA%20brasil.xlsx" TargetMode="External"/></Relationships>
</file>

<file path=ppt/charts/_rels/chart4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s\Dropbox\BNA%20para%20Brasil\Graficos%20y%20cuadros%20para%20BNA%20brasil.xlsx" TargetMode="External"/></Relationships>
</file>

<file path=ppt/charts/_rels/chart4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Cristian\Downloads\BN%20Estado_GABRIEL.xlsx" TargetMode="External"/></Relationships>
</file>

<file path=ppt/charts/_rels/chart42.xml.rels><?xml version="1.0" encoding="UTF-8" standalone="yes"?>
<Relationships xmlns="http://schemas.openxmlformats.org/package/2006/relationships"><Relationship Id="rId1" Type="http://schemas.openxmlformats.org/officeDocument/2006/relationships/oleObject" Target="Libro1" TargetMode="External"/></Relationships>
</file>

<file path=ppt/charts/_rels/chart4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Lucas\Dropbox\La%20Caja%20y%20el%20Banco\29-35%20ponencia%20Salta\Ponencia%20Final\otros%20graficos%20ponencia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8.4931751952058626E-2"/>
          <c:y val="4.7295024292176344E-2"/>
          <c:w val="0.89098310079661081"/>
          <c:h val="0.66973829928717477"/>
        </c:manualLayout>
      </c:layout>
      <c:lineChart>
        <c:grouping val="standard"/>
        <c:varyColors val="0"/>
        <c:ser>
          <c:idx val="0"/>
          <c:order val="0"/>
          <c:tx>
            <c:strRef>
              <c:f>'Tipo de Cambio'!$D$1</c:f>
              <c:strCache>
                <c:ptCount val="1"/>
                <c:pt idx="0">
                  <c:v>Observado</c:v>
                </c:pt>
              </c:strCache>
            </c:strRef>
          </c:tx>
          <c:spPr>
            <a:ln w="57150">
              <a:solidFill>
                <a:schemeClr val="tx2">
                  <a:lumMod val="75000"/>
                </a:schemeClr>
              </a:solidFill>
            </a:ln>
          </c:spPr>
          <c:marker>
            <c:symbol val="none"/>
          </c:marker>
          <c:cat>
            <c:multiLvlStrRef>
              <c:f>'Tipo de Cambio'!$A$2:$B$157</c:f>
              <c:multiLvlStrCache>
                <c:ptCount val="156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  <c:pt idx="12">
                    <c:v>Ene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Abr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Ago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Dic</c:v>
                  </c:pt>
                  <c:pt idx="24">
                    <c:v>Ene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Abr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Ago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Dic</c:v>
                  </c:pt>
                  <c:pt idx="36">
                    <c:v>Ene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Abr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Ago</c:v>
                  </c:pt>
                  <c:pt idx="44">
                    <c:v>Sep</c:v>
                  </c:pt>
                  <c:pt idx="45">
                    <c:v>Oct</c:v>
                  </c:pt>
                  <c:pt idx="46">
                    <c:v>Nov</c:v>
                  </c:pt>
                  <c:pt idx="47">
                    <c:v>Dic</c:v>
                  </c:pt>
                  <c:pt idx="48">
                    <c:v>Ene</c:v>
                  </c:pt>
                  <c:pt idx="49">
                    <c:v>Feb</c:v>
                  </c:pt>
                  <c:pt idx="50">
                    <c:v>Mar</c:v>
                  </c:pt>
                  <c:pt idx="51">
                    <c:v>Abr</c:v>
                  </c:pt>
                  <c:pt idx="52">
                    <c:v>May</c:v>
                  </c:pt>
                  <c:pt idx="53">
                    <c:v>Jun</c:v>
                  </c:pt>
                  <c:pt idx="54">
                    <c:v>Jul</c:v>
                  </c:pt>
                  <c:pt idx="55">
                    <c:v>Ago</c:v>
                  </c:pt>
                  <c:pt idx="56">
                    <c:v>Sep</c:v>
                  </c:pt>
                  <c:pt idx="57">
                    <c:v>Oct</c:v>
                  </c:pt>
                  <c:pt idx="58">
                    <c:v>Nov</c:v>
                  </c:pt>
                  <c:pt idx="59">
                    <c:v>Dic</c:v>
                  </c:pt>
                  <c:pt idx="60">
                    <c:v>Ene</c:v>
                  </c:pt>
                  <c:pt idx="61">
                    <c:v>Feb</c:v>
                  </c:pt>
                  <c:pt idx="62">
                    <c:v>Mar</c:v>
                  </c:pt>
                  <c:pt idx="63">
                    <c:v>Abr</c:v>
                  </c:pt>
                  <c:pt idx="64">
                    <c:v>May</c:v>
                  </c:pt>
                  <c:pt idx="65">
                    <c:v>Jun</c:v>
                  </c:pt>
                  <c:pt idx="66">
                    <c:v>Jul</c:v>
                  </c:pt>
                  <c:pt idx="67">
                    <c:v>Ago</c:v>
                  </c:pt>
                  <c:pt idx="68">
                    <c:v>Sep</c:v>
                  </c:pt>
                  <c:pt idx="69">
                    <c:v>Oct</c:v>
                  </c:pt>
                  <c:pt idx="70">
                    <c:v>Nov</c:v>
                  </c:pt>
                  <c:pt idx="71">
                    <c:v>Dic</c:v>
                  </c:pt>
                  <c:pt idx="72">
                    <c:v>Ene</c:v>
                  </c:pt>
                  <c:pt idx="73">
                    <c:v>Feb</c:v>
                  </c:pt>
                  <c:pt idx="74">
                    <c:v>Mar</c:v>
                  </c:pt>
                  <c:pt idx="75">
                    <c:v>Abr</c:v>
                  </c:pt>
                  <c:pt idx="76">
                    <c:v>May</c:v>
                  </c:pt>
                  <c:pt idx="77">
                    <c:v>Jun</c:v>
                  </c:pt>
                  <c:pt idx="78">
                    <c:v>Jul</c:v>
                  </c:pt>
                  <c:pt idx="79">
                    <c:v>Ago</c:v>
                  </c:pt>
                  <c:pt idx="80">
                    <c:v>Sep</c:v>
                  </c:pt>
                  <c:pt idx="81">
                    <c:v>Oct</c:v>
                  </c:pt>
                  <c:pt idx="82">
                    <c:v>Nov</c:v>
                  </c:pt>
                  <c:pt idx="83">
                    <c:v>Dic</c:v>
                  </c:pt>
                  <c:pt idx="84">
                    <c:v>Ene</c:v>
                  </c:pt>
                  <c:pt idx="85">
                    <c:v>Feb</c:v>
                  </c:pt>
                  <c:pt idx="86">
                    <c:v>Mar</c:v>
                  </c:pt>
                  <c:pt idx="87">
                    <c:v>Abr</c:v>
                  </c:pt>
                  <c:pt idx="88">
                    <c:v>May</c:v>
                  </c:pt>
                  <c:pt idx="89">
                    <c:v>Jun</c:v>
                  </c:pt>
                  <c:pt idx="90">
                    <c:v>Jul</c:v>
                  </c:pt>
                  <c:pt idx="91">
                    <c:v>Ago</c:v>
                  </c:pt>
                  <c:pt idx="92">
                    <c:v>Sep</c:v>
                  </c:pt>
                  <c:pt idx="93">
                    <c:v>Oct</c:v>
                  </c:pt>
                  <c:pt idx="94">
                    <c:v>Nov</c:v>
                  </c:pt>
                  <c:pt idx="95">
                    <c:v>Dic</c:v>
                  </c:pt>
                  <c:pt idx="96">
                    <c:v>Ene</c:v>
                  </c:pt>
                  <c:pt idx="97">
                    <c:v>Feb</c:v>
                  </c:pt>
                  <c:pt idx="98">
                    <c:v>Mar</c:v>
                  </c:pt>
                  <c:pt idx="99">
                    <c:v>Abr</c:v>
                  </c:pt>
                  <c:pt idx="100">
                    <c:v>May</c:v>
                  </c:pt>
                  <c:pt idx="101">
                    <c:v>Jun</c:v>
                  </c:pt>
                  <c:pt idx="102">
                    <c:v>Jul</c:v>
                  </c:pt>
                  <c:pt idx="103">
                    <c:v>Ago</c:v>
                  </c:pt>
                  <c:pt idx="104">
                    <c:v>Sep</c:v>
                  </c:pt>
                  <c:pt idx="105">
                    <c:v>Oct</c:v>
                  </c:pt>
                  <c:pt idx="106">
                    <c:v>Nov</c:v>
                  </c:pt>
                  <c:pt idx="107">
                    <c:v>Dic</c:v>
                  </c:pt>
                  <c:pt idx="108">
                    <c:v>Ene</c:v>
                  </c:pt>
                  <c:pt idx="109">
                    <c:v>Feb</c:v>
                  </c:pt>
                  <c:pt idx="110">
                    <c:v>Mar</c:v>
                  </c:pt>
                  <c:pt idx="111">
                    <c:v>Abr</c:v>
                  </c:pt>
                  <c:pt idx="112">
                    <c:v>May</c:v>
                  </c:pt>
                  <c:pt idx="113">
                    <c:v>Jun</c:v>
                  </c:pt>
                  <c:pt idx="114">
                    <c:v>Jul</c:v>
                  </c:pt>
                  <c:pt idx="115">
                    <c:v>Ago</c:v>
                  </c:pt>
                  <c:pt idx="116">
                    <c:v>Sep</c:v>
                  </c:pt>
                  <c:pt idx="117">
                    <c:v>Oct</c:v>
                  </c:pt>
                  <c:pt idx="118">
                    <c:v>Nov</c:v>
                  </c:pt>
                  <c:pt idx="119">
                    <c:v>Dic</c:v>
                  </c:pt>
                  <c:pt idx="120">
                    <c:v>Ene</c:v>
                  </c:pt>
                  <c:pt idx="121">
                    <c:v>Feb</c:v>
                  </c:pt>
                  <c:pt idx="122">
                    <c:v>Mar</c:v>
                  </c:pt>
                  <c:pt idx="123">
                    <c:v>Abr</c:v>
                  </c:pt>
                  <c:pt idx="124">
                    <c:v>May</c:v>
                  </c:pt>
                  <c:pt idx="125">
                    <c:v>Jun</c:v>
                  </c:pt>
                  <c:pt idx="126">
                    <c:v>Jul</c:v>
                  </c:pt>
                  <c:pt idx="127">
                    <c:v>Ago</c:v>
                  </c:pt>
                  <c:pt idx="128">
                    <c:v>Sep</c:v>
                  </c:pt>
                  <c:pt idx="129">
                    <c:v>Oct</c:v>
                  </c:pt>
                  <c:pt idx="130">
                    <c:v>Nov</c:v>
                  </c:pt>
                  <c:pt idx="131">
                    <c:v>Dic</c:v>
                  </c:pt>
                  <c:pt idx="132">
                    <c:v>Ene</c:v>
                  </c:pt>
                  <c:pt idx="133">
                    <c:v>Feb</c:v>
                  </c:pt>
                  <c:pt idx="134">
                    <c:v>Mar</c:v>
                  </c:pt>
                  <c:pt idx="135">
                    <c:v>Abr</c:v>
                  </c:pt>
                  <c:pt idx="136">
                    <c:v>May</c:v>
                  </c:pt>
                  <c:pt idx="137">
                    <c:v>Jun</c:v>
                  </c:pt>
                  <c:pt idx="138">
                    <c:v>Jul</c:v>
                  </c:pt>
                  <c:pt idx="139">
                    <c:v>Ago</c:v>
                  </c:pt>
                  <c:pt idx="140">
                    <c:v>Sep</c:v>
                  </c:pt>
                  <c:pt idx="141">
                    <c:v>Oct</c:v>
                  </c:pt>
                  <c:pt idx="142">
                    <c:v>Nov</c:v>
                  </c:pt>
                  <c:pt idx="143">
                    <c:v>Dic</c:v>
                  </c:pt>
                  <c:pt idx="144">
                    <c:v>Ene</c:v>
                  </c:pt>
                  <c:pt idx="145">
                    <c:v>Feb</c:v>
                  </c:pt>
                  <c:pt idx="146">
                    <c:v>Mar</c:v>
                  </c:pt>
                  <c:pt idx="147">
                    <c:v>Abr</c:v>
                  </c:pt>
                  <c:pt idx="148">
                    <c:v>May</c:v>
                  </c:pt>
                  <c:pt idx="149">
                    <c:v>Jun</c:v>
                  </c:pt>
                  <c:pt idx="150">
                    <c:v>Jul</c:v>
                  </c:pt>
                  <c:pt idx="151">
                    <c:v>Ago</c:v>
                  </c:pt>
                  <c:pt idx="152">
                    <c:v>Sep</c:v>
                  </c:pt>
                  <c:pt idx="153">
                    <c:v>Oct</c:v>
                  </c:pt>
                  <c:pt idx="154">
                    <c:v>Nov</c:v>
                  </c:pt>
                  <c:pt idx="155">
                    <c:v>Dic</c:v>
                  </c:pt>
                </c:lvl>
                <c:lvl>
                  <c:pt idx="0">
                    <c:v>1901</c:v>
                  </c:pt>
                  <c:pt idx="12">
                    <c:v>1902</c:v>
                  </c:pt>
                  <c:pt idx="24">
                    <c:v>1903</c:v>
                  </c:pt>
                  <c:pt idx="36">
                    <c:v>1904</c:v>
                  </c:pt>
                  <c:pt idx="48">
                    <c:v>1905</c:v>
                  </c:pt>
                  <c:pt idx="60">
                    <c:v>1906</c:v>
                  </c:pt>
                  <c:pt idx="72">
                    <c:v>1907</c:v>
                  </c:pt>
                  <c:pt idx="84">
                    <c:v>1908</c:v>
                  </c:pt>
                  <c:pt idx="96">
                    <c:v>1909</c:v>
                  </c:pt>
                  <c:pt idx="108">
                    <c:v>1910</c:v>
                  </c:pt>
                  <c:pt idx="120">
                    <c:v>1911</c:v>
                  </c:pt>
                  <c:pt idx="132">
                    <c:v>1912</c:v>
                  </c:pt>
                  <c:pt idx="144">
                    <c:v>1913</c:v>
                  </c:pt>
                </c:lvl>
              </c:multiLvlStrCache>
            </c:multiLvlStrRef>
          </c:cat>
          <c:val>
            <c:numRef>
              <c:f>'Tipo de Cambio'!$D$2:$D$157</c:f>
              <c:numCache>
                <c:formatCode>_(* #,##0.00_);_(* \(#,##0.00\);_(* "-"??_);_(@_)</c:formatCode>
                <c:ptCount val="156"/>
                <c:pt idx="0">
                  <c:v>2.31</c:v>
                </c:pt>
                <c:pt idx="1">
                  <c:v>2.2999999999999998</c:v>
                </c:pt>
                <c:pt idx="2">
                  <c:v>2.2799999999999998</c:v>
                </c:pt>
                <c:pt idx="3">
                  <c:v>2.2999999999999998</c:v>
                </c:pt>
                <c:pt idx="4">
                  <c:v>2.33</c:v>
                </c:pt>
                <c:pt idx="5">
                  <c:v>2.34</c:v>
                </c:pt>
                <c:pt idx="6">
                  <c:v>2.36</c:v>
                </c:pt>
                <c:pt idx="7">
                  <c:v>2.33</c:v>
                </c:pt>
                <c:pt idx="8">
                  <c:v>2.31</c:v>
                </c:pt>
                <c:pt idx="9">
                  <c:v>2.31</c:v>
                </c:pt>
                <c:pt idx="10">
                  <c:v>2.3199999999999998</c:v>
                </c:pt>
                <c:pt idx="11">
                  <c:v>2.41</c:v>
                </c:pt>
                <c:pt idx="12">
                  <c:v>2.36</c:v>
                </c:pt>
                <c:pt idx="13">
                  <c:v>2.4</c:v>
                </c:pt>
                <c:pt idx="14">
                  <c:v>2.41</c:v>
                </c:pt>
                <c:pt idx="15">
                  <c:v>2.44</c:v>
                </c:pt>
                <c:pt idx="16">
                  <c:v>2.37</c:v>
                </c:pt>
                <c:pt idx="17">
                  <c:v>2.3199999999999998</c:v>
                </c:pt>
                <c:pt idx="18">
                  <c:v>2.2999999999999998</c:v>
                </c:pt>
                <c:pt idx="19">
                  <c:v>2.29</c:v>
                </c:pt>
                <c:pt idx="20">
                  <c:v>2.29</c:v>
                </c:pt>
                <c:pt idx="21">
                  <c:v>2.2726999999999999</c:v>
                </c:pt>
                <c:pt idx="22">
                  <c:v>2.2726999999999999</c:v>
                </c:pt>
                <c:pt idx="23">
                  <c:v>2.2726999999999999</c:v>
                </c:pt>
                <c:pt idx="24">
                  <c:v>2.2726999999999999</c:v>
                </c:pt>
                <c:pt idx="25">
                  <c:v>2.2726999999999999</c:v>
                </c:pt>
                <c:pt idx="26">
                  <c:v>2.2726999999999999</c:v>
                </c:pt>
                <c:pt idx="27">
                  <c:v>2.2726999999999999</c:v>
                </c:pt>
                <c:pt idx="28">
                  <c:v>2.2726999999999999</c:v>
                </c:pt>
                <c:pt idx="29">
                  <c:v>2.2726999999999999</c:v>
                </c:pt>
                <c:pt idx="30">
                  <c:v>2.2726999999999999</c:v>
                </c:pt>
                <c:pt idx="31">
                  <c:v>2.2726999999999999</c:v>
                </c:pt>
                <c:pt idx="32">
                  <c:v>2.2726999999999999</c:v>
                </c:pt>
                <c:pt idx="33">
                  <c:v>2.2726999999999999</c:v>
                </c:pt>
                <c:pt idx="34">
                  <c:v>2.2726999999999999</c:v>
                </c:pt>
                <c:pt idx="35">
                  <c:v>2.2726999999999999</c:v>
                </c:pt>
                <c:pt idx="36">
                  <c:v>2.2726999999999999</c:v>
                </c:pt>
                <c:pt idx="37">
                  <c:v>2.2726999999999999</c:v>
                </c:pt>
                <c:pt idx="38">
                  <c:v>2.2726999999999999</c:v>
                </c:pt>
                <c:pt idx="39">
                  <c:v>2.2726999999999999</c:v>
                </c:pt>
                <c:pt idx="40">
                  <c:v>2.2726999999999999</c:v>
                </c:pt>
                <c:pt idx="41">
                  <c:v>2.2726999999999999</c:v>
                </c:pt>
                <c:pt idx="42">
                  <c:v>2.2726999999999999</c:v>
                </c:pt>
                <c:pt idx="43">
                  <c:v>2.2726999999999999</c:v>
                </c:pt>
                <c:pt idx="44">
                  <c:v>2.2726999999999999</c:v>
                </c:pt>
                <c:pt idx="45">
                  <c:v>2.2726999999999999</c:v>
                </c:pt>
                <c:pt idx="46">
                  <c:v>2.2726999999999999</c:v>
                </c:pt>
                <c:pt idx="47">
                  <c:v>2.2726999999999999</c:v>
                </c:pt>
                <c:pt idx="48">
                  <c:v>2.2726999999999999</c:v>
                </c:pt>
                <c:pt idx="49">
                  <c:v>2.2726999999999999</c:v>
                </c:pt>
                <c:pt idx="50">
                  <c:v>2.2726999999999999</c:v>
                </c:pt>
                <c:pt idx="51">
                  <c:v>2.2726999999999999</c:v>
                </c:pt>
                <c:pt idx="52">
                  <c:v>2.2726999999999999</c:v>
                </c:pt>
                <c:pt idx="53">
                  <c:v>2.2726999999999999</c:v>
                </c:pt>
                <c:pt idx="54">
                  <c:v>2.2726999999999999</c:v>
                </c:pt>
                <c:pt idx="55">
                  <c:v>2.2726999999999999</c:v>
                </c:pt>
                <c:pt idx="56">
                  <c:v>2.2726999999999999</c:v>
                </c:pt>
                <c:pt idx="57">
                  <c:v>2.2726999999999999</c:v>
                </c:pt>
                <c:pt idx="58">
                  <c:v>2.2726999999999999</c:v>
                </c:pt>
                <c:pt idx="59">
                  <c:v>2.2726999999999999</c:v>
                </c:pt>
                <c:pt idx="60">
                  <c:v>2.2726999999999999</c:v>
                </c:pt>
                <c:pt idx="61">
                  <c:v>2.2726999999999999</c:v>
                </c:pt>
                <c:pt idx="62">
                  <c:v>2.2726999999999999</c:v>
                </c:pt>
                <c:pt idx="63">
                  <c:v>2.2726999999999999</c:v>
                </c:pt>
                <c:pt idx="64">
                  <c:v>2.2726999999999999</c:v>
                </c:pt>
                <c:pt idx="65">
                  <c:v>2.2726999999999999</c:v>
                </c:pt>
                <c:pt idx="66">
                  <c:v>2.2726999999999999</c:v>
                </c:pt>
                <c:pt idx="67">
                  <c:v>2.2726999999999999</c:v>
                </c:pt>
                <c:pt idx="68">
                  <c:v>2.2726999999999999</c:v>
                </c:pt>
                <c:pt idx="69">
                  <c:v>2.2726999999999999</c:v>
                </c:pt>
                <c:pt idx="70">
                  <c:v>2.2726999999999999</c:v>
                </c:pt>
                <c:pt idx="71">
                  <c:v>2.2726999999999999</c:v>
                </c:pt>
                <c:pt idx="72">
                  <c:v>2.2726999999999999</c:v>
                </c:pt>
                <c:pt idx="73">
                  <c:v>2.2726999999999999</c:v>
                </c:pt>
                <c:pt idx="74">
                  <c:v>2.2726999999999999</c:v>
                </c:pt>
                <c:pt idx="75">
                  <c:v>2.2726999999999999</c:v>
                </c:pt>
                <c:pt idx="76">
                  <c:v>2.2726999999999999</c:v>
                </c:pt>
                <c:pt idx="77">
                  <c:v>2.2726999999999999</c:v>
                </c:pt>
                <c:pt idx="78">
                  <c:v>2.2726999999999999</c:v>
                </c:pt>
                <c:pt idx="79">
                  <c:v>2.2726999999999999</c:v>
                </c:pt>
                <c:pt idx="80">
                  <c:v>2.2726999999999999</c:v>
                </c:pt>
                <c:pt idx="81">
                  <c:v>2.2726999999999999</c:v>
                </c:pt>
                <c:pt idx="82">
                  <c:v>2.2726999999999999</c:v>
                </c:pt>
                <c:pt idx="83">
                  <c:v>2.2726999999999999</c:v>
                </c:pt>
                <c:pt idx="84">
                  <c:v>2.2726999999999999</c:v>
                </c:pt>
                <c:pt idx="85">
                  <c:v>2.2726999999999999</c:v>
                </c:pt>
                <c:pt idx="86">
                  <c:v>2.2726999999999999</c:v>
                </c:pt>
                <c:pt idx="87">
                  <c:v>2.2726999999999999</c:v>
                </c:pt>
                <c:pt idx="88">
                  <c:v>2.2726999999999999</c:v>
                </c:pt>
                <c:pt idx="89">
                  <c:v>2.2726999999999999</c:v>
                </c:pt>
                <c:pt idx="90">
                  <c:v>2.2726999999999999</c:v>
                </c:pt>
                <c:pt idx="91">
                  <c:v>2.2726999999999999</c:v>
                </c:pt>
                <c:pt idx="92">
                  <c:v>2.2726999999999999</c:v>
                </c:pt>
                <c:pt idx="93">
                  <c:v>2.2726999999999999</c:v>
                </c:pt>
                <c:pt idx="94">
                  <c:v>2.2726999999999999</c:v>
                </c:pt>
                <c:pt idx="95">
                  <c:v>2.2726999999999999</c:v>
                </c:pt>
                <c:pt idx="96">
                  <c:v>2.2726999999999999</c:v>
                </c:pt>
                <c:pt idx="97">
                  <c:v>2.2726999999999999</c:v>
                </c:pt>
                <c:pt idx="98">
                  <c:v>2.2726999999999999</c:v>
                </c:pt>
                <c:pt idx="99">
                  <c:v>2.2726999999999999</c:v>
                </c:pt>
                <c:pt idx="100">
                  <c:v>2.2726999999999999</c:v>
                </c:pt>
                <c:pt idx="101">
                  <c:v>2.2726999999999999</c:v>
                </c:pt>
                <c:pt idx="102">
                  <c:v>2.2726999999999999</c:v>
                </c:pt>
                <c:pt idx="103">
                  <c:v>2.2726999999999999</c:v>
                </c:pt>
                <c:pt idx="104">
                  <c:v>2.2726999999999999</c:v>
                </c:pt>
                <c:pt idx="105">
                  <c:v>2.2726999999999999</c:v>
                </c:pt>
                <c:pt idx="106">
                  <c:v>2.2726999999999999</c:v>
                </c:pt>
                <c:pt idx="107">
                  <c:v>2.2726999999999999</c:v>
                </c:pt>
                <c:pt idx="108">
                  <c:v>2.2726999999999999</c:v>
                </c:pt>
                <c:pt idx="109">
                  <c:v>2.2726999999999999</c:v>
                </c:pt>
                <c:pt idx="110">
                  <c:v>2.2726999999999999</c:v>
                </c:pt>
                <c:pt idx="111">
                  <c:v>2.2726999999999999</c:v>
                </c:pt>
                <c:pt idx="112">
                  <c:v>2.2726999999999999</c:v>
                </c:pt>
                <c:pt idx="113">
                  <c:v>2.2726999999999999</c:v>
                </c:pt>
                <c:pt idx="114">
                  <c:v>2.2726999999999999</c:v>
                </c:pt>
                <c:pt idx="115">
                  <c:v>2.2726999999999999</c:v>
                </c:pt>
                <c:pt idx="116">
                  <c:v>2.2726999999999999</c:v>
                </c:pt>
                <c:pt idx="117">
                  <c:v>2.2726999999999999</c:v>
                </c:pt>
                <c:pt idx="118">
                  <c:v>2.2726999999999999</c:v>
                </c:pt>
                <c:pt idx="119">
                  <c:v>2.2726999999999999</c:v>
                </c:pt>
                <c:pt idx="120">
                  <c:v>2.2726999999999999</c:v>
                </c:pt>
                <c:pt idx="121">
                  <c:v>2.2726999999999999</c:v>
                </c:pt>
                <c:pt idx="122">
                  <c:v>2.2726999999999999</c:v>
                </c:pt>
                <c:pt idx="123">
                  <c:v>2.2726999999999999</c:v>
                </c:pt>
                <c:pt idx="124">
                  <c:v>2.2726999999999999</c:v>
                </c:pt>
                <c:pt idx="125">
                  <c:v>2.2726999999999999</c:v>
                </c:pt>
                <c:pt idx="126">
                  <c:v>2.2726999999999999</c:v>
                </c:pt>
                <c:pt idx="127">
                  <c:v>2.2726999999999999</c:v>
                </c:pt>
                <c:pt idx="128">
                  <c:v>2.2726999999999999</c:v>
                </c:pt>
                <c:pt idx="129">
                  <c:v>2.2726999999999999</c:v>
                </c:pt>
                <c:pt idx="130">
                  <c:v>2.2726999999999999</c:v>
                </c:pt>
                <c:pt idx="131">
                  <c:v>2.2726999999999999</c:v>
                </c:pt>
                <c:pt idx="132">
                  <c:v>2.2726999999999999</c:v>
                </c:pt>
                <c:pt idx="133">
                  <c:v>2.2726999999999999</c:v>
                </c:pt>
                <c:pt idx="134">
                  <c:v>2.2726999999999999</c:v>
                </c:pt>
                <c:pt idx="135">
                  <c:v>2.2726999999999999</c:v>
                </c:pt>
                <c:pt idx="136">
                  <c:v>2.2726999999999999</c:v>
                </c:pt>
                <c:pt idx="137">
                  <c:v>2.2726999999999999</c:v>
                </c:pt>
                <c:pt idx="138">
                  <c:v>2.2726999999999999</c:v>
                </c:pt>
                <c:pt idx="139">
                  <c:v>2.2726999999999999</c:v>
                </c:pt>
                <c:pt idx="140">
                  <c:v>2.2726999999999999</c:v>
                </c:pt>
                <c:pt idx="141">
                  <c:v>2.2726999999999999</c:v>
                </c:pt>
                <c:pt idx="142">
                  <c:v>2.2726999999999999</c:v>
                </c:pt>
                <c:pt idx="143">
                  <c:v>2.2726999999999999</c:v>
                </c:pt>
                <c:pt idx="144">
                  <c:v>2.2726999999999999</c:v>
                </c:pt>
                <c:pt idx="145">
                  <c:v>2.2726999999999999</c:v>
                </c:pt>
                <c:pt idx="146">
                  <c:v>2.2726999999999999</c:v>
                </c:pt>
                <c:pt idx="147">
                  <c:v>2.2726999999999999</c:v>
                </c:pt>
                <c:pt idx="148">
                  <c:v>2.2726999999999999</c:v>
                </c:pt>
                <c:pt idx="149">
                  <c:v>2.2726999999999999</c:v>
                </c:pt>
                <c:pt idx="150">
                  <c:v>2.2726999999999999</c:v>
                </c:pt>
                <c:pt idx="151">
                  <c:v>2.2726999999999999</c:v>
                </c:pt>
                <c:pt idx="152">
                  <c:v>2.2726999999999999</c:v>
                </c:pt>
                <c:pt idx="153">
                  <c:v>2.2726999999999999</c:v>
                </c:pt>
                <c:pt idx="154">
                  <c:v>2.2726999999999999</c:v>
                </c:pt>
                <c:pt idx="155">
                  <c:v>2.2726999999999999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6D5-48C1-A810-DC6013F47A4C}"/>
            </c:ext>
          </c:extLst>
        </c:ser>
        <c:ser>
          <c:idx val="1"/>
          <c:order val="1"/>
          <c:tx>
            <c:strRef>
              <c:f>'Tipo de Cambio'!$E$1</c:f>
              <c:strCache>
                <c:ptCount val="1"/>
                <c:pt idx="0">
                  <c:v>Paridad</c:v>
                </c:pt>
              </c:strCache>
            </c:strRef>
          </c:tx>
          <c:spPr>
            <a:ln w="57150">
              <a:solidFill>
                <a:schemeClr val="tx2">
                  <a:lumMod val="60000"/>
                  <a:lumOff val="40000"/>
                </a:schemeClr>
              </a:solidFill>
              <a:prstDash val="sysDash"/>
            </a:ln>
          </c:spPr>
          <c:marker>
            <c:symbol val="none"/>
          </c:marker>
          <c:cat>
            <c:multiLvlStrRef>
              <c:f>'Tipo de Cambio'!$A$2:$B$157</c:f>
              <c:multiLvlStrCache>
                <c:ptCount val="156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  <c:pt idx="12">
                    <c:v>Ene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Abr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Ago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Dic</c:v>
                  </c:pt>
                  <c:pt idx="24">
                    <c:v>Ene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Abr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Ago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Dic</c:v>
                  </c:pt>
                  <c:pt idx="36">
                    <c:v>Ene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Abr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Ago</c:v>
                  </c:pt>
                  <c:pt idx="44">
                    <c:v>Sep</c:v>
                  </c:pt>
                  <c:pt idx="45">
                    <c:v>Oct</c:v>
                  </c:pt>
                  <c:pt idx="46">
                    <c:v>Nov</c:v>
                  </c:pt>
                  <c:pt idx="47">
                    <c:v>Dic</c:v>
                  </c:pt>
                  <c:pt idx="48">
                    <c:v>Ene</c:v>
                  </c:pt>
                  <c:pt idx="49">
                    <c:v>Feb</c:v>
                  </c:pt>
                  <c:pt idx="50">
                    <c:v>Mar</c:v>
                  </c:pt>
                  <c:pt idx="51">
                    <c:v>Abr</c:v>
                  </c:pt>
                  <c:pt idx="52">
                    <c:v>May</c:v>
                  </c:pt>
                  <c:pt idx="53">
                    <c:v>Jun</c:v>
                  </c:pt>
                  <c:pt idx="54">
                    <c:v>Jul</c:v>
                  </c:pt>
                  <c:pt idx="55">
                    <c:v>Ago</c:v>
                  </c:pt>
                  <c:pt idx="56">
                    <c:v>Sep</c:v>
                  </c:pt>
                  <c:pt idx="57">
                    <c:v>Oct</c:v>
                  </c:pt>
                  <c:pt idx="58">
                    <c:v>Nov</c:v>
                  </c:pt>
                  <c:pt idx="59">
                    <c:v>Dic</c:v>
                  </c:pt>
                  <c:pt idx="60">
                    <c:v>Ene</c:v>
                  </c:pt>
                  <c:pt idx="61">
                    <c:v>Feb</c:v>
                  </c:pt>
                  <c:pt idx="62">
                    <c:v>Mar</c:v>
                  </c:pt>
                  <c:pt idx="63">
                    <c:v>Abr</c:v>
                  </c:pt>
                  <c:pt idx="64">
                    <c:v>May</c:v>
                  </c:pt>
                  <c:pt idx="65">
                    <c:v>Jun</c:v>
                  </c:pt>
                  <c:pt idx="66">
                    <c:v>Jul</c:v>
                  </c:pt>
                  <c:pt idx="67">
                    <c:v>Ago</c:v>
                  </c:pt>
                  <c:pt idx="68">
                    <c:v>Sep</c:v>
                  </c:pt>
                  <c:pt idx="69">
                    <c:v>Oct</c:v>
                  </c:pt>
                  <c:pt idx="70">
                    <c:v>Nov</c:v>
                  </c:pt>
                  <c:pt idx="71">
                    <c:v>Dic</c:v>
                  </c:pt>
                  <c:pt idx="72">
                    <c:v>Ene</c:v>
                  </c:pt>
                  <c:pt idx="73">
                    <c:v>Feb</c:v>
                  </c:pt>
                  <c:pt idx="74">
                    <c:v>Mar</c:v>
                  </c:pt>
                  <c:pt idx="75">
                    <c:v>Abr</c:v>
                  </c:pt>
                  <c:pt idx="76">
                    <c:v>May</c:v>
                  </c:pt>
                  <c:pt idx="77">
                    <c:v>Jun</c:v>
                  </c:pt>
                  <c:pt idx="78">
                    <c:v>Jul</c:v>
                  </c:pt>
                  <c:pt idx="79">
                    <c:v>Ago</c:v>
                  </c:pt>
                  <c:pt idx="80">
                    <c:v>Sep</c:v>
                  </c:pt>
                  <c:pt idx="81">
                    <c:v>Oct</c:v>
                  </c:pt>
                  <c:pt idx="82">
                    <c:v>Nov</c:v>
                  </c:pt>
                  <c:pt idx="83">
                    <c:v>Dic</c:v>
                  </c:pt>
                  <c:pt idx="84">
                    <c:v>Ene</c:v>
                  </c:pt>
                  <c:pt idx="85">
                    <c:v>Feb</c:v>
                  </c:pt>
                  <c:pt idx="86">
                    <c:v>Mar</c:v>
                  </c:pt>
                  <c:pt idx="87">
                    <c:v>Abr</c:v>
                  </c:pt>
                  <c:pt idx="88">
                    <c:v>May</c:v>
                  </c:pt>
                  <c:pt idx="89">
                    <c:v>Jun</c:v>
                  </c:pt>
                  <c:pt idx="90">
                    <c:v>Jul</c:v>
                  </c:pt>
                  <c:pt idx="91">
                    <c:v>Ago</c:v>
                  </c:pt>
                  <c:pt idx="92">
                    <c:v>Sep</c:v>
                  </c:pt>
                  <c:pt idx="93">
                    <c:v>Oct</c:v>
                  </c:pt>
                  <c:pt idx="94">
                    <c:v>Nov</c:v>
                  </c:pt>
                  <c:pt idx="95">
                    <c:v>Dic</c:v>
                  </c:pt>
                  <c:pt idx="96">
                    <c:v>Ene</c:v>
                  </c:pt>
                  <c:pt idx="97">
                    <c:v>Feb</c:v>
                  </c:pt>
                  <c:pt idx="98">
                    <c:v>Mar</c:v>
                  </c:pt>
                  <c:pt idx="99">
                    <c:v>Abr</c:v>
                  </c:pt>
                  <c:pt idx="100">
                    <c:v>May</c:v>
                  </c:pt>
                  <c:pt idx="101">
                    <c:v>Jun</c:v>
                  </c:pt>
                  <c:pt idx="102">
                    <c:v>Jul</c:v>
                  </c:pt>
                  <c:pt idx="103">
                    <c:v>Ago</c:v>
                  </c:pt>
                  <c:pt idx="104">
                    <c:v>Sep</c:v>
                  </c:pt>
                  <c:pt idx="105">
                    <c:v>Oct</c:v>
                  </c:pt>
                  <c:pt idx="106">
                    <c:v>Nov</c:v>
                  </c:pt>
                  <c:pt idx="107">
                    <c:v>Dic</c:v>
                  </c:pt>
                  <c:pt idx="108">
                    <c:v>Ene</c:v>
                  </c:pt>
                  <c:pt idx="109">
                    <c:v>Feb</c:v>
                  </c:pt>
                  <c:pt idx="110">
                    <c:v>Mar</c:v>
                  </c:pt>
                  <c:pt idx="111">
                    <c:v>Abr</c:v>
                  </c:pt>
                  <c:pt idx="112">
                    <c:v>May</c:v>
                  </c:pt>
                  <c:pt idx="113">
                    <c:v>Jun</c:v>
                  </c:pt>
                  <c:pt idx="114">
                    <c:v>Jul</c:v>
                  </c:pt>
                  <c:pt idx="115">
                    <c:v>Ago</c:v>
                  </c:pt>
                  <c:pt idx="116">
                    <c:v>Sep</c:v>
                  </c:pt>
                  <c:pt idx="117">
                    <c:v>Oct</c:v>
                  </c:pt>
                  <c:pt idx="118">
                    <c:v>Nov</c:v>
                  </c:pt>
                  <c:pt idx="119">
                    <c:v>Dic</c:v>
                  </c:pt>
                  <c:pt idx="120">
                    <c:v>Ene</c:v>
                  </c:pt>
                  <c:pt idx="121">
                    <c:v>Feb</c:v>
                  </c:pt>
                  <c:pt idx="122">
                    <c:v>Mar</c:v>
                  </c:pt>
                  <c:pt idx="123">
                    <c:v>Abr</c:v>
                  </c:pt>
                  <c:pt idx="124">
                    <c:v>May</c:v>
                  </c:pt>
                  <c:pt idx="125">
                    <c:v>Jun</c:v>
                  </c:pt>
                  <c:pt idx="126">
                    <c:v>Jul</c:v>
                  </c:pt>
                  <c:pt idx="127">
                    <c:v>Ago</c:v>
                  </c:pt>
                  <c:pt idx="128">
                    <c:v>Sep</c:v>
                  </c:pt>
                  <c:pt idx="129">
                    <c:v>Oct</c:v>
                  </c:pt>
                  <c:pt idx="130">
                    <c:v>Nov</c:v>
                  </c:pt>
                  <c:pt idx="131">
                    <c:v>Dic</c:v>
                  </c:pt>
                  <c:pt idx="132">
                    <c:v>Ene</c:v>
                  </c:pt>
                  <c:pt idx="133">
                    <c:v>Feb</c:v>
                  </c:pt>
                  <c:pt idx="134">
                    <c:v>Mar</c:v>
                  </c:pt>
                  <c:pt idx="135">
                    <c:v>Abr</c:v>
                  </c:pt>
                  <c:pt idx="136">
                    <c:v>May</c:v>
                  </c:pt>
                  <c:pt idx="137">
                    <c:v>Jun</c:v>
                  </c:pt>
                  <c:pt idx="138">
                    <c:v>Jul</c:v>
                  </c:pt>
                  <c:pt idx="139">
                    <c:v>Ago</c:v>
                  </c:pt>
                  <c:pt idx="140">
                    <c:v>Sep</c:v>
                  </c:pt>
                  <c:pt idx="141">
                    <c:v>Oct</c:v>
                  </c:pt>
                  <c:pt idx="142">
                    <c:v>Nov</c:v>
                  </c:pt>
                  <c:pt idx="143">
                    <c:v>Dic</c:v>
                  </c:pt>
                  <c:pt idx="144">
                    <c:v>Ene</c:v>
                  </c:pt>
                  <c:pt idx="145">
                    <c:v>Feb</c:v>
                  </c:pt>
                  <c:pt idx="146">
                    <c:v>Mar</c:v>
                  </c:pt>
                  <c:pt idx="147">
                    <c:v>Abr</c:v>
                  </c:pt>
                  <c:pt idx="148">
                    <c:v>May</c:v>
                  </c:pt>
                  <c:pt idx="149">
                    <c:v>Jun</c:v>
                  </c:pt>
                  <c:pt idx="150">
                    <c:v>Jul</c:v>
                  </c:pt>
                  <c:pt idx="151">
                    <c:v>Ago</c:v>
                  </c:pt>
                  <c:pt idx="152">
                    <c:v>Sep</c:v>
                  </c:pt>
                  <c:pt idx="153">
                    <c:v>Oct</c:v>
                  </c:pt>
                  <c:pt idx="154">
                    <c:v>Nov</c:v>
                  </c:pt>
                  <c:pt idx="155">
                    <c:v>Dic</c:v>
                  </c:pt>
                </c:lvl>
                <c:lvl>
                  <c:pt idx="0">
                    <c:v>1901</c:v>
                  </c:pt>
                  <c:pt idx="12">
                    <c:v>1902</c:v>
                  </c:pt>
                  <c:pt idx="24">
                    <c:v>1903</c:v>
                  </c:pt>
                  <c:pt idx="36">
                    <c:v>1904</c:v>
                  </c:pt>
                  <c:pt idx="48">
                    <c:v>1905</c:v>
                  </c:pt>
                  <c:pt idx="60">
                    <c:v>1906</c:v>
                  </c:pt>
                  <c:pt idx="72">
                    <c:v>1907</c:v>
                  </c:pt>
                  <c:pt idx="84">
                    <c:v>1908</c:v>
                  </c:pt>
                  <c:pt idx="96">
                    <c:v>1909</c:v>
                  </c:pt>
                  <c:pt idx="108">
                    <c:v>1910</c:v>
                  </c:pt>
                  <c:pt idx="120">
                    <c:v>1911</c:v>
                  </c:pt>
                  <c:pt idx="132">
                    <c:v>1912</c:v>
                  </c:pt>
                  <c:pt idx="144">
                    <c:v>1913</c:v>
                  </c:pt>
                </c:lvl>
              </c:multiLvlStrCache>
            </c:multiLvlStrRef>
          </c:cat>
          <c:val>
            <c:numRef>
              <c:f>'Tipo de Cambio'!$E$2:$E$157</c:f>
              <c:numCache>
                <c:formatCode>_(* #,##0.00_);_(* \(#,##0.00\);_(* "-"??_);_(@_)</c:formatCode>
                <c:ptCount val="156"/>
                <c:pt idx="0">
                  <c:v>2.2726999999999999</c:v>
                </c:pt>
                <c:pt idx="1">
                  <c:v>2.2726999999999999</c:v>
                </c:pt>
                <c:pt idx="2">
                  <c:v>2.2726999999999999</c:v>
                </c:pt>
                <c:pt idx="3">
                  <c:v>2.2726999999999999</c:v>
                </c:pt>
                <c:pt idx="4">
                  <c:v>2.2726999999999999</c:v>
                </c:pt>
                <c:pt idx="5">
                  <c:v>2.2726999999999999</c:v>
                </c:pt>
                <c:pt idx="6">
                  <c:v>2.2726999999999999</c:v>
                </c:pt>
                <c:pt idx="7">
                  <c:v>2.2726999999999999</c:v>
                </c:pt>
                <c:pt idx="8">
                  <c:v>2.2726999999999999</c:v>
                </c:pt>
                <c:pt idx="9">
                  <c:v>2.2726999999999999</c:v>
                </c:pt>
                <c:pt idx="10">
                  <c:v>2.2726999999999999</c:v>
                </c:pt>
                <c:pt idx="11">
                  <c:v>2.2726999999999999</c:v>
                </c:pt>
                <c:pt idx="12">
                  <c:v>2.2726999999999999</c:v>
                </c:pt>
                <c:pt idx="13">
                  <c:v>2.2726999999999999</c:v>
                </c:pt>
                <c:pt idx="14">
                  <c:v>2.2726999999999999</c:v>
                </c:pt>
                <c:pt idx="15">
                  <c:v>2.2726999999999999</c:v>
                </c:pt>
                <c:pt idx="16">
                  <c:v>2.2726999999999999</c:v>
                </c:pt>
                <c:pt idx="17">
                  <c:v>2.2726999999999999</c:v>
                </c:pt>
                <c:pt idx="18">
                  <c:v>2.2726999999999999</c:v>
                </c:pt>
                <c:pt idx="19">
                  <c:v>2.2726999999999999</c:v>
                </c:pt>
                <c:pt idx="20">
                  <c:v>2.2726999999999999</c:v>
                </c:pt>
                <c:pt idx="21">
                  <c:v>2.2726999999999999</c:v>
                </c:pt>
                <c:pt idx="22">
                  <c:v>2.2726999999999999</c:v>
                </c:pt>
                <c:pt idx="23">
                  <c:v>2.2726999999999999</c:v>
                </c:pt>
                <c:pt idx="24">
                  <c:v>2.2726999999999999</c:v>
                </c:pt>
                <c:pt idx="25">
                  <c:v>2.2726999999999999</c:v>
                </c:pt>
                <c:pt idx="26">
                  <c:v>2.2726999999999999</c:v>
                </c:pt>
                <c:pt idx="27">
                  <c:v>2.2726999999999999</c:v>
                </c:pt>
                <c:pt idx="28">
                  <c:v>2.2726999999999999</c:v>
                </c:pt>
                <c:pt idx="29">
                  <c:v>2.2726999999999999</c:v>
                </c:pt>
                <c:pt idx="30">
                  <c:v>2.2726999999999999</c:v>
                </c:pt>
                <c:pt idx="31">
                  <c:v>2.2726999999999999</c:v>
                </c:pt>
                <c:pt idx="32">
                  <c:v>2.2726999999999999</c:v>
                </c:pt>
                <c:pt idx="33">
                  <c:v>2.2726999999999999</c:v>
                </c:pt>
                <c:pt idx="34">
                  <c:v>2.2726999999999999</c:v>
                </c:pt>
                <c:pt idx="35">
                  <c:v>2.2726999999999999</c:v>
                </c:pt>
                <c:pt idx="36">
                  <c:v>2.2726999999999999</c:v>
                </c:pt>
                <c:pt idx="37">
                  <c:v>2.2726999999999999</c:v>
                </c:pt>
                <c:pt idx="38">
                  <c:v>2.2726999999999999</c:v>
                </c:pt>
                <c:pt idx="39">
                  <c:v>2.2726999999999999</c:v>
                </c:pt>
                <c:pt idx="40">
                  <c:v>2.2726999999999999</c:v>
                </c:pt>
                <c:pt idx="41">
                  <c:v>2.2726999999999999</c:v>
                </c:pt>
                <c:pt idx="42">
                  <c:v>2.2726999999999999</c:v>
                </c:pt>
                <c:pt idx="43">
                  <c:v>2.2726999999999999</c:v>
                </c:pt>
                <c:pt idx="44">
                  <c:v>2.2726999999999999</c:v>
                </c:pt>
                <c:pt idx="45">
                  <c:v>2.2726999999999999</c:v>
                </c:pt>
                <c:pt idx="46">
                  <c:v>2.2726999999999999</c:v>
                </c:pt>
                <c:pt idx="47">
                  <c:v>2.2726999999999999</c:v>
                </c:pt>
                <c:pt idx="48">
                  <c:v>2.2726999999999999</c:v>
                </c:pt>
                <c:pt idx="49">
                  <c:v>2.2726999999999999</c:v>
                </c:pt>
                <c:pt idx="50">
                  <c:v>2.2726999999999999</c:v>
                </c:pt>
                <c:pt idx="51">
                  <c:v>2.2726999999999999</c:v>
                </c:pt>
                <c:pt idx="52">
                  <c:v>2.2726999999999999</c:v>
                </c:pt>
                <c:pt idx="53">
                  <c:v>2.2726999999999999</c:v>
                </c:pt>
                <c:pt idx="54">
                  <c:v>2.2726999999999999</c:v>
                </c:pt>
                <c:pt idx="55">
                  <c:v>2.2726999999999999</c:v>
                </c:pt>
                <c:pt idx="56">
                  <c:v>2.2726999999999999</c:v>
                </c:pt>
                <c:pt idx="57">
                  <c:v>2.2726999999999999</c:v>
                </c:pt>
                <c:pt idx="58">
                  <c:v>2.2726999999999999</c:v>
                </c:pt>
                <c:pt idx="59">
                  <c:v>2.2726999999999999</c:v>
                </c:pt>
                <c:pt idx="60">
                  <c:v>2.2726999999999999</c:v>
                </c:pt>
                <c:pt idx="61">
                  <c:v>2.2726999999999999</c:v>
                </c:pt>
                <c:pt idx="62">
                  <c:v>2.2726999999999999</c:v>
                </c:pt>
                <c:pt idx="63">
                  <c:v>2.2726999999999999</c:v>
                </c:pt>
                <c:pt idx="64">
                  <c:v>2.2726999999999999</c:v>
                </c:pt>
                <c:pt idx="65">
                  <c:v>2.2726999999999999</c:v>
                </c:pt>
                <c:pt idx="66">
                  <c:v>2.2726999999999999</c:v>
                </c:pt>
                <c:pt idx="67">
                  <c:v>2.2726999999999999</c:v>
                </c:pt>
                <c:pt idx="68">
                  <c:v>2.2726999999999999</c:v>
                </c:pt>
                <c:pt idx="69">
                  <c:v>2.2726999999999999</c:v>
                </c:pt>
                <c:pt idx="70">
                  <c:v>2.2726999999999999</c:v>
                </c:pt>
                <c:pt idx="71">
                  <c:v>2.2726999999999999</c:v>
                </c:pt>
                <c:pt idx="72">
                  <c:v>2.2726999999999999</c:v>
                </c:pt>
                <c:pt idx="73">
                  <c:v>2.2726999999999999</c:v>
                </c:pt>
                <c:pt idx="74">
                  <c:v>2.2726999999999999</c:v>
                </c:pt>
                <c:pt idx="75">
                  <c:v>2.2726999999999999</c:v>
                </c:pt>
                <c:pt idx="76">
                  <c:v>2.2726999999999999</c:v>
                </c:pt>
                <c:pt idx="77">
                  <c:v>2.2726999999999999</c:v>
                </c:pt>
                <c:pt idx="78">
                  <c:v>2.2726999999999999</c:v>
                </c:pt>
                <c:pt idx="79">
                  <c:v>2.2726999999999999</c:v>
                </c:pt>
                <c:pt idx="80">
                  <c:v>2.2726999999999999</c:v>
                </c:pt>
                <c:pt idx="81">
                  <c:v>2.2726999999999999</c:v>
                </c:pt>
                <c:pt idx="82">
                  <c:v>2.2726999999999999</c:v>
                </c:pt>
                <c:pt idx="83">
                  <c:v>2.2726999999999999</c:v>
                </c:pt>
                <c:pt idx="84">
                  <c:v>2.2726999999999999</c:v>
                </c:pt>
                <c:pt idx="85">
                  <c:v>2.2726999999999999</c:v>
                </c:pt>
                <c:pt idx="86">
                  <c:v>2.2726999999999999</c:v>
                </c:pt>
                <c:pt idx="87">
                  <c:v>2.2726999999999999</c:v>
                </c:pt>
                <c:pt idx="88">
                  <c:v>2.2726999999999999</c:v>
                </c:pt>
                <c:pt idx="89">
                  <c:v>2.2726999999999999</c:v>
                </c:pt>
                <c:pt idx="90">
                  <c:v>2.2726999999999999</c:v>
                </c:pt>
                <c:pt idx="91">
                  <c:v>2.2726999999999999</c:v>
                </c:pt>
                <c:pt idx="92">
                  <c:v>2.2726999999999999</c:v>
                </c:pt>
                <c:pt idx="93">
                  <c:v>2.2726999999999999</c:v>
                </c:pt>
                <c:pt idx="94">
                  <c:v>2.2726999999999999</c:v>
                </c:pt>
                <c:pt idx="95">
                  <c:v>2.2726999999999999</c:v>
                </c:pt>
                <c:pt idx="96">
                  <c:v>2.2726999999999999</c:v>
                </c:pt>
                <c:pt idx="97">
                  <c:v>2.2726999999999999</c:v>
                </c:pt>
                <c:pt idx="98">
                  <c:v>2.2726999999999999</c:v>
                </c:pt>
                <c:pt idx="99">
                  <c:v>2.2726999999999999</c:v>
                </c:pt>
                <c:pt idx="100">
                  <c:v>2.2726999999999999</c:v>
                </c:pt>
                <c:pt idx="101">
                  <c:v>2.2726999999999999</c:v>
                </c:pt>
                <c:pt idx="102">
                  <c:v>2.2726999999999999</c:v>
                </c:pt>
                <c:pt idx="103">
                  <c:v>2.2726999999999999</c:v>
                </c:pt>
                <c:pt idx="104">
                  <c:v>2.2726999999999999</c:v>
                </c:pt>
                <c:pt idx="105">
                  <c:v>2.2726999999999999</c:v>
                </c:pt>
                <c:pt idx="106">
                  <c:v>2.2726999999999999</c:v>
                </c:pt>
                <c:pt idx="107">
                  <c:v>2.2726999999999999</c:v>
                </c:pt>
                <c:pt idx="108">
                  <c:v>2.2726999999999999</c:v>
                </c:pt>
                <c:pt idx="109">
                  <c:v>2.2726999999999999</c:v>
                </c:pt>
                <c:pt idx="110">
                  <c:v>2.2726999999999999</c:v>
                </c:pt>
                <c:pt idx="111">
                  <c:v>2.2726999999999999</c:v>
                </c:pt>
                <c:pt idx="112">
                  <c:v>2.2726999999999999</c:v>
                </c:pt>
                <c:pt idx="113">
                  <c:v>2.2726999999999999</c:v>
                </c:pt>
                <c:pt idx="114">
                  <c:v>2.2726999999999999</c:v>
                </c:pt>
                <c:pt idx="115">
                  <c:v>2.2726999999999999</c:v>
                </c:pt>
                <c:pt idx="116">
                  <c:v>2.2726999999999999</c:v>
                </c:pt>
                <c:pt idx="117">
                  <c:v>2.2726999999999999</c:v>
                </c:pt>
                <c:pt idx="118">
                  <c:v>2.2726999999999999</c:v>
                </c:pt>
                <c:pt idx="119">
                  <c:v>2.2726999999999999</c:v>
                </c:pt>
                <c:pt idx="120">
                  <c:v>2.2726999999999999</c:v>
                </c:pt>
                <c:pt idx="121">
                  <c:v>2.2726999999999999</c:v>
                </c:pt>
                <c:pt idx="122">
                  <c:v>2.2726999999999999</c:v>
                </c:pt>
                <c:pt idx="123">
                  <c:v>2.2726999999999999</c:v>
                </c:pt>
                <c:pt idx="124">
                  <c:v>2.2726999999999999</c:v>
                </c:pt>
                <c:pt idx="125">
                  <c:v>2.2726999999999999</c:v>
                </c:pt>
                <c:pt idx="126">
                  <c:v>2.2726999999999999</c:v>
                </c:pt>
                <c:pt idx="127">
                  <c:v>2.2726999999999999</c:v>
                </c:pt>
                <c:pt idx="128">
                  <c:v>2.2726999999999999</c:v>
                </c:pt>
                <c:pt idx="129">
                  <c:v>2.2726999999999999</c:v>
                </c:pt>
                <c:pt idx="130">
                  <c:v>2.2726999999999999</c:v>
                </c:pt>
                <c:pt idx="131">
                  <c:v>2.2726999999999999</c:v>
                </c:pt>
                <c:pt idx="132">
                  <c:v>2.2726999999999999</c:v>
                </c:pt>
                <c:pt idx="133">
                  <c:v>2.2726999999999999</c:v>
                </c:pt>
                <c:pt idx="134">
                  <c:v>2.2726999999999999</c:v>
                </c:pt>
                <c:pt idx="135">
                  <c:v>2.2726999999999999</c:v>
                </c:pt>
                <c:pt idx="136">
                  <c:v>2.2726999999999999</c:v>
                </c:pt>
                <c:pt idx="137">
                  <c:v>2.2726999999999999</c:v>
                </c:pt>
                <c:pt idx="138">
                  <c:v>2.2726999999999999</c:v>
                </c:pt>
                <c:pt idx="139">
                  <c:v>2.2726999999999999</c:v>
                </c:pt>
                <c:pt idx="140">
                  <c:v>2.2726999999999999</c:v>
                </c:pt>
                <c:pt idx="141">
                  <c:v>2.2726999999999999</c:v>
                </c:pt>
                <c:pt idx="142">
                  <c:v>2.2726999999999999</c:v>
                </c:pt>
                <c:pt idx="143">
                  <c:v>2.2726999999999999</c:v>
                </c:pt>
                <c:pt idx="144">
                  <c:v>2.2726999999999999</c:v>
                </c:pt>
                <c:pt idx="145">
                  <c:v>2.2726999999999999</c:v>
                </c:pt>
                <c:pt idx="146">
                  <c:v>2.2726999999999999</c:v>
                </c:pt>
                <c:pt idx="147">
                  <c:v>2.2726999999999999</c:v>
                </c:pt>
                <c:pt idx="148">
                  <c:v>2.2726999999999999</c:v>
                </c:pt>
                <c:pt idx="149">
                  <c:v>2.2726999999999999</c:v>
                </c:pt>
                <c:pt idx="150">
                  <c:v>2.2726999999999999</c:v>
                </c:pt>
                <c:pt idx="151">
                  <c:v>2.2726999999999999</c:v>
                </c:pt>
                <c:pt idx="152">
                  <c:v>2.2726999999999999</c:v>
                </c:pt>
                <c:pt idx="153">
                  <c:v>2.2726999999999999</c:v>
                </c:pt>
                <c:pt idx="154">
                  <c:v>2.2726999999999999</c:v>
                </c:pt>
                <c:pt idx="155">
                  <c:v>2.2726999999999999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6D5-48C1-A810-DC6013F47A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3449600"/>
        <c:axId val="173451136"/>
      </c:lineChart>
      <c:catAx>
        <c:axId val="1734496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>
            <a:solidFill>
              <a:schemeClr val="tx2">
                <a:lumMod val="75000"/>
              </a:schemeClr>
            </a:solidFill>
          </a:ln>
        </c:spPr>
        <c:txPr>
          <a:bodyPr rot="-5400000" vert="horz"/>
          <a:lstStyle/>
          <a:p>
            <a:pPr>
              <a:defRPr/>
            </a:pPr>
            <a:endParaRPr lang="es-AR"/>
          </a:p>
        </c:txPr>
        <c:crossAx val="173451136"/>
        <c:crosses val="autoZero"/>
        <c:auto val="1"/>
        <c:lblAlgn val="ctr"/>
        <c:lblOffset val="100"/>
        <c:noMultiLvlLbl val="0"/>
      </c:catAx>
      <c:valAx>
        <c:axId val="173451136"/>
        <c:scaling>
          <c:orientation val="minMax"/>
        </c:scaling>
        <c:delete val="0"/>
        <c:axPos val="l"/>
        <c:numFmt formatCode="#,##0.00" sourceLinked="0"/>
        <c:majorTickMark val="none"/>
        <c:minorTickMark val="none"/>
        <c:tickLblPos val="nextTo"/>
        <c:spPr>
          <a:ln>
            <a:solidFill>
              <a:schemeClr val="tx2">
                <a:lumMod val="75000"/>
              </a:schemeClr>
            </a:solidFill>
          </a:ln>
        </c:spPr>
        <c:crossAx val="173449600"/>
        <c:crosses val="autoZero"/>
        <c:crossBetween val="between"/>
      </c:valAx>
      <c:spPr>
        <a:noFill/>
        <a:ln w="25400" cap="flat" cmpd="sng" algn="ctr">
          <a:noFill/>
          <a:prstDash val="solid"/>
        </a:ln>
        <a:effectLst/>
      </c:spPr>
    </c:plotArea>
    <c:legend>
      <c:legendPos val="b"/>
      <c:layout>
        <c:manualLayout>
          <c:xMode val="edge"/>
          <c:yMode val="edge"/>
          <c:x val="3.3416875522138691E-3"/>
          <c:y val="0.93381091193388133"/>
          <c:w val="0.99160578611884065"/>
          <c:h val="6.288177807561289E-2"/>
        </c:manualLayout>
      </c:layout>
      <c:overlay val="0"/>
    </c:legend>
    <c:plotVisOnly val="1"/>
    <c:dispBlanksAs val="gap"/>
    <c:showDLblsOverMax val="0"/>
  </c:chart>
  <c:spPr>
    <a:noFill/>
    <a:ln w="25400" cap="flat" cmpd="sng" algn="ctr">
      <a:noFill/>
      <a:prstDash val="solid"/>
    </a:ln>
    <a:effectLst/>
  </c:spPr>
  <c:txPr>
    <a:bodyPr/>
    <a:lstStyle/>
    <a:p>
      <a:pPr>
        <a:defRPr sz="1600">
          <a:solidFill>
            <a:schemeClr val="tx2">
              <a:lumMod val="75000"/>
            </a:schemeClr>
          </a:solidFill>
          <a:latin typeface="Abadi" panose="020B0604020104020204" pitchFamily="34" charset="0"/>
          <a:ea typeface="+mn-ea"/>
          <a:cs typeface="Times New Roman" pitchFamily="18" charset="0"/>
        </a:defRPr>
      </a:pPr>
      <a:endParaRPr lang="es-A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110302500066279"/>
          <c:y val="8.2396882710103231E-2"/>
          <c:w val="0.84249927092446775"/>
          <c:h val="0.66607456676611076"/>
        </c:manualLayout>
      </c:layout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diamond"/>
            <c:size val="9"/>
            <c:spPr>
              <a:solidFill>
                <a:schemeClr val="tx2">
                  <a:lumMod val="75000"/>
                </a:schemeClr>
              </a:solidFill>
              <a:ln>
                <a:noFill/>
              </a:ln>
            </c:spPr>
          </c:marker>
          <c:xVal>
            <c:numRef>
              <c:f>'Oro-BM'!$C$2:$C$140</c:f>
              <c:numCache>
                <c:formatCode>_(* #,##0.00_);_(* \(#,##0.00\);_(* "-"??_);_(@_)</c:formatCode>
                <c:ptCount val="13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 formatCode="_ * #,##0_ ;_ * \-#,##0_ ;_ * &quot;-&quot;??_ ;_ @_ ">
                  <c:v>0.01</c:v>
                </c:pt>
                <c:pt idx="5" formatCode="_ * #,##0_ ;_ * \-#,##0_ ;_ * &quot;-&quot;??_ ;_ @_ ">
                  <c:v>9.1399999999999988</c:v>
                </c:pt>
                <c:pt idx="6" formatCode="_ * #,##0_ ;_ * \-#,##0_ ;_ * &quot;-&quot;??_ ;_ @_ ">
                  <c:v>17.040000000000003</c:v>
                </c:pt>
                <c:pt idx="7" formatCode="_ * #,##0_ ;_ * \-#,##0_ ;_ * &quot;-&quot;??_ ;_ @_ ">
                  <c:v>27.09</c:v>
                </c:pt>
                <c:pt idx="8" formatCode="_ * #,##0_ ;_ * \-#,##0_ ;_ * &quot;-&quot;??_ ;_ @_ ">
                  <c:v>8.5600000000000023</c:v>
                </c:pt>
                <c:pt idx="9" formatCode="_ * #,##0_ ;_ * \-#,##0_ ;_ * &quot;-&quot;??_ ;_ @_ ">
                  <c:v>9.4299999999999926</c:v>
                </c:pt>
                <c:pt idx="10" formatCode="_ * #,##0_ ;_ * \-#,##0_ ;_ * &quot;-&quot;??_ ;_ @_ ">
                  <c:v>8.1800000000000068</c:v>
                </c:pt>
                <c:pt idx="11" formatCode="_ * #,##0_ ;_ * \-#,##0_ ;_ * &quot;-&quot;??_ ;_ @_ ">
                  <c:v>4.2199999999999989</c:v>
                </c:pt>
                <c:pt idx="12" formatCode="_ * #,##0_ ;_ * \-#,##0_ ;_ * &quot;-&quot;??_ ;_ @_ ">
                  <c:v>2.3599999999999994</c:v>
                </c:pt>
                <c:pt idx="13" formatCode="_ * #,##0_ ;_ * \-#,##0_ ;_ * &quot;-&quot;??_ ;_ @_ ">
                  <c:v>-1.0400000000000063</c:v>
                </c:pt>
                <c:pt idx="14" formatCode="_ * #,##0_ ;_ * \-#,##0_ ;_ * &quot;-&quot;??_ ;_ @_ ">
                  <c:v>0.48000000000000398</c:v>
                </c:pt>
                <c:pt idx="15" formatCode="_ * #,##0_ ;_ * \-#,##0_ ;_ * &quot;-&quot;??_ ;_ @_ ">
                  <c:v>1.4399999999999977</c:v>
                </c:pt>
                <c:pt idx="16" formatCode="_ * #,##0_ ;_ * \-#,##0_ ;_ * &quot;-&quot;??_ ;_ @_ ">
                  <c:v>0.95000000000000284</c:v>
                </c:pt>
                <c:pt idx="17" formatCode="_ * #,##0_ ;_ * \-#,##0_ ;_ * &quot;-&quot;??_ ;_ @_ ">
                  <c:v>0.76000000000000512</c:v>
                </c:pt>
                <c:pt idx="18" formatCode="_ * #,##0_ ;_ * \-#,##0_ ;_ * &quot;-&quot;??_ ;_ @_ ">
                  <c:v>4.3299999999999983</c:v>
                </c:pt>
                <c:pt idx="19" formatCode="_ * #,##0_ ;_ * \-#,##0_ ;_ * &quot;-&quot;??_ ;_ @_ ">
                  <c:v>8.519999999999996</c:v>
                </c:pt>
                <c:pt idx="20" formatCode="_ * #,##0_ ;_ * \-#,##0_ ;_ * &quot;-&quot;??_ ;_ @_ ">
                  <c:v>0.73999999999999488</c:v>
                </c:pt>
                <c:pt idx="21" formatCode="_ * #,##0_ ;_ * \-#,##0_ ;_ * &quot;-&quot;??_ ;_ @_ ">
                  <c:v>-3.9399999999999977</c:v>
                </c:pt>
                <c:pt idx="22" formatCode="_ * #,##0_ ;_ * \-#,##0_ ;_ * &quot;-&quot;??_ ;_ @_ ">
                  <c:v>-2.539999999999992</c:v>
                </c:pt>
                <c:pt idx="23" formatCode="_ * #,##0_ ;_ * \-#,##0_ ;_ * &quot;-&quot;??_ ;_ @_ ">
                  <c:v>-1.6899999999999977</c:v>
                </c:pt>
                <c:pt idx="24" formatCode="_ * #,##0_ ;_ * \-#,##0_ ;_ * &quot;-&quot;??_ ;_ @_ ">
                  <c:v>1.1599999999999966</c:v>
                </c:pt>
                <c:pt idx="25" formatCode="_ * #,##0_ ;_ * \-#,##0_ ;_ * &quot;-&quot;??_ ;_ @_ ">
                  <c:v>5.3699999999999903</c:v>
                </c:pt>
                <c:pt idx="26" formatCode="_ * #,##0_ ;_ * \-#,##0_ ;_ * &quot;-&quot;??_ ;_ @_ ">
                  <c:v>7.7200000000000131</c:v>
                </c:pt>
                <c:pt idx="27" formatCode="_ * #,##0_ ;_ * \-#,##0_ ;_ * &quot;-&quot;??_ ;_ @_ ">
                  <c:v>6.1199999999999903</c:v>
                </c:pt>
                <c:pt idx="28" formatCode="_ * #,##0_ ;_ * \-#,##0_ ;_ * &quot;-&quot;??_ ;_ @_ ">
                  <c:v>11.079999999999998</c:v>
                </c:pt>
                <c:pt idx="29" formatCode="_ * #,##0_ ;_ * \-#,##0_ ;_ * &quot;-&quot;??_ ;_ @_ ">
                  <c:v>23.379999999999981</c:v>
                </c:pt>
                <c:pt idx="30" formatCode="_ * #,##0_ ;_ * \-#,##0_ ;_ * &quot;-&quot;??_ ;_ @_ ">
                  <c:v>11.230000000000018</c:v>
                </c:pt>
                <c:pt idx="31" formatCode="_ * #,##0_ ;_ * \-#,##0_ ;_ * &quot;-&quot;??_ ;_ @_ ">
                  <c:v>2.1200000000000045</c:v>
                </c:pt>
                <c:pt idx="32" formatCode="_ * #,##0_ ;_ * \-#,##0_ ;_ * &quot;-&quot;??_ ;_ @_ ">
                  <c:v>4.8300000000000125</c:v>
                </c:pt>
                <c:pt idx="33" formatCode="_ * #,##0_ ;_ * \-#,##0_ ;_ * &quot;-&quot;??_ ;_ @_ ">
                  <c:v>5.5099999999999909</c:v>
                </c:pt>
                <c:pt idx="34" formatCode="_ * #,##0_ ;_ * \-#,##0_ ;_ * &quot;-&quot;??_ ;_ @_ ">
                  <c:v>-1.0400000000000205</c:v>
                </c:pt>
                <c:pt idx="35" formatCode="_ * #,##0_ ;_ * \-#,##0_ ;_ * &quot;-&quot;??_ ;_ @_ ">
                  <c:v>2.9900000000000091</c:v>
                </c:pt>
                <c:pt idx="36" formatCode="_ * #,##0_ ;_ * \-#,##0_ ;_ * &quot;-&quot;??_ ;_ @_ ">
                  <c:v>7.8799999999999955</c:v>
                </c:pt>
                <c:pt idx="37" formatCode="_ * #,##0_ ;_ * \-#,##0_ ;_ * &quot;-&quot;??_ ;_ @_ ">
                  <c:v>3.3800000000000239</c:v>
                </c:pt>
                <c:pt idx="38" formatCode="_ * #,##0_ ;_ * \-#,##0_ ;_ * &quot;-&quot;??_ ;_ @_ ">
                  <c:v>9.6899999999999977</c:v>
                </c:pt>
                <c:pt idx="39" formatCode="_ * #,##0_ ;_ * \-#,##0_ ;_ * &quot;-&quot;??_ ;_ @_ ">
                  <c:v>9.4299999999999784</c:v>
                </c:pt>
                <c:pt idx="40" formatCode="_ * #,##0_ ;_ * \-#,##0_ ;_ * &quot;-&quot;??_ ;_ @_ ">
                  <c:v>6.1400000000000148</c:v>
                </c:pt>
                <c:pt idx="41" formatCode="_ * #,##0_ ;_ * \-#,##0_ ;_ * &quot;-&quot;??_ ;_ @_ ">
                  <c:v>7.5200000000000102</c:v>
                </c:pt>
                <c:pt idx="42" formatCode="_ * #,##0_ ;_ * \-#,##0_ ;_ * &quot;-&quot;??_ ;_ @_ ">
                  <c:v>14.429999999999978</c:v>
                </c:pt>
                <c:pt idx="43" formatCode="_ * #,##0_ ;_ * \-#,##0_ ;_ * &quot;-&quot;??_ ;_ @_ ">
                  <c:v>9.3099999999999739</c:v>
                </c:pt>
                <c:pt idx="44" formatCode="_ * #,##0_ ;_ * \-#,##0_ ;_ * &quot;-&quot;??_ ;_ @_ ">
                  <c:v>-0.75999999999996248</c:v>
                </c:pt>
                <c:pt idx="45" formatCode="_ * #,##0_ ;_ * \-#,##0_ ;_ * &quot;-&quot;??_ ;_ @_ ">
                  <c:v>-3.8600000000000136</c:v>
                </c:pt>
                <c:pt idx="46" formatCode="_ * #,##0_ ;_ * \-#,##0_ ;_ * &quot;-&quot;??_ ;_ @_ ">
                  <c:v>-4.7399999999999807</c:v>
                </c:pt>
                <c:pt idx="47" formatCode="_ * #,##0_ ;_ * \-#,##0_ ;_ * &quot;-&quot;??_ ;_ @_ ">
                  <c:v>-12.870000000000005</c:v>
                </c:pt>
                <c:pt idx="48" formatCode="_ * #,##0_ ;_ * \-#,##0_ ;_ * &quot;-&quot;??_ ;_ @_ ">
                  <c:v>-5.6500000000000057</c:v>
                </c:pt>
                <c:pt idx="49" formatCode="_ * #,##0_ ;_ * \-#,##0_ ;_ * &quot;-&quot;??_ ;_ @_ ">
                  <c:v>-0.87000000000000455</c:v>
                </c:pt>
                <c:pt idx="50" formatCode="_ * #,##0_ ;_ * \-#,##0_ ;_ * &quot;-&quot;??_ ;_ @_ ">
                  <c:v>10.740000000000009</c:v>
                </c:pt>
                <c:pt idx="51" formatCode="_ * #,##0_ ;_ * \-#,##0_ ;_ * &quot;-&quot;??_ ;_ @_ ">
                  <c:v>9.1999999999999886</c:v>
                </c:pt>
                <c:pt idx="52" formatCode="_ * #,##0_ ;_ * \-#,##0_ ;_ * &quot;-&quot;??_ ;_ @_ ">
                  <c:v>12.090000000000003</c:v>
                </c:pt>
                <c:pt idx="53" formatCode="_ * #,##0_ ;_ * \-#,##0_ ;_ * &quot;-&quot;??_ ;_ @_ ">
                  <c:v>10.829999999999984</c:v>
                </c:pt>
                <c:pt idx="54" formatCode="_ * #,##0_ ;_ * \-#,##0_ ;_ * &quot;-&quot;??_ ;_ @_ ">
                  <c:v>13.090000000000032</c:v>
                </c:pt>
                <c:pt idx="55" formatCode="_ * #,##0_ ;_ * \-#,##0_ ;_ * &quot;-&quot;??_ ;_ @_ ">
                  <c:v>5.8000000000000114</c:v>
                </c:pt>
                <c:pt idx="56" formatCode="_ * #,##0_ ;_ * \-#,##0_ ;_ * &quot;-&quot;??_ ;_ @_ ">
                  <c:v>5.8100000000000023</c:v>
                </c:pt>
                <c:pt idx="57" formatCode="_ * #,##0_ ;_ * \-#,##0_ ;_ * &quot;-&quot;??_ ;_ @_ ">
                  <c:v>-2.5100000000000477</c:v>
                </c:pt>
                <c:pt idx="58" formatCode="_ * #,##0_ ;_ * \-#,##0_ ;_ * &quot;-&quot;??_ ;_ @_ ">
                  <c:v>-11.189999999999998</c:v>
                </c:pt>
                <c:pt idx="59" formatCode="_ * #,##0_ ;_ * \-#,##0_ ;_ * &quot;-&quot;??_ ;_ @_ ">
                  <c:v>-11.349999999999966</c:v>
                </c:pt>
                <c:pt idx="60" formatCode="_ * #,##0_ ;_ * \-#,##0_ ;_ * &quot;-&quot;??_ ;_ @_ ">
                  <c:v>-2.1200000000000045</c:v>
                </c:pt>
                <c:pt idx="61" formatCode="_ * #,##0_ ;_ * \-#,##0_ ;_ * &quot;-&quot;??_ ;_ @_ ">
                  <c:v>-10.760000000000019</c:v>
                </c:pt>
                <c:pt idx="62" formatCode="_ * #,##0_ ;_ * \-#,##0_ ;_ * &quot;-&quot;??_ ;_ @_ ">
                  <c:v>-9.4599999999999795</c:v>
                </c:pt>
                <c:pt idx="63" formatCode="_ * #,##0_ ;_ * \-#,##0_ ;_ * &quot;-&quot;??_ ;_ @_ ">
                  <c:v>5.1899999999999977</c:v>
                </c:pt>
                <c:pt idx="64" formatCode="_ * #,##0_ ;_ * \-#,##0_ ;_ * &quot;-&quot;??_ ;_ @_ ">
                  <c:v>4.8100000000000023</c:v>
                </c:pt>
                <c:pt idx="65" formatCode="_ * #,##0_ ;_ * \-#,##0_ ;_ * &quot;-&quot;??_ ;_ @_ ">
                  <c:v>15.349999999999994</c:v>
                </c:pt>
                <c:pt idx="66" formatCode="_ * #,##0_ ;_ * \-#,##0_ ;_ * &quot;-&quot;??_ ;_ @_ ">
                  <c:v>28.189999999999998</c:v>
                </c:pt>
                <c:pt idx="67" formatCode="_ * #,##0_ ;_ * \-#,##0_ ;_ * &quot;-&quot;??_ ;_ @_ ">
                  <c:v>7.1700000000000728</c:v>
                </c:pt>
                <c:pt idx="68" formatCode="_ * #,##0_ ;_ * \-#,##0_ ;_ * &quot;-&quot;??_ ;_ @_ ">
                  <c:v>-4.6000000000000796</c:v>
                </c:pt>
                <c:pt idx="69" formatCode="_ * #,##0_ ;_ * \-#,##0_ ;_ * &quot;-&quot;??_ ;_ @_ ">
                  <c:v>-6.7900000000000205</c:v>
                </c:pt>
                <c:pt idx="70" formatCode="_ * #,##0_ ;_ * \-#,##0_ ;_ * &quot;-&quot;??_ ;_ @_ ">
                  <c:v>-8.42999999999995</c:v>
                </c:pt>
                <c:pt idx="71" formatCode="_ * #,##0_ ;_ * \-#,##0_ ;_ * &quot;-&quot;??_ ;_ @_ ">
                  <c:v>-0.67000000000001592</c:v>
                </c:pt>
                <c:pt idx="72" formatCode="_ * #,##0_ ;_ * \-#,##0_ ;_ * &quot;-&quot;??_ ;_ @_ ">
                  <c:v>1.5999999999999659</c:v>
                </c:pt>
                <c:pt idx="73" formatCode="_ * #,##0_ ;_ * \-#,##0_ ;_ * &quot;-&quot;??_ ;_ @_ ">
                  <c:v>4.5400000000000205</c:v>
                </c:pt>
                <c:pt idx="74" formatCode="_ * #,##0_ ;_ * \-#,##0_ ;_ * &quot;-&quot;??_ ;_ @_ ">
                  <c:v>4.0500000000000114</c:v>
                </c:pt>
                <c:pt idx="75" formatCode="_ * #,##0_ ;_ * \-#,##0_ ;_ * &quot;-&quot;??_ ;_ @_ ">
                  <c:v>3.8799999999999955</c:v>
                </c:pt>
                <c:pt idx="76" formatCode="_ * #,##0_ ;_ * \-#,##0_ ;_ * &quot;-&quot;??_ ;_ @_ ">
                  <c:v>14.759999999999991</c:v>
                </c:pt>
                <c:pt idx="77" formatCode="_ * #,##0_ ;_ * \-#,##0_ ;_ * &quot;-&quot;??_ ;_ @_ ">
                  <c:v>25.210000000000036</c:v>
                </c:pt>
                <c:pt idx="78" formatCode="_ * #,##0_ ;_ * \-#,##0_ ;_ * &quot;-&quot;??_ ;_ @_ ">
                  <c:v>29.71999999999997</c:v>
                </c:pt>
                <c:pt idx="79" formatCode="_ * #,##0_ ;_ * \-#,##0_ ;_ * &quot;-&quot;??_ ;_ @_ ">
                  <c:v>25.350000000000023</c:v>
                </c:pt>
                <c:pt idx="80" formatCode="_ * #,##0_ ;_ * \-#,##0_ ;_ * &quot;-&quot;??_ ;_ @_ ">
                  <c:v>4.7400000000000091</c:v>
                </c:pt>
                <c:pt idx="81" formatCode="_ * #,##0_ ;_ * \-#,##0_ ;_ * &quot;-&quot;??_ ;_ @_ ">
                  <c:v>0.72999999999996135</c:v>
                </c:pt>
                <c:pt idx="82" formatCode="_ * #,##0_ ;_ * \-#,##0_ ;_ * &quot;-&quot;??_ ;_ @_ ">
                  <c:v>0.47000000000002728</c:v>
                </c:pt>
                <c:pt idx="83" formatCode="_ * #,##0_ ;_ * \-#,##0_ ;_ * &quot;-&quot;??_ ;_ @_ ">
                  <c:v>4.0199999999999818</c:v>
                </c:pt>
                <c:pt idx="84" formatCode="_ * #,##0_ ;_ * \-#,##0_ ;_ * &quot;-&quot;??_ ;_ @_ ">
                  <c:v>1.999999999998181E-2</c:v>
                </c:pt>
                <c:pt idx="85" formatCode="_ * #,##0_ ;_ * \-#,##0_ ;_ * &quot;-&quot;??_ ;_ @_ ">
                  <c:v>1.8899999999999864</c:v>
                </c:pt>
                <c:pt idx="86" formatCode="_ * #,##0_ ;_ * \-#,##0_ ;_ * &quot;-&quot;??_ ;_ @_ ">
                  <c:v>-2.17999999999995</c:v>
                </c:pt>
                <c:pt idx="87" formatCode="_ * #,##0_ ;_ * \-#,##0_ ;_ * &quot;-&quot;??_ ;_ @_ ">
                  <c:v>-0.6400000000000432</c:v>
                </c:pt>
                <c:pt idx="88" formatCode="_ * #,##0_ ;_ * \-#,##0_ ;_ * &quot;-&quot;??_ ;_ @_ ">
                  <c:v>11.220000000000027</c:v>
                </c:pt>
                <c:pt idx="89" formatCode="_ * #,##0_ ;_ * \-#,##0_ ;_ * &quot;-&quot;??_ ;_ @_ ">
                  <c:v>19.579999999999984</c:v>
                </c:pt>
                <c:pt idx="90" formatCode="_ * #,##0_ ;_ * \-#,##0_ ;_ * &quot;-&quot;??_ ;_ @_ ">
                  <c:v>36</c:v>
                </c:pt>
                <c:pt idx="91" formatCode="_ * #,##0_ ;_ * \-#,##0_ ;_ * &quot;-&quot;??_ ;_ @_ ">
                  <c:v>-12.620000000000005</c:v>
                </c:pt>
                <c:pt idx="92" formatCode="_ * #,##0_ ;_ * \-#,##0_ ;_ * &quot;-&quot;??_ ;_ @_ ">
                  <c:v>-3.1099999999999568</c:v>
                </c:pt>
                <c:pt idx="93" formatCode="_ * #,##0_ ;_ * \-#,##0_ ;_ * &quot;-&quot;??_ ;_ @_ ">
                  <c:v>-12.430000000000007</c:v>
                </c:pt>
                <c:pt idx="94" formatCode="_ * #,##0_ ;_ * \-#,##0_ ;_ * &quot;-&quot;??_ ;_ @_ ">
                  <c:v>-5.1899999999999977</c:v>
                </c:pt>
                <c:pt idx="95" formatCode="_ * #,##0_ ;_ * \-#,##0_ ;_ * &quot;-&quot;??_ ;_ @_ ">
                  <c:v>-0.68000000000000682</c:v>
                </c:pt>
                <c:pt idx="96" formatCode="_ * #,##0_ ;_ * \-#,##0_ ;_ * &quot;-&quot;??_ ;_ @_ ">
                  <c:v>-1.8899999999999864</c:v>
                </c:pt>
                <c:pt idx="97" formatCode="_ * #,##0_ ;_ * \-#,##0_ ;_ * &quot;-&quot;??_ ;_ @_ ">
                  <c:v>-1.3300000000000409</c:v>
                </c:pt>
                <c:pt idx="98" formatCode="_ * #,##0_ ;_ * \-#,##0_ ;_ * &quot;-&quot;??_ ;_ @_ ">
                  <c:v>-1.8799999999999955</c:v>
                </c:pt>
                <c:pt idx="99" formatCode="_ * #,##0_ ;_ * \-#,##0_ ;_ * &quot;-&quot;??_ ;_ @_ ">
                  <c:v>2.9499999999999886</c:v>
                </c:pt>
                <c:pt idx="100" formatCode="_ * #,##0_ ;_ * \-#,##0_ ;_ * &quot;-&quot;??_ ;_ @_ ">
                  <c:v>-0.37999999999999545</c:v>
                </c:pt>
                <c:pt idx="101" formatCode="_ * #,##0_ ;_ * \-#,##0_ ;_ * &quot;-&quot;??_ ;_ @_ ">
                  <c:v>6.9600000000000364</c:v>
                </c:pt>
                <c:pt idx="102" formatCode="_ * #,##0_ ;_ * \-#,##0_ ;_ * &quot;-&quot;??_ ;_ @_ ">
                  <c:v>14.089999999999975</c:v>
                </c:pt>
                <c:pt idx="103" formatCode="_ * #,##0_ ;_ * \-#,##0_ ;_ * &quot;-&quot;??_ ;_ @_ ">
                  <c:v>3.8500000000000227</c:v>
                </c:pt>
                <c:pt idx="104" formatCode="_ * #,##0_ ;_ * \-#,##0_ ;_ * &quot;-&quot;??_ ;_ @_ ">
                  <c:v>-0.51000000000004775</c:v>
                </c:pt>
                <c:pt idx="105" formatCode="_ * #,##0_ ;_ * \-#,##0_ ;_ * &quot;-&quot;??_ ;_ @_ ">
                  <c:v>-0.62999999999999545</c:v>
                </c:pt>
                <c:pt idx="106" formatCode="_ * #,##0_ ;_ * \-#,##0_ ;_ * &quot;-&quot;??_ ;_ @_ ">
                  <c:v>-0.15999999999996817</c:v>
                </c:pt>
                <c:pt idx="107" formatCode="_ * #,##0_ ;_ * \-#,##0_ ;_ * &quot;-&quot;??_ ;_ @_ ">
                  <c:v>-0.12999999999999545</c:v>
                </c:pt>
                <c:pt idx="108" formatCode="_ * #,##0_ ;_ * \-#,##0_ ;_ * &quot;-&quot;??_ ;_ @_ ">
                  <c:v>-7.9399999999999977</c:v>
                </c:pt>
                <c:pt idx="109" formatCode="_ * #,##0_ ;_ * \-#,##0_ ;_ * &quot;-&quot;??_ ;_ @_ ">
                  <c:v>-11.460000000000036</c:v>
                </c:pt>
                <c:pt idx="110" formatCode="_ * #,##0_ ;_ * \-#,##0_ ;_ * &quot;-&quot;??_ ;_ @_ ">
                  <c:v>3.7400000000000659</c:v>
                </c:pt>
                <c:pt idx="111" formatCode="_ * #,##0_ ;_ * \-#,##0_ ;_ * &quot;-&quot;??_ ;_ @_ ">
                  <c:v>-0.48000000000001819</c:v>
                </c:pt>
                <c:pt idx="112" formatCode="_ * #,##0_ ;_ * \-#,##0_ ;_ * &quot;-&quot;??_ ;_ @_ ">
                  <c:v>-5.4200000000000159</c:v>
                </c:pt>
                <c:pt idx="113" formatCode="_ * #,##0_ ;_ * \-#,##0_ ;_ * &quot;-&quot;??_ ;_ @_ ">
                  <c:v>1.3999999999999204</c:v>
                </c:pt>
                <c:pt idx="114" formatCode="_ * #,##0_ ;_ * \-#,##0_ ;_ * &quot;-&quot;??_ ;_ @_ ">
                  <c:v>17.800000000000068</c:v>
                </c:pt>
                <c:pt idx="115" formatCode="_ * #,##0_ ;_ * \-#,##0_ ;_ * &quot;-&quot;??_ ;_ @_ ">
                  <c:v>21.350000000000023</c:v>
                </c:pt>
                <c:pt idx="116" formatCode="_ * #,##0_ ;_ * \-#,##0_ ;_ * &quot;-&quot;??_ ;_ @_ ">
                  <c:v>11.259999999999991</c:v>
                </c:pt>
                <c:pt idx="117" formatCode="_ * #,##0_ ;_ * \-#,##0_ ;_ * &quot;-&quot;??_ ;_ @_ ">
                  <c:v>10.039999999999964</c:v>
                </c:pt>
                <c:pt idx="118" formatCode="_ * #,##0_ ;_ * \-#,##0_ ;_ * &quot;-&quot;??_ ;_ @_ ">
                  <c:v>4</c:v>
                </c:pt>
                <c:pt idx="119" formatCode="_ * #,##0_ ;_ * \-#,##0_ ;_ * &quot;-&quot;??_ ;_ @_ ">
                  <c:v>6.1200000000000045</c:v>
                </c:pt>
                <c:pt idx="120" formatCode="_ * #,##0_ ;_ * \-#,##0_ ;_ * &quot;-&quot;??_ ;_ @_ ">
                  <c:v>3.7400000000000091</c:v>
                </c:pt>
                <c:pt idx="121" formatCode="_ * #,##0_ ;_ * \-#,##0_ ;_ * &quot;-&quot;??_ ;_ @_ ">
                  <c:v>5.9800000000000182</c:v>
                </c:pt>
                <c:pt idx="122" formatCode="_ * #,##0_ ;_ * \-#,##0_ ;_ * &quot;-&quot;??_ ;_ @_ ">
                  <c:v>0.68999999999999773</c:v>
                </c:pt>
                <c:pt idx="123" formatCode="_ * #,##0_ ;_ * \-#,##0_ ;_ * &quot;-&quot;??_ ;_ @_ ">
                  <c:v>-7.9999999999984084E-2</c:v>
                </c:pt>
                <c:pt idx="124" formatCode="_ * #,##0_ ;_ * \-#,##0_ ;_ * &quot;-&quot;??_ ;_ @_ ">
                  <c:v>2.5799999999999841</c:v>
                </c:pt>
                <c:pt idx="125" formatCode="_ * #,##0_ ;_ * \-#,##0_ ;_ * &quot;-&quot;??_ ;_ @_ ">
                  <c:v>37.649999999999977</c:v>
                </c:pt>
                <c:pt idx="126" formatCode="_ * #,##0_ ;_ * \-#,##0_ ;_ * &quot;-&quot;??_ ;_ @_ ">
                  <c:v>39.060000000000059</c:v>
                </c:pt>
                <c:pt idx="127" formatCode="_ * #,##0_ ;_ * \-#,##0_ ;_ * &quot;-&quot;??_ ;_ @_ ">
                  <c:v>9.6599999999999682</c:v>
                </c:pt>
                <c:pt idx="128" formatCode="_ * #,##0_ ;_ * \-#,##0_ ;_ * &quot;-&quot;??_ ;_ @_ ">
                  <c:v>3.3600000000000136</c:v>
                </c:pt>
                <c:pt idx="129" formatCode="_ * #,##0_ ;_ * \-#,##0_ ;_ * &quot;-&quot;??_ ;_ @_ ">
                  <c:v>6.9099999999999682</c:v>
                </c:pt>
                <c:pt idx="130" formatCode="_ * #,##0_ ;_ * \-#,##0_ ;_ * &quot;-&quot;??_ ;_ @_ ">
                  <c:v>-15.919999999999845</c:v>
                </c:pt>
                <c:pt idx="131" formatCode="_ * #,##0_ ;_ * \-#,##0_ ;_ * &quot;-&quot;??_ ;_ @_ ">
                  <c:v>-8.3700000000001182</c:v>
                </c:pt>
                <c:pt idx="132" formatCode="_ * #,##0_ ;_ * \-#,##0_ ;_ * &quot;-&quot;??_ ;_ @_ ">
                  <c:v>-8</c:v>
                </c:pt>
                <c:pt idx="133" formatCode="_ * #,##0_ ;_ * \-#,##0_ ;_ * &quot;-&quot;??_ ;_ @_ ">
                  <c:v>-23.230000000000018</c:v>
                </c:pt>
                <c:pt idx="134" formatCode="_ * #,##0_ ;_ * \-#,##0_ ;_ * &quot;-&quot;??_ ;_ @_ ">
                  <c:v>-6.0900000000000318</c:v>
                </c:pt>
                <c:pt idx="135" formatCode="_ * #,##0_ ;_ * \-#,##0_ ;_ * &quot;-&quot;??_ ;_ @_ ">
                  <c:v>-14.159999999999968</c:v>
                </c:pt>
                <c:pt idx="136" formatCode="_ * #,##0_ ;_ * \-#,##0_ ;_ * &quot;-&quot;??_ ;_ @_ ">
                  <c:v>-9.1499999999999773</c:v>
                </c:pt>
                <c:pt idx="137" formatCode="_ * #,##0_ ;_ * \-#,##0_ ;_ * &quot;-&quot;??_ ;_ @_ ">
                  <c:v>0.49000000000000909</c:v>
                </c:pt>
                <c:pt idx="138" formatCode="_ * #,##0_ ;_ * \-#,##0_ ;_ * &quot;-&quot;??_ ;_ @_ ">
                  <c:v>5.1699999999999591</c:v>
                </c:pt>
              </c:numCache>
            </c:numRef>
          </c:xVal>
          <c:yVal>
            <c:numRef>
              <c:f>'Oro-BM'!$D$2:$D$140</c:f>
              <c:numCache>
                <c:formatCode>_(* #,##0.00_);_(* \(#,##0.00\);_(* "-"??_);_(@_)</c:formatCode>
                <c:ptCount val="13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 formatCode="_ * #,##0_ ;_ * \-#,##0_ ;_ * &quot;-&quot;??_ ;_ @_ ">
                  <c:v>-2.7700000000000387</c:v>
                </c:pt>
                <c:pt idx="5" formatCode="_ * #,##0_ ;_ * \-#,##0_ ;_ * &quot;-&quot;??_ ;_ @_ ">
                  <c:v>9.1400000000000432</c:v>
                </c:pt>
                <c:pt idx="6" formatCode="_ * #,##0_ ;_ * \-#,##0_ ;_ * &quot;-&quot;??_ ;_ @_ ">
                  <c:v>17.039999999999964</c:v>
                </c:pt>
                <c:pt idx="7" formatCode="_ * #,##0_ ;_ * \-#,##0_ ;_ * &quot;-&quot;??_ ;_ @_ ">
                  <c:v>27.090000000000032</c:v>
                </c:pt>
                <c:pt idx="8" formatCode="_ * #,##0_ ;_ * \-#,##0_ ;_ * &quot;-&quot;??_ ;_ @_ ">
                  <c:v>8.5600000000000023</c:v>
                </c:pt>
                <c:pt idx="9" formatCode="_ * #,##0_ ;_ * \-#,##0_ ;_ * &quot;-&quot;??_ ;_ @_ ">
                  <c:v>9.4300000000000068</c:v>
                </c:pt>
                <c:pt idx="10" formatCode="_ * #,##0_ ;_ * \-#,##0_ ;_ * &quot;-&quot;??_ ;_ @_ ">
                  <c:v>8.1800000000000068</c:v>
                </c:pt>
                <c:pt idx="11" formatCode="_ * #,##0_ ;_ * \-#,##0_ ;_ * &quot;-&quot;??_ ;_ @_ ">
                  <c:v>4.2199999999999704</c:v>
                </c:pt>
                <c:pt idx="12" formatCode="_ * #,##0_ ;_ * \-#,##0_ ;_ * &quot;-&quot;??_ ;_ @_ ">
                  <c:v>2.3600000000000136</c:v>
                </c:pt>
                <c:pt idx="13" formatCode="_ * #,##0_ ;_ * \-#,##0_ ;_ * &quot;-&quot;??_ ;_ @_ ">
                  <c:v>-1.0400000000000205</c:v>
                </c:pt>
                <c:pt idx="14" formatCode="_ * #,##0_ ;_ * \-#,##0_ ;_ * &quot;-&quot;??_ ;_ @_ ">
                  <c:v>0.48000000000001819</c:v>
                </c:pt>
                <c:pt idx="15" formatCode="_ * #,##0_ ;_ * \-#,##0_ ;_ * &quot;-&quot;??_ ;_ @_ ">
                  <c:v>1.4399999999999977</c:v>
                </c:pt>
                <c:pt idx="16" formatCode="_ * #,##0_ ;_ * \-#,##0_ ;_ * &quot;-&quot;??_ ;_ @_ ">
                  <c:v>1.1499999999999773</c:v>
                </c:pt>
                <c:pt idx="17" formatCode="_ * #,##0_ ;_ * \-#,##0_ ;_ * &quot;-&quot;??_ ;_ @_ ">
                  <c:v>0.56000000000000227</c:v>
                </c:pt>
                <c:pt idx="18" formatCode="_ * #,##0_ ;_ * \-#,##0_ ;_ * &quot;-&quot;??_ ;_ @_ ">
                  <c:v>4.3300000000000409</c:v>
                </c:pt>
                <c:pt idx="19" formatCode="_ * #,##0_ ;_ * \-#,##0_ ;_ * &quot;-&quot;??_ ;_ @_ ">
                  <c:v>8.5199999999999818</c:v>
                </c:pt>
                <c:pt idx="20" formatCode="_ * #,##0_ ;_ * \-#,##0_ ;_ * &quot;-&quot;??_ ;_ @_ ">
                  <c:v>0.74000000000000909</c:v>
                </c:pt>
                <c:pt idx="21" formatCode="_ * #,##0_ ;_ * \-#,##0_ ;_ * &quot;-&quot;??_ ;_ @_ ">
                  <c:v>-3.9399999999999977</c:v>
                </c:pt>
                <c:pt idx="22" formatCode="_ * #,##0_ ;_ * \-#,##0_ ;_ * &quot;-&quot;??_ ;_ @_ ">
                  <c:v>-2.5400000000000205</c:v>
                </c:pt>
                <c:pt idx="23" formatCode="_ * #,##0_ ;_ * \-#,##0_ ;_ * &quot;-&quot;??_ ;_ @_ ">
                  <c:v>-1.6899999999999977</c:v>
                </c:pt>
                <c:pt idx="24" formatCode="_ * #,##0_ ;_ * \-#,##0_ ;_ * &quot;-&quot;??_ ;_ @_ ">
                  <c:v>1.1499999999999773</c:v>
                </c:pt>
                <c:pt idx="25" formatCode="_ * #,##0_ ;_ * \-#,##0_ ;_ * &quot;-&quot;??_ ;_ @_ ">
                  <c:v>5.3799999999999955</c:v>
                </c:pt>
                <c:pt idx="26" formatCode="_ * #,##0_ ;_ * \-#,##0_ ;_ * &quot;-&quot;??_ ;_ @_ ">
                  <c:v>7.7200000000000273</c:v>
                </c:pt>
                <c:pt idx="27" formatCode="_ * #,##0_ ;_ * \-#,##0_ ;_ * &quot;-&quot;??_ ;_ @_ ">
                  <c:v>6.1200000000000045</c:v>
                </c:pt>
                <c:pt idx="28" formatCode="_ * #,##0_ ;_ * \-#,##0_ ;_ * &quot;-&quot;??_ ;_ @_ ">
                  <c:v>11.079999999999984</c:v>
                </c:pt>
                <c:pt idx="29" formatCode="_ * #,##0_ ;_ * \-#,##0_ ;_ * &quot;-&quot;??_ ;_ @_ ">
                  <c:v>23.379999999999995</c:v>
                </c:pt>
                <c:pt idx="30" formatCode="_ * #,##0_ ;_ * \-#,##0_ ;_ * &quot;-&quot;??_ ;_ @_ ">
                  <c:v>11.230000000000018</c:v>
                </c:pt>
                <c:pt idx="31" formatCode="_ * #,##0_ ;_ * \-#,##0_ ;_ * &quot;-&quot;??_ ;_ @_ ">
                  <c:v>2.1200000000000045</c:v>
                </c:pt>
                <c:pt idx="32" formatCode="_ * #,##0_ ;_ * \-#,##0_ ;_ * &quot;-&quot;??_ ;_ @_ ">
                  <c:v>4.8299999999999841</c:v>
                </c:pt>
                <c:pt idx="33" formatCode="_ * #,##0_ ;_ * \-#,##0_ ;_ * &quot;-&quot;??_ ;_ @_ ">
                  <c:v>5.5099999999999909</c:v>
                </c:pt>
                <c:pt idx="34" formatCode="_ * #,##0_ ;_ * \-#,##0_ ;_ * &quot;-&quot;??_ ;_ @_ ">
                  <c:v>-1.0399999999999636</c:v>
                </c:pt>
                <c:pt idx="35" formatCode="_ * #,##0_ ;_ * \-#,##0_ ;_ * &quot;-&quot;??_ ;_ @_ ">
                  <c:v>2.9799999999999613</c:v>
                </c:pt>
                <c:pt idx="36" formatCode="_ * #,##0_ ;_ * \-#,##0_ ;_ * &quot;-&quot;??_ ;_ @_ ">
                  <c:v>7.8900000000000432</c:v>
                </c:pt>
                <c:pt idx="37" formatCode="_ * #,##0_ ;_ * \-#,##0_ ;_ * &quot;-&quot;??_ ;_ @_ ">
                  <c:v>3.3799999999999955</c:v>
                </c:pt>
                <c:pt idx="38" formatCode="_ * #,##0_ ;_ * \-#,##0_ ;_ * &quot;-&quot;??_ ;_ @_ ">
                  <c:v>9.6899999999999977</c:v>
                </c:pt>
                <c:pt idx="39" formatCode="_ * #,##0_ ;_ * \-#,##0_ ;_ * &quot;-&quot;??_ ;_ @_ ">
                  <c:v>9.4300000000000068</c:v>
                </c:pt>
                <c:pt idx="40" formatCode="_ * #,##0_ ;_ * \-#,##0_ ;_ * &quot;-&quot;??_ ;_ @_ ">
                  <c:v>5.8899999999999864</c:v>
                </c:pt>
                <c:pt idx="41" formatCode="_ * #,##0_ ;_ * \-#,##0_ ;_ * &quot;-&quot;??_ ;_ @_ ">
                  <c:v>7.5199999999999818</c:v>
                </c:pt>
                <c:pt idx="42" formatCode="_ * #,##0_ ;_ * \-#,##0_ ;_ * &quot;-&quot;??_ ;_ @_ ">
                  <c:v>14.430000000000007</c:v>
                </c:pt>
                <c:pt idx="43" formatCode="_ * #,##0_ ;_ * \-#,##0_ ;_ * &quot;-&quot;??_ ;_ @_ ">
                  <c:v>9.2999999999999545</c:v>
                </c:pt>
                <c:pt idx="44" formatCode="_ * #,##0_ ;_ * \-#,##0_ ;_ * &quot;-&quot;??_ ;_ @_ ">
                  <c:v>-0.75</c:v>
                </c:pt>
                <c:pt idx="45" formatCode="_ * #,##0_ ;_ * \-#,##0_ ;_ * &quot;-&quot;??_ ;_ @_ ">
                  <c:v>-3.8599999999999</c:v>
                </c:pt>
                <c:pt idx="46" formatCode="_ * #,##0_ ;_ * \-#,##0_ ;_ * &quot;-&quot;??_ ;_ @_ ">
                  <c:v>-4.75</c:v>
                </c:pt>
                <c:pt idx="47" formatCode="_ * #,##0_ ;_ * \-#,##0_ ;_ * &quot;-&quot;??_ ;_ @_ ">
                  <c:v>-12</c:v>
                </c:pt>
                <c:pt idx="48" formatCode="_ * #,##0_ ;_ * \-#,##0_ ;_ * &quot;-&quot;??_ ;_ @_ ">
                  <c:v>-0.87000000000000455</c:v>
                </c:pt>
                <c:pt idx="49" formatCode="_ * #,##0_ ;_ * \-#,##0_ ;_ * &quot;-&quot;??_ ;_ @_ ">
                  <c:v>-5.6500000000000341</c:v>
                </c:pt>
                <c:pt idx="50" formatCode="_ * #,##0_ ;_ * \-#,##0_ ;_ * &quot;-&quot;??_ ;_ @_ ">
                  <c:v>-0.87000000000000455</c:v>
                </c:pt>
                <c:pt idx="51" formatCode="_ * #,##0_ ;_ * \-#,##0_ ;_ * &quot;-&quot;??_ ;_ @_ ">
                  <c:v>19.939999999999998</c:v>
                </c:pt>
                <c:pt idx="52" formatCode="_ * #,##0_ ;_ * \-#,##0_ ;_ * &quot;-&quot;??_ ;_ @_ ">
                  <c:v>12.100000000000023</c:v>
                </c:pt>
                <c:pt idx="53" formatCode="_ * #,##0_ ;_ * \-#,##0_ ;_ * &quot;-&quot;??_ ;_ @_ ">
                  <c:v>10.819999999999936</c:v>
                </c:pt>
                <c:pt idx="54" formatCode="_ * #,##0_ ;_ * \-#,##0_ ;_ * &quot;-&quot;??_ ;_ @_ ">
                  <c:v>13.389999999999986</c:v>
                </c:pt>
                <c:pt idx="55" formatCode="_ * #,##0_ ;_ * \-#,##0_ ;_ * &quot;-&quot;??_ ;_ @_ ">
                  <c:v>5.5</c:v>
                </c:pt>
                <c:pt idx="56" formatCode="_ * #,##0_ ;_ * \-#,##0_ ;_ * &quot;-&quot;??_ ;_ @_ ">
                  <c:v>5.8100000000000591</c:v>
                </c:pt>
                <c:pt idx="57" formatCode="_ * #,##0_ ;_ * \-#,##0_ ;_ * &quot;-&quot;??_ ;_ @_ ">
                  <c:v>-2.5099999999999909</c:v>
                </c:pt>
                <c:pt idx="58" formatCode="_ * #,##0_ ;_ * \-#,##0_ ;_ * &quot;-&quot;??_ ;_ @_ ">
                  <c:v>-11.190000000000055</c:v>
                </c:pt>
                <c:pt idx="59" formatCode="_ * #,##0_ ;_ * \-#,##0_ ;_ * &quot;-&quot;??_ ;_ @_ ">
                  <c:v>-11.329999999999927</c:v>
                </c:pt>
                <c:pt idx="60" formatCode="_ * #,##0_ ;_ * \-#,##0_ ;_ * &quot;-&quot;??_ ;_ @_ ">
                  <c:v>-2.1299999999999955</c:v>
                </c:pt>
                <c:pt idx="61" formatCode="_ * #,##0_ ;_ * \-#,##0_ ;_ * &quot;-&quot;??_ ;_ @_ ">
                  <c:v>-10.770000000000095</c:v>
                </c:pt>
                <c:pt idx="62" formatCode="_ * #,##0_ ;_ * \-#,##0_ ;_ * &quot;-&quot;??_ ;_ @_ ">
                  <c:v>-9.4599999999999227</c:v>
                </c:pt>
                <c:pt idx="63" formatCode="_ * #,##0_ ;_ * \-#,##0_ ;_ * &quot;-&quot;??_ ;_ @_ ">
                  <c:v>5.1899999999999409</c:v>
                </c:pt>
                <c:pt idx="64" formatCode="_ * #,##0_ ;_ * \-#,##0_ ;_ * &quot;-&quot;??_ ;_ @_ ">
                  <c:v>5.07000000000005</c:v>
                </c:pt>
                <c:pt idx="65" formatCode="_ * #,##0_ ;_ * \-#,##0_ ;_ * &quot;-&quot;??_ ;_ @_ ">
                  <c:v>15.340000000000032</c:v>
                </c:pt>
                <c:pt idx="66" formatCode="_ * #,##0_ ;_ * \-#,##0_ ;_ * &quot;-&quot;??_ ;_ @_ ">
                  <c:v>28.189999999999941</c:v>
                </c:pt>
                <c:pt idx="67" formatCode="_ * #,##0_ ;_ * \-#,##0_ ;_ * &quot;-&quot;??_ ;_ @_ ">
                  <c:v>7.1699999999999591</c:v>
                </c:pt>
                <c:pt idx="68" formatCode="_ * #,##0_ ;_ * \-#,##0_ ;_ * &quot;-&quot;??_ ;_ @_ ">
                  <c:v>-4.5999999999999091</c:v>
                </c:pt>
                <c:pt idx="69" formatCode="_ * #,##0_ ;_ * \-#,##0_ ;_ * &quot;-&quot;??_ ;_ @_ ">
                  <c:v>-6.7900000000000773</c:v>
                </c:pt>
                <c:pt idx="70" formatCode="_ * #,##0_ ;_ * \-#,##0_ ;_ * &quot;-&quot;??_ ;_ @_ ">
                  <c:v>-8.4199999999999591</c:v>
                </c:pt>
                <c:pt idx="71" formatCode="_ * #,##0_ ;_ * \-#,##0_ ;_ * &quot;-&quot;??_ ;_ @_ ">
                  <c:v>-0.66999999999995907</c:v>
                </c:pt>
                <c:pt idx="72" formatCode="_ * #,##0_ ;_ * \-#,##0_ ;_ * &quot;-&quot;??_ ;_ @_ ">
                  <c:v>1.5899999999999181</c:v>
                </c:pt>
                <c:pt idx="73" formatCode="_ * #,##0_ ;_ * \-#,##0_ ;_ * &quot;-&quot;??_ ;_ @_ ">
                  <c:v>4.5500000000000682</c:v>
                </c:pt>
                <c:pt idx="74" formatCode="_ * #,##0_ ;_ * \-#,##0_ ;_ * &quot;-&quot;??_ ;_ @_ ">
                  <c:v>4.0499999999999545</c:v>
                </c:pt>
                <c:pt idx="75" formatCode="_ * #,##0_ ;_ * \-#,##0_ ;_ * &quot;-&quot;??_ ;_ @_ ">
                  <c:v>3.8799999999999955</c:v>
                </c:pt>
                <c:pt idx="76" formatCode="_ * #,##0_ ;_ * \-#,##0_ ;_ * &quot;-&quot;??_ ;_ @_ ">
                  <c:v>14.759999999999991</c:v>
                </c:pt>
                <c:pt idx="77" formatCode="_ * #,##0_ ;_ * \-#,##0_ ;_ * &quot;-&quot;??_ ;_ @_ ">
                  <c:v>25.210000000000036</c:v>
                </c:pt>
                <c:pt idx="78" formatCode="_ * #,##0_ ;_ * \-#,##0_ ;_ * &quot;-&quot;??_ ;_ @_ ">
                  <c:v>29.720000000000027</c:v>
                </c:pt>
                <c:pt idx="79" formatCode="_ * #,##0_ ;_ * \-#,##0_ ;_ * &quot;-&quot;??_ ;_ @_ ">
                  <c:v>25.349999999999909</c:v>
                </c:pt>
                <c:pt idx="80" formatCode="_ * #,##0_ ;_ * \-#,##0_ ;_ * &quot;-&quot;??_ ;_ @_ ">
                  <c:v>4.7400000000000091</c:v>
                </c:pt>
                <c:pt idx="81" formatCode="_ * #,##0_ ;_ * \-#,##0_ ;_ * &quot;-&quot;??_ ;_ @_ ">
                  <c:v>0.73000000000001819</c:v>
                </c:pt>
                <c:pt idx="82" formatCode="_ * #,##0_ ;_ * \-#,##0_ ;_ * &quot;-&quot;??_ ;_ @_ ">
                  <c:v>0.47000000000002728</c:v>
                </c:pt>
                <c:pt idx="83" formatCode="_ * #,##0_ ;_ * \-#,##0_ ;_ * &quot;-&quot;??_ ;_ @_ ">
                  <c:v>4.0099999999999909</c:v>
                </c:pt>
                <c:pt idx="84" formatCode="_ * #,##0_ ;_ * \-#,##0_ ;_ * &quot;-&quot;??_ ;_ @_ ">
                  <c:v>2.9999999999972715E-2</c:v>
                </c:pt>
                <c:pt idx="85" formatCode="_ * #,##0_ ;_ * \-#,##0_ ;_ * &quot;-&quot;??_ ;_ @_ ">
                  <c:v>1.8899999999999864</c:v>
                </c:pt>
                <c:pt idx="86" formatCode="_ * #,##0_ ;_ * \-#,##0_ ;_ * &quot;-&quot;??_ ;_ @_ ">
                  <c:v>-2.17999999999995</c:v>
                </c:pt>
                <c:pt idx="87" formatCode="_ * #,##0_ ;_ * \-#,##0_ ;_ * &quot;-&quot;??_ ;_ @_ ">
                  <c:v>-0.63999999999998636</c:v>
                </c:pt>
                <c:pt idx="88" formatCode="_ * #,##0_ ;_ * \-#,##0_ ;_ * &quot;-&quot;??_ ;_ @_ ">
                  <c:v>11.220000000000027</c:v>
                </c:pt>
                <c:pt idx="89" formatCode="_ * #,##0_ ;_ * \-#,##0_ ;_ * &quot;-&quot;??_ ;_ @_ ">
                  <c:v>19.569999999999936</c:v>
                </c:pt>
                <c:pt idx="90" formatCode="_ * #,##0_ ;_ * \-#,##0_ ;_ * &quot;-&quot;??_ ;_ @_ ">
                  <c:v>36</c:v>
                </c:pt>
                <c:pt idx="91" formatCode="_ * #,##0_ ;_ * \-#,##0_ ;_ * &quot;-&quot;??_ ;_ @_ ">
                  <c:v>-12.610000000000014</c:v>
                </c:pt>
                <c:pt idx="92" formatCode="_ * #,##0_ ;_ * \-#,##0_ ;_ * &quot;-&quot;??_ ;_ @_ ">
                  <c:v>-3.1100000000000136</c:v>
                </c:pt>
                <c:pt idx="93" formatCode="_ * #,##0_ ;_ * \-#,##0_ ;_ * &quot;-&quot;??_ ;_ @_ ">
                  <c:v>-12.42999999999995</c:v>
                </c:pt>
                <c:pt idx="94" formatCode="_ * #,##0_ ;_ * \-#,##0_ ;_ * &quot;-&quot;??_ ;_ @_ ">
                  <c:v>-5.1900000000000546</c:v>
                </c:pt>
                <c:pt idx="95" formatCode="_ * #,##0_ ;_ * \-#,##0_ ;_ * &quot;-&quot;??_ ;_ @_ ">
                  <c:v>-0.67999999999994998</c:v>
                </c:pt>
                <c:pt idx="96" formatCode="_ * #,##0_ ;_ * \-#,##0_ ;_ * &quot;-&quot;??_ ;_ @_ ">
                  <c:v>-1.8899999999999864</c:v>
                </c:pt>
                <c:pt idx="97" formatCode="_ * #,##0_ ;_ * \-#,##0_ ;_ * &quot;-&quot;??_ ;_ @_ ">
                  <c:v>-1.3400000000000318</c:v>
                </c:pt>
                <c:pt idx="98" formatCode="_ * #,##0_ ;_ * \-#,##0_ ;_ * &quot;-&quot;??_ ;_ @_ ">
                  <c:v>-1.8700000000000045</c:v>
                </c:pt>
                <c:pt idx="99" formatCode="_ * #,##0_ ;_ * \-#,##0_ ;_ * &quot;-&quot;??_ ;_ @_ ">
                  <c:v>2.9500000000000455</c:v>
                </c:pt>
                <c:pt idx="100" formatCode="_ * #,##0_ ;_ * \-#,##0_ ;_ * &quot;-&quot;??_ ;_ @_ ">
                  <c:v>-0.37999999999999545</c:v>
                </c:pt>
                <c:pt idx="101" formatCode="_ * #,##0_ ;_ * \-#,##0_ ;_ * &quot;-&quot;??_ ;_ @_ ">
                  <c:v>6.9599999999999227</c:v>
                </c:pt>
                <c:pt idx="102" formatCode="_ * #,##0_ ;_ * \-#,##0_ ;_ * &quot;-&quot;??_ ;_ @_ ">
                  <c:v>14.090000000000032</c:v>
                </c:pt>
                <c:pt idx="103" formatCode="_ * #,##0_ ;_ * \-#,##0_ ;_ * &quot;-&quot;??_ ;_ @_ ">
                  <c:v>3.8500000000000227</c:v>
                </c:pt>
                <c:pt idx="104" formatCode="_ * #,##0_ ;_ * \-#,##0_ ;_ * &quot;-&quot;??_ ;_ @_ ">
                  <c:v>-0.50999999999999091</c:v>
                </c:pt>
                <c:pt idx="105" formatCode="_ * #,##0_ ;_ * \-#,##0_ ;_ * &quot;-&quot;??_ ;_ @_ ">
                  <c:v>-0.62999999999999545</c:v>
                </c:pt>
                <c:pt idx="106" formatCode="_ * #,##0_ ;_ * \-#,##0_ ;_ * &quot;-&quot;??_ ;_ @_ ">
                  <c:v>-0.15999999999996817</c:v>
                </c:pt>
                <c:pt idx="107" formatCode="_ * #,##0_ ;_ * \-#,##0_ ;_ * &quot;-&quot;??_ ;_ @_ ">
                  <c:v>-0.12999999999999545</c:v>
                </c:pt>
                <c:pt idx="108" formatCode="_ * #,##0_ ;_ * \-#,##0_ ;_ * &quot;-&quot;??_ ;_ @_ ">
                  <c:v>-7.9500000000000455</c:v>
                </c:pt>
                <c:pt idx="109" formatCode="_ * #,##0_ ;_ * \-#,##0_ ;_ * &quot;-&quot;??_ ;_ @_ ">
                  <c:v>-1.4500000000000455</c:v>
                </c:pt>
                <c:pt idx="110" formatCode="_ * #,##0_ ;_ * \-#,##0_ ;_ * &quot;-&quot;??_ ;_ @_ ">
                  <c:v>-6.2699999999999818</c:v>
                </c:pt>
                <c:pt idx="111" formatCode="_ * #,##0_ ;_ * \-#,##0_ ;_ * &quot;-&quot;??_ ;_ @_ ">
                  <c:v>-0.48000000000001819</c:v>
                </c:pt>
                <c:pt idx="112" formatCode="_ * #,##0_ ;_ * \-#,##0_ ;_ * &quot;-&quot;??_ ;_ @_ ">
                  <c:v>-5.4099999999999682</c:v>
                </c:pt>
                <c:pt idx="113" formatCode="_ * #,##0_ ;_ * \-#,##0_ ;_ * &quot;-&quot;??_ ;_ @_ ">
                  <c:v>1.3999999999999773</c:v>
                </c:pt>
                <c:pt idx="114" formatCode="_ * #,##0_ ;_ * \-#,##0_ ;_ * &quot;-&quot;??_ ;_ @_ ">
                  <c:v>17.800000000000068</c:v>
                </c:pt>
                <c:pt idx="115" formatCode="_ * #,##0_ ;_ * \-#,##0_ ;_ * &quot;-&quot;??_ ;_ @_ ">
                  <c:v>21.349999999999909</c:v>
                </c:pt>
                <c:pt idx="116" formatCode="_ * #,##0_ ;_ * \-#,##0_ ;_ * &quot;-&quot;??_ ;_ @_ ">
                  <c:v>11.25</c:v>
                </c:pt>
                <c:pt idx="117" formatCode="_ * #,##0_ ;_ * \-#,##0_ ;_ * &quot;-&quot;??_ ;_ @_ ">
                  <c:v>10.020000000000095</c:v>
                </c:pt>
                <c:pt idx="118" formatCode="_ * #,##0_ ;_ * \-#,##0_ ;_ * &quot;-&quot;??_ ;_ @_ ">
                  <c:v>4.0199999999999818</c:v>
                </c:pt>
                <c:pt idx="119" formatCode="_ * #,##0_ ;_ * \-#,##0_ ;_ * &quot;-&quot;??_ ;_ @_ ">
                  <c:v>6.1200000000000045</c:v>
                </c:pt>
                <c:pt idx="120" formatCode="_ * #,##0_ ;_ * \-#,##0_ ;_ * &quot;-&quot;??_ ;_ @_ ">
                  <c:v>3.75</c:v>
                </c:pt>
                <c:pt idx="121" formatCode="_ * #,##0_ ;_ * \-#,##0_ ;_ * &quot;-&quot;??_ ;_ @_ ">
                  <c:v>5.9800000000000182</c:v>
                </c:pt>
                <c:pt idx="122" formatCode="_ * #,##0_ ;_ * \-#,##0_ ;_ * &quot;-&quot;??_ ;_ @_ ">
                  <c:v>0.68999999999994088</c:v>
                </c:pt>
                <c:pt idx="123" formatCode="_ * #,##0_ ;_ * \-#,##0_ ;_ * &quot;-&quot;??_ ;_ @_ ">
                  <c:v>-9.0000000000031832E-2</c:v>
                </c:pt>
                <c:pt idx="124" formatCode="_ * #,##0_ ;_ * \-#,##0_ ;_ * &quot;-&quot;??_ ;_ @_ ">
                  <c:v>2.5800000000000409</c:v>
                </c:pt>
                <c:pt idx="125" formatCode="_ * #,##0_ ;_ * \-#,##0_ ;_ * &quot;-&quot;??_ ;_ @_ ">
                  <c:v>37.659999999999968</c:v>
                </c:pt>
                <c:pt idx="126" formatCode="_ * #,##0_ ;_ * \-#,##0_ ;_ * &quot;-&quot;??_ ;_ @_ ">
                  <c:v>39.060000000000059</c:v>
                </c:pt>
                <c:pt idx="127" formatCode="_ * #,##0_ ;_ * \-#,##0_ ;_ * &quot;-&quot;??_ ;_ @_ ">
                  <c:v>9.6599999999999682</c:v>
                </c:pt>
                <c:pt idx="128" formatCode="_ * #,##0_ ;_ * \-#,##0_ ;_ * &quot;-&quot;??_ ;_ @_ ">
                  <c:v>3.3600000000000136</c:v>
                </c:pt>
                <c:pt idx="129" formatCode="_ * #,##0_ ;_ * \-#,##0_ ;_ * &quot;-&quot;??_ ;_ @_ ">
                  <c:v>6.9099999999999682</c:v>
                </c:pt>
                <c:pt idx="130" formatCode="_ * #,##0_ ;_ * \-#,##0_ ;_ * &quot;-&quot;??_ ;_ @_ ">
                  <c:v>-15.919999999999959</c:v>
                </c:pt>
                <c:pt idx="131" formatCode="_ * #,##0_ ;_ * \-#,##0_ ;_ * &quot;-&quot;??_ ;_ @_ ">
                  <c:v>-8.3700000000000045</c:v>
                </c:pt>
                <c:pt idx="132" formatCode="_ * #,##0_ ;_ * \-#,##0_ ;_ * &quot;-&quot;??_ ;_ @_ ">
                  <c:v>-8</c:v>
                </c:pt>
                <c:pt idx="133" formatCode="_ * #,##0_ ;_ * \-#,##0_ ;_ * &quot;-&quot;??_ ;_ @_ ">
                  <c:v>-23.230000000000018</c:v>
                </c:pt>
                <c:pt idx="134" formatCode="_ * #,##0_ ;_ * \-#,##0_ ;_ * &quot;-&quot;??_ ;_ @_ ">
                  <c:v>-6.0900000000000318</c:v>
                </c:pt>
                <c:pt idx="135" formatCode="_ * #,##0_ ;_ * \-#,##0_ ;_ * &quot;-&quot;??_ ;_ @_ ">
                  <c:v>-14.159999999999968</c:v>
                </c:pt>
                <c:pt idx="136" formatCode="_ * #,##0_ ;_ * \-#,##0_ ;_ * &quot;-&quot;??_ ;_ @_ ">
                  <c:v>-9.1499999999999773</c:v>
                </c:pt>
                <c:pt idx="137" formatCode="_ * #,##0_ ;_ * \-#,##0_ ;_ * &quot;-&quot;??_ ;_ @_ ">
                  <c:v>0.49000000000000909</c:v>
                </c:pt>
                <c:pt idx="138" formatCode="_ * #,##0_ ;_ * \-#,##0_ ;_ * &quot;-&quot;??_ ;_ @_ ">
                  <c:v>5.1599999999999682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4FE-4773-9FC1-8874742A43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2991744"/>
        <c:axId val="173681664"/>
      </c:scatterChart>
      <c:valAx>
        <c:axId val="10299174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s-ES"/>
                  <a:t>Variación de reservas</a:t>
                </a:r>
              </a:p>
            </c:rich>
          </c:tx>
          <c:layout>
            <c:manualLayout>
              <c:xMode val="edge"/>
              <c:yMode val="edge"/>
              <c:x val="0.37396938326871576"/>
              <c:y val="0.90003715827656372"/>
            </c:manualLayout>
          </c:layout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chemeClr val="tx2">
                <a:lumMod val="75000"/>
              </a:schemeClr>
            </a:solidFill>
          </a:ln>
        </c:spPr>
        <c:crossAx val="173681664"/>
        <c:crosses val="autoZero"/>
        <c:crossBetween val="midCat"/>
      </c:valAx>
      <c:valAx>
        <c:axId val="17368166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/>
                </a:pPr>
                <a:r>
                  <a:rPr lang="es-ES"/>
                  <a:t>Variación de Base Monetaria</a:t>
                </a:r>
              </a:p>
            </c:rich>
          </c:tx>
          <c:layout>
            <c:manualLayout>
              <c:xMode val="edge"/>
              <c:yMode val="edge"/>
              <c:x val="6.7681895093062603E-3"/>
              <c:y val="0.15486213099767024"/>
            </c:manualLayout>
          </c:layout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chemeClr val="tx2">
                <a:lumMod val="75000"/>
              </a:schemeClr>
            </a:solidFill>
          </a:ln>
        </c:spPr>
        <c:crossAx val="102991744"/>
        <c:crosses val="autoZero"/>
        <c:crossBetween val="midCat"/>
      </c:valAx>
    </c:plotArea>
    <c:plotVisOnly val="1"/>
    <c:dispBlanksAs val="gap"/>
    <c:showDLblsOverMax val="0"/>
  </c:chart>
  <c:spPr>
    <a:ln>
      <a:noFill/>
    </a:ln>
  </c:spPr>
  <c:txPr>
    <a:bodyPr/>
    <a:lstStyle/>
    <a:p>
      <a:pPr>
        <a:defRPr sz="1600">
          <a:solidFill>
            <a:schemeClr val="tx2">
              <a:lumMod val="75000"/>
            </a:schemeClr>
          </a:solidFill>
          <a:latin typeface="Abadi" panose="020B0604020104020204" pitchFamily="34" charset="0"/>
          <a:cs typeface="Times New Roman" pitchFamily="18" charset="0"/>
        </a:defRPr>
      </a:pPr>
      <a:endParaRPr lang="es-A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9.8571741032371027E-2"/>
          <c:y val="4.2174826233207327E-2"/>
          <c:w val="0.8854698162729655"/>
          <c:h val="0.57395513973624679"/>
        </c:manualLayout>
      </c:layout>
      <c:lineChart>
        <c:grouping val="standard"/>
        <c:varyColors val="0"/>
        <c:ser>
          <c:idx val="0"/>
          <c:order val="2"/>
          <c:tx>
            <c:strRef>
              <c:f>'Dep Bancos'!$C$1</c:f>
              <c:strCache>
                <c:ptCount val="1"/>
                <c:pt idx="0">
                  <c:v>Bco. de la Nación (BNA)</c:v>
                </c:pt>
              </c:strCache>
            </c:strRef>
          </c:tx>
          <c:spPr>
            <a:ln w="38100">
              <a:solidFill>
                <a:schemeClr val="tx2">
                  <a:lumMod val="60000"/>
                  <a:lumOff val="40000"/>
                </a:schemeClr>
              </a:solidFill>
            </a:ln>
          </c:spPr>
          <c:marker>
            <c:symbol val="none"/>
          </c:marker>
          <c:cat>
            <c:multiLvlStrRef>
              <c:f>'Dep Bancos'!$A$2:$B$73</c:f>
              <c:multiLvlStrCache>
                <c:ptCount val="72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  <c:pt idx="12">
                    <c:v>Ene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Abr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Ago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Dic</c:v>
                  </c:pt>
                  <c:pt idx="24">
                    <c:v>Ene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Abr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Ago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Dic</c:v>
                  </c:pt>
                  <c:pt idx="36">
                    <c:v>Ene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Abr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Ago</c:v>
                  </c:pt>
                  <c:pt idx="44">
                    <c:v>Sep</c:v>
                  </c:pt>
                  <c:pt idx="45">
                    <c:v>Oct</c:v>
                  </c:pt>
                  <c:pt idx="46">
                    <c:v>Nov</c:v>
                  </c:pt>
                  <c:pt idx="47">
                    <c:v>Dic</c:v>
                  </c:pt>
                  <c:pt idx="48">
                    <c:v>Ene</c:v>
                  </c:pt>
                  <c:pt idx="49">
                    <c:v>Feb</c:v>
                  </c:pt>
                  <c:pt idx="50">
                    <c:v>Mar</c:v>
                  </c:pt>
                  <c:pt idx="51">
                    <c:v>Abr</c:v>
                  </c:pt>
                  <c:pt idx="52">
                    <c:v>May</c:v>
                  </c:pt>
                  <c:pt idx="53">
                    <c:v>Jun</c:v>
                  </c:pt>
                  <c:pt idx="54">
                    <c:v>Jul</c:v>
                  </c:pt>
                  <c:pt idx="55">
                    <c:v>Ago</c:v>
                  </c:pt>
                  <c:pt idx="56">
                    <c:v>Sep</c:v>
                  </c:pt>
                  <c:pt idx="57">
                    <c:v>Oct</c:v>
                  </c:pt>
                  <c:pt idx="58">
                    <c:v>Nov</c:v>
                  </c:pt>
                  <c:pt idx="59">
                    <c:v>Dic</c:v>
                  </c:pt>
                  <c:pt idx="60">
                    <c:v>Ene</c:v>
                  </c:pt>
                  <c:pt idx="61">
                    <c:v>Feb</c:v>
                  </c:pt>
                  <c:pt idx="62">
                    <c:v>Mar</c:v>
                  </c:pt>
                  <c:pt idx="63">
                    <c:v>Abr</c:v>
                  </c:pt>
                  <c:pt idx="64">
                    <c:v>May</c:v>
                  </c:pt>
                  <c:pt idx="65">
                    <c:v>Jun</c:v>
                  </c:pt>
                  <c:pt idx="66">
                    <c:v>Jul</c:v>
                  </c:pt>
                  <c:pt idx="67">
                    <c:v>Ago</c:v>
                  </c:pt>
                  <c:pt idx="68">
                    <c:v>Sep</c:v>
                  </c:pt>
                  <c:pt idx="69">
                    <c:v>Oct</c:v>
                  </c:pt>
                  <c:pt idx="70">
                    <c:v>Nov</c:v>
                  </c:pt>
                  <c:pt idx="71">
                    <c:v>Dic</c:v>
                  </c:pt>
                </c:lvl>
                <c:lvl>
                  <c:pt idx="0">
                    <c:v>1908</c:v>
                  </c:pt>
                  <c:pt idx="12">
                    <c:v>1909</c:v>
                  </c:pt>
                  <c:pt idx="24">
                    <c:v>1910</c:v>
                  </c:pt>
                  <c:pt idx="36">
                    <c:v>1911</c:v>
                  </c:pt>
                  <c:pt idx="48">
                    <c:v>1912</c:v>
                  </c:pt>
                  <c:pt idx="60">
                    <c:v>1913</c:v>
                  </c:pt>
                </c:lvl>
              </c:multiLvlStrCache>
            </c:multiLvlStrRef>
          </c:cat>
          <c:val>
            <c:numRef>
              <c:f>'Dep Bancos'!$C$2:$C$73</c:f>
              <c:numCache>
                <c:formatCode>0.0</c:formatCode>
                <c:ptCount val="72"/>
                <c:pt idx="0">
                  <c:v>32.270769230769233</c:v>
                </c:pt>
                <c:pt idx="1">
                  <c:v>32.6</c:v>
                </c:pt>
                <c:pt idx="2">
                  <c:v>32.829562594268474</c:v>
                </c:pt>
                <c:pt idx="3">
                  <c:v>33.158371040723985</c:v>
                </c:pt>
                <c:pt idx="4">
                  <c:v>32.869230769230768</c:v>
                </c:pt>
                <c:pt idx="5">
                  <c:v>32.542986425339365</c:v>
                </c:pt>
                <c:pt idx="6">
                  <c:v>32.481146304675718</c:v>
                </c:pt>
                <c:pt idx="7">
                  <c:v>31.447142857142858</c:v>
                </c:pt>
                <c:pt idx="8">
                  <c:v>33.158571428571427</c:v>
                </c:pt>
                <c:pt idx="9">
                  <c:v>32.887798036465639</c:v>
                </c:pt>
                <c:pt idx="10">
                  <c:v>34.309957924263678</c:v>
                </c:pt>
                <c:pt idx="11">
                  <c:v>34.530154277699857</c:v>
                </c:pt>
                <c:pt idx="12">
                  <c:v>40.123076923076923</c:v>
                </c:pt>
                <c:pt idx="13">
                  <c:v>40.176470588235297</c:v>
                </c:pt>
                <c:pt idx="14">
                  <c:v>42.958461538461542</c:v>
                </c:pt>
                <c:pt idx="15">
                  <c:v>42.218702865761692</c:v>
                </c:pt>
                <c:pt idx="16">
                  <c:v>42.775263951734544</c:v>
                </c:pt>
                <c:pt idx="17">
                  <c:v>45.41692789968652</c:v>
                </c:pt>
                <c:pt idx="18">
                  <c:v>51.017600000000002</c:v>
                </c:pt>
                <c:pt idx="19">
                  <c:v>50.164615384615381</c:v>
                </c:pt>
                <c:pt idx="20">
                  <c:v>57.294217687074827</c:v>
                </c:pt>
                <c:pt idx="21">
                  <c:v>57.89965986394558</c:v>
                </c:pt>
                <c:pt idx="22">
                  <c:v>58.935000000000002</c:v>
                </c:pt>
                <c:pt idx="23">
                  <c:v>60.278260869565223</c:v>
                </c:pt>
                <c:pt idx="24">
                  <c:v>54.931034482758619</c:v>
                </c:pt>
                <c:pt idx="25">
                  <c:v>57.814029363784663</c:v>
                </c:pt>
                <c:pt idx="26">
                  <c:v>60.074999999999996</c:v>
                </c:pt>
                <c:pt idx="27">
                  <c:v>59.803199999999997</c:v>
                </c:pt>
                <c:pt idx="28">
                  <c:v>60.04078303425775</c:v>
                </c:pt>
                <c:pt idx="29">
                  <c:v>57.050156739811918</c:v>
                </c:pt>
                <c:pt idx="30">
                  <c:v>56.210031347962385</c:v>
                </c:pt>
                <c:pt idx="31">
                  <c:v>54.440422322775262</c:v>
                </c:pt>
                <c:pt idx="32">
                  <c:v>55.676923076923075</c:v>
                </c:pt>
                <c:pt idx="33">
                  <c:v>54.475113122171948</c:v>
                </c:pt>
                <c:pt idx="34">
                  <c:v>57.82</c:v>
                </c:pt>
                <c:pt idx="35">
                  <c:v>60.129230769230766</c:v>
                </c:pt>
                <c:pt idx="36">
                  <c:v>57.451851851851856</c:v>
                </c:pt>
                <c:pt idx="37">
                  <c:v>57.84740740740741</c:v>
                </c:pt>
                <c:pt idx="38">
                  <c:v>55.428571428571431</c:v>
                </c:pt>
                <c:pt idx="39">
                  <c:v>59.331851851851852</c:v>
                </c:pt>
                <c:pt idx="40">
                  <c:v>59.456296296296294</c:v>
                </c:pt>
                <c:pt idx="41">
                  <c:v>57.284712482468443</c:v>
                </c:pt>
                <c:pt idx="42">
                  <c:v>53.837398373983739</c:v>
                </c:pt>
                <c:pt idx="43">
                  <c:v>59.900740740740737</c:v>
                </c:pt>
                <c:pt idx="44">
                  <c:v>59.539259259259261</c:v>
                </c:pt>
                <c:pt idx="45">
                  <c:v>56.016551724137933</c:v>
                </c:pt>
                <c:pt idx="46">
                  <c:v>55.937669376693769</c:v>
                </c:pt>
                <c:pt idx="47">
                  <c:v>55.979674796747965</c:v>
                </c:pt>
                <c:pt idx="48">
                  <c:v>55.832000000000001</c:v>
                </c:pt>
                <c:pt idx="49">
                  <c:v>55.461333333333329</c:v>
                </c:pt>
                <c:pt idx="50">
                  <c:v>55.344516129032257</c:v>
                </c:pt>
                <c:pt idx="51">
                  <c:v>58.866666666666667</c:v>
                </c:pt>
                <c:pt idx="52">
                  <c:v>55.737309644670049</c:v>
                </c:pt>
                <c:pt idx="53">
                  <c:v>58.576774193548388</c:v>
                </c:pt>
                <c:pt idx="54">
                  <c:v>60.88859764089122</c:v>
                </c:pt>
                <c:pt idx="55">
                  <c:v>60.703800786369598</c:v>
                </c:pt>
                <c:pt idx="56">
                  <c:v>61.926666666666662</c:v>
                </c:pt>
                <c:pt idx="57">
                  <c:v>62.062909567496725</c:v>
                </c:pt>
                <c:pt idx="58">
                  <c:v>64.550666666666672</c:v>
                </c:pt>
                <c:pt idx="59">
                  <c:v>62.690694626474439</c:v>
                </c:pt>
                <c:pt idx="60">
                  <c:v>66.968000000000004</c:v>
                </c:pt>
                <c:pt idx="61">
                  <c:v>69.121333333333325</c:v>
                </c:pt>
                <c:pt idx="62">
                  <c:v>67.818064516129041</c:v>
                </c:pt>
                <c:pt idx="63">
                  <c:v>69.575483870967744</c:v>
                </c:pt>
                <c:pt idx="64">
                  <c:v>68.627306273062729</c:v>
                </c:pt>
                <c:pt idx="65">
                  <c:v>75.752258064516141</c:v>
                </c:pt>
                <c:pt idx="66">
                  <c:v>72.274111675126903</c:v>
                </c:pt>
                <c:pt idx="67">
                  <c:v>72.52129032258064</c:v>
                </c:pt>
                <c:pt idx="68">
                  <c:v>74.723684210526315</c:v>
                </c:pt>
                <c:pt idx="69">
                  <c:v>73.009333333333345</c:v>
                </c:pt>
                <c:pt idx="70">
                  <c:v>73.48533333333333</c:v>
                </c:pt>
                <c:pt idx="71">
                  <c:v>72.183999999999997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725-4FC1-A2D9-D70C30807F3F}"/>
            </c:ext>
          </c:extLst>
        </c:ser>
        <c:ser>
          <c:idx val="2"/>
          <c:order val="3"/>
          <c:tx>
            <c:strRef>
              <c:f>'Dep Bancos'!$E$1</c:f>
              <c:strCache>
                <c:ptCount val="1"/>
                <c:pt idx="0">
                  <c:v>Tend. BNA</c:v>
                </c:pt>
              </c:strCache>
            </c:strRef>
          </c:tx>
          <c:spPr>
            <a:ln w="19050">
              <a:solidFill>
                <a:schemeClr val="tx2">
                  <a:lumMod val="60000"/>
                  <a:lumOff val="40000"/>
                </a:schemeClr>
              </a:solidFill>
              <a:prstDash val="sysDash"/>
            </a:ln>
          </c:spPr>
          <c:marker>
            <c:symbol val="none"/>
          </c:marker>
          <c:cat>
            <c:multiLvlStrRef>
              <c:f>'Dep Bancos'!$A$2:$B$73</c:f>
              <c:multiLvlStrCache>
                <c:ptCount val="72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  <c:pt idx="12">
                    <c:v>Ene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Abr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Ago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Dic</c:v>
                  </c:pt>
                  <c:pt idx="24">
                    <c:v>Ene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Abr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Ago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Dic</c:v>
                  </c:pt>
                  <c:pt idx="36">
                    <c:v>Ene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Abr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Ago</c:v>
                  </c:pt>
                  <c:pt idx="44">
                    <c:v>Sep</c:v>
                  </c:pt>
                  <c:pt idx="45">
                    <c:v>Oct</c:v>
                  </c:pt>
                  <c:pt idx="46">
                    <c:v>Nov</c:v>
                  </c:pt>
                  <c:pt idx="47">
                    <c:v>Dic</c:v>
                  </c:pt>
                  <c:pt idx="48">
                    <c:v>Ene</c:v>
                  </c:pt>
                  <c:pt idx="49">
                    <c:v>Feb</c:v>
                  </c:pt>
                  <c:pt idx="50">
                    <c:v>Mar</c:v>
                  </c:pt>
                  <c:pt idx="51">
                    <c:v>Abr</c:v>
                  </c:pt>
                  <c:pt idx="52">
                    <c:v>May</c:v>
                  </c:pt>
                  <c:pt idx="53">
                    <c:v>Jun</c:v>
                  </c:pt>
                  <c:pt idx="54">
                    <c:v>Jul</c:v>
                  </c:pt>
                  <c:pt idx="55">
                    <c:v>Ago</c:v>
                  </c:pt>
                  <c:pt idx="56">
                    <c:v>Sep</c:v>
                  </c:pt>
                  <c:pt idx="57">
                    <c:v>Oct</c:v>
                  </c:pt>
                  <c:pt idx="58">
                    <c:v>Nov</c:v>
                  </c:pt>
                  <c:pt idx="59">
                    <c:v>Dic</c:v>
                  </c:pt>
                  <c:pt idx="60">
                    <c:v>Ene</c:v>
                  </c:pt>
                  <c:pt idx="61">
                    <c:v>Feb</c:v>
                  </c:pt>
                  <c:pt idx="62">
                    <c:v>Mar</c:v>
                  </c:pt>
                  <c:pt idx="63">
                    <c:v>Abr</c:v>
                  </c:pt>
                  <c:pt idx="64">
                    <c:v>May</c:v>
                  </c:pt>
                  <c:pt idx="65">
                    <c:v>Jun</c:v>
                  </c:pt>
                  <c:pt idx="66">
                    <c:v>Jul</c:v>
                  </c:pt>
                  <c:pt idx="67">
                    <c:v>Ago</c:v>
                  </c:pt>
                  <c:pt idx="68">
                    <c:v>Sep</c:v>
                  </c:pt>
                  <c:pt idx="69">
                    <c:v>Oct</c:v>
                  </c:pt>
                  <c:pt idx="70">
                    <c:v>Nov</c:v>
                  </c:pt>
                  <c:pt idx="71">
                    <c:v>Dic</c:v>
                  </c:pt>
                </c:lvl>
                <c:lvl>
                  <c:pt idx="0">
                    <c:v>1908</c:v>
                  </c:pt>
                  <c:pt idx="12">
                    <c:v>1909</c:v>
                  </c:pt>
                  <c:pt idx="24">
                    <c:v>1910</c:v>
                  </c:pt>
                  <c:pt idx="36">
                    <c:v>1911</c:v>
                  </c:pt>
                  <c:pt idx="48">
                    <c:v>1912</c:v>
                  </c:pt>
                  <c:pt idx="60">
                    <c:v>1913</c:v>
                  </c:pt>
                </c:lvl>
              </c:multiLvlStrCache>
            </c:multiLvlStrRef>
          </c:cat>
          <c:val>
            <c:numRef>
              <c:f>'Dep Bancos'!$E$2:$E$73</c:f>
              <c:numCache>
                <c:formatCode>0.0</c:formatCode>
                <c:ptCount val="72"/>
                <c:pt idx="0">
                  <c:v>28.2077574998</c:v>
                </c:pt>
                <c:pt idx="1">
                  <c:v>28.761905624099999</c:v>
                </c:pt>
                <c:pt idx="2">
                  <c:v>29.324338881199999</c:v>
                </c:pt>
                <c:pt idx="3">
                  <c:v>29.8949867804</c:v>
                </c:pt>
                <c:pt idx="4">
                  <c:v>30.473778831000001</c:v>
                </c:pt>
                <c:pt idx="5">
                  <c:v>31.0606445421</c:v>
                </c:pt>
                <c:pt idx="6">
                  <c:v>31.6555134231</c:v>
                </c:pt>
                <c:pt idx="7">
                  <c:v>32.2583149831</c:v>
                </c:pt>
                <c:pt idx="8">
                  <c:v>32.868978731399999</c:v>
                </c:pt>
                <c:pt idx="9">
                  <c:v>33.487434177200001</c:v>
                </c:pt>
                <c:pt idx="10">
                  <c:v>34.113610829800002</c:v>
                </c:pt>
                <c:pt idx="11">
                  <c:v>34.747438198300003</c:v>
                </c:pt>
                <c:pt idx="12">
                  <c:v>35.3888457921</c:v>
                </c:pt>
                <c:pt idx="13">
                  <c:v>36.037763120199998</c:v>
                </c:pt>
                <c:pt idx="14">
                  <c:v>36.694119692100003</c:v>
                </c:pt>
                <c:pt idx="15">
                  <c:v>37.357845016799999</c:v>
                </c:pt>
                <c:pt idx="16">
                  <c:v>38.028868603699998</c:v>
                </c:pt>
                <c:pt idx="17">
                  <c:v>38.707119962</c:v>
                </c:pt>
                <c:pt idx="18">
                  <c:v>39.392528600799999</c:v>
                </c:pt>
                <c:pt idx="19">
                  <c:v>40.085024029499998</c:v>
                </c:pt>
                <c:pt idx="20">
                  <c:v>40.784535757199997</c:v>
                </c:pt>
                <c:pt idx="21">
                  <c:v>41.490993293199999</c:v>
                </c:pt>
                <c:pt idx="22">
                  <c:v>42.2043261468</c:v>
                </c:pt>
                <c:pt idx="23">
                  <c:v>42.924463827099999</c:v>
                </c:pt>
                <c:pt idx="24">
                  <c:v>43.651335843399998</c:v>
                </c:pt>
                <c:pt idx="25">
                  <c:v>44.3848717049</c:v>
                </c:pt>
                <c:pt idx="26">
                  <c:v>45.1250009209</c:v>
                </c:pt>
                <c:pt idx="27">
                  <c:v>45.871653000499997</c:v>
                </c:pt>
                <c:pt idx="28">
                  <c:v>46.624757453100003</c:v>
                </c:pt>
                <c:pt idx="29">
                  <c:v>47.384243787800003</c:v>
                </c:pt>
                <c:pt idx="30">
                  <c:v>48.1500415139</c:v>
                </c:pt>
                <c:pt idx="31">
                  <c:v>48.922080140600002</c:v>
                </c:pt>
                <c:pt idx="32">
                  <c:v>49.700289177199998</c:v>
                </c:pt>
                <c:pt idx="33">
                  <c:v>50.484598132800002</c:v>
                </c:pt>
                <c:pt idx="34">
                  <c:v>51.274936516700002</c:v>
                </c:pt>
                <c:pt idx="35">
                  <c:v>52.071233838200001</c:v>
                </c:pt>
                <c:pt idx="36">
                  <c:v>52.873419606399999</c:v>
                </c:pt>
                <c:pt idx="37">
                  <c:v>53.681423330699999</c:v>
                </c:pt>
                <c:pt idx="38">
                  <c:v>54.495174520100001</c:v>
                </c:pt>
                <c:pt idx="39">
                  <c:v>55.314602684100002</c:v>
                </c:pt>
                <c:pt idx="40">
                  <c:v>56.139637331700001</c:v>
                </c:pt>
                <c:pt idx="41">
                  <c:v>56.970207972300003</c:v>
                </c:pt>
                <c:pt idx="42">
                  <c:v>57.806244114999998</c:v>
                </c:pt>
                <c:pt idx="43">
                  <c:v>58.647675269200001</c:v>
                </c:pt>
                <c:pt idx="44">
                  <c:v>59.494430943899999</c:v>
                </c:pt>
                <c:pt idx="45">
                  <c:v>60.3464406485</c:v>
                </c:pt>
                <c:pt idx="46">
                  <c:v>61.203633892200003</c:v>
                </c:pt>
                <c:pt idx="47">
                  <c:v>62.065940184299997</c:v>
                </c:pt>
                <c:pt idx="48">
                  <c:v>62.933289033800001</c:v>
                </c:pt>
                <c:pt idx="49">
                  <c:v>63.805609950200001</c:v>
                </c:pt>
                <c:pt idx="50">
                  <c:v>64.682832442600002</c:v>
                </c:pt>
                <c:pt idx="51">
                  <c:v>65.564886020200007</c:v>
                </c:pt>
                <c:pt idx="52">
                  <c:v>66.451700192299995</c:v>
                </c:pt>
                <c:pt idx="53">
                  <c:v>67.343204468099998</c:v>
                </c:pt>
                <c:pt idx="54">
                  <c:v>68.239328356900003</c:v>
                </c:pt>
                <c:pt idx="55">
                  <c:v>69.140001367799997</c:v>
                </c:pt>
                <c:pt idx="56">
                  <c:v>70.045153010199996</c:v>
                </c:pt>
                <c:pt idx="57">
                  <c:v>70.954712793100001</c:v>
                </c:pt>
                <c:pt idx="58">
                  <c:v>71.868610226000001</c:v>
                </c:pt>
                <c:pt idx="59">
                  <c:v>72.786774817999998</c:v>
                </c:pt>
                <c:pt idx="60">
                  <c:v>73.709136078300006</c:v>
                </c:pt>
                <c:pt idx="61">
                  <c:v>74.635623516099997</c:v>
                </c:pt>
                <c:pt idx="62">
                  <c:v>75.566166640800006</c:v>
                </c:pt>
                <c:pt idx="63">
                  <c:v>76.500694961500002</c:v>
                </c:pt>
                <c:pt idx="64">
                  <c:v>77.439137987400002</c:v>
                </c:pt>
                <c:pt idx="65">
                  <c:v>78.381425227899996</c:v>
                </c:pt>
                <c:pt idx="66">
                  <c:v>79.327486191999995</c:v>
                </c:pt>
                <c:pt idx="67">
                  <c:v>80.277250389200006</c:v>
                </c:pt>
                <c:pt idx="68">
                  <c:v>81.230647328499998</c:v>
                </c:pt>
                <c:pt idx="69">
                  <c:v>82.187606519200003</c:v>
                </c:pt>
                <c:pt idx="70">
                  <c:v>83.148057470599994</c:v>
                </c:pt>
                <c:pt idx="71">
                  <c:v>84.111929691900002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725-4FC1-A2D9-D70C30807F3F}"/>
            </c:ext>
          </c:extLst>
        </c:ser>
        <c:ser>
          <c:idx val="1"/>
          <c:order val="0"/>
          <c:tx>
            <c:strRef>
              <c:f>'Dep Bancos'!$D$1</c:f>
              <c:strCache>
                <c:ptCount val="1"/>
                <c:pt idx="0">
                  <c:v>resto de los Bcos. (RdeB)</c:v>
                </c:pt>
              </c:strCache>
            </c:strRef>
          </c:tx>
          <c:spPr>
            <a:ln w="38100">
              <a:solidFill>
                <a:schemeClr val="tx2">
                  <a:lumMod val="75000"/>
                </a:schemeClr>
              </a:solidFill>
            </a:ln>
          </c:spPr>
          <c:marker>
            <c:symbol val="none"/>
          </c:marker>
          <c:cat>
            <c:multiLvlStrRef>
              <c:f>'Dep Bancos'!$A$2:$B$73</c:f>
              <c:multiLvlStrCache>
                <c:ptCount val="72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  <c:pt idx="12">
                    <c:v>Ene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Abr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Ago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Dic</c:v>
                  </c:pt>
                  <c:pt idx="24">
                    <c:v>Ene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Abr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Ago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Dic</c:v>
                  </c:pt>
                  <c:pt idx="36">
                    <c:v>Ene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Abr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Ago</c:v>
                  </c:pt>
                  <c:pt idx="44">
                    <c:v>Sep</c:v>
                  </c:pt>
                  <c:pt idx="45">
                    <c:v>Oct</c:v>
                  </c:pt>
                  <c:pt idx="46">
                    <c:v>Nov</c:v>
                  </c:pt>
                  <c:pt idx="47">
                    <c:v>Dic</c:v>
                  </c:pt>
                  <c:pt idx="48">
                    <c:v>Ene</c:v>
                  </c:pt>
                  <c:pt idx="49">
                    <c:v>Feb</c:v>
                  </c:pt>
                  <c:pt idx="50">
                    <c:v>Mar</c:v>
                  </c:pt>
                  <c:pt idx="51">
                    <c:v>Abr</c:v>
                  </c:pt>
                  <c:pt idx="52">
                    <c:v>May</c:v>
                  </c:pt>
                  <c:pt idx="53">
                    <c:v>Jun</c:v>
                  </c:pt>
                  <c:pt idx="54">
                    <c:v>Jul</c:v>
                  </c:pt>
                  <c:pt idx="55">
                    <c:v>Ago</c:v>
                  </c:pt>
                  <c:pt idx="56">
                    <c:v>Sep</c:v>
                  </c:pt>
                  <c:pt idx="57">
                    <c:v>Oct</c:v>
                  </c:pt>
                  <c:pt idx="58">
                    <c:v>Nov</c:v>
                  </c:pt>
                  <c:pt idx="59">
                    <c:v>Dic</c:v>
                  </c:pt>
                  <c:pt idx="60">
                    <c:v>Ene</c:v>
                  </c:pt>
                  <c:pt idx="61">
                    <c:v>Feb</c:v>
                  </c:pt>
                  <c:pt idx="62">
                    <c:v>Mar</c:v>
                  </c:pt>
                  <c:pt idx="63">
                    <c:v>Abr</c:v>
                  </c:pt>
                  <c:pt idx="64">
                    <c:v>May</c:v>
                  </c:pt>
                  <c:pt idx="65">
                    <c:v>Jun</c:v>
                  </c:pt>
                  <c:pt idx="66">
                    <c:v>Jul</c:v>
                  </c:pt>
                  <c:pt idx="67">
                    <c:v>Ago</c:v>
                  </c:pt>
                  <c:pt idx="68">
                    <c:v>Sep</c:v>
                  </c:pt>
                  <c:pt idx="69">
                    <c:v>Oct</c:v>
                  </c:pt>
                  <c:pt idx="70">
                    <c:v>Nov</c:v>
                  </c:pt>
                  <c:pt idx="71">
                    <c:v>Dic</c:v>
                  </c:pt>
                </c:lvl>
                <c:lvl>
                  <c:pt idx="0">
                    <c:v>1908</c:v>
                  </c:pt>
                  <c:pt idx="12">
                    <c:v>1909</c:v>
                  </c:pt>
                  <c:pt idx="24">
                    <c:v>1910</c:v>
                  </c:pt>
                  <c:pt idx="36">
                    <c:v>1911</c:v>
                  </c:pt>
                  <c:pt idx="48">
                    <c:v>1912</c:v>
                  </c:pt>
                  <c:pt idx="60">
                    <c:v>1913</c:v>
                  </c:pt>
                </c:lvl>
              </c:multiLvlStrCache>
            </c:multiLvlStrRef>
          </c:cat>
          <c:val>
            <c:numRef>
              <c:f>'Dep Bancos'!$D$2:$D$73</c:f>
              <c:numCache>
                <c:formatCode>0.0</c:formatCode>
                <c:ptCount val="72"/>
                <c:pt idx="0">
                  <c:v>88.84615384615384</c:v>
                </c:pt>
                <c:pt idx="1">
                  <c:v>88.112307692307695</c:v>
                </c:pt>
                <c:pt idx="2">
                  <c:v>86.256410256410263</c:v>
                </c:pt>
                <c:pt idx="3">
                  <c:v>86.553544494720967</c:v>
                </c:pt>
                <c:pt idx="4">
                  <c:v>89.15384615384616</c:v>
                </c:pt>
                <c:pt idx="5">
                  <c:v>88.725490196078439</c:v>
                </c:pt>
                <c:pt idx="6">
                  <c:v>88.24585218702866</c:v>
                </c:pt>
                <c:pt idx="7">
                  <c:v>84.387142857142862</c:v>
                </c:pt>
                <c:pt idx="8">
                  <c:v>85.147142857142853</c:v>
                </c:pt>
                <c:pt idx="9">
                  <c:v>84.872370266479663</c:v>
                </c:pt>
                <c:pt idx="10">
                  <c:v>87.639551192145859</c:v>
                </c:pt>
                <c:pt idx="11">
                  <c:v>88.107994389901833</c:v>
                </c:pt>
                <c:pt idx="12">
                  <c:v>97.998461538461541</c:v>
                </c:pt>
                <c:pt idx="13">
                  <c:v>98.297134238310719</c:v>
                </c:pt>
                <c:pt idx="14">
                  <c:v>104.24153846153847</c:v>
                </c:pt>
                <c:pt idx="15">
                  <c:v>103.947209653092</c:v>
                </c:pt>
                <c:pt idx="16">
                  <c:v>105.59276018099547</c:v>
                </c:pt>
                <c:pt idx="17">
                  <c:v>112.96708463949844</c:v>
                </c:pt>
                <c:pt idx="18">
                  <c:v>115.11360000000001</c:v>
                </c:pt>
                <c:pt idx="19">
                  <c:v>112.86307692307693</c:v>
                </c:pt>
                <c:pt idx="20">
                  <c:v>128.27210884353741</c:v>
                </c:pt>
                <c:pt idx="21">
                  <c:v>130.80952380952382</c:v>
                </c:pt>
                <c:pt idx="22">
                  <c:v>130.51666666666668</c:v>
                </c:pt>
                <c:pt idx="23">
                  <c:v>140.95652173913044</c:v>
                </c:pt>
                <c:pt idx="24">
                  <c:v>128.87304075235107</c:v>
                </c:pt>
                <c:pt idx="25">
                  <c:v>136.10603588907014</c:v>
                </c:pt>
                <c:pt idx="26">
                  <c:v>143.17999999999998</c:v>
                </c:pt>
                <c:pt idx="27">
                  <c:v>137.99520000000001</c:v>
                </c:pt>
                <c:pt idx="28">
                  <c:v>141.30831973898859</c:v>
                </c:pt>
                <c:pt idx="29">
                  <c:v>138.26332288401255</c:v>
                </c:pt>
                <c:pt idx="30">
                  <c:v>137.96865203761755</c:v>
                </c:pt>
                <c:pt idx="31">
                  <c:v>136.60784313725492</c:v>
                </c:pt>
                <c:pt idx="32">
                  <c:v>141.49538461538461</c:v>
                </c:pt>
                <c:pt idx="33">
                  <c:v>139.85218702865762</c:v>
                </c:pt>
                <c:pt idx="34">
                  <c:v>144.63999999999999</c:v>
                </c:pt>
                <c:pt idx="35">
                  <c:v>144.81846153846152</c:v>
                </c:pt>
                <c:pt idx="36">
                  <c:v>140.71407407407409</c:v>
                </c:pt>
                <c:pt idx="37">
                  <c:v>138.34962962962962</c:v>
                </c:pt>
                <c:pt idx="38">
                  <c:v>136.19857142857143</c:v>
                </c:pt>
                <c:pt idx="39">
                  <c:v>140.14666666666668</c:v>
                </c:pt>
                <c:pt idx="40">
                  <c:v>140.92296296296297</c:v>
                </c:pt>
                <c:pt idx="41">
                  <c:v>134.42215988779805</c:v>
                </c:pt>
                <c:pt idx="42">
                  <c:v>128.70596205962059</c:v>
                </c:pt>
                <c:pt idx="43">
                  <c:v>140.4814814814815</c:v>
                </c:pt>
                <c:pt idx="44">
                  <c:v>138.63851851851854</c:v>
                </c:pt>
                <c:pt idx="45">
                  <c:v>128.94206896551725</c:v>
                </c:pt>
                <c:pt idx="46">
                  <c:v>128.28997289972901</c:v>
                </c:pt>
                <c:pt idx="47">
                  <c:v>130.26287262872629</c:v>
                </c:pt>
                <c:pt idx="48">
                  <c:v>128.68933333333334</c:v>
                </c:pt>
                <c:pt idx="49">
                  <c:v>126.5</c:v>
                </c:pt>
                <c:pt idx="50">
                  <c:v>122.49290322580646</c:v>
                </c:pt>
                <c:pt idx="51">
                  <c:v>127.39333333333335</c:v>
                </c:pt>
                <c:pt idx="52">
                  <c:v>121.26395939086295</c:v>
                </c:pt>
                <c:pt idx="53">
                  <c:v>124.31870967741936</c:v>
                </c:pt>
                <c:pt idx="54">
                  <c:v>126.60288335517694</c:v>
                </c:pt>
                <c:pt idx="55">
                  <c:v>126.35386631716908</c:v>
                </c:pt>
                <c:pt idx="56">
                  <c:v>131.64666666666665</c:v>
                </c:pt>
                <c:pt idx="57">
                  <c:v>128.5399737876802</c:v>
                </c:pt>
                <c:pt idx="58">
                  <c:v>131.09466666666668</c:v>
                </c:pt>
                <c:pt idx="59">
                  <c:v>131.4010484927916</c:v>
                </c:pt>
                <c:pt idx="60">
                  <c:v>134.23999999999998</c:v>
                </c:pt>
                <c:pt idx="61">
                  <c:v>134.22666666666666</c:v>
                </c:pt>
                <c:pt idx="62">
                  <c:v>132.58709677419355</c:v>
                </c:pt>
                <c:pt idx="63">
                  <c:v>131.01548387096773</c:v>
                </c:pt>
                <c:pt idx="64">
                  <c:v>121.43542435424352</c:v>
                </c:pt>
                <c:pt idx="65">
                  <c:v>124.72387096774192</c:v>
                </c:pt>
                <c:pt idx="66">
                  <c:v>122.97081218274111</c:v>
                </c:pt>
                <c:pt idx="67">
                  <c:v>122.22322580645161</c:v>
                </c:pt>
                <c:pt idx="68">
                  <c:v>125.31184210526317</c:v>
                </c:pt>
                <c:pt idx="69">
                  <c:v>125.42533333333333</c:v>
                </c:pt>
                <c:pt idx="70">
                  <c:v>126.03999999999999</c:v>
                </c:pt>
                <c:pt idx="71">
                  <c:v>122.95066666666666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725-4FC1-A2D9-D70C30807F3F}"/>
            </c:ext>
          </c:extLst>
        </c:ser>
        <c:ser>
          <c:idx val="3"/>
          <c:order val="1"/>
          <c:tx>
            <c:strRef>
              <c:f>'Dep Bancos'!$F$1</c:f>
              <c:strCache>
                <c:ptCount val="1"/>
                <c:pt idx="0">
                  <c:v>Tend. RdeB</c:v>
                </c:pt>
              </c:strCache>
            </c:strRef>
          </c:tx>
          <c:spPr>
            <a:ln w="19050" cmpd="sng">
              <a:solidFill>
                <a:schemeClr val="tx2">
                  <a:lumMod val="75000"/>
                </a:schemeClr>
              </a:solidFill>
              <a:prstDash val="sysDash"/>
            </a:ln>
          </c:spPr>
          <c:marker>
            <c:symbol val="none"/>
          </c:marker>
          <c:cat>
            <c:multiLvlStrRef>
              <c:f>'Dep Bancos'!$A$2:$B$73</c:f>
              <c:multiLvlStrCache>
                <c:ptCount val="72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  <c:pt idx="12">
                    <c:v>Ene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Abr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Ago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Dic</c:v>
                  </c:pt>
                  <c:pt idx="24">
                    <c:v>Ene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Abr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Ago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Dic</c:v>
                  </c:pt>
                  <c:pt idx="36">
                    <c:v>Ene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Abr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Ago</c:v>
                  </c:pt>
                  <c:pt idx="44">
                    <c:v>Sep</c:v>
                  </c:pt>
                  <c:pt idx="45">
                    <c:v>Oct</c:v>
                  </c:pt>
                  <c:pt idx="46">
                    <c:v>Nov</c:v>
                  </c:pt>
                  <c:pt idx="47">
                    <c:v>Dic</c:v>
                  </c:pt>
                  <c:pt idx="48">
                    <c:v>Ene</c:v>
                  </c:pt>
                  <c:pt idx="49">
                    <c:v>Feb</c:v>
                  </c:pt>
                  <c:pt idx="50">
                    <c:v>Mar</c:v>
                  </c:pt>
                  <c:pt idx="51">
                    <c:v>Abr</c:v>
                  </c:pt>
                  <c:pt idx="52">
                    <c:v>May</c:v>
                  </c:pt>
                  <c:pt idx="53">
                    <c:v>Jun</c:v>
                  </c:pt>
                  <c:pt idx="54">
                    <c:v>Jul</c:v>
                  </c:pt>
                  <c:pt idx="55">
                    <c:v>Ago</c:v>
                  </c:pt>
                  <c:pt idx="56">
                    <c:v>Sep</c:v>
                  </c:pt>
                  <c:pt idx="57">
                    <c:v>Oct</c:v>
                  </c:pt>
                  <c:pt idx="58">
                    <c:v>Nov</c:v>
                  </c:pt>
                  <c:pt idx="59">
                    <c:v>Dic</c:v>
                  </c:pt>
                  <c:pt idx="60">
                    <c:v>Ene</c:v>
                  </c:pt>
                  <c:pt idx="61">
                    <c:v>Feb</c:v>
                  </c:pt>
                  <c:pt idx="62">
                    <c:v>Mar</c:v>
                  </c:pt>
                  <c:pt idx="63">
                    <c:v>Abr</c:v>
                  </c:pt>
                  <c:pt idx="64">
                    <c:v>May</c:v>
                  </c:pt>
                  <c:pt idx="65">
                    <c:v>Jun</c:v>
                  </c:pt>
                  <c:pt idx="66">
                    <c:v>Jul</c:v>
                  </c:pt>
                  <c:pt idx="67">
                    <c:v>Ago</c:v>
                  </c:pt>
                  <c:pt idx="68">
                    <c:v>Sep</c:v>
                  </c:pt>
                  <c:pt idx="69">
                    <c:v>Oct</c:v>
                  </c:pt>
                  <c:pt idx="70">
                    <c:v>Nov</c:v>
                  </c:pt>
                  <c:pt idx="71">
                    <c:v>Dic</c:v>
                  </c:pt>
                </c:lvl>
                <c:lvl>
                  <c:pt idx="0">
                    <c:v>1908</c:v>
                  </c:pt>
                  <c:pt idx="12">
                    <c:v>1909</c:v>
                  </c:pt>
                  <c:pt idx="24">
                    <c:v>1910</c:v>
                  </c:pt>
                  <c:pt idx="36">
                    <c:v>1911</c:v>
                  </c:pt>
                  <c:pt idx="48">
                    <c:v>1912</c:v>
                  </c:pt>
                  <c:pt idx="60">
                    <c:v>1913</c:v>
                  </c:pt>
                </c:lvl>
              </c:multiLvlStrCache>
            </c:multiLvlStrRef>
          </c:cat>
          <c:val>
            <c:numRef>
              <c:f>'Dep Bancos'!$F$2:$F$73</c:f>
              <c:numCache>
                <c:formatCode>0.0</c:formatCode>
                <c:ptCount val="72"/>
                <c:pt idx="0">
                  <c:v>96.884949493899995</c:v>
                </c:pt>
                <c:pt idx="1">
                  <c:v>96.911397649199998</c:v>
                </c:pt>
                <c:pt idx="2">
                  <c:v>96.955325107500002</c:v>
                </c:pt>
                <c:pt idx="3">
                  <c:v>97.0166068499</c:v>
                </c:pt>
                <c:pt idx="4">
                  <c:v>97.095117857700004</c:v>
                </c:pt>
                <c:pt idx="5">
                  <c:v>97.190733112199993</c:v>
                </c:pt>
                <c:pt idx="6">
                  <c:v>97.303327594600006</c:v>
                </c:pt>
                <c:pt idx="7">
                  <c:v>97.432776286199996</c:v>
                </c:pt>
                <c:pt idx="8">
                  <c:v>97.578954168300001</c:v>
                </c:pt>
                <c:pt idx="9">
                  <c:v>97.741736222</c:v>
                </c:pt>
                <c:pt idx="10">
                  <c:v>97.920997428600003</c:v>
                </c:pt>
                <c:pt idx="11">
                  <c:v>98.116612769499994</c:v>
                </c:pt>
                <c:pt idx="12">
                  <c:v>98.328457225799994</c:v>
                </c:pt>
                <c:pt idx="13">
                  <c:v>98.5564057789</c:v>
                </c:pt>
                <c:pt idx="14">
                  <c:v>98.800333409900006</c:v>
                </c:pt>
                <c:pt idx="15">
                  <c:v>99.060115100100006</c:v>
                </c:pt>
                <c:pt idx="16">
                  <c:v>99.3356258309</c:v>
                </c:pt>
                <c:pt idx="17">
                  <c:v>99.626740583300005</c:v>
                </c:pt>
                <c:pt idx="18">
                  <c:v>99.933334338799995</c:v>
                </c:pt>
                <c:pt idx="19">
                  <c:v>100.2552820785</c:v>
                </c:pt>
                <c:pt idx="20">
                  <c:v>100.5924587838</c:v>
                </c:pt>
                <c:pt idx="21">
                  <c:v>100.9447394358</c:v>
                </c:pt>
                <c:pt idx="22">
                  <c:v>101.3119990158</c:v>
                </c:pt>
                <c:pt idx="23">
                  <c:v>101.69411250509999</c:v>
                </c:pt>
                <c:pt idx="24">
                  <c:v>102.0909548849</c:v>
                </c:pt>
                <c:pt idx="25">
                  <c:v>102.5024011365</c:v>
                </c:pt>
                <c:pt idx="26">
                  <c:v>102.9283262412</c:v>
                </c:pt>
                <c:pt idx="27">
                  <c:v>103.36860518020001</c:v>
                </c:pt>
                <c:pt idx="28">
                  <c:v>103.82311293479999</c:v>
                </c:pt>
                <c:pt idx="29">
                  <c:v>104.29172448609999</c:v>
                </c:pt>
                <c:pt idx="30">
                  <c:v>104.77431481559999</c:v>
                </c:pt>
                <c:pt idx="31">
                  <c:v>105.2707589043</c:v>
                </c:pt>
                <c:pt idx="32">
                  <c:v>105.7809317337</c:v>
                </c:pt>
                <c:pt idx="33">
                  <c:v>106.3047082849</c:v>
                </c:pt>
                <c:pt idx="34">
                  <c:v>106.84196353919999</c:v>
                </c:pt>
                <c:pt idx="35">
                  <c:v>107.3925724779</c:v>
                </c:pt>
                <c:pt idx="36">
                  <c:v>107.95641008219999</c:v>
                </c:pt>
                <c:pt idx="37">
                  <c:v>108.5333513333</c:v>
                </c:pt>
                <c:pt idx="38">
                  <c:v>109.1232712126</c:v>
                </c:pt>
                <c:pt idx="39">
                  <c:v>109.7260447012</c:v>
                </c:pt>
                <c:pt idx="40">
                  <c:v>110.3415467805</c:v>
                </c:pt>
                <c:pt idx="41">
                  <c:v>110.9696524317</c:v>
                </c:pt>
                <c:pt idx="42">
                  <c:v>111.610236636</c:v>
                </c:pt>
                <c:pt idx="43">
                  <c:v>112.2631743748</c:v>
                </c:pt>
                <c:pt idx="44">
                  <c:v>112.92834062919999</c:v>
                </c:pt>
                <c:pt idx="45">
                  <c:v>113.6056103805</c:v>
                </c:pt>
                <c:pt idx="46">
                  <c:v>114.29485861000001</c:v>
                </c:pt>
                <c:pt idx="47">
                  <c:v>114.995960299</c:v>
                </c:pt>
                <c:pt idx="48">
                  <c:v>115.7087904286</c:v>
                </c:pt>
                <c:pt idx="49">
                  <c:v>116.4332239802</c:v>
                </c:pt>
                <c:pt idx="50">
                  <c:v>117.169135935</c:v>
                </c:pt>
                <c:pt idx="51">
                  <c:v>117.9164012742</c:v>
                </c:pt>
                <c:pt idx="52">
                  <c:v>118.6748949792</c:v>
                </c:pt>
                <c:pt idx="53">
                  <c:v>119.4444920311</c:v>
                </c:pt>
                <c:pt idx="54">
                  <c:v>120.2250674113</c:v>
                </c:pt>
                <c:pt idx="55">
                  <c:v>121.0164961009</c:v>
                </c:pt>
                <c:pt idx="56">
                  <c:v>121.8186530813</c:v>
                </c:pt>
                <c:pt idx="57">
                  <c:v>122.6314133337</c:v>
                </c:pt>
                <c:pt idx="58">
                  <c:v>123.4546518393</c:v>
                </c:pt>
                <c:pt idx="59">
                  <c:v>124.2882435795</c:v>
                </c:pt>
                <c:pt idx="60">
                  <c:v>125.13206353539999</c:v>
                </c:pt>
                <c:pt idx="61">
                  <c:v>125.9859866883</c:v>
                </c:pt>
                <c:pt idx="62">
                  <c:v>126.8498880195</c:v>
                </c:pt>
                <c:pt idx="63">
                  <c:v>127.7236425103</c:v>
                </c:pt>
                <c:pt idx="64">
                  <c:v>128.6071251418</c:v>
                </c:pt>
                <c:pt idx="65">
                  <c:v>129.50021089539999</c:v>
                </c:pt>
                <c:pt idx="66">
                  <c:v>130.40277475229999</c:v>
                </c:pt>
                <c:pt idx="67">
                  <c:v>131.3146916938</c:v>
                </c:pt>
                <c:pt idx="68">
                  <c:v>132.2358367011</c:v>
                </c:pt>
                <c:pt idx="69">
                  <c:v>133.16608475539999</c:v>
                </c:pt>
                <c:pt idx="70">
                  <c:v>134.1053108381</c:v>
                </c:pt>
                <c:pt idx="71">
                  <c:v>135.05338993039999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725-4FC1-A2D9-D70C30807F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1457280"/>
        <c:axId val="121459072"/>
      </c:lineChart>
      <c:catAx>
        <c:axId val="12145728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chemeClr val="tx2">
                <a:lumMod val="75000"/>
              </a:schemeClr>
            </a:solidFill>
          </a:ln>
        </c:spPr>
        <c:crossAx val="121459072"/>
        <c:crosses val="autoZero"/>
        <c:auto val="1"/>
        <c:lblAlgn val="ctr"/>
        <c:lblOffset val="100"/>
        <c:noMultiLvlLbl val="0"/>
      </c:catAx>
      <c:valAx>
        <c:axId val="121459072"/>
        <c:scaling>
          <c:orientation val="minMax"/>
        </c:scaling>
        <c:delete val="0"/>
        <c:axPos val="l"/>
        <c:numFmt formatCode="0" sourceLinked="0"/>
        <c:majorTickMark val="out"/>
        <c:minorTickMark val="none"/>
        <c:tickLblPos val="nextTo"/>
        <c:spPr>
          <a:ln>
            <a:solidFill>
              <a:schemeClr val="tx2">
                <a:lumMod val="75000"/>
              </a:schemeClr>
            </a:solidFill>
          </a:ln>
        </c:spPr>
        <c:crossAx val="12145728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"/>
          <c:y val="0.85670445600607026"/>
          <c:w val="0.99846363901482016"/>
          <c:h val="0.14329554399392977"/>
        </c:manualLayout>
      </c:layout>
      <c:overlay val="0"/>
      <c:txPr>
        <a:bodyPr/>
        <a:lstStyle/>
        <a:p>
          <a:pPr>
            <a:defRPr sz="1200"/>
          </a:pPr>
          <a:endParaRPr lang="es-AR"/>
        </a:p>
      </c:txPr>
    </c:legend>
    <c:plotVisOnly val="1"/>
    <c:dispBlanksAs val="gap"/>
    <c:showDLblsOverMax val="0"/>
  </c:chart>
  <c:spPr>
    <a:ln>
      <a:noFill/>
    </a:ln>
  </c:spPr>
  <c:txPr>
    <a:bodyPr/>
    <a:lstStyle/>
    <a:p>
      <a:pPr>
        <a:defRPr sz="1400">
          <a:solidFill>
            <a:schemeClr val="tx2">
              <a:lumMod val="75000"/>
            </a:schemeClr>
          </a:solidFill>
          <a:latin typeface="Abadi" panose="020B0604020104020204" pitchFamily="34" charset="0"/>
          <a:cs typeface="Times New Roman" pitchFamily="18" charset="0"/>
        </a:defRPr>
      </a:pPr>
      <a:endParaRPr lang="es-AR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85045948203844"/>
          <c:y val="4.2813629166860337E-2"/>
          <c:w val="0.88816875668319228"/>
          <c:h val="0.63952783388987355"/>
        </c:manualLayout>
      </c:layout>
      <c:lineChart>
        <c:grouping val="standard"/>
        <c:varyColors val="0"/>
        <c:ser>
          <c:idx val="1"/>
          <c:order val="1"/>
          <c:tx>
            <c:strRef>
              <c:f>'Res Dep bcos'!$C$2</c:f>
              <c:strCache>
                <c:ptCount val="1"/>
                <c:pt idx="0">
                  <c:v>Bco. de la Nación</c:v>
                </c:pt>
              </c:strCache>
            </c:strRef>
          </c:tx>
          <c:spPr>
            <a:ln w="38100">
              <a:solidFill>
                <a:schemeClr val="tx2">
                  <a:lumMod val="75000"/>
                </a:schemeClr>
              </a:solidFill>
            </a:ln>
          </c:spPr>
          <c:marker>
            <c:symbol val="none"/>
          </c:marker>
          <c:cat>
            <c:numRef>
              <c:f>'Res Dep bcos'!$A$3:$A$8</c:f>
              <c:numCache>
                <c:formatCode>General</c:formatCode>
                <c:ptCount val="6"/>
                <c:pt idx="0">
                  <c:v>1908</c:v>
                </c:pt>
                <c:pt idx="1">
                  <c:v>1909</c:v>
                </c:pt>
                <c:pt idx="2">
                  <c:v>1910</c:v>
                </c:pt>
                <c:pt idx="3">
                  <c:v>1911</c:v>
                </c:pt>
                <c:pt idx="4">
                  <c:v>1912</c:v>
                </c:pt>
                <c:pt idx="5">
                  <c:v>1913</c:v>
                </c:pt>
              </c:numCache>
            </c:numRef>
          </c:cat>
          <c:val>
            <c:numRef>
              <c:f>'Res Dep bcos'!$C$3:$C$8</c:f>
              <c:numCache>
                <c:formatCode>0.00</c:formatCode>
                <c:ptCount val="6"/>
                <c:pt idx="0">
                  <c:v>0.48513403736799349</c:v>
                </c:pt>
                <c:pt idx="1">
                  <c:v>0.56053087132140789</c:v>
                </c:pt>
                <c:pt idx="2">
                  <c:v>0.46655920581312049</c:v>
                </c:pt>
                <c:pt idx="3">
                  <c:v>0.42836395323505916</c:v>
                </c:pt>
                <c:pt idx="4">
                  <c:v>0.45311814019609897</c:v>
                </c:pt>
                <c:pt idx="5">
                  <c:v>0.46819239720713735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16-453A-8340-599117832706}"/>
            </c:ext>
          </c:extLst>
        </c:ser>
        <c:ser>
          <c:idx val="0"/>
          <c:order val="0"/>
          <c:tx>
            <c:strRef>
              <c:f>'Res Dep bcos'!$I$2</c:f>
              <c:strCache>
                <c:ptCount val="1"/>
                <c:pt idx="0">
                  <c:v>Resto de los Bcos.</c:v>
                </c:pt>
              </c:strCache>
            </c:strRef>
          </c:tx>
          <c:spPr>
            <a:ln w="38100">
              <a:solidFill>
                <a:schemeClr val="tx2">
                  <a:lumMod val="60000"/>
                  <a:lumOff val="40000"/>
                </a:schemeClr>
              </a:solidFill>
            </a:ln>
          </c:spPr>
          <c:marker>
            <c:symbol val="none"/>
          </c:marker>
          <c:cat>
            <c:numRef>
              <c:f>'Res Dep bcos'!$A$3:$A$8</c:f>
              <c:numCache>
                <c:formatCode>General</c:formatCode>
                <c:ptCount val="6"/>
                <c:pt idx="0">
                  <c:v>1908</c:v>
                </c:pt>
                <c:pt idx="1">
                  <c:v>1909</c:v>
                </c:pt>
                <c:pt idx="2">
                  <c:v>1910</c:v>
                </c:pt>
                <c:pt idx="3">
                  <c:v>1911</c:v>
                </c:pt>
                <c:pt idx="4">
                  <c:v>1912</c:v>
                </c:pt>
                <c:pt idx="5">
                  <c:v>1913</c:v>
                </c:pt>
              </c:numCache>
            </c:numRef>
          </c:cat>
          <c:val>
            <c:numRef>
              <c:f>'Res Dep bcos'!$I$3:$I$8</c:f>
              <c:numCache>
                <c:formatCode>0.00</c:formatCode>
                <c:ptCount val="6"/>
                <c:pt idx="0">
                  <c:v>0.34835484949300388</c:v>
                </c:pt>
                <c:pt idx="1">
                  <c:v>0.3431215299198026</c:v>
                </c:pt>
                <c:pt idx="2">
                  <c:v>0.3235350359070242</c:v>
                </c:pt>
                <c:pt idx="3">
                  <c:v>0.32196725404123411</c:v>
                </c:pt>
                <c:pt idx="4">
                  <c:v>0.31744781017165541</c:v>
                </c:pt>
                <c:pt idx="5">
                  <c:v>0.34944096819320486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F16-453A-8340-599117832706}"/>
            </c:ext>
          </c:extLst>
        </c:ser>
        <c:ser>
          <c:idx val="2"/>
          <c:order val="2"/>
          <c:tx>
            <c:strRef>
              <c:f>'Res Dep bcos'!$D$2</c:f>
              <c:strCache>
                <c:ptCount val="1"/>
                <c:pt idx="0">
                  <c:v>prom BNA</c:v>
                </c:pt>
              </c:strCache>
            </c:strRef>
          </c:tx>
          <c:spPr>
            <a:ln>
              <a:solidFill>
                <a:schemeClr val="tx2">
                  <a:lumMod val="75000"/>
                </a:schemeClr>
              </a:solidFill>
              <a:prstDash val="sysDash"/>
            </a:ln>
          </c:spPr>
          <c:marker>
            <c:symbol val="none"/>
          </c:marker>
          <c:cat>
            <c:numRef>
              <c:f>'Res Dep bcos'!$A$3:$A$8</c:f>
              <c:numCache>
                <c:formatCode>General</c:formatCode>
                <c:ptCount val="6"/>
                <c:pt idx="0">
                  <c:v>1908</c:v>
                </c:pt>
                <c:pt idx="1">
                  <c:v>1909</c:v>
                </c:pt>
                <c:pt idx="2">
                  <c:v>1910</c:v>
                </c:pt>
                <c:pt idx="3">
                  <c:v>1911</c:v>
                </c:pt>
                <c:pt idx="4">
                  <c:v>1912</c:v>
                </c:pt>
                <c:pt idx="5">
                  <c:v>1913</c:v>
                </c:pt>
              </c:numCache>
            </c:numRef>
          </c:cat>
          <c:val>
            <c:numRef>
              <c:f>'Res Dep bcos'!$D$3:$D$8</c:f>
              <c:numCache>
                <c:formatCode>0.00</c:formatCode>
                <c:ptCount val="6"/>
                <c:pt idx="0">
                  <c:v>0.4769831008568029</c:v>
                </c:pt>
                <c:pt idx="1">
                  <c:v>0.4769831008568029</c:v>
                </c:pt>
                <c:pt idx="2">
                  <c:v>0.4769831008568029</c:v>
                </c:pt>
                <c:pt idx="3">
                  <c:v>0.4769831008568029</c:v>
                </c:pt>
                <c:pt idx="4">
                  <c:v>0.4769831008568029</c:v>
                </c:pt>
                <c:pt idx="5">
                  <c:v>0.4769831008568029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F16-453A-8340-599117832706}"/>
            </c:ext>
          </c:extLst>
        </c:ser>
        <c:ser>
          <c:idx val="3"/>
          <c:order val="3"/>
          <c:tx>
            <c:strRef>
              <c:f>'Res Dep bcos'!$J$2</c:f>
              <c:strCache>
                <c:ptCount val="1"/>
                <c:pt idx="0">
                  <c:v>Prom (RdeB)</c:v>
                </c:pt>
              </c:strCache>
            </c:strRef>
          </c:tx>
          <c:spPr>
            <a:ln>
              <a:solidFill>
                <a:schemeClr val="tx2">
                  <a:lumMod val="60000"/>
                  <a:lumOff val="40000"/>
                </a:schemeClr>
              </a:solidFill>
              <a:prstDash val="sysDash"/>
            </a:ln>
          </c:spPr>
          <c:marker>
            <c:symbol val="none"/>
          </c:marker>
          <c:cat>
            <c:numRef>
              <c:f>'Res Dep bcos'!$A$3:$A$8</c:f>
              <c:numCache>
                <c:formatCode>General</c:formatCode>
                <c:ptCount val="6"/>
                <c:pt idx="0">
                  <c:v>1908</c:v>
                </c:pt>
                <c:pt idx="1">
                  <c:v>1909</c:v>
                </c:pt>
                <c:pt idx="2">
                  <c:v>1910</c:v>
                </c:pt>
                <c:pt idx="3">
                  <c:v>1911</c:v>
                </c:pt>
                <c:pt idx="4">
                  <c:v>1912</c:v>
                </c:pt>
                <c:pt idx="5">
                  <c:v>1913</c:v>
                </c:pt>
              </c:numCache>
            </c:numRef>
          </c:cat>
          <c:val>
            <c:numRef>
              <c:f>'Res Dep bcos'!$J$3:$J$8</c:f>
              <c:numCache>
                <c:formatCode>0.00</c:formatCode>
                <c:ptCount val="6"/>
                <c:pt idx="0">
                  <c:v>0.33397790795432081</c:v>
                </c:pt>
                <c:pt idx="1">
                  <c:v>0.33397790795432081</c:v>
                </c:pt>
                <c:pt idx="2">
                  <c:v>0.33397790795432081</c:v>
                </c:pt>
                <c:pt idx="3">
                  <c:v>0.33397790795432081</c:v>
                </c:pt>
                <c:pt idx="4">
                  <c:v>0.33397790795432081</c:v>
                </c:pt>
                <c:pt idx="5">
                  <c:v>0.33397790795432081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F16-453A-8340-5991178327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2257408"/>
        <c:axId val="122258944"/>
      </c:lineChart>
      <c:catAx>
        <c:axId val="1222574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chemeClr val="tx2">
                <a:lumMod val="75000"/>
              </a:schemeClr>
            </a:solidFill>
          </a:ln>
        </c:spPr>
        <c:crossAx val="122258944"/>
        <c:crosses val="autoZero"/>
        <c:auto val="1"/>
        <c:lblAlgn val="ctr"/>
        <c:lblOffset val="100"/>
        <c:noMultiLvlLbl val="0"/>
      </c:catAx>
      <c:valAx>
        <c:axId val="122258944"/>
        <c:scaling>
          <c:orientation val="minMax"/>
          <c:max val="0.6000000000000003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>
            <a:solidFill>
              <a:schemeClr val="tx2">
                <a:lumMod val="75000"/>
              </a:schemeClr>
            </a:solidFill>
          </a:ln>
        </c:spPr>
        <c:crossAx val="122257408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5.2879104397664635E-3"/>
          <c:y val="0.82561866281625551"/>
          <c:w val="0.99174603174603149"/>
          <c:h val="0.17438133718374391"/>
        </c:manualLayout>
      </c:layout>
      <c:overlay val="0"/>
      <c:txPr>
        <a:bodyPr/>
        <a:lstStyle/>
        <a:p>
          <a:pPr>
            <a:defRPr sz="1200"/>
          </a:pPr>
          <a:endParaRPr lang="es-AR"/>
        </a:p>
      </c:txPr>
    </c:legend>
    <c:plotVisOnly val="1"/>
    <c:dispBlanksAs val="gap"/>
    <c:showDLblsOverMax val="0"/>
  </c:chart>
  <c:spPr>
    <a:ln>
      <a:noFill/>
    </a:ln>
  </c:spPr>
  <c:txPr>
    <a:bodyPr/>
    <a:lstStyle/>
    <a:p>
      <a:pPr>
        <a:spcAft>
          <a:spcPts val="600"/>
        </a:spcAft>
        <a:defRPr sz="1400">
          <a:solidFill>
            <a:schemeClr val="tx2">
              <a:lumMod val="75000"/>
            </a:schemeClr>
          </a:solidFill>
          <a:latin typeface="Abadi" panose="020B0604020104020204" pitchFamily="34" charset="0"/>
          <a:cs typeface="Times New Roman" pitchFamily="18" charset="0"/>
        </a:defRPr>
      </a:pPr>
      <a:endParaRPr lang="es-A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632498101746393"/>
          <c:y val="5.8902275769745702E-2"/>
          <c:w val="0.85026575550493544"/>
          <c:h val="0.66943982830875404"/>
        </c:manualLayout>
      </c:layout>
      <c:lineChart>
        <c:grouping val="standard"/>
        <c:varyColors val="0"/>
        <c:ser>
          <c:idx val="0"/>
          <c:order val="0"/>
          <c:tx>
            <c:strRef>
              <c:f>'BNA como Bco ctral'!$B$18</c:f>
              <c:strCache>
                <c:ptCount val="1"/>
                <c:pt idx="0">
                  <c:v>Valores Observados</c:v>
                </c:pt>
              </c:strCache>
            </c:strRef>
          </c:tx>
          <c:spPr>
            <a:ln w="38100">
              <a:solidFill>
                <a:schemeClr val="tx2">
                  <a:lumMod val="75000"/>
                </a:schemeClr>
              </a:solidFill>
            </a:ln>
          </c:spPr>
          <c:marker>
            <c:symbol val="none"/>
          </c:marker>
          <c:cat>
            <c:numRef>
              <c:f>'BNA como Bco ctral'!$A$19:$A$24</c:f>
              <c:numCache>
                <c:formatCode>General</c:formatCode>
                <c:ptCount val="6"/>
                <c:pt idx="0">
                  <c:v>1908</c:v>
                </c:pt>
                <c:pt idx="1">
                  <c:v>1909</c:v>
                </c:pt>
                <c:pt idx="2">
                  <c:v>1910</c:v>
                </c:pt>
                <c:pt idx="3">
                  <c:v>1911</c:v>
                </c:pt>
                <c:pt idx="4">
                  <c:v>1912</c:v>
                </c:pt>
                <c:pt idx="5">
                  <c:v>1913</c:v>
                </c:pt>
              </c:numCache>
            </c:numRef>
          </c:cat>
          <c:val>
            <c:numRef>
              <c:f>'BNA como Bco ctral'!$B$19:$B$24</c:f>
              <c:numCache>
                <c:formatCode>0%</c:formatCode>
                <c:ptCount val="6"/>
                <c:pt idx="0">
                  <c:v>0.35</c:v>
                </c:pt>
                <c:pt idx="1">
                  <c:v>0.34</c:v>
                </c:pt>
                <c:pt idx="2">
                  <c:v>0.32</c:v>
                </c:pt>
                <c:pt idx="3">
                  <c:v>0.32</c:v>
                </c:pt>
                <c:pt idx="4">
                  <c:v>0.32</c:v>
                </c:pt>
                <c:pt idx="5">
                  <c:v>0.35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ED5-44FC-81A7-12ED3F2EB79C}"/>
            </c:ext>
          </c:extLst>
        </c:ser>
        <c:ser>
          <c:idx val="1"/>
          <c:order val="1"/>
          <c:tx>
            <c:strRef>
              <c:f>'BNA como Bco ctral'!$C$18</c:f>
              <c:strCache>
                <c:ptCount val="1"/>
                <c:pt idx="0">
                  <c:v>Valores Contrafactuales</c:v>
                </c:pt>
              </c:strCache>
            </c:strRef>
          </c:tx>
          <c:spPr>
            <a:ln w="38100">
              <a:solidFill>
                <a:schemeClr val="tx2">
                  <a:lumMod val="60000"/>
                  <a:lumOff val="40000"/>
                </a:schemeClr>
              </a:solidFill>
              <a:prstDash val="sysDash"/>
            </a:ln>
          </c:spPr>
          <c:marker>
            <c:symbol val="none"/>
          </c:marker>
          <c:cat>
            <c:numRef>
              <c:f>'BNA como Bco ctral'!$A$19:$A$24</c:f>
              <c:numCache>
                <c:formatCode>General</c:formatCode>
                <c:ptCount val="6"/>
                <c:pt idx="0">
                  <c:v>1908</c:v>
                </c:pt>
                <c:pt idx="1">
                  <c:v>1909</c:v>
                </c:pt>
                <c:pt idx="2">
                  <c:v>1910</c:v>
                </c:pt>
                <c:pt idx="3">
                  <c:v>1911</c:v>
                </c:pt>
                <c:pt idx="4">
                  <c:v>1912</c:v>
                </c:pt>
                <c:pt idx="5">
                  <c:v>1913</c:v>
                </c:pt>
              </c:numCache>
            </c:numRef>
          </c:cat>
          <c:val>
            <c:numRef>
              <c:f>'BNA como Bco ctral'!$C$19:$C$24</c:f>
              <c:numCache>
                <c:formatCode>0%</c:formatCode>
                <c:ptCount val="6"/>
                <c:pt idx="0">
                  <c:v>0.34</c:v>
                </c:pt>
                <c:pt idx="1">
                  <c:v>0.34</c:v>
                </c:pt>
                <c:pt idx="2">
                  <c:v>0.32</c:v>
                </c:pt>
                <c:pt idx="3">
                  <c:v>0.32</c:v>
                </c:pt>
                <c:pt idx="4">
                  <c:v>0.31</c:v>
                </c:pt>
                <c:pt idx="5">
                  <c:v>0.34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ED5-44FC-81A7-12ED3F2EB7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3840768"/>
        <c:axId val="123842560"/>
      </c:lineChart>
      <c:catAx>
        <c:axId val="1238407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chemeClr val="tx2">
                <a:lumMod val="75000"/>
              </a:schemeClr>
            </a:solidFill>
          </a:ln>
        </c:spPr>
        <c:crossAx val="123842560"/>
        <c:crosses val="autoZero"/>
        <c:auto val="1"/>
        <c:lblAlgn val="ctr"/>
        <c:lblOffset val="100"/>
        <c:noMultiLvlLbl val="0"/>
      </c:catAx>
      <c:valAx>
        <c:axId val="123842560"/>
        <c:scaling>
          <c:orientation val="minMax"/>
          <c:max val="0.5"/>
          <c:min val="0"/>
        </c:scaling>
        <c:delete val="0"/>
        <c:axPos val="l"/>
        <c:numFmt formatCode="0%" sourceLinked="1"/>
        <c:majorTickMark val="out"/>
        <c:minorTickMark val="none"/>
        <c:tickLblPos val="nextTo"/>
        <c:spPr>
          <a:ln>
            <a:solidFill>
              <a:schemeClr val="tx2">
                <a:lumMod val="75000"/>
              </a:schemeClr>
            </a:solidFill>
          </a:ln>
        </c:spPr>
        <c:crossAx val="123840768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1.3735370089007921E-2"/>
          <c:y val="0.87503371470831337"/>
          <c:w val="0.97252925982198413"/>
          <c:h val="0.1249662852916866"/>
        </c:manualLayout>
      </c:layout>
      <c:overlay val="0"/>
    </c:legend>
    <c:plotVisOnly val="1"/>
    <c:dispBlanksAs val="gap"/>
    <c:showDLblsOverMax val="0"/>
  </c:chart>
  <c:spPr>
    <a:ln>
      <a:noFill/>
    </a:ln>
  </c:spPr>
  <c:txPr>
    <a:bodyPr/>
    <a:lstStyle/>
    <a:p>
      <a:pPr>
        <a:defRPr sz="1400">
          <a:solidFill>
            <a:schemeClr val="tx2">
              <a:lumMod val="75000"/>
            </a:schemeClr>
          </a:solidFill>
          <a:latin typeface="Abadi" panose="020B0604020104020204" pitchFamily="34" charset="0"/>
          <a:cs typeface="Times New Roman" pitchFamily="18" charset="0"/>
        </a:defRPr>
      </a:pPr>
      <a:endParaRPr lang="es-AR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680553567167742"/>
          <c:y val="6.1680664916885432E-2"/>
          <c:w val="0.8763913147220237"/>
          <c:h val="0.57825514194398298"/>
        </c:manualLayout>
      </c:layout>
      <c:lineChart>
        <c:grouping val="standard"/>
        <c:varyColors val="0"/>
        <c:ser>
          <c:idx val="0"/>
          <c:order val="0"/>
          <c:tx>
            <c:strRef>
              <c:f>'BNA como Bco ctral'!$E$56</c:f>
              <c:strCache>
                <c:ptCount val="1"/>
                <c:pt idx="0">
                  <c:v>Observado</c:v>
                </c:pt>
              </c:strCache>
            </c:strRef>
          </c:tx>
          <c:spPr>
            <a:ln w="38100">
              <a:solidFill>
                <a:schemeClr val="tx2">
                  <a:lumMod val="75000"/>
                </a:schemeClr>
              </a:solidFill>
            </a:ln>
          </c:spPr>
          <c:marker>
            <c:symbol val="none"/>
          </c:marker>
          <c:cat>
            <c:numRef>
              <c:f>'BNA como Bco ctral'!$A$57:$A$70</c:f>
              <c:numCache>
                <c:formatCode>General</c:formatCode>
                <c:ptCount val="14"/>
                <c:pt idx="0">
                  <c:v>1900</c:v>
                </c:pt>
                <c:pt idx="1">
                  <c:v>1901</c:v>
                </c:pt>
                <c:pt idx="2">
                  <c:v>1902</c:v>
                </c:pt>
                <c:pt idx="3">
                  <c:v>1903</c:v>
                </c:pt>
                <c:pt idx="4">
                  <c:v>1904</c:v>
                </c:pt>
                <c:pt idx="5">
                  <c:v>1905</c:v>
                </c:pt>
                <c:pt idx="6">
                  <c:v>1906</c:v>
                </c:pt>
                <c:pt idx="7">
                  <c:v>1907</c:v>
                </c:pt>
                <c:pt idx="8">
                  <c:v>1908</c:v>
                </c:pt>
                <c:pt idx="9">
                  <c:v>1909</c:v>
                </c:pt>
                <c:pt idx="10">
                  <c:v>1910</c:v>
                </c:pt>
                <c:pt idx="11">
                  <c:v>1911</c:v>
                </c:pt>
                <c:pt idx="12">
                  <c:v>1912</c:v>
                </c:pt>
                <c:pt idx="13">
                  <c:v>1913</c:v>
                </c:pt>
              </c:numCache>
            </c:numRef>
          </c:cat>
          <c:val>
            <c:numRef>
              <c:f>'BNA como Bco ctral'!$E$57:$E$70</c:f>
              <c:numCache>
                <c:formatCode>0</c:formatCode>
                <c:ptCount val="14"/>
                <c:pt idx="0">
                  <c:v>-8.5978823699999829</c:v>
                </c:pt>
                <c:pt idx="1">
                  <c:v>-11.303745280000035</c:v>
                </c:pt>
                <c:pt idx="2">
                  <c:v>-46.895260279999995</c:v>
                </c:pt>
                <c:pt idx="3">
                  <c:v>-5.9582347099999655</c:v>
                </c:pt>
                <c:pt idx="4">
                  <c:v>4.0377511499999823</c:v>
                </c:pt>
                <c:pt idx="5">
                  <c:v>-110.42485143000002</c:v>
                </c:pt>
                <c:pt idx="6">
                  <c:v>-11.243321349999993</c:v>
                </c:pt>
                <c:pt idx="7">
                  <c:v>-6.8722956100000099</c:v>
                </c:pt>
                <c:pt idx="8">
                  <c:v>10.751407810000021</c:v>
                </c:pt>
                <c:pt idx="9">
                  <c:v>-106.96462005999997</c:v>
                </c:pt>
                <c:pt idx="10">
                  <c:v>-102.88250499999995</c:v>
                </c:pt>
                <c:pt idx="11">
                  <c:v>-100.18348999999994</c:v>
                </c:pt>
                <c:pt idx="12">
                  <c:v>-41.423762999999909</c:v>
                </c:pt>
                <c:pt idx="13">
                  <c:v>-33.232888999999972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63C-4170-A394-395686A531D0}"/>
            </c:ext>
          </c:extLst>
        </c:ser>
        <c:ser>
          <c:idx val="1"/>
          <c:order val="1"/>
          <c:tx>
            <c:strRef>
              <c:f>'BNA como Bco ctral'!$F$56</c:f>
              <c:strCache>
                <c:ptCount val="1"/>
                <c:pt idx="0">
                  <c:v>Contrafactual</c:v>
                </c:pt>
              </c:strCache>
            </c:strRef>
          </c:tx>
          <c:spPr>
            <a:ln w="38100">
              <a:solidFill>
                <a:schemeClr val="tx2">
                  <a:lumMod val="60000"/>
                  <a:lumOff val="40000"/>
                </a:schemeClr>
              </a:solidFill>
              <a:prstDash val="sysDash"/>
            </a:ln>
          </c:spPr>
          <c:marker>
            <c:symbol val="none"/>
          </c:marker>
          <c:cat>
            <c:numRef>
              <c:f>'BNA como Bco ctral'!$A$57:$A$70</c:f>
              <c:numCache>
                <c:formatCode>General</c:formatCode>
                <c:ptCount val="14"/>
                <c:pt idx="0">
                  <c:v>1900</c:v>
                </c:pt>
                <c:pt idx="1">
                  <c:v>1901</c:v>
                </c:pt>
                <c:pt idx="2">
                  <c:v>1902</c:v>
                </c:pt>
                <c:pt idx="3">
                  <c:v>1903</c:v>
                </c:pt>
                <c:pt idx="4">
                  <c:v>1904</c:v>
                </c:pt>
                <c:pt idx="5">
                  <c:v>1905</c:v>
                </c:pt>
                <c:pt idx="6">
                  <c:v>1906</c:v>
                </c:pt>
                <c:pt idx="7">
                  <c:v>1907</c:v>
                </c:pt>
                <c:pt idx="8">
                  <c:v>1908</c:v>
                </c:pt>
                <c:pt idx="9">
                  <c:v>1909</c:v>
                </c:pt>
                <c:pt idx="10">
                  <c:v>1910</c:v>
                </c:pt>
                <c:pt idx="11">
                  <c:v>1911</c:v>
                </c:pt>
                <c:pt idx="12">
                  <c:v>1912</c:v>
                </c:pt>
                <c:pt idx="13">
                  <c:v>1913</c:v>
                </c:pt>
              </c:numCache>
            </c:numRef>
          </c:cat>
          <c:val>
            <c:numRef>
              <c:f>'BNA como Bco ctral'!$F$57:$F$70</c:f>
              <c:numCache>
                <c:formatCode>0</c:formatCode>
                <c:ptCount val="14"/>
                <c:pt idx="0">
                  <c:v>-25.02181971669998</c:v>
                </c:pt>
                <c:pt idx="1">
                  <c:v>-24.668954195000033</c:v>
                </c:pt>
                <c:pt idx="2">
                  <c:v>-63.763842674999992</c:v>
                </c:pt>
                <c:pt idx="3">
                  <c:v>-12.234644451599964</c:v>
                </c:pt>
                <c:pt idx="4">
                  <c:v>-1.2107943877000176</c:v>
                </c:pt>
                <c:pt idx="5">
                  <c:v>-110.42485143000002</c:v>
                </c:pt>
                <c:pt idx="6">
                  <c:v>-11.800780039999992</c:v>
                </c:pt>
                <c:pt idx="7">
                  <c:v>-8.2810280600000095</c:v>
                </c:pt>
                <c:pt idx="8">
                  <c:v>-26.925818689999979</c:v>
                </c:pt>
                <c:pt idx="9">
                  <c:v>-108.24841205999998</c:v>
                </c:pt>
                <c:pt idx="10">
                  <c:v>-104.16629699999994</c:v>
                </c:pt>
                <c:pt idx="11">
                  <c:v>-101.46728199999994</c:v>
                </c:pt>
                <c:pt idx="12">
                  <c:v>-42.707554999999914</c:v>
                </c:pt>
                <c:pt idx="13">
                  <c:v>-34.516680999999977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63C-4170-A394-395686A531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3856000"/>
        <c:axId val="123857536"/>
      </c:lineChart>
      <c:catAx>
        <c:axId val="123856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>
            <a:solidFill>
              <a:schemeClr val="tx2">
                <a:lumMod val="75000"/>
              </a:schemeClr>
            </a:solidFill>
          </a:ln>
        </c:spPr>
        <c:txPr>
          <a:bodyPr rot="-5400000" vert="horz"/>
          <a:lstStyle/>
          <a:p>
            <a:pPr>
              <a:defRPr/>
            </a:pPr>
            <a:endParaRPr lang="es-AR"/>
          </a:p>
        </c:txPr>
        <c:crossAx val="123857536"/>
        <c:crosses val="autoZero"/>
        <c:auto val="1"/>
        <c:lblAlgn val="ctr"/>
        <c:lblOffset val="100"/>
        <c:noMultiLvlLbl val="0"/>
      </c:catAx>
      <c:valAx>
        <c:axId val="123857536"/>
        <c:scaling>
          <c:orientation val="minMax"/>
          <c:min val="-1200"/>
        </c:scaling>
        <c:delete val="0"/>
        <c:axPos val="l"/>
        <c:numFmt formatCode="0" sourceLinked="0"/>
        <c:majorTickMark val="out"/>
        <c:minorTickMark val="none"/>
        <c:tickLblPos val="nextTo"/>
        <c:spPr>
          <a:ln>
            <a:solidFill>
              <a:schemeClr val="tx2">
                <a:lumMod val="75000"/>
              </a:schemeClr>
            </a:solidFill>
          </a:ln>
        </c:spPr>
        <c:crossAx val="12385600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8.4254247834886206E-2"/>
          <c:y val="0.90495910877035468"/>
          <c:w val="0.85020541662155391"/>
          <c:h val="9.1947347432968327E-2"/>
        </c:manualLayout>
      </c:layout>
      <c:overlay val="0"/>
    </c:legend>
    <c:plotVisOnly val="1"/>
    <c:dispBlanksAs val="gap"/>
    <c:showDLblsOverMax val="0"/>
  </c:chart>
  <c:spPr>
    <a:ln>
      <a:noFill/>
    </a:ln>
  </c:spPr>
  <c:txPr>
    <a:bodyPr/>
    <a:lstStyle/>
    <a:p>
      <a:pPr>
        <a:defRPr sz="1400">
          <a:solidFill>
            <a:schemeClr val="tx2">
              <a:lumMod val="75000"/>
            </a:schemeClr>
          </a:solidFill>
          <a:latin typeface="Abadi" panose="020B0604020104020204" pitchFamily="34" charset="0"/>
          <a:cs typeface="Times New Roman" pitchFamily="18" charset="0"/>
        </a:defRPr>
      </a:pPr>
      <a:endParaRPr lang="es-AR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335186042921106"/>
          <c:y val="4.7295078530519147E-2"/>
          <c:w val="0.8606867891513561"/>
          <c:h val="0.59065743536913407"/>
        </c:manualLayout>
      </c:layout>
      <c:lineChart>
        <c:grouping val="standard"/>
        <c:varyColors val="0"/>
        <c:ser>
          <c:idx val="2"/>
          <c:order val="0"/>
          <c:tx>
            <c:strRef>
              <c:f>'Bal de Pagos'!$D$1</c:f>
              <c:strCache>
                <c:ptCount val="1"/>
                <c:pt idx="0">
                  <c:v>Cuenta Capital</c:v>
                </c:pt>
              </c:strCache>
            </c:strRef>
          </c:tx>
          <c:spPr>
            <a:ln w="38100" cmpd="sng">
              <a:solidFill>
                <a:schemeClr val="tx2">
                  <a:lumMod val="50000"/>
                </a:schemeClr>
              </a:solidFill>
              <a:prstDash val="dash"/>
            </a:ln>
          </c:spPr>
          <c:marker>
            <c:symbol val="none"/>
          </c:marker>
          <c:cat>
            <c:numRef>
              <c:f>'Bal de Pagos'!$A$6:$A$19</c:f>
              <c:numCache>
                <c:formatCode>General</c:formatCode>
                <c:ptCount val="14"/>
                <c:pt idx="0">
                  <c:v>1900</c:v>
                </c:pt>
                <c:pt idx="1">
                  <c:v>1901</c:v>
                </c:pt>
                <c:pt idx="2">
                  <c:v>1902</c:v>
                </c:pt>
                <c:pt idx="3">
                  <c:v>1903</c:v>
                </c:pt>
                <c:pt idx="4">
                  <c:v>1904</c:v>
                </c:pt>
                <c:pt idx="5">
                  <c:v>1905</c:v>
                </c:pt>
                <c:pt idx="6">
                  <c:v>1906</c:v>
                </c:pt>
                <c:pt idx="7">
                  <c:v>1907</c:v>
                </c:pt>
                <c:pt idx="8">
                  <c:v>1908</c:v>
                </c:pt>
                <c:pt idx="9">
                  <c:v>1909</c:v>
                </c:pt>
                <c:pt idx="10">
                  <c:v>1910</c:v>
                </c:pt>
                <c:pt idx="11">
                  <c:v>1911</c:v>
                </c:pt>
                <c:pt idx="12">
                  <c:v>1912</c:v>
                </c:pt>
                <c:pt idx="13">
                  <c:v>1913</c:v>
                </c:pt>
              </c:numCache>
            </c:numRef>
          </c:cat>
          <c:val>
            <c:numRef>
              <c:f>'Bal de Pagos'!$D$6:$D$19</c:f>
              <c:numCache>
                <c:formatCode>#,##0.00\ \ </c:formatCode>
                <c:ptCount val="14"/>
                <c:pt idx="0">
                  <c:v>-30.634514519636689</c:v>
                </c:pt>
                <c:pt idx="1">
                  <c:v>115.77424023154849</c:v>
                </c:pt>
                <c:pt idx="2">
                  <c:v>115.77424023154849</c:v>
                </c:pt>
                <c:pt idx="3">
                  <c:v>115.77424023154849</c:v>
                </c:pt>
                <c:pt idx="4">
                  <c:v>115.77424023154849</c:v>
                </c:pt>
                <c:pt idx="5">
                  <c:v>115.94943174562636</c:v>
                </c:pt>
                <c:pt idx="6">
                  <c:v>116.25128030044384</c:v>
                </c:pt>
                <c:pt idx="7">
                  <c:v>113.26874298307622</c:v>
                </c:pt>
                <c:pt idx="8">
                  <c:v>116.05316973415133</c:v>
                </c:pt>
                <c:pt idx="9">
                  <c:v>116.05316973415133</c:v>
                </c:pt>
                <c:pt idx="10">
                  <c:v>241.15072451451155</c:v>
                </c:pt>
                <c:pt idx="11">
                  <c:v>240.71089243298269</c:v>
                </c:pt>
                <c:pt idx="12">
                  <c:v>241.34558135578806</c:v>
                </c:pt>
                <c:pt idx="13">
                  <c:v>238.02533344518079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62B-4F42-9DDC-632201BAEF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3933440"/>
        <c:axId val="123934976"/>
      </c:lineChart>
      <c:catAx>
        <c:axId val="1239334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>
            <a:solidFill>
              <a:schemeClr val="tx2">
                <a:lumMod val="50000"/>
              </a:schemeClr>
            </a:solidFill>
          </a:ln>
        </c:spPr>
        <c:txPr>
          <a:bodyPr rot="-5400000" vert="horz"/>
          <a:lstStyle/>
          <a:p>
            <a:pPr>
              <a:defRPr/>
            </a:pPr>
            <a:endParaRPr lang="es-AR"/>
          </a:p>
        </c:txPr>
        <c:crossAx val="123934976"/>
        <c:crosses val="autoZero"/>
        <c:auto val="1"/>
        <c:lblAlgn val="ctr"/>
        <c:lblOffset val="100"/>
        <c:noMultiLvlLbl val="0"/>
      </c:catAx>
      <c:valAx>
        <c:axId val="123934976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chemeClr val="tx2">
                <a:lumMod val="50000"/>
              </a:schemeClr>
            </a:solidFill>
          </a:ln>
        </c:spPr>
        <c:crossAx val="123933440"/>
        <c:crosses val="autoZero"/>
        <c:crossBetween val="between"/>
      </c:valAx>
      <c:spPr>
        <a:noFill/>
        <a:ln w="25400" cap="flat" cmpd="sng" algn="ctr">
          <a:noFill/>
          <a:prstDash val="solid"/>
        </a:ln>
        <a:effectLst/>
      </c:spPr>
    </c:plotArea>
    <c:legend>
      <c:legendPos val="b"/>
      <c:layout>
        <c:manualLayout>
          <c:xMode val="edge"/>
          <c:yMode val="edge"/>
          <c:x val="0"/>
          <c:y val="0.88681476468944509"/>
          <c:w val="1"/>
          <c:h val="0.11085599847289219"/>
        </c:manualLayout>
      </c:layout>
      <c:overlay val="0"/>
    </c:legend>
    <c:plotVisOnly val="1"/>
    <c:dispBlanksAs val="gap"/>
    <c:showDLblsOverMax val="0"/>
  </c:chart>
  <c:spPr>
    <a:noFill/>
    <a:ln w="25400" cap="flat" cmpd="sng" algn="ctr">
      <a:noFill/>
      <a:prstDash val="solid"/>
    </a:ln>
    <a:effectLst/>
  </c:spPr>
  <c:txPr>
    <a:bodyPr/>
    <a:lstStyle/>
    <a:p>
      <a:pPr>
        <a:defRPr sz="1400">
          <a:solidFill>
            <a:schemeClr val="tx2">
              <a:lumMod val="75000"/>
            </a:schemeClr>
          </a:solidFill>
          <a:latin typeface="Abadi" panose="020B0604020104020204" pitchFamily="34" charset="0"/>
          <a:ea typeface="+mn-ea"/>
          <a:cs typeface="Times New Roman" pitchFamily="18" charset="0"/>
        </a:defRPr>
      </a:pPr>
      <a:endParaRPr lang="es-AR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6.8223314190989273E-2"/>
          <c:y val="4.729502429217633E-2"/>
          <c:w val="0.86759128793111373"/>
          <c:h val="0.49726269480003754"/>
        </c:manualLayout>
      </c:layout>
      <c:lineChart>
        <c:grouping val="standard"/>
        <c:varyColors val="0"/>
        <c:ser>
          <c:idx val="0"/>
          <c:order val="0"/>
          <c:tx>
            <c:strRef>
              <c:f>'Expo e impo'!$B$1:$B$4</c:f>
              <c:strCache>
                <c:ptCount val="1"/>
                <c:pt idx="0">
                  <c:v>Cantidades de Exportación</c:v>
                </c:pt>
              </c:strCache>
            </c:strRef>
          </c:tx>
          <c:spPr>
            <a:ln w="38100">
              <a:solidFill>
                <a:schemeClr val="tx2">
                  <a:lumMod val="75000"/>
                </a:schemeClr>
              </a:solidFill>
            </a:ln>
          </c:spPr>
          <c:marker>
            <c:symbol val="none"/>
          </c:marker>
          <c:cat>
            <c:numRef>
              <c:f>'Expo e impo'!$A$6:$A$19</c:f>
              <c:numCache>
                <c:formatCode>@</c:formatCode>
                <c:ptCount val="14"/>
                <c:pt idx="0">
                  <c:v>1900</c:v>
                </c:pt>
                <c:pt idx="1">
                  <c:v>1901</c:v>
                </c:pt>
                <c:pt idx="2">
                  <c:v>1902</c:v>
                </c:pt>
                <c:pt idx="3">
                  <c:v>1903</c:v>
                </c:pt>
                <c:pt idx="4">
                  <c:v>1904</c:v>
                </c:pt>
                <c:pt idx="5">
                  <c:v>1905</c:v>
                </c:pt>
                <c:pt idx="6">
                  <c:v>1906</c:v>
                </c:pt>
                <c:pt idx="7">
                  <c:v>1907</c:v>
                </c:pt>
                <c:pt idx="8">
                  <c:v>1908</c:v>
                </c:pt>
                <c:pt idx="9">
                  <c:v>1909</c:v>
                </c:pt>
                <c:pt idx="10">
                  <c:v>1910</c:v>
                </c:pt>
                <c:pt idx="11">
                  <c:v>1911</c:v>
                </c:pt>
                <c:pt idx="12">
                  <c:v>1912</c:v>
                </c:pt>
                <c:pt idx="13">
                  <c:v>1913</c:v>
                </c:pt>
              </c:numCache>
            </c:numRef>
          </c:cat>
          <c:val>
            <c:numRef>
              <c:f>'Expo e impo'!$B$6:$B$19</c:f>
              <c:numCache>
                <c:formatCode>#,##0.00\ \ </c:formatCode>
                <c:ptCount val="14"/>
                <c:pt idx="0">
                  <c:v>6.1727098585561366</c:v>
                </c:pt>
                <c:pt idx="1">
                  <c:v>6.7640184336650293</c:v>
                </c:pt>
                <c:pt idx="2">
                  <c:v>6.6975162717159771</c:v>
                </c:pt>
                <c:pt idx="3">
                  <c:v>9.0961024440641882</c:v>
                </c:pt>
                <c:pt idx="4">
                  <c:v>10.239788325793562</c:v>
                </c:pt>
                <c:pt idx="5">
                  <c:v>11.112191915600153</c:v>
                </c:pt>
                <c:pt idx="6">
                  <c:v>9.6436192783937003</c:v>
                </c:pt>
                <c:pt idx="7">
                  <c:v>9.4612096049198051</c:v>
                </c:pt>
                <c:pt idx="8">
                  <c:v>12.177871690034154</c:v>
                </c:pt>
                <c:pt idx="9">
                  <c:v>11.496348618801745</c:v>
                </c:pt>
                <c:pt idx="10">
                  <c:v>10.939849495255718</c:v>
                </c:pt>
                <c:pt idx="11">
                  <c:v>9.9765103170925471</c:v>
                </c:pt>
                <c:pt idx="12">
                  <c:v>14.620617468695023</c:v>
                </c:pt>
                <c:pt idx="13">
                  <c:v>14.881143825952142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3B5-4B4B-BAB5-2157168A34C2}"/>
            </c:ext>
          </c:extLst>
        </c:ser>
        <c:ser>
          <c:idx val="1"/>
          <c:order val="1"/>
          <c:tx>
            <c:strRef>
              <c:f>'Expo e impo'!$C$1:$C$4</c:f>
              <c:strCache>
                <c:ptCount val="1"/>
                <c:pt idx="0">
                  <c:v>Cantidades de Importación</c:v>
                </c:pt>
              </c:strCache>
            </c:strRef>
          </c:tx>
          <c:spPr>
            <a:ln w="38100">
              <a:solidFill>
                <a:schemeClr val="tx2">
                  <a:lumMod val="60000"/>
                  <a:lumOff val="40000"/>
                </a:schemeClr>
              </a:solidFill>
            </a:ln>
          </c:spPr>
          <c:marker>
            <c:symbol val="none"/>
          </c:marker>
          <c:cat>
            <c:numRef>
              <c:f>'Expo e impo'!$A$6:$A$19</c:f>
              <c:numCache>
                <c:formatCode>@</c:formatCode>
                <c:ptCount val="14"/>
                <c:pt idx="0">
                  <c:v>1900</c:v>
                </c:pt>
                <c:pt idx="1">
                  <c:v>1901</c:v>
                </c:pt>
                <c:pt idx="2">
                  <c:v>1902</c:v>
                </c:pt>
                <c:pt idx="3">
                  <c:v>1903</c:v>
                </c:pt>
                <c:pt idx="4">
                  <c:v>1904</c:v>
                </c:pt>
                <c:pt idx="5">
                  <c:v>1905</c:v>
                </c:pt>
                <c:pt idx="6">
                  <c:v>1906</c:v>
                </c:pt>
                <c:pt idx="7">
                  <c:v>1907</c:v>
                </c:pt>
                <c:pt idx="8">
                  <c:v>1908</c:v>
                </c:pt>
                <c:pt idx="9">
                  <c:v>1909</c:v>
                </c:pt>
                <c:pt idx="10">
                  <c:v>1910</c:v>
                </c:pt>
                <c:pt idx="11">
                  <c:v>1911</c:v>
                </c:pt>
                <c:pt idx="12">
                  <c:v>1912</c:v>
                </c:pt>
                <c:pt idx="13">
                  <c:v>1913</c:v>
                </c:pt>
              </c:numCache>
            </c:numRef>
          </c:cat>
          <c:val>
            <c:numRef>
              <c:f>'Expo e impo'!$C$6:$C$19</c:f>
              <c:numCache>
                <c:formatCode>#,##0.00\ \ </c:formatCode>
                <c:ptCount val="14"/>
                <c:pt idx="0">
                  <c:v>3.3568923638546875</c:v>
                </c:pt>
                <c:pt idx="1">
                  <c:v>3.8746361092887489</c:v>
                </c:pt>
                <c:pt idx="2">
                  <c:v>3.5440754011977207</c:v>
                </c:pt>
                <c:pt idx="3">
                  <c:v>4.4103362261704691</c:v>
                </c:pt>
                <c:pt idx="4">
                  <c:v>6.2960422757594712</c:v>
                </c:pt>
                <c:pt idx="5">
                  <c:v>6.7427500177141484</c:v>
                </c:pt>
                <c:pt idx="6">
                  <c:v>8.3184766470135436</c:v>
                </c:pt>
                <c:pt idx="7">
                  <c:v>8.4557691363696996</c:v>
                </c:pt>
                <c:pt idx="8">
                  <c:v>8.7766773991912395</c:v>
                </c:pt>
                <c:pt idx="9">
                  <c:v>10.062400024989483</c:v>
                </c:pt>
                <c:pt idx="10">
                  <c:v>11.568448969230632</c:v>
                </c:pt>
                <c:pt idx="11">
                  <c:v>11.980649490725936</c:v>
                </c:pt>
                <c:pt idx="12">
                  <c:v>12.239242638479935</c:v>
                </c:pt>
                <c:pt idx="13">
                  <c:v>13.562614520383109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3B5-4B4B-BAB5-2157168A34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3952512"/>
        <c:axId val="123974784"/>
      </c:lineChart>
      <c:catAx>
        <c:axId val="123952512"/>
        <c:scaling>
          <c:orientation val="minMax"/>
        </c:scaling>
        <c:delete val="0"/>
        <c:axPos val="b"/>
        <c:numFmt formatCode="@" sourceLinked="1"/>
        <c:majorTickMark val="out"/>
        <c:minorTickMark val="none"/>
        <c:tickLblPos val="low"/>
        <c:spPr>
          <a:ln>
            <a:solidFill>
              <a:schemeClr val="tx2">
                <a:lumMod val="50000"/>
              </a:schemeClr>
            </a:solidFill>
          </a:ln>
        </c:spPr>
        <c:txPr>
          <a:bodyPr rot="-5400000" vert="horz"/>
          <a:lstStyle/>
          <a:p>
            <a:pPr>
              <a:defRPr/>
            </a:pPr>
            <a:endParaRPr lang="es-AR"/>
          </a:p>
        </c:txPr>
        <c:crossAx val="123974784"/>
        <c:crosses val="autoZero"/>
        <c:auto val="1"/>
        <c:lblAlgn val="ctr"/>
        <c:lblOffset val="100"/>
        <c:noMultiLvlLbl val="0"/>
      </c:catAx>
      <c:valAx>
        <c:axId val="123974784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chemeClr val="tx2">
                <a:lumMod val="50000"/>
              </a:schemeClr>
            </a:solidFill>
          </a:ln>
        </c:spPr>
        <c:crossAx val="123952512"/>
        <c:crosses val="autoZero"/>
        <c:crossBetween val="between"/>
      </c:valAx>
      <c:spPr>
        <a:noFill/>
        <a:ln w="25400" cap="flat" cmpd="sng" algn="ctr">
          <a:noFill/>
          <a:prstDash val="solid"/>
        </a:ln>
        <a:effectLst/>
      </c:spPr>
    </c:plotArea>
    <c:legend>
      <c:legendPos val="b"/>
      <c:layout>
        <c:manualLayout>
          <c:xMode val="edge"/>
          <c:yMode val="edge"/>
          <c:x val="3.3416875522138678E-3"/>
          <c:y val="0.80887355552957674"/>
          <c:w val="0.99401837928153658"/>
          <c:h val="0.19106877836451586"/>
        </c:manualLayout>
      </c:layout>
      <c:overlay val="0"/>
    </c:legend>
    <c:plotVisOnly val="1"/>
    <c:dispBlanksAs val="gap"/>
    <c:showDLblsOverMax val="0"/>
  </c:chart>
  <c:spPr>
    <a:noFill/>
    <a:ln w="25400" cap="flat" cmpd="sng" algn="ctr">
      <a:noFill/>
      <a:prstDash val="solid"/>
    </a:ln>
    <a:effectLst/>
  </c:spPr>
  <c:txPr>
    <a:bodyPr/>
    <a:lstStyle/>
    <a:p>
      <a:pPr>
        <a:defRPr sz="1400">
          <a:solidFill>
            <a:schemeClr val="tx2">
              <a:lumMod val="75000"/>
            </a:schemeClr>
          </a:solidFill>
          <a:latin typeface="Abadi" panose="020B0604020104020204" pitchFamily="34" charset="0"/>
          <a:ea typeface="+mn-ea"/>
          <a:cs typeface="Times New Roman" pitchFamily="18" charset="0"/>
        </a:defRPr>
      </a:pPr>
      <a:endParaRPr lang="es-AR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15581402947035"/>
          <c:y val="4.7295078530519147E-2"/>
          <c:w val="0.85088291349473522"/>
          <c:h val="0.51388600558208197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'Expo e impo'!$G$1:$G$4</c:f>
              <c:strCache>
                <c:ptCount val="1"/>
                <c:pt idx="0">
                  <c:v>Términos de Intercambio</c:v>
                </c:pt>
              </c:strCache>
            </c:strRef>
          </c:tx>
          <c:spPr>
            <a:solidFill>
              <a:schemeClr val="tx2">
                <a:lumMod val="75000"/>
              </a:schemeClr>
            </a:solidFill>
          </c:spPr>
          <c:invertIfNegative val="0"/>
          <c:val>
            <c:numRef>
              <c:f>'Expo e impo'!$G$6:$G$19</c:f>
              <c:numCache>
                <c:formatCode>#,##0.00\ \ </c:formatCode>
                <c:ptCount val="14"/>
                <c:pt idx="0">
                  <c:v>94.207956960307314</c:v>
                </c:pt>
                <c:pt idx="1">
                  <c:v>107.20215792034975</c:v>
                </c:pt>
                <c:pt idx="2">
                  <c:v>117.21222552038239</c:v>
                </c:pt>
                <c:pt idx="3">
                  <c:v>103.84286164942968</c:v>
                </c:pt>
                <c:pt idx="4">
                  <c:v>110.26613144217789</c:v>
                </c:pt>
                <c:pt idx="5">
                  <c:v>121.42358897106278</c:v>
                </c:pt>
                <c:pt idx="6">
                  <c:v>118.74127908538739</c:v>
                </c:pt>
                <c:pt idx="7">
                  <c:v>117.75994620038416</c:v>
                </c:pt>
                <c:pt idx="8">
                  <c:v>122.87994386127046</c:v>
                </c:pt>
                <c:pt idx="9">
                  <c:v>146.07525910699343</c:v>
                </c:pt>
                <c:pt idx="10">
                  <c:v>137.91267926148086</c:v>
                </c:pt>
                <c:pt idx="11">
                  <c:v>129.06490103562106</c:v>
                </c:pt>
                <c:pt idx="12">
                  <c:v>119.50453799594543</c:v>
                </c:pt>
                <c:pt idx="13">
                  <c:v>121.24912979150668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30-4885-8A7C-6BFF105282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4016128"/>
        <c:axId val="124014592"/>
      </c:barChart>
      <c:lineChart>
        <c:grouping val="standard"/>
        <c:varyColors val="0"/>
        <c:ser>
          <c:idx val="0"/>
          <c:order val="0"/>
          <c:tx>
            <c:strRef>
              <c:f>'Expo e impo'!$E$1:$E$4</c:f>
              <c:strCache>
                <c:ptCount val="1"/>
                <c:pt idx="0">
                  <c:v>Precios de Exportac.</c:v>
                </c:pt>
              </c:strCache>
            </c:strRef>
          </c:tx>
          <c:spPr>
            <a:ln w="38100">
              <a:solidFill>
                <a:schemeClr val="tx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'Expo e impo'!$A$6:$A$19</c:f>
              <c:numCache>
                <c:formatCode>@</c:formatCode>
                <c:ptCount val="14"/>
                <c:pt idx="0">
                  <c:v>1900</c:v>
                </c:pt>
                <c:pt idx="1">
                  <c:v>1901</c:v>
                </c:pt>
                <c:pt idx="2">
                  <c:v>1902</c:v>
                </c:pt>
                <c:pt idx="3">
                  <c:v>1903</c:v>
                </c:pt>
                <c:pt idx="4">
                  <c:v>1904</c:v>
                </c:pt>
                <c:pt idx="5">
                  <c:v>1905</c:v>
                </c:pt>
                <c:pt idx="6">
                  <c:v>1906</c:v>
                </c:pt>
                <c:pt idx="7">
                  <c:v>1907</c:v>
                </c:pt>
                <c:pt idx="8">
                  <c:v>1908</c:v>
                </c:pt>
                <c:pt idx="9">
                  <c:v>1909</c:v>
                </c:pt>
                <c:pt idx="10">
                  <c:v>1910</c:v>
                </c:pt>
                <c:pt idx="11">
                  <c:v>1911</c:v>
                </c:pt>
                <c:pt idx="12">
                  <c:v>1912</c:v>
                </c:pt>
                <c:pt idx="13">
                  <c:v>1913</c:v>
                </c:pt>
              </c:numCache>
            </c:numRef>
          </c:cat>
          <c:val>
            <c:numRef>
              <c:f>'Expo e impo'!$E$6:$E$19</c:f>
              <c:numCache>
                <c:formatCode>#,##0.00\ \ </c:formatCode>
                <c:ptCount val="14"/>
                <c:pt idx="0">
                  <c:v>18.592902939950584</c:v>
                </c:pt>
                <c:pt idx="1">
                  <c:v>18.646025519779013</c:v>
                </c:pt>
                <c:pt idx="2">
                  <c:v>19.990187569434511</c:v>
                </c:pt>
                <c:pt idx="3">
                  <c:v>17.712177528619836</c:v>
                </c:pt>
                <c:pt idx="4">
                  <c:v>18.824603136716604</c:v>
                </c:pt>
                <c:pt idx="5">
                  <c:v>21.18157312700929</c:v>
                </c:pt>
                <c:pt idx="6">
                  <c:v>22.152090272296487</c:v>
                </c:pt>
                <c:pt idx="7">
                  <c:v>22.29726993598689</c:v>
                </c:pt>
                <c:pt idx="8">
                  <c:v>21.931576469961094</c:v>
                </c:pt>
                <c:pt idx="9">
                  <c:v>25.22131294045526</c:v>
                </c:pt>
                <c:pt idx="10">
                  <c:v>25.732012113735625</c:v>
                </c:pt>
                <c:pt idx="11">
                  <c:v>24.818616595474722</c:v>
                </c:pt>
                <c:pt idx="12">
                  <c:v>24.83854617221763</c:v>
                </c:pt>
                <c:pt idx="13">
                  <c:v>25.212874152046101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D30-4885-8A7C-6BFF10528241}"/>
            </c:ext>
          </c:extLst>
        </c:ser>
        <c:ser>
          <c:idx val="1"/>
          <c:order val="1"/>
          <c:tx>
            <c:strRef>
              <c:f>'Expo e impo'!$F$1:$F$4</c:f>
              <c:strCache>
                <c:ptCount val="1"/>
                <c:pt idx="0">
                  <c:v>Precios de Importac.</c:v>
                </c:pt>
              </c:strCache>
            </c:strRef>
          </c:tx>
          <c:spPr>
            <a:ln w="38100">
              <a:solidFill>
                <a:schemeClr val="tx2">
                  <a:lumMod val="60000"/>
                  <a:lumOff val="40000"/>
                </a:schemeClr>
              </a:solidFill>
            </a:ln>
          </c:spPr>
          <c:marker>
            <c:symbol val="none"/>
          </c:marker>
          <c:cat>
            <c:numRef>
              <c:f>'Expo e impo'!$A$6:$A$19</c:f>
              <c:numCache>
                <c:formatCode>@</c:formatCode>
                <c:ptCount val="14"/>
                <c:pt idx="0">
                  <c:v>1900</c:v>
                </c:pt>
                <c:pt idx="1">
                  <c:v>1901</c:v>
                </c:pt>
                <c:pt idx="2">
                  <c:v>1902</c:v>
                </c:pt>
                <c:pt idx="3">
                  <c:v>1903</c:v>
                </c:pt>
                <c:pt idx="4">
                  <c:v>1904</c:v>
                </c:pt>
                <c:pt idx="5">
                  <c:v>1905</c:v>
                </c:pt>
                <c:pt idx="6">
                  <c:v>1906</c:v>
                </c:pt>
                <c:pt idx="7">
                  <c:v>1907</c:v>
                </c:pt>
                <c:pt idx="8">
                  <c:v>1908</c:v>
                </c:pt>
                <c:pt idx="9">
                  <c:v>1909</c:v>
                </c:pt>
                <c:pt idx="10">
                  <c:v>1910</c:v>
                </c:pt>
                <c:pt idx="11">
                  <c:v>1911</c:v>
                </c:pt>
                <c:pt idx="12">
                  <c:v>1912</c:v>
                </c:pt>
                <c:pt idx="13">
                  <c:v>1913</c:v>
                </c:pt>
              </c:numCache>
            </c:numRef>
          </c:cat>
          <c:val>
            <c:numRef>
              <c:f>'Expo e impo'!$F$6:$F$19</c:f>
              <c:numCache>
                <c:formatCode>#,##0.00\ \ </c:formatCode>
                <c:ptCount val="14"/>
                <c:pt idx="0">
                  <c:v>19.736021817970578</c:v>
                </c:pt>
                <c:pt idx="1">
                  <c:v>17.393330396980296</c:v>
                </c:pt>
                <c:pt idx="2">
                  <c:v>17.054695003601271</c:v>
                </c:pt>
                <c:pt idx="3">
                  <c:v>17.056711696193045</c:v>
                </c:pt>
                <c:pt idx="4">
                  <c:v>17.071972046636983</c:v>
                </c:pt>
                <c:pt idx="5">
                  <c:v>17.444364234742892</c:v>
                </c:pt>
                <c:pt idx="6">
                  <c:v>18.655761873987242</c:v>
                </c:pt>
                <c:pt idx="7">
                  <c:v>18.9345109737441</c:v>
                </c:pt>
                <c:pt idx="8">
                  <c:v>17.84797077602957</c:v>
                </c:pt>
                <c:pt idx="9">
                  <c:v>17.265971728985129</c:v>
                </c:pt>
                <c:pt idx="10">
                  <c:v>18.658191727932444</c:v>
                </c:pt>
                <c:pt idx="11">
                  <c:v>19.229563108427865</c:v>
                </c:pt>
                <c:pt idx="12">
                  <c:v>20.784604993879277</c:v>
                </c:pt>
                <c:pt idx="13">
                  <c:v>20.794272252015968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D30-4885-8A7C-6BFF105282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3990784"/>
        <c:axId val="123992320"/>
      </c:lineChart>
      <c:catAx>
        <c:axId val="123990784"/>
        <c:scaling>
          <c:orientation val="minMax"/>
        </c:scaling>
        <c:delete val="0"/>
        <c:axPos val="b"/>
        <c:numFmt formatCode="@" sourceLinked="1"/>
        <c:majorTickMark val="out"/>
        <c:minorTickMark val="none"/>
        <c:tickLblPos val="low"/>
        <c:spPr>
          <a:ln>
            <a:solidFill>
              <a:schemeClr val="tx2">
                <a:lumMod val="50000"/>
              </a:schemeClr>
            </a:solidFill>
          </a:ln>
        </c:spPr>
        <c:txPr>
          <a:bodyPr rot="-5400000" vert="horz"/>
          <a:lstStyle/>
          <a:p>
            <a:pPr>
              <a:defRPr/>
            </a:pPr>
            <a:endParaRPr lang="es-AR"/>
          </a:p>
        </c:txPr>
        <c:crossAx val="123992320"/>
        <c:crosses val="autoZero"/>
        <c:auto val="1"/>
        <c:lblAlgn val="ctr"/>
        <c:lblOffset val="100"/>
        <c:noMultiLvlLbl val="0"/>
      </c:catAx>
      <c:valAx>
        <c:axId val="123992320"/>
        <c:scaling>
          <c:orientation val="minMax"/>
          <c:max val="30"/>
          <c:min val="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chemeClr val="tx2">
                <a:lumMod val="50000"/>
              </a:schemeClr>
            </a:solidFill>
          </a:ln>
        </c:spPr>
        <c:crossAx val="123990784"/>
        <c:crosses val="autoZero"/>
        <c:crossBetween val="between"/>
      </c:valAx>
      <c:valAx>
        <c:axId val="124014592"/>
        <c:scaling>
          <c:orientation val="minMax"/>
        </c:scaling>
        <c:delete val="0"/>
        <c:axPos val="r"/>
        <c:numFmt formatCode="#,##0" sourceLinked="0"/>
        <c:majorTickMark val="out"/>
        <c:minorTickMark val="none"/>
        <c:tickLblPos val="nextTo"/>
        <c:spPr>
          <a:ln>
            <a:solidFill>
              <a:schemeClr val="tx2">
                <a:lumMod val="50000"/>
              </a:schemeClr>
            </a:solidFill>
          </a:ln>
        </c:spPr>
        <c:crossAx val="124016128"/>
        <c:crosses val="max"/>
        <c:crossBetween val="between"/>
      </c:valAx>
      <c:catAx>
        <c:axId val="124016128"/>
        <c:scaling>
          <c:orientation val="minMax"/>
        </c:scaling>
        <c:delete val="1"/>
        <c:axPos val="b"/>
        <c:majorTickMark val="out"/>
        <c:minorTickMark val="none"/>
        <c:tickLblPos val="nextTo"/>
        <c:crossAx val="124014592"/>
        <c:crosses val="autoZero"/>
        <c:auto val="1"/>
        <c:lblAlgn val="ctr"/>
        <c:lblOffset val="100"/>
        <c:noMultiLvlLbl val="0"/>
      </c:catAx>
      <c:spPr>
        <a:noFill/>
        <a:ln w="25400" cap="flat" cmpd="sng" algn="ctr">
          <a:noFill/>
          <a:prstDash val="solid"/>
        </a:ln>
        <a:effectLst/>
      </c:spPr>
    </c:plotArea>
    <c:legend>
      <c:legendPos val="b"/>
      <c:layout>
        <c:manualLayout>
          <c:xMode val="edge"/>
          <c:yMode val="edge"/>
          <c:x val="0"/>
          <c:y val="0.83735701122466077"/>
          <c:w val="0.99401837928153658"/>
          <c:h val="0.16264298877533942"/>
        </c:manualLayout>
      </c:layout>
      <c:overlay val="0"/>
      <c:txPr>
        <a:bodyPr/>
        <a:lstStyle/>
        <a:p>
          <a:pPr>
            <a:defRPr sz="1200"/>
          </a:pPr>
          <a:endParaRPr lang="es-AR"/>
        </a:p>
      </c:txPr>
    </c:legend>
    <c:plotVisOnly val="1"/>
    <c:dispBlanksAs val="gap"/>
    <c:showDLblsOverMax val="0"/>
  </c:chart>
  <c:spPr>
    <a:noFill/>
    <a:ln w="25400" cap="flat" cmpd="sng" algn="ctr">
      <a:noFill/>
      <a:prstDash val="solid"/>
    </a:ln>
    <a:effectLst/>
  </c:spPr>
  <c:txPr>
    <a:bodyPr/>
    <a:lstStyle/>
    <a:p>
      <a:pPr>
        <a:defRPr sz="1400">
          <a:solidFill>
            <a:schemeClr val="tx2">
              <a:lumMod val="75000"/>
            </a:schemeClr>
          </a:solidFill>
          <a:latin typeface="Abadi" panose="020B0604020104020204" pitchFamily="34" charset="0"/>
          <a:ea typeface="+mn-ea"/>
          <a:cs typeface="Times New Roman" pitchFamily="18" charset="0"/>
        </a:defRPr>
      </a:pPr>
      <a:endParaRPr lang="es-AR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335186042921106"/>
          <c:y val="4.7295078530519147E-2"/>
          <c:w val="0.8606867891513561"/>
          <c:h val="0.52327308750206203"/>
        </c:manualLayout>
      </c:layout>
      <c:lineChart>
        <c:grouping val="standard"/>
        <c:varyColors val="0"/>
        <c:ser>
          <c:idx val="3"/>
          <c:order val="0"/>
          <c:tx>
            <c:strRef>
              <c:f>'Bal de Pagos'!$E$1</c:f>
              <c:strCache>
                <c:ptCount val="1"/>
                <c:pt idx="0">
                  <c:v>Variación de Reservas</c:v>
                </c:pt>
              </c:strCache>
            </c:strRef>
          </c:tx>
          <c:spPr>
            <a:ln w="38100">
              <a:solidFill>
                <a:schemeClr val="tx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'Bal de Pagos'!$A$6:$A$19</c:f>
              <c:numCache>
                <c:formatCode>General</c:formatCode>
                <c:ptCount val="14"/>
                <c:pt idx="0">
                  <c:v>1900</c:v>
                </c:pt>
                <c:pt idx="1">
                  <c:v>1901</c:v>
                </c:pt>
                <c:pt idx="2">
                  <c:v>1902</c:v>
                </c:pt>
                <c:pt idx="3">
                  <c:v>1903</c:v>
                </c:pt>
                <c:pt idx="4">
                  <c:v>1904</c:v>
                </c:pt>
                <c:pt idx="5">
                  <c:v>1905</c:v>
                </c:pt>
                <c:pt idx="6">
                  <c:v>1906</c:v>
                </c:pt>
                <c:pt idx="7">
                  <c:v>1907</c:v>
                </c:pt>
                <c:pt idx="8">
                  <c:v>1908</c:v>
                </c:pt>
                <c:pt idx="9">
                  <c:v>1909</c:v>
                </c:pt>
                <c:pt idx="10">
                  <c:v>1910</c:v>
                </c:pt>
                <c:pt idx="11">
                  <c:v>1911</c:v>
                </c:pt>
                <c:pt idx="12">
                  <c:v>1912</c:v>
                </c:pt>
                <c:pt idx="13">
                  <c:v>1913</c:v>
                </c:pt>
              </c:numCache>
            </c:numRef>
          </c:cat>
          <c:val>
            <c:numRef>
              <c:f>'Bal de Pagos'!$E$6:$E$19</c:f>
              <c:numCache>
                <c:formatCode>#,##0.00000\ \ </c:formatCode>
                <c:ptCount val="14"/>
                <c:pt idx="0" formatCode="#,##0.00\ \ ">
                  <c:v>9.8503262121018285</c:v>
                </c:pt>
                <c:pt idx="1">
                  <c:v>6.753497346840328E-3</c:v>
                </c:pt>
                <c:pt idx="2" formatCode="#,##0.00\ \ ">
                  <c:v>5.6295224312590451</c:v>
                </c:pt>
                <c:pt idx="3" formatCode="#,##0.00\ \ ">
                  <c:v>24.013506994693682</c:v>
                </c:pt>
                <c:pt idx="4" formatCode="#,##0.00\ \ ">
                  <c:v>22.493005306319343</c:v>
                </c:pt>
                <c:pt idx="5" formatCode="#,##0.00\ \ ">
                  <c:v>30.668624696718169</c:v>
                </c:pt>
                <c:pt idx="6" formatCode="#,##0.00\ \ ">
                  <c:v>16.109521167634007</c:v>
                </c:pt>
                <c:pt idx="7" formatCode="#,##0.00\ \ ">
                  <c:v>19.284947399060254</c:v>
                </c:pt>
                <c:pt idx="8" formatCode="#,##0.00\ \ ">
                  <c:v>27.697056066802997</c:v>
                </c:pt>
                <c:pt idx="9" formatCode="#,##0.00\ \ ">
                  <c:v>64.029435071574639</c:v>
                </c:pt>
                <c:pt idx="10" formatCode="#,##0.00\ \ ">
                  <c:v>34.106429269536392</c:v>
                </c:pt>
                <c:pt idx="11" formatCode="#,##0.00\ \ ">
                  <c:v>9.3935018663047174</c:v>
                </c:pt>
                <c:pt idx="12" formatCode="#,##0.00\ \ ">
                  <c:v>34.263349493918518</c:v>
                </c:pt>
                <c:pt idx="13" formatCode="#,##0.00\ \ ">
                  <c:v>3.392337052260717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AD3-4CF7-BA1F-7C2276C3CF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4040704"/>
        <c:axId val="124042240"/>
      </c:lineChart>
      <c:catAx>
        <c:axId val="1240407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>
            <a:solidFill>
              <a:schemeClr val="tx2">
                <a:lumMod val="50000"/>
              </a:schemeClr>
            </a:solidFill>
          </a:ln>
        </c:spPr>
        <c:txPr>
          <a:bodyPr rot="-5400000" vert="horz"/>
          <a:lstStyle/>
          <a:p>
            <a:pPr>
              <a:defRPr/>
            </a:pPr>
            <a:endParaRPr lang="es-AR"/>
          </a:p>
        </c:txPr>
        <c:crossAx val="124042240"/>
        <c:crosses val="autoZero"/>
        <c:auto val="1"/>
        <c:lblAlgn val="ctr"/>
        <c:lblOffset val="100"/>
        <c:noMultiLvlLbl val="0"/>
      </c:catAx>
      <c:valAx>
        <c:axId val="124042240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chemeClr val="tx2">
                <a:lumMod val="50000"/>
              </a:schemeClr>
            </a:solidFill>
          </a:ln>
        </c:spPr>
        <c:crossAx val="124040704"/>
        <c:crosses val="autoZero"/>
        <c:crossBetween val="between"/>
      </c:valAx>
      <c:spPr>
        <a:noFill/>
        <a:ln w="25400" cap="flat" cmpd="sng" algn="ctr">
          <a:noFill/>
          <a:prstDash val="solid"/>
        </a:ln>
        <a:effectLst/>
      </c:spPr>
    </c:plotArea>
    <c:legend>
      <c:legendPos val="b"/>
      <c:layout>
        <c:manualLayout>
          <c:xMode val="edge"/>
          <c:yMode val="edge"/>
          <c:x val="0"/>
          <c:y val="0.87209459891661878"/>
          <c:w val="1"/>
          <c:h val="0.11085599847289219"/>
        </c:manualLayout>
      </c:layout>
      <c:overlay val="0"/>
    </c:legend>
    <c:plotVisOnly val="1"/>
    <c:dispBlanksAs val="gap"/>
    <c:showDLblsOverMax val="0"/>
  </c:chart>
  <c:spPr>
    <a:noFill/>
    <a:ln w="25400" cap="flat" cmpd="sng" algn="ctr">
      <a:noFill/>
      <a:prstDash val="solid"/>
    </a:ln>
    <a:effectLst/>
  </c:spPr>
  <c:txPr>
    <a:bodyPr/>
    <a:lstStyle/>
    <a:p>
      <a:pPr>
        <a:defRPr sz="1400">
          <a:solidFill>
            <a:schemeClr val="tx2">
              <a:lumMod val="75000"/>
            </a:schemeClr>
          </a:solidFill>
          <a:latin typeface="Abadi" panose="020B0604020104020204" pitchFamily="34" charset="0"/>
          <a:ea typeface="+mn-ea"/>
          <a:cs typeface="Times New Roman" pitchFamily="18" charset="0"/>
        </a:defRPr>
      </a:pPr>
      <a:endParaRPr lang="es-AR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8.4931751952058626E-2"/>
          <c:y val="4.7295024292176364E-2"/>
          <c:w val="0.88449870056169266"/>
          <c:h val="0.55553613389949297"/>
        </c:manualLayout>
      </c:layout>
      <c:lineChart>
        <c:grouping val="standard"/>
        <c:varyColors val="0"/>
        <c:ser>
          <c:idx val="0"/>
          <c:order val="0"/>
          <c:tx>
            <c:strRef>
              <c:f>'Tipo de Cambio'!$D$1</c:f>
              <c:strCache>
                <c:ptCount val="1"/>
                <c:pt idx="0">
                  <c:v>Observado</c:v>
                </c:pt>
              </c:strCache>
            </c:strRef>
          </c:tx>
          <c:spPr>
            <a:ln w="38100">
              <a:solidFill>
                <a:schemeClr val="tx2">
                  <a:lumMod val="50000"/>
                </a:schemeClr>
              </a:solidFill>
            </a:ln>
          </c:spPr>
          <c:marker>
            <c:symbol val="none"/>
          </c:marker>
          <c:cat>
            <c:multiLvlStrRef>
              <c:f>'Tipo de Cambio'!$A$14:$B$73</c:f>
              <c:multiLvlStrCache>
                <c:ptCount val="60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  <c:pt idx="12">
                    <c:v>Ene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Abr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Ago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Dic</c:v>
                  </c:pt>
                  <c:pt idx="24">
                    <c:v>Ene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Abr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Ago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Dic</c:v>
                  </c:pt>
                  <c:pt idx="36">
                    <c:v>Ene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Abr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Ago</c:v>
                  </c:pt>
                  <c:pt idx="44">
                    <c:v>Sep</c:v>
                  </c:pt>
                  <c:pt idx="45">
                    <c:v>Oct</c:v>
                  </c:pt>
                  <c:pt idx="46">
                    <c:v>Nov</c:v>
                  </c:pt>
                  <c:pt idx="47">
                    <c:v>Dic</c:v>
                  </c:pt>
                  <c:pt idx="48">
                    <c:v>Ene</c:v>
                  </c:pt>
                  <c:pt idx="49">
                    <c:v>Feb</c:v>
                  </c:pt>
                  <c:pt idx="50">
                    <c:v>Mar</c:v>
                  </c:pt>
                  <c:pt idx="51">
                    <c:v>Abr</c:v>
                  </c:pt>
                  <c:pt idx="52">
                    <c:v>May</c:v>
                  </c:pt>
                  <c:pt idx="53">
                    <c:v>Jun</c:v>
                  </c:pt>
                  <c:pt idx="54">
                    <c:v>Jul</c:v>
                  </c:pt>
                  <c:pt idx="55">
                    <c:v>Ago</c:v>
                  </c:pt>
                  <c:pt idx="56">
                    <c:v>Sep</c:v>
                  </c:pt>
                  <c:pt idx="57">
                    <c:v>Oct</c:v>
                  </c:pt>
                  <c:pt idx="58">
                    <c:v>Nov</c:v>
                  </c:pt>
                  <c:pt idx="59">
                    <c:v>Dic</c:v>
                  </c:pt>
                </c:lvl>
                <c:lvl>
                  <c:pt idx="0">
                    <c:v>1914</c:v>
                  </c:pt>
                  <c:pt idx="12">
                    <c:v>1915</c:v>
                  </c:pt>
                  <c:pt idx="24">
                    <c:v>1916</c:v>
                  </c:pt>
                  <c:pt idx="36">
                    <c:v>1917</c:v>
                  </c:pt>
                  <c:pt idx="48">
                    <c:v>1918</c:v>
                  </c:pt>
                </c:lvl>
              </c:multiLvlStrCache>
            </c:multiLvlStrRef>
          </c:cat>
          <c:val>
            <c:numRef>
              <c:f>'Tipo de Cambio'!$D$14:$D$73</c:f>
              <c:numCache>
                <c:formatCode>_(* #,##0.00_);_(* \(#,##0.00\);_(* "-"??_);_(@_)</c:formatCode>
                <c:ptCount val="60"/>
                <c:pt idx="0">
                  <c:v>2.2726999999999999</c:v>
                </c:pt>
                <c:pt idx="1">
                  <c:v>2.2726999999999999</c:v>
                </c:pt>
                <c:pt idx="2">
                  <c:v>2.2726999999999999</c:v>
                </c:pt>
                <c:pt idx="3">
                  <c:v>2.2726999999999999</c:v>
                </c:pt>
                <c:pt idx="4">
                  <c:v>2.2726999999999999</c:v>
                </c:pt>
                <c:pt idx="5">
                  <c:v>2.2726999999999999</c:v>
                </c:pt>
                <c:pt idx="6">
                  <c:v>2.2726999999999999</c:v>
                </c:pt>
                <c:pt idx="7">
                  <c:v>2.3664000000000001</c:v>
                </c:pt>
                <c:pt idx="8">
                  <c:v>2.3653999999999997</c:v>
                </c:pt>
                <c:pt idx="9">
                  <c:v>2.3694999999999999</c:v>
                </c:pt>
                <c:pt idx="10">
                  <c:v>2.3005</c:v>
                </c:pt>
                <c:pt idx="11">
                  <c:v>2.2806000000000002</c:v>
                </c:pt>
                <c:pt idx="12">
                  <c:v>2.2806999999999999</c:v>
                </c:pt>
                <c:pt idx="13">
                  <c:v>2.2831000000000001</c:v>
                </c:pt>
                <c:pt idx="14">
                  <c:v>2.2961</c:v>
                </c:pt>
                <c:pt idx="15">
                  <c:v>2.2965</c:v>
                </c:pt>
                <c:pt idx="16">
                  <c:v>2.2978000000000001</c:v>
                </c:pt>
                <c:pt idx="17">
                  <c:v>2.3055000000000003</c:v>
                </c:pt>
                <c:pt idx="18">
                  <c:v>2.3210999999999999</c:v>
                </c:pt>
                <c:pt idx="19">
                  <c:v>2.3643000000000001</c:v>
                </c:pt>
                <c:pt idx="20">
                  <c:v>2.3628999999999998</c:v>
                </c:pt>
                <c:pt idx="21">
                  <c:v>2.3325</c:v>
                </c:pt>
                <c:pt idx="22">
                  <c:v>2.3296000000000001</c:v>
                </c:pt>
                <c:pt idx="23">
                  <c:v>2.3115999999999999</c:v>
                </c:pt>
                <c:pt idx="24">
                  <c:v>2.3012999999999999</c:v>
                </c:pt>
                <c:pt idx="25">
                  <c:v>2.2999000000000001</c:v>
                </c:pt>
                <c:pt idx="26">
                  <c:v>2.2772000000000001</c:v>
                </c:pt>
                <c:pt idx="27">
                  <c:v>2.2784999999999997</c:v>
                </c:pt>
                <c:pt idx="28">
                  <c:v>2.2879</c:v>
                </c:pt>
                <c:pt idx="29">
                  <c:v>2.2909999999999999</c:v>
                </c:pt>
                <c:pt idx="30">
                  <c:v>2.3159999999999998</c:v>
                </c:pt>
                <c:pt idx="31">
                  <c:v>2.3305000000000002</c:v>
                </c:pt>
                <c:pt idx="32">
                  <c:v>2.2932000000000001</c:v>
                </c:pt>
                <c:pt idx="33">
                  <c:v>2.2542</c:v>
                </c:pt>
                <c:pt idx="34">
                  <c:v>2.2349000000000001</c:v>
                </c:pt>
                <c:pt idx="35">
                  <c:v>2.1962999999999999</c:v>
                </c:pt>
                <c:pt idx="36">
                  <c:v>2.2090000000000001</c:v>
                </c:pt>
                <c:pt idx="37">
                  <c:v>2.1952000000000003</c:v>
                </c:pt>
                <c:pt idx="38">
                  <c:v>2.2206000000000001</c:v>
                </c:pt>
                <c:pt idx="39">
                  <c:v>2.2603</c:v>
                </c:pt>
                <c:pt idx="40">
                  <c:v>2.2284999999999999</c:v>
                </c:pt>
                <c:pt idx="41">
                  <c:v>2.2018</c:v>
                </c:pt>
                <c:pt idx="42">
                  <c:v>2.2153999999999998</c:v>
                </c:pt>
                <c:pt idx="43">
                  <c:v>2.2416999999999998</c:v>
                </c:pt>
                <c:pt idx="44">
                  <c:v>2.2507000000000001</c:v>
                </c:pt>
                <c:pt idx="45">
                  <c:v>2.2075</c:v>
                </c:pt>
                <c:pt idx="46">
                  <c:v>2.1149</c:v>
                </c:pt>
                <c:pt idx="47">
                  <c:v>2.0702000000000003</c:v>
                </c:pt>
                <c:pt idx="48">
                  <c:v>2.1667000000000001</c:v>
                </c:pt>
                <c:pt idx="49">
                  <c:v>2.2052999999999998</c:v>
                </c:pt>
                <c:pt idx="50">
                  <c:v>2.1934</c:v>
                </c:pt>
                <c:pt idx="51">
                  <c:v>2.1686000000000001</c:v>
                </c:pt>
                <c:pt idx="52">
                  <c:v>2.1461000000000001</c:v>
                </c:pt>
                <c:pt idx="53">
                  <c:v>2.1591999999999998</c:v>
                </c:pt>
                <c:pt idx="54">
                  <c:v>2.1737000000000002</c:v>
                </c:pt>
                <c:pt idx="55">
                  <c:v>2.1772</c:v>
                </c:pt>
                <c:pt idx="56">
                  <c:v>2.1656</c:v>
                </c:pt>
                <c:pt idx="57">
                  <c:v>2.1577999999999999</c:v>
                </c:pt>
                <c:pt idx="58">
                  <c:v>2.1566000000000001</c:v>
                </c:pt>
                <c:pt idx="59">
                  <c:v>2.1442999999999999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2AA-44EC-BDD5-919E86F18895}"/>
            </c:ext>
          </c:extLst>
        </c:ser>
        <c:ser>
          <c:idx val="1"/>
          <c:order val="1"/>
          <c:tx>
            <c:strRef>
              <c:f>'Tipo de Cambio'!$E$1</c:f>
              <c:strCache>
                <c:ptCount val="1"/>
                <c:pt idx="0">
                  <c:v>Paridad</c:v>
                </c:pt>
              </c:strCache>
            </c:strRef>
          </c:tx>
          <c:spPr>
            <a:ln w="38100">
              <a:solidFill>
                <a:schemeClr val="tx2">
                  <a:lumMod val="60000"/>
                  <a:lumOff val="40000"/>
                </a:schemeClr>
              </a:solidFill>
              <a:prstDash val="sysDash"/>
            </a:ln>
          </c:spPr>
          <c:marker>
            <c:symbol val="none"/>
          </c:marker>
          <c:cat>
            <c:multiLvlStrRef>
              <c:f>'Tipo de Cambio'!$A$14:$B$73</c:f>
              <c:multiLvlStrCache>
                <c:ptCount val="60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  <c:pt idx="12">
                    <c:v>Ene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Abr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Ago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Dic</c:v>
                  </c:pt>
                  <c:pt idx="24">
                    <c:v>Ene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Abr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Ago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Dic</c:v>
                  </c:pt>
                  <c:pt idx="36">
                    <c:v>Ene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Abr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Ago</c:v>
                  </c:pt>
                  <c:pt idx="44">
                    <c:v>Sep</c:v>
                  </c:pt>
                  <c:pt idx="45">
                    <c:v>Oct</c:v>
                  </c:pt>
                  <c:pt idx="46">
                    <c:v>Nov</c:v>
                  </c:pt>
                  <c:pt idx="47">
                    <c:v>Dic</c:v>
                  </c:pt>
                  <c:pt idx="48">
                    <c:v>Ene</c:v>
                  </c:pt>
                  <c:pt idx="49">
                    <c:v>Feb</c:v>
                  </c:pt>
                  <c:pt idx="50">
                    <c:v>Mar</c:v>
                  </c:pt>
                  <c:pt idx="51">
                    <c:v>Abr</c:v>
                  </c:pt>
                  <c:pt idx="52">
                    <c:v>May</c:v>
                  </c:pt>
                  <c:pt idx="53">
                    <c:v>Jun</c:v>
                  </c:pt>
                  <c:pt idx="54">
                    <c:v>Jul</c:v>
                  </c:pt>
                  <c:pt idx="55">
                    <c:v>Ago</c:v>
                  </c:pt>
                  <c:pt idx="56">
                    <c:v>Sep</c:v>
                  </c:pt>
                  <c:pt idx="57">
                    <c:v>Oct</c:v>
                  </c:pt>
                  <c:pt idx="58">
                    <c:v>Nov</c:v>
                  </c:pt>
                  <c:pt idx="59">
                    <c:v>Dic</c:v>
                  </c:pt>
                </c:lvl>
                <c:lvl>
                  <c:pt idx="0">
                    <c:v>1914</c:v>
                  </c:pt>
                  <c:pt idx="12">
                    <c:v>1915</c:v>
                  </c:pt>
                  <c:pt idx="24">
                    <c:v>1916</c:v>
                  </c:pt>
                  <c:pt idx="36">
                    <c:v>1917</c:v>
                  </c:pt>
                  <c:pt idx="48">
                    <c:v>1918</c:v>
                  </c:pt>
                </c:lvl>
              </c:multiLvlStrCache>
            </c:multiLvlStrRef>
          </c:cat>
          <c:val>
            <c:numRef>
              <c:f>'Tipo de Cambio'!$E$14:$E$73</c:f>
              <c:numCache>
                <c:formatCode>_(* #,##0.00_);_(* \(#,##0.00\);_(* "-"??_);_(@_)</c:formatCode>
                <c:ptCount val="60"/>
                <c:pt idx="0">
                  <c:v>2.2726999999999999</c:v>
                </c:pt>
                <c:pt idx="1">
                  <c:v>2.2726999999999999</c:v>
                </c:pt>
                <c:pt idx="2">
                  <c:v>2.2726999999999999</c:v>
                </c:pt>
                <c:pt idx="3">
                  <c:v>2.2726999999999999</c:v>
                </c:pt>
                <c:pt idx="4">
                  <c:v>2.2726999999999999</c:v>
                </c:pt>
                <c:pt idx="5">
                  <c:v>2.2726999999999999</c:v>
                </c:pt>
                <c:pt idx="6">
                  <c:v>2.2726999999999999</c:v>
                </c:pt>
                <c:pt idx="7">
                  <c:v>2.2726999999999999</c:v>
                </c:pt>
                <c:pt idx="8">
                  <c:v>2.2726999999999999</c:v>
                </c:pt>
                <c:pt idx="9">
                  <c:v>2.2726999999999999</c:v>
                </c:pt>
                <c:pt idx="10">
                  <c:v>2.2726999999999999</c:v>
                </c:pt>
                <c:pt idx="11">
                  <c:v>2.2726999999999999</c:v>
                </c:pt>
                <c:pt idx="12">
                  <c:v>2.2726999999999999</c:v>
                </c:pt>
                <c:pt idx="13">
                  <c:v>2.2726999999999999</c:v>
                </c:pt>
                <c:pt idx="14">
                  <c:v>2.2726999999999999</c:v>
                </c:pt>
                <c:pt idx="15">
                  <c:v>2.2726999999999999</c:v>
                </c:pt>
                <c:pt idx="16">
                  <c:v>2.2726999999999999</c:v>
                </c:pt>
                <c:pt idx="17">
                  <c:v>2.2726999999999999</c:v>
                </c:pt>
                <c:pt idx="18">
                  <c:v>2.2726999999999999</c:v>
                </c:pt>
                <c:pt idx="19">
                  <c:v>2.2726999999999999</c:v>
                </c:pt>
                <c:pt idx="20">
                  <c:v>2.2726999999999999</c:v>
                </c:pt>
                <c:pt idx="21">
                  <c:v>2.2726999999999999</c:v>
                </c:pt>
                <c:pt idx="22">
                  <c:v>2.2726999999999999</c:v>
                </c:pt>
                <c:pt idx="23">
                  <c:v>2.2726999999999999</c:v>
                </c:pt>
                <c:pt idx="24">
                  <c:v>2.2726999999999999</c:v>
                </c:pt>
                <c:pt idx="25">
                  <c:v>2.2726999999999999</c:v>
                </c:pt>
                <c:pt idx="26">
                  <c:v>2.2726999999999999</c:v>
                </c:pt>
                <c:pt idx="27">
                  <c:v>2.2726999999999999</c:v>
                </c:pt>
                <c:pt idx="28">
                  <c:v>2.2726999999999999</c:v>
                </c:pt>
                <c:pt idx="29">
                  <c:v>2.2726999999999999</c:v>
                </c:pt>
                <c:pt idx="30">
                  <c:v>2.2726999999999999</c:v>
                </c:pt>
                <c:pt idx="31">
                  <c:v>2.2726999999999999</c:v>
                </c:pt>
                <c:pt idx="32">
                  <c:v>2.2726999999999999</c:v>
                </c:pt>
                <c:pt idx="33">
                  <c:v>2.2726999999999999</c:v>
                </c:pt>
                <c:pt idx="34">
                  <c:v>2.2726999999999999</c:v>
                </c:pt>
                <c:pt idx="35">
                  <c:v>2.2726999999999999</c:v>
                </c:pt>
                <c:pt idx="36">
                  <c:v>2.2726999999999999</c:v>
                </c:pt>
                <c:pt idx="37">
                  <c:v>2.2726999999999999</c:v>
                </c:pt>
                <c:pt idx="38">
                  <c:v>2.2726999999999999</c:v>
                </c:pt>
                <c:pt idx="39">
                  <c:v>2.2726999999999999</c:v>
                </c:pt>
                <c:pt idx="40">
                  <c:v>2.2726999999999999</c:v>
                </c:pt>
                <c:pt idx="41">
                  <c:v>2.2726999999999999</c:v>
                </c:pt>
                <c:pt idx="42">
                  <c:v>2.2726999999999999</c:v>
                </c:pt>
                <c:pt idx="43">
                  <c:v>2.2726999999999999</c:v>
                </c:pt>
                <c:pt idx="44">
                  <c:v>2.2726999999999999</c:v>
                </c:pt>
                <c:pt idx="45">
                  <c:v>2.2726999999999999</c:v>
                </c:pt>
                <c:pt idx="46">
                  <c:v>2.2726999999999999</c:v>
                </c:pt>
                <c:pt idx="47">
                  <c:v>2.2726999999999999</c:v>
                </c:pt>
                <c:pt idx="48">
                  <c:v>2.2726999999999999</c:v>
                </c:pt>
                <c:pt idx="49">
                  <c:v>2.2726999999999999</c:v>
                </c:pt>
                <c:pt idx="50">
                  <c:v>2.2726999999999999</c:v>
                </c:pt>
                <c:pt idx="51">
                  <c:v>2.2726999999999999</c:v>
                </c:pt>
                <c:pt idx="52">
                  <c:v>2.2726999999999999</c:v>
                </c:pt>
                <c:pt idx="53">
                  <c:v>2.2726999999999999</c:v>
                </c:pt>
                <c:pt idx="54">
                  <c:v>2.2726999999999999</c:v>
                </c:pt>
                <c:pt idx="55">
                  <c:v>2.2726999999999999</c:v>
                </c:pt>
                <c:pt idx="56">
                  <c:v>2.2726999999999999</c:v>
                </c:pt>
                <c:pt idx="57">
                  <c:v>2.2726999999999999</c:v>
                </c:pt>
                <c:pt idx="58">
                  <c:v>2.2726999999999999</c:v>
                </c:pt>
                <c:pt idx="59">
                  <c:v>2.2726999999999999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2AA-44EC-BDD5-919E86F188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4548224"/>
        <c:axId val="124549760"/>
      </c:lineChart>
      <c:catAx>
        <c:axId val="1245482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>
            <a:solidFill>
              <a:schemeClr val="tx2">
                <a:lumMod val="75000"/>
              </a:schemeClr>
            </a:solidFill>
          </a:ln>
        </c:spPr>
        <c:txPr>
          <a:bodyPr rot="-5400000" vert="horz"/>
          <a:lstStyle/>
          <a:p>
            <a:pPr>
              <a:defRPr/>
            </a:pPr>
            <a:endParaRPr lang="es-AR"/>
          </a:p>
        </c:txPr>
        <c:crossAx val="124549760"/>
        <c:crosses val="autoZero"/>
        <c:auto val="1"/>
        <c:lblAlgn val="ctr"/>
        <c:lblOffset val="100"/>
        <c:noMultiLvlLbl val="0"/>
      </c:catAx>
      <c:valAx>
        <c:axId val="124549760"/>
        <c:scaling>
          <c:orientation val="minMax"/>
          <c:max val="2.4"/>
          <c:min val="1.9000000000000001"/>
        </c:scaling>
        <c:delete val="0"/>
        <c:axPos val="l"/>
        <c:numFmt formatCode="#,##0.00" sourceLinked="0"/>
        <c:majorTickMark val="none"/>
        <c:minorTickMark val="none"/>
        <c:tickLblPos val="nextTo"/>
        <c:spPr>
          <a:ln>
            <a:solidFill>
              <a:schemeClr val="tx2">
                <a:lumMod val="75000"/>
              </a:schemeClr>
            </a:solidFill>
          </a:ln>
        </c:spPr>
        <c:crossAx val="124548224"/>
        <c:crosses val="autoZero"/>
        <c:crossBetween val="between"/>
      </c:valAx>
      <c:spPr>
        <a:noFill/>
        <a:ln w="25400" cap="flat" cmpd="sng" algn="ctr">
          <a:noFill/>
          <a:prstDash val="solid"/>
        </a:ln>
        <a:effectLst/>
      </c:spPr>
    </c:plotArea>
    <c:legend>
      <c:legendPos val="b"/>
      <c:layout>
        <c:manualLayout>
          <c:xMode val="edge"/>
          <c:yMode val="edge"/>
          <c:x val="3.3416875522138691E-3"/>
          <c:y val="0.93381091193388155"/>
          <c:w val="0.99160578611884065"/>
          <c:h val="6.288177807561289E-2"/>
        </c:manualLayout>
      </c:layout>
      <c:overlay val="0"/>
    </c:legend>
    <c:plotVisOnly val="1"/>
    <c:dispBlanksAs val="gap"/>
    <c:showDLblsOverMax val="0"/>
  </c:chart>
  <c:spPr>
    <a:noFill/>
    <a:ln w="25400" cap="flat" cmpd="sng" algn="ctr">
      <a:noFill/>
      <a:prstDash val="solid"/>
    </a:ln>
    <a:effectLst/>
  </c:spPr>
  <c:txPr>
    <a:bodyPr/>
    <a:lstStyle/>
    <a:p>
      <a:pPr>
        <a:defRPr sz="1600">
          <a:solidFill>
            <a:schemeClr val="tx2">
              <a:lumMod val="75000"/>
            </a:schemeClr>
          </a:solidFill>
          <a:latin typeface="Abadi" panose="020B0604020104020204" pitchFamily="34" charset="0"/>
          <a:ea typeface="+mn-ea"/>
          <a:cs typeface="Times New Roman" pitchFamily="18" charset="0"/>
        </a:defRPr>
      </a:pPr>
      <a:endParaRPr lang="es-AR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15581402947035"/>
          <c:y val="4.7295078530519147E-2"/>
          <c:w val="0.8709329754833276"/>
          <c:h val="0.58851825340014319"/>
        </c:manualLayout>
      </c:layout>
      <c:lineChart>
        <c:grouping val="standard"/>
        <c:varyColors val="0"/>
        <c:ser>
          <c:idx val="3"/>
          <c:order val="0"/>
          <c:tx>
            <c:strRef>
              <c:f>'Bal de Pagos'!$E$1</c:f>
              <c:strCache>
                <c:ptCount val="1"/>
                <c:pt idx="0">
                  <c:v>Variación de Reservas</c:v>
                </c:pt>
              </c:strCache>
            </c:strRef>
          </c:tx>
          <c:spPr>
            <a:ln w="38100">
              <a:solidFill>
                <a:schemeClr val="tx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'Bal de Pagos'!$A$6:$A$11</c:f>
              <c:numCache>
                <c:formatCode>General</c:formatCode>
                <c:ptCount val="6"/>
                <c:pt idx="0">
                  <c:v>1913</c:v>
                </c:pt>
                <c:pt idx="1">
                  <c:v>1914</c:v>
                </c:pt>
                <c:pt idx="2">
                  <c:v>1915</c:v>
                </c:pt>
                <c:pt idx="3">
                  <c:v>1916</c:v>
                </c:pt>
                <c:pt idx="4">
                  <c:v>1917</c:v>
                </c:pt>
                <c:pt idx="5">
                  <c:v>1918</c:v>
                </c:pt>
              </c:numCache>
            </c:numRef>
          </c:cat>
          <c:val>
            <c:numRef>
              <c:f>'Bal de Pagos'!$E$6:$E$11</c:f>
              <c:numCache>
                <c:formatCode>#,##0.00\ \ </c:formatCode>
                <c:ptCount val="6"/>
                <c:pt idx="0">
                  <c:v>3.392337052260717</c:v>
                </c:pt>
                <c:pt idx="1">
                  <c:v>-12.572234500574053</c:v>
                </c:pt>
                <c:pt idx="2">
                  <c:v>73.7</c:v>
                </c:pt>
                <c:pt idx="3">
                  <c:v>29.3</c:v>
                </c:pt>
                <c:pt idx="4">
                  <c:v>37.200000000000003</c:v>
                </c:pt>
                <c:pt idx="5">
                  <c:v>98.7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362-40A2-9E26-D4922DA22C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4570240"/>
        <c:axId val="124572032"/>
      </c:lineChart>
      <c:catAx>
        <c:axId val="1245702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>
            <a:solidFill>
              <a:schemeClr val="tx2">
                <a:lumMod val="75000"/>
              </a:schemeClr>
            </a:solidFill>
          </a:ln>
        </c:spPr>
        <c:txPr>
          <a:bodyPr rot="-5400000" vert="horz"/>
          <a:lstStyle/>
          <a:p>
            <a:pPr>
              <a:defRPr/>
            </a:pPr>
            <a:endParaRPr lang="es-AR"/>
          </a:p>
        </c:txPr>
        <c:crossAx val="124572032"/>
        <c:crosses val="autoZero"/>
        <c:auto val="1"/>
        <c:lblAlgn val="ctr"/>
        <c:lblOffset val="100"/>
        <c:noMultiLvlLbl val="0"/>
      </c:catAx>
      <c:valAx>
        <c:axId val="124572032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chemeClr val="tx2">
                <a:lumMod val="75000"/>
              </a:schemeClr>
            </a:solidFill>
          </a:ln>
        </c:spPr>
        <c:crossAx val="124570240"/>
        <c:crosses val="autoZero"/>
        <c:crossBetween val="between"/>
      </c:valAx>
      <c:spPr>
        <a:noFill/>
        <a:ln w="25400" cap="flat" cmpd="sng" algn="ctr">
          <a:noFill/>
          <a:prstDash val="solid"/>
        </a:ln>
        <a:effectLst/>
      </c:spPr>
    </c:plotArea>
    <c:legend>
      <c:legendPos val="b"/>
      <c:layout>
        <c:manualLayout>
          <c:xMode val="edge"/>
          <c:yMode val="edge"/>
          <c:x val="0"/>
          <c:y val="0.83735701122466077"/>
          <c:w val="1"/>
          <c:h val="0.16264298877533948"/>
        </c:manualLayout>
      </c:layout>
      <c:overlay val="0"/>
    </c:legend>
    <c:plotVisOnly val="1"/>
    <c:dispBlanksAs val="gap"/>
    <c:showDLblsOverMax val="0"/>
  </c:chart>
  <c:spPr>
    <a:noFill/>
    <a:ln w="25400" cap="flat" cmpd="sng" algn="ctr">
      <a:noFill/>
      <a:prstDash val="solid"/>
    </a:ln>
    <a:effectLst/>
  </c:spPr>
  <c:txPr>
    <a:bodyPr/>
    <a:lstStyle/>
    <a:p>
      <a:pPr>
        <a:defRPr sz="1600">
          <a:solidFill>
            <a:schemeClr val="tx2">
              <a:lumMod val="75000"/>
            </a:schemeClr>
          </a:solidFill>
          <a:latin typeface="Abadi" panose="020B0604020104020204" pitchFamily="34" charset="0"/>
          <a:ea typeface="+mn-ea"/>
          <a:cs typeface="Times New Roman" pitchFamily="18" charset="0"/>
        </a:defRPr>
      </a:pPr>
      <a:endParaRPr lang="es-AR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8.4931751952058626E-2"/>
          <c:y val="4.7295024292176364E-2"/>
          <c:w val="0.88449870056169266"/>
          <c:h val="0.55553613389949297"/>
        </c:manualLayout>
      </c:layout>
      <c:lineChart>
        <c:grouping val="standard"/>
        <c:varyColors val="0"/>
        <c:ser>
          <c:idx val="0"/>
          <c:order val="0"/>
          <c:tx>
            <c:strRef>
              <c:f>'Tipo de Cambio'!$D$1</c:f>
              <c:strCache>
                <c:ptCount val="1"/>
                <c:pt idx="0">
                  <c:v>Observado</c:v>
                </c:pt>
              </c:strCache>
            </c:strRef>
          </c:tx>
          <c:spPr>
            <a:ln w="38100">
              <a:solidFill>
                <a:schemeClr val="tx2">
                  <a:lumMod val="50000"/>
                </a:schemeClr>
              </a:solidFill>
            </a:ln>
          </c:spPr>
          <c:marker>
            <c:symbol val="none"/>
          </c:marker>
          <c:cat>
            <c:multiLvlStrRef>
              <c:f>'Tipo de Cambio'!$A$14:$B$73</c:f>
              <c:multiLvlStrCache>
                <c:ptCount val="60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  <c:pt idx="12">
                    <c:v>Ene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Abr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Ago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Dic</c:v>
                  </c:pt>
                  <c:pt idx="24">
                    <c:v>Ene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Abr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Ago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Dic</c:v>
                  </c:pt>
                  <c:pt idx="36">
                    <c:v>Ene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Abr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Ago</c:v>
                  </c:pt>
                  <c:pt idx="44">
                    <c:v>Sep</c:v>
                  </c:pt>
                  <c:pt idx="45">
                    <c:v>Oct</c:v>
                  </c:pt>
                  <c:pt idx="46">
                    <c:v>Nov</c:v>
                  </c:pt>
                  <c:pt idx="47">
                    <c:v>Dic</c:v>
                  </c:pt>
                  <c:pt idx="48">
                    <c:v>Ene</c:v>
                  </c:pt>
                  <c:pt idx="49">
                    <c:v>Feb</c:v>
                  </c:pt>
                  <c:pt idx="50">
                    <c:v>Mar</c:v>
                  </c:pt>
                  <c:pt idx="51">
                    <c:v>Abr</c:v>
                  </c:pt>
                  <c:pt idx="52">
                    <c:v>May</c:v>
                  </c:pt>
                  <c:pt idx="53">
                    <c:v>Jun</c:v>
                  </c:pt>
                  <c:pt idx="54">
                    <c:v>Jul</c:v>
                  </c:pt>
                  <c:pt idx="55">
                    <c:v>Ago</c:v>
                  </c:pt>
                  <c:pt idx="56">
                    <c:v>Sep</c:v>
                  </c:pt>
                  <c:pt idx="57">
                    <c:v>Oct</c:v>
                  </c:pt>
                  <c:pt idx="58">
                    <c:v>Nov</c:v>
                  </c:pt>
                  <c:pt idx="59">
                    <c:v>Dic</c:v>
                  </c:pt>
                </c:lvl>
                <c:lvl>
                  <c:pt idx="0">
                    <c:v>1914</c:v>
                  </c:pt>
                  <c:pt idx="12">
                    <c:v>1915</c:v>
                  </c:pt>
                  <c:pt idx="24">
                    <c:v>1916</c:v>
                  </c:pt>
                  <c:pt idx="36">
                    <c:v>1917</c:v>
                  </c:pt>
                  <c:pt idx="48">
                    <c:v>1918</c:v>
                  </c:pt>
                </c:lvl>
              </c:multiLvlStrCache>
            </c:multiLvlStrRef>
          </c:cat>
          <c:val>
            <c:numRef>
              <c:f>'Tipo de Cambio'!$D$14:$D$73</c:f>
              <c:numCache>
                <c:formatCode>_(* #,##0.00_);_(* \(#,##0.00\);_(* "-"??_);_(@_)</c:formatCode>
                <c:ptCount val="60"/>
                <c:pt idx="0">
                  <c:v>2.2726999999999999</c:v>
                </c:pt>
                <c:pt idx="1">
                  <c:v>2.2726999999999999</c:v>
                </c:pt>
                <c:pt idx="2">
                  <c:v>2.2726999999999999</c:v>
                </c:pt>
                <c:pt idx="3">
                  <c:v>2.2726999999999999</c:v>
                </c:pt>
                <c:pt idx="4">
                  <c:v>2.2726999999999999</c:v>
                </c:pt>
                <c:pt idx="5">
                  <c:v>2.2726999999999999</c:v>
                </c:pt>
                <c:pt idx="6">
                  <c:v>2.2726999999999999</c:v>
                </c:pt>
                <c:pt idx="7">
                  <c:v>2.3664000000000001</c:v>
                </c:pt>
                <c:pt idx="8">
                  <c:v>2.3653999999999997</c:v>
                </c:pt>
                <c:pt idx="9">
                  <c:v>2.3694999999999999</c:v>
                </c:pt>
                <c:pt idx="10">
                  <c:v>2.3005</c:v>
                </c:pt>
                <c:pt idx="11">
                  <c:v>2.2806000000000002</c:v>
                </c:pt>
                <c:pt idx="12">
                  <c:v>2.2806999999999999</c:v>
                </c:pt>
                <c:pt idx="13">
                  <c:v>2.2831000000000001</c:v>
                </c:pt>
                <c:pt idx="14">
                  <c:v>2.2961</c:v>
                </c:pt>
                <c:pt idx="15">
                  <c:v>2.2965</c:v>
                </c:pt>
                <c:pt idx="16">
                  <c:v>2.2978000000000001</c:v>
                </c:pt>
                <c:pt idx="17">
                  <c:v>2.3055000000000003</c:v>
                </c:pt>
                <c:pt idx="18">
                  <c:v>2.3210999999999999</c:v>
                </c:pt>
                <c:pt idx="19">
                  <c:v>2.3643000000000001</c:v>
                </c:pt>
                <c:pt idx="20">
                  <c:v>2.3628999999999998</c:v>
                </c:pt>
                <c:pt idx="21">
                  <c:v>2.3325</c:v>
                </c:pt>
                <c:pt idx="22">
                  <c:v>2.3296000000000001</c:v>
                </c:pt>
                <c:pt idx="23">
                  <c:v>2.3115999999999999</c:v>
                </c:pt>
                <c:pt idx="24">
                  <c:v>2.3012999999999999</c:v>
                </c:pt>
                <c:pt idx="25">
                  <c:v>2.2999000000000001</c:v>
                </c:pt>
                <c:pt idx="26">
                  <c:v>2.2772000000000001</c:v>
                </c:pt>
                <c:pt idx="27">
                  <c:v>2.2784999999999997</c:v>
                </c:pt>
                <c:pt idx="28">
                  <c:v>2.2879</c:v>
                </c:pt>
                <c:pt idx="29">
                  <c:v>2.2909999999999999</c:v>
                </c:pt>
                <c:pt idx="30">
                  <c:v>2.3159999999999998</c:v>
                </c:pt>
                <c:pt idx="31">
                  <c:v>2.3305000000000002</c:v>
                </c:pt>
                <c:pt idx="32">
                  <c:v>2.2932000000000001</c:v>
                </c:pt>
                <c:pt idx="33">
                  <c:v>2.2542</c:v>
                </c:pt>
                <c:pt idx="34">
                  <c:v>2.2349000000000001</c:v>
                </c:pt>
                <c:pt idx="35">
                  <c:v>2.1962999999999999</c:v>
                </c:pt>
                <c:pt idx="36">
                  <c:v>2.2090000000000001</c:v>
                </c:pt>
                <c:pt idx="37">
                  <c:v>2.1952000000000003</c:v>
                </c:pt>
                <c:pt idx="38">
                  <c:v>2.2206000000000001</c:v>
                </c:pt>
                <c:pt idx="39">
                  <c:v>2.2603</c:v>
                </c:pt>
                <c:pt idx="40">
                  <c:v>2.2284999999999999</c:v>
                </c:pt>
                <c:pt idx="41">
                  <c:v>2.2018</c:v>
                </c:pt>
                <c:pt idx="42">
                  <c:v>2.2153999999999998</c:v>
                </c:pt>
                <c:pt idx="43">
                  <c:v>2.2416999999999998</c:v>
                </c:pt>
                <c:pt idx="44">
                  <c:v>2.2507000000000001</c:v>
                </c:pt>
                <c:pt idx="45">
                  <c:v>2.2075</c:v>
                </c:pt>
                <c:pt idx="46">
                  <c:v>2.1149</c:v>
                </c:pt>
                <c:pt idx="47">
                  <c:v>2.0702000000000003</c:v>
                </c:pt>
                <c:pt idx="48">
                  <c:v>2.1667000000000001</c:v>
                </c:pt>
                <c:pt idx="49">
                  <c:v>2.2052999999999998</c:v>
                </c:pt>
                <c:pt idx="50">
                  <c:v>2.1934</c:v>
                </c:pt>
                <c:pt idx="51">
                  <c:v>2.1686000000000001</c:v>
                </c:pt>
                <c:pt idx="52">
                  <c:v>2.1461000000000001</c:v>
                </c:pt>
                <c:pt idx="53">
                  <c:v>2.1591999999999998</c:v>
                </c:pt>
                <c:pt idx="54">
                  <c:v>2.1737000000000002</c:v>
                </c:pt>
                <c:pt idx="55">
                  <c:v>2.1772</c:v>
                </c:pt>
                <c:pt idx="56">
                  <c:v>2.1656</c:v>
                </c:pt>
                <c:pt idx="57">
                  <c:v>2.1577999999999999</c:v>
                </c:pt>
                <c:pt idx="58">
                  <c:v>2.1566000000000001</c:v>
                </c:pt>
                <c:pt idx="59">
                  <c:v>2.1442999999999999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2AA-44EC-BDD5-919E86F18895}"/>
            </c:ext>
          </c:extLst>
        </c:ser>
        <c:ser>
          <c:idx val="1"/>
          <c:order val="1"/>
          <c:tx>
            <c:strRef>
              <c:f>'Tipo de Cambio'!$E$1</c:f>
              <c:strCache>
                <c:ptCount val="1"/>
                <c:pt idx="0">
                  <c:v>Paridad</c:v>
                </c:pt>
              </c:strCache>
            </c:strRef>
          </c:tx>
          <c:spPr>
            <a:ln w="38100">
              <a:solidFill>
                <a:schemeClr val="tx2">
                  <a:lumMod val="60000"/>
                  <a:lumOff val="40000"/>
                </a:schemeClr>
              </a:solidFill>
              <a:prstDash val="sysDash"/>
            </a:ln>
          </c:spPr>
          <c:marker>
            <c:symbol val="none"/>
          </c:marker>
          <c:cat>
            <c:multiLvlStrRef>
              <c:f>'Tipo de Cambio'!$A$14:$B$73</c:f>
              <c:multiLvlStrCache>
                <c:ptCount val="60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  <c:pt idx="12">
                    <c:v>Ene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Abr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Ago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Dic</c:v>
                  </c:pt>
                  <c:pt idx="24">
                    <c:v>Ene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Abr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Ago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Dic</c:v>
                  </c:pt>
                  <c:pt idx="36">
                    <c:v>Ene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Abr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Ago</c:v>
                  </c:pt>
                  <c:pt idx="44">
                    <c:v>Sep</c:v>
                  </c:pt>
                  <c:pt idx="45">
                    <c:v>Oct</c:v>
                  </c:pt>
                  <c:pt idx="46">
                    <c:v>Nov</c:v>
                  </c:pt>
                  <c:pt idx="47">
                    <c:v>Dic</c:v>
                  </c:pt>
                  <c:pt idx="48">
                    <c:v>Ene</c:v>
                  </c:pt>
                  <c:pt idx="49">
                    <c:v>Feb</c:v>
                  </c:pt>
                  <c:pt idx="50">
                    <c:v>Mar</c:v>
                  </c:pt>
                  <c:pt idx="51">
                    <c:v>Abr</c:v>
                  </c:pt>
                  <c:pt idx="52">
                    <c:v>May</c:v>
                  </c:pt>
                  <c:pt idx="53">
                    <c:v>Jun</c:v>
                  </c:pt>
                  <c:pt idx="54">
                    <c:v>Jul</c:v>
                  </c:pt>
                  <c:pt idx="55">
                    <c:v>Ago</c:v>
                  </c:pt>
                  <c:pt idx="56">
                    <c:v>Sep</c:v>
                  </c:pt>
                  <c:pt idx="57">
                    <c:v>Oct</c:v>
                  </c:pt>
                  <c:pt idx="58">
                    <c:v>Nov</c:v>
                  </c:pt>
                  <c:pt idx="59">
                    <c:v>Dic</c:v>
                  </c:pt>
                </c:lvl>
                <c:lvl>
                  <c:pt idx="0">
                    <c:v>1914</c:v>
                  </c:pt>
                  <c:pt idx="12">
                    <c:v>1915</c:v>
                  </c:pt>
                  <c:pt idx="24">
                    <c:v>1916</c:v>
                  </c:pt>
                  <c:pt idx="36">
                    <c:v>1917</c:v>
                  </c:pt>
                  <c:pt idx="48">
                    <c:v>1918</c:v>
                  </c:pt>
                </c:lvl>
              </c:multiLvlStrCache>
            </c:multiLvlStrRef>
          </c:cat>
          <c:val>
            <c:numRef>
              <c:f>'Tipo de Cambio'!$E$14:$E$73</c:f>
              <c:numCache>
                <c:formatCode>_(* #,##0.00_);_(* \(#,##0.00\);_(* "-"??_);_(@_)</c:formatCode>
                <c:ptCount val="60"/>
                <c:pt idx="0">
                  <c:v>2.2726999999999999</c:v>
                </c:pt>
                <c:pt idx="1">
                  <c:v>2.2726999999999999</c:v>
                </c:pt>
                <c:pt idx="2">
                  <c:v>2.2726999999999999</c:v>
                </c:pt>
                <c:pt idx="3">
                  <c:v>2.2726999999999999</c:v>
                </c:pt>
                <c:pt idx="4">
                  <c:v>2.2726999999999999</c:v>
                </c:pt>
                <c:pt idx="5">
                  <c:v>2.2726999999999999</c:v>
                </c:pt>
                <c:pt idx="6">
                  <c:v>2.2726999999999999</c:v>
                </c:pt>
                <c:pt idx="7">
                  <c:v>2.2726999999999999</c:v>
                </c:pt>
                <c:pt idx="8">
                  <c:v>2.2726999999999999</c:v>
                </c:pt>
                <c:pt idx="9">
                  <c:v>2.2726999999999999</c:v>
                </c:pt>
                <c:pt idx="10">
                  <c:v>2.2726999999999999</c:v>
                </c:pt>
                <c:pt idx="11">
                  <c:v>2.2726999999999999</c:v>
                </c:pt>
                <c:pt idx="12">
                  <c:v>2.2726999999999999</c:v>
                </c:pt>
                <c:pt idx="13">
                  <c:v>2.2726999999999999</c:v>
                </c:pt>
                <c:pt idx="14">
                  <c:v>2.2726999999999999</c:v>
                </c:pt>
                <c:pt idx="15">
                  <c:v>2.2726999999999999</c:v>
                </c:pt>
                <c:pt idx="16">
                  <c:v>2.2726999999999999</c:v>
                </c:pt>
                <c:pt idx="17">
                  <c:v>2.2726999999999999</c:v>
                </c:pt>
                <c:pt idx="18">
                  <c:v>2.2726999999999999</c:v>
                </c:pt>
                <c:pt idx="19">
                  <c:v>2.2726999999999999</c:v>
                </c:pt>
                <c:pt idx="20">
                  <c:v>2.2726999999999999</c:v>
                </c:pt>
                <c:pt idx="21">
                  <c:v>2.2726999999999999</c:v>
                </c:pt>
                <c:pt idx="22">
                  <c:v>2.2726999999999999</c:v>
                </c:pt>
                <c:pt idx="23">
                  <c:v>2.2726999999999999</c:v>
                </c:pt>
                <c:pt idx="24">
                  <c:v>2.2726999999999999</c:v>
                </c:pt>
                <c:pt idx="25">
                  <c:v>2.2726999999999999</c:v>
                </c:pt>
                <c:pt idx="26">
                  <c:v>2.2726999999999999</c:v>
                </c:pt>
                <c:pt idx="27">
                  <c:v>2.2726999999999999</c:v>
                </c:pt>
                <c:pt idx="28">
                  <c:v>2.2726999999999999</c:v>
                </c:pt>
                <c:pt idx="29">
                  <c:v>2.2726999999999999</c:v>
                </c:pt>
                <c:pt idx="30">
                  <c:v>2.2726999999999999</c:v>
                </c:pt>
                <c:pt idx="31">
                  <c:v>2.2726999999999999</c:v>
                </c:pt>
                <c:pt idx="32">
                  <c:v>2.2726999999999999</c:v>
                </c:pt>
                <c:pt idx="33">
                  <c:v>2.2726999999999999</c:v>
                </c:pt>
                <c:pt idx="34">
                  <c:v>2.2726999999999999</c:v>
                </c:pt>
                <c:pt idx="35">
                  <c:v>2.2726999999999999</c:v>
                </c:pt>
                <c:pt idx="36">
                  <c:v>2.2726999999999999</c:v>
                </c:pt>
                <c:pt idx="37">
                  <c:v>2.2726999999999999</c:v>
                </c:pt>
                <c:pt idx="38">
                  <c:v>2.2726999999999999</c:v>
                </c:pt>
                <c:pt idx="39">
                  <c:v>2.2726999999999999</c:v>
                </c:pt>
                <c:pt idx="40">
                  <c:v>2.2726999999999999</c:v>
                </c:pt>
                <c:pt idx="41">
                  <c:v>2.2726999999999999</c:v>
                </c:pt>
                <c:pt idx="42">
                  <c:v>2.2726999999999999</c:v>
                </c:pt>
                <c:pt idx="43">
                  <c:v>2.2726999999999999</c:v>
                </c:pt>
                <c:pt idx="44">
                  <c:v>2.2726999999999999</c:v>
                </c:pt>
                <c:pt idx="45">
                  <c:v>2.2726999999999999</c:v>
                </c:pt>
                <c:pt idx="46">
                  <c:v>2.2726999999999999</c:v>
                </c:pt>
                <c:pt idx="47">
                  <c:v>2.2726999999999999</c:v>
                </c:pt>
                <c:pt idx="48">
                  <c:v>2.2726999999999999</c:v>
                </c:pt>
                <c:pt idx="49">
                  <c:v>2.2726999999999999</c:v>
                </c:pt>
                <c:pt idx="50">
                  <c:v>2.2726999999999999</c:v>
                </c:pt>
                <c:pt idx="51">
                  <c:v>2.2726999999999999</c:v>
                </c:pt>
                <c:pt idx="52">
                  <c:v>2.2726999999999999</c:v>
                </c:pt>
                <c:pt idx="53">
                  <c:v>2.2726999999999999</c:v>
                </c:pt>
                <c:pt idx="54">
                  <c:v>2.2726999999999999</c:v>
                </c:pt>
                <c:pt idx="55">
                  <c:v>2.2726999999999999</c:v>
                </c:pt>
                <c:pt idx="56">
                  <c:v>2.2726999999999999</c:v>
                </c:pt>
                <c:pt idx="57">
                  <c:v>2.2726999999999999</c:v>
                </c:pt>
                <c:pt idx="58">
                  <c:v>2.2726999999999999</c:v>
                </c:pt>
                <c:pt idx="59">
                  <c:v>2.2726999999999999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2AA-44EC-BDD5-919E86F188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4548224"/>
        <c:axId val="124549760"/>
      </c:lineChart>
      <c:catAx>
        <c:axId val="1245482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>
            <a:solidFill>
              <a:schemeClr val="tx2">
                <a:lumMod val="75000"/>
              </a:schemeClr>
            </a:solidFill>
          </a:ln>
        </c:spPr>
        <c:txPr>
          <a:bodyPr rot="-5400000" vert="horz"/>
          <a:lstStyle/>
          <a:p>
            <a:pPr>
              <a:defRPr/>
            </a:pPr>
            <a:endParaRPr lang="es-AR"/>
          </a:p>
        </c:txPr>
        <c:crossAx val="124549760"/>
        <c:crosses val="autoZero"/>
        <c:auto val="1"/>
        <c:lblAlgn val="ctr"/>
        <c:lblOffset val="100"/>
        <c:noMultiLvlLbl val="0"/>
      </c:catAx>
      <c:valAx>
        <c:axId val="124549760"/>
        <c:scaling>
          <c:orientation val="minMax"/>
          <c:max val="2.4"/>
          <c:min val="1.9000000000000001"/>
        </c:scaling>
        <c:delete val="0"/>
        <c:axPos val="l"/>
        <c:numFmt formatCode="#,##0.00" sourceLinked="0"/>
        <c:majorTickMark val="none"/>
        <c:minorTickMark val="none"/>
        <c:tickLblPos val="nextTo"/>
        <c:spPr>
          <a:ln>
            <a:solidFill>
              <a:schemeClr val="tx2">
                <a:lumMod val="75000"/>
              </a:schemeClr>
            </a:solidFill>
          </a:ln>
        </c:spPr>
        <c:crossAx val="124548224"/>
        <c:crosses val="autoZero"/>
        <c:crossBetween val="between"/>
      </c:valAx>
      <c:spPr>
        <a:noFill/>
        <a:ln w="25400" cap="flat" cmpd="sng" algn="ctr">
          <a:noFill/>
          <a:prstDash val="solid"/>
        </a:ln>
        <a:effectLst/>
      </c:spPr>
    </c:plotArea>
    <c:legend>
      <c:legendPos val="b"/>
      <c:layout>
        <c:manualLayout>
          <c:xMode val="edge"/>
          <c:yMode val="edge"/>
          <c:x val="3.3416875522138691E-3"/>
          <c:y val="0.93381091193388155"/>
          <c:w val="0.99160578611884065"/>
          <c:h val="6.288177807561289E-2"/>
        </c:manualLayout>
      </c:layout>
      <c:overlay val="0"/>
    </c:legend>
    <c:plotVisOnly val="1"/>
    <c:dispBlanksAs val="gap"/>
    <c:showDLblsOverMax val="0"/>
  </c:chart>
  <c:spPr>
    <a:noFill/>
    <a:ln w="25400" cap="flat" cmpd="sng" algn="ctr">
      <a:noFill/>
      <a:prstDash val="solid"/>
    </a:ln>
    <a:effectLst/>
  </c:spPr>
  <c:txPr>
    <a:bodyPr/>
    <a:lstStyle/>
    <a:p>
      <a:pPr>
        <a:defRPr sz="1600">
          <a:solidFill>
            <a:schemeClr val="tx2">
              <a:lumMod val="75000"/>
            </a:schemeClr>
          </a:solidFill>
          <a:latin typeface="Abadi" panose="020B0604020104020204" pitchFamily="34" charset="0"/>
          <a:ea typeface="+mn-ea"/>
          <a:cs typeface="Times New Roman" pitchFamily="18" charset="0"/>
        </a:defRPr>
      </a:pPr>
      <a:endParaRPr lang="es-AR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15581402947035"/>
          <c:y val="4.7295078530519147E-2"/>
          <c:w val="0.8709329754833276"/>
          <c:h val="0.58851825340014319"/>
        </c:manualLayout>
      </c:layout>
      <c:lineChart>
        <c:grouping val="standard"/>
        <c:varyColors val="0"/>
        <c:ser>
          <c:idx val="3"/>
          <c:order val="0"/>
          <c:tx>
            <c:strRef>
              <c:f>'Bal de Pagos'!$E$1</c:f>
              <c:strCache>
                <c:ptCount val="1"/>
                <c:pt idx="0">
                  <c:v>Variación de Reservas</c:v>
                </c:pt>
              </c:strCache>
            </c:strRef>
          </c:tx>
          <c:spPr>
            <a:ln w="38100">
              <a:solidFill>
                <a:schemeClr val="tx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'Bal de Pagos'!$A$6:$A$11</c:f>
              <c:numCache>
                <c:formatCode>General</c:formatCode>
                <c:ptCount val="6"/>
                <c:pt idx="0">
                  <c:v>1913</c:v>
                </c:pt>
                <c:pt idx="1">
                  <c:v>1914</c:v>
                </c:pt>
                <c:pt idx="2">
                  <c:v>1915</c:v>
                </c:pt>
                <c:pt idx="3">
                  <c:v>1916</c:v>
                </c:pt>
                <c:pt idx="4">
                  <c:v>1917</c:v>
                </c:pt>
                <c:pt idx="5">
                  <c:v>1918</c:v>
                </c:pt>
              </c:numCache>
            </c:numRef>
          </c:cat>
          <c:val>
            <c:numRef>
              <c:f>'Bal de Pagos'!$E$6:$E$11</c:f>
              <c:numCache>
                <c:formatCode>#,##0.00\ \ </c:formatCode>
                <c:ptCount val="6"/>
                <c:pt idx="0">
                  <c:v>3.392337052260717</c:v>
                </c:pt>
                <c:pt idx="1">
                  <c:v>-12.572234500574053</c:v>
                </c:pt>
                <c:pt idx="2">
                  <c:v>73.7</c:v>
                </c:pt>
                <c:pt idx="3">
                  <c:v>29.3</c:v>
                </c:pt>
                <c:pt idx="4">
                  <c:v>37.200000000000003</c:v>
                </c:pt>
                <c:pt idx="5">
                  <c:v>98.7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362-40A2-9E26-D4922DA22C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4570240"/>
        <c:axId val="124572032"/>
      </c:lineChart>
      <c:catAx>
        <c:axId val="1245702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>
            <a:solidFill>
              <a:schemeClr val="tx2">
                <a:lumMod val="75000"/>
              </a:schemeClr>
            </a:solidFill>
          </a:ln>
        </c:spPr>
        <c:txPr>
          <a:bodyPr rot="-5400000" vert="horz"/>
          <a:lstStyle/>
          <a:p>
            <a:pPr>
              <a:defRPr/>
            </a:pPr>
            <a:endParaRPr lang="es-AR"/>
          </a:p>
        </c:txPr>
        <c:crossAx val="124572032"/>
        <c:crosses val="autoZero"/>
        <c:auto val="1"/>
        <c:lblAlgn val="ctr"/>
        <c:lblOffset val="100"/>
        <c:noMultiLvlLbl val="0"/>
      </c:catAx>
      <c:valAx>
        <c:axId val="124572032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chemeClr val="tx2">
                <a:lumMod val="75000"/>
              </a:schemeClr>
            </a:solidFill>
          </a:ln>
        </c:spPr>
        <c:crossAx val="124570240"/>
        <c:crosses val="autoZero"/>
        <c:crossBetween val="between"/>
      </c:valAx>
      <c:spPr>
        <a:noFill/>
        <a:ln w="25400" cap="flat" cmpd="sng" algn="ctr">
          <a:noFill/>
          <a:prstDash val="solid"/>
        </a:ln>
        <a:effectLst/>
      </c:spPr>
    </c:plotArea>
    <c:legend>
      <c:legendPos val="b"/>
      <c:layout>
        <c:manualLayout>
          <c:xMode val="edge"/>
          <c:yMode val="edge"/>
          <c:x val="0"/>
          <c:y val="0.83735701122466077"/>
          <c:w val="1"/>
          <c:h val="0.16264298877533948"/>
        </c:manualLayout>
      </c:layout>
      <c:overlay val="0"/>
    </c:legend>
    <c:plotVisOnly val="1"/>
    <c:dispBlanksAs val="gap"/>
    <c:showDLblsOverMax val="0"/>
  </c:chart>
  <c:spPr>
    <a:noFill/>
    <a:ln w="25400" cap="flat" cmpd="sng" algn="ctr">
      <a:noFill/>
      <a:prstDash val="solid"/>
    </a:ln>
    <a:effectLst/>
  </c:spPr>
  <c:txPr>
    <a:bodyPr/>
    <a:lstStyle/>
    <a:p>
      <a:pPr>
        <a:defRPr sz="1600">
          <a:solidFill>
            <a:schemeClr val="tx2">
              <a:lumMod val="75000"/>
            </a:schemeClr>
          </a:solidFill>
          <a:latin typeface="Abadi" panose="020B0604020104020204" pitchFamily="34" charset="0"/>
          <a:ea typeface="+mn-ea"/>
          <a:cs typeface="Times New Roman" pitchFamily="18" charset="0"/>
        </a:defRPr>
      </a:pPr>
      <a:endParaRPr lang="es-AR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16828635780368"/>
          <c:y val="7.7192982456140355E-2"/>
          <c:w val="0.78703439488159654"/>
          <c:h val="0.71819864622185381"/>
        </c:manualLayout>
      </c:layout>
      <c:scatterChart>
        <c:scatterStyle val="lineMarker"/>
        <c:varyColors val="0"/>
        <c:ser>
          <c:idx val="0"/>
          <c:order val="0"/>
          <c:spPr>
            <a:ln w="28575" cap="rnd">
              <a:noFill/>
              <a:round/>
            </a:ln>
            <a:effectLst/>
          </c:spPr>
          <c:marker>
            <c:symbol val="diamond"/>
            <c:size val="8"/>
            <c:spPr>
              <a:solidFill>
                <a:schemeClr val="tx2">
                  <a:lumMod val="75000"/>
                </a:schemeClr>
              </a:solidFill>
              <a:ln w="9525">
                <a:noFill/>
              </a:ln>
              <a:effectLst/>
            </c:spPr>
          </c:marker>
          <c:xVal>
            <c:numRef>
              <c:f>'[Nuevas tablas de contingencia  (Oro y BM) (recalculo cambiando 3er periodo) (2).xlsx]diagrama 1914-1918'!$C$2:$C$54</c:f>
              <c:numCache>
                <c:formatCode>General</c:formatCode>
                <c:ptCount val="53"/>
                <c:pt idx="0">
                  <c:v>38</c:v>
                </c:pt>
                <c:pt idx="1">
                  <c:v>0</c:v>
                </c:pt>
                <c:pt idx="2">
                  <c:v>-1</c:v>
                </c:pt>
                <c:pt idx="3">
                  <c:v>15</c:v>
                </c:pt>
                <c:pt idx="4">
                  <c:v>90</c:v>
                </c:pt>
                <c:pt idx="5">
                  <c:v>-42</c:v>
                </c:pt>
                <c:pt idx="6">
                  <c:v>41</c:v>
                </c:pt>
                <c:pt idx="7">
                  <c:v>48</c:v>
                </c:pt>
                <c:pt idx="8">
                  <c:v>27</c:v>
                </c:pt>
                <c:pt idx="9">
                  <c:v>10</c:v>
                </c:pt>
                <c:pt idx="10">
                  <c:v>12</c:v>
                </c:pt>
                <c:pt idx="11">
                  <c:v>-5</c:v>
                </c:pt>
                <c:pt idx="12">
                  <c:v>-11</c:v>
                </c:pt>
                <c:pt idx="13">
                  <c:v>1</c:v>
                </c:pt>
                <c:pt idx="14">
                  <c:v>9</c:v>
                </c:pt>
                <c:pt idx="15">
                  <c:v>1</c:v>
                </c:pt>
                <c:pt idx="16">
                  <c:v>6</c:v>
                </c:pt>
                <c:pt idx="17">
                  <c:v>3</c:v>
                </c:pt>
                <c:pt idx="18">
                  <c:v>1</c:v>
                </c:pt>
                <c:pt idx="19">
                  <c:v>29</c:v>
                </c:pt>
                <c:pt idx="20">
                  <c:v>2</c:v>
                </c:pt>
                <c:pt idx="21">
                  <c:v>-3</c:v>
                </c:pt>
                <c:pt idx="22">
                  <c:v>-1</c:v>
                </c:pt>
                <c:pt idx="23">
                  <c:v>-8</c:v>
                </c:pt>
                <c:pt idx="24">
                  <c:v>-4</c:v>
                </c:pt>
                <c:pt idx="25">
                  <c:v>11</c:v>
                </c:pt>
                <c:pt idx="26">
                  <c:v>10</c:v>
                </c:pt>
                <c:pt idx="27">
                  <c:v>8</c:v>
                </c:pt>
                <c:pt idx="28">
                  <c:v>13</c:v>
                </c:pt>
                <c:pt idx="29">
                  <c:v>-4</c:v>
                </c:pt>
                <c:pt idx="30">
                  <c:v>5</c:v>
                </c:pt>
                <c:pt idx="31">
                  <c:v>-9</c:v>
                </c:pt>
                <c:pt idx="32">
                  <c:v>-13</c:v>
                </c:pt>
                <c:pt idx="33">
                  <c:v>10</c:v>
                </c:pt>
                <c:pt idx="34">
                  <c:v>9</c:v>
                </c:pt>
                <c:pt idx="35">
                  <c:v>-5</c:v>
                </c:pt>
                <c:pt idx="36">
                  <c:v>-9</c:v>
                </c:pt>
                <c:pt idx="37">
                  <c:v>-3</c:v>
                </c:pt>
                <c:pt idx="38">
                  <c:v>14</c:v>
                </c:pt>
                <c:pt idx="39">
                  <c:v>32</c:v>
                </c:pt>
                <c:pt idx="40">
                  <c:v>17</c:v>
                </c:pt>
                <c:pt idx="41">
                  <c:v>-15</c:v>
                </c:pt>
                <c:pt idx="42">
                  <c:v>19</c:v>
                </c:pt>
                <c:pt idx="43">
                  <c:v>49</c:v>
                </c:pt>
                <c:pt idx="44">
                  <c:v>10</c:v>
                </c:pt>
                <c:pt idx="45">
                  <c:v>60</c:v>
                </c:pt>
                <c:pt idx="46">
                  <c:v>-6</c:v>
                </c:pt>
                <c:pt idx="47">
                  <c:v>-6</c:v>
                </c:pt>
                <c:pt idx="48">
                  <c:v>-1</c:v>
                </c:pt>
                <c:pt idx="49">
                  <c:v>5</c:v>
                </c:pt>
                <c:pt idx="50">
                  <c:v>3</c:v>
                </c:pt>
                <c:pt idx="51">
                  <c:v>1</c:v>
                </c:pt>
                <c:pt idx="52">
                  <c:v>5</c:v>
                </c:pt>
              </c:numCache>
            </c:numRef>
          </c:xVal>
          <c:yVal>
            <c:numRef>
              <c:f>'[Nuevas tablas de contingencia  (Oro y BM) (recalculo cambiando 3er periodo) (2).xlsx]diagrama 1914-1918'!$D$2:$D$54</c:f>
              <c:numCache>
                <c:formatCode>General</c:formatCode>
                <c:ptCount val="53"/>
                <c:pt idx="0">
                  <c:v>58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5</c:v>
                </c:pt>
                <c:pt idx="5">
                  <c:v>37</c:v>
                </c:pt>
                <c:pt idx="6">
                  <c:v>42</c:v>
                </c:pt>
                <c:pt idx="7">
                  <c:v>52</c:v>
                </c:pt>
                <c:pt idx="8">
                  <c:v>27</c:v>
                </c:pt>
                <c:pt idx="9">
                  <c:v>11</c:v>
                </c:pt>
                <c:pt idx="10">
                  <c:v>14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1</c:v>
                </c:pt>
                <c:pt idx="19">
                  <c:v>22</c:v>
                </c:pt>
                <c:pt idx="20">
                  <c:v>2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19</c:v>
                </c:pt>
                <c:pt idx="42">
                  <c:v>32</c:v>
                </c:pt>
                <c:pt idx="43">
                  <c:v>43</c:v>
                </c:pt>
                <c:pt idx="44">
                  <c:v>0</c:v>
                </c:pt>
                <c:pt idx="45">
                  <c:v>48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2E4-4E3C-AE32-8811D4A94662}"/>
            </c:ext>
          </c:extLst>
        </c:ser>
        <c:ser>
          <c:idx val="1"/>
          <c:order val="1"/>
          <c:spPr>
            <a:ln w="25400" cap="rnd">
              <a:solidFill>
                <a:schemeClr val="tx2">
                  <a:lumMod val="60000"/>
                  <a:lumOff val="40000"/>
                </a:schemeClr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'[Nuevas tablas de contingencia  (Oro y BM) (recalculo cambiando 3er periodo) (2).xlsx]diagrama 1914-1918'!$E$2:$E$3</c:f>
              <c:numCache>
                <c:formatCode>General</c:formatCode>
                <c:ptCount val="2"/>
                <c:pt idx="0">
                  <c:v>0</c:v>
                </c:pt>
                <c:pt idx="1">
                  <c:v>70</c:v>
                </c:pt>
              </c:numCache>
            </c:numRef>
          </c:xVal>
          <c:yVal>
            <c:numRef>
              <c:f>'[Nuevas tablas de contingencia  (Oro y BM) (recalculo cambiando 3er periodo) (2).xlsx]diagrama 1914-1918'!$F$2:$F$3</c:f>
              <c:numCache>
                <c:formatCode>General</c:formatCode>
                <c:ptCount val="2"/>
                <c:pt idx="0">
                  <c:v>0</c:v>
                </c:pt>
                <c:pt idx="1">
                  <c:v>70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2E4-4E3C-AE32-8811D4A946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089664"/>
        <c:axId val="125095936"/>
      </c:scatterChart>
      <c:valAx>
        <c:axId val="125089664"/>
        <c:scaling>
          <c:orientation val="minMax"/>
        </c:scaling>
        <c:delete val="0"/>
        <c:axPos val="b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s-ES"/>
                  <a:t>Variaciones de las Reservas</a:t>
                </a:r>
              </a:p>
            </c:rich>
          </c:tx>
          <c:layout>
            <c:manualLayout>
              <c:xMode val="edge"/>
              <c:yMode val="edge"/>
              <c:x val="0.34459834665305239"/>
              <c:y val="0.90635060091172814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#,##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2">
                <a:lumMod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25095936"/>
        <c:crosses val="autoZero"/>
        <c:crossBetween val="midCat"/>
      </c:valAx>
      <c:valAx>
        <c:axId val="125095936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s-ES"/>
                  <a:t>Variaciones de la BM</a:t>
                </a:r>
              </a:p>
            </c:rich>
          </c:tx>
          <c:layout>
            <c:manualLayout>
              <c:xMode val="edge"/>
              <c:yMode val="edge"/>
              <c:x val="0"/>
              <c:y val="0.1249238845144357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low"/>
        <c:spPr>
          <a:noFill/>
          <a:ln w="9525" cap="flat" cmpd="sng" algn="ctr">
            <a:solidFill>
              <a:schemeClr val="tx2">
                <a:lumMod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2508966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600">
          <a:solidFill>
            <a:schemeClr val="tx2">
              <a:lumMod val="75000"/>
            </a:schemeClr>
          </a:solidFill>
          <a:latin typeface="Abadi" panose="020B0604020104020204" pitchFamily="34" charset="0"/>
          <a:cs typeface="Times New Roman" panose="02020603050405020304" pitchFamily="18" charset="0"/>
        </a:defRPr>
      </a:pPr>
      <a:endParaRPr lang="es-AR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9.8571741032371027E-2"/>
          <c:y val="4.2174826233207327E-2"/>
          <c:w val="0.8854698162729655"/>
          <c:h val="0.50258428765789565"/>
        </c:manualLayout>
      </c:layout>
      <c:lineChart>
        <c:grouping val="standard"/>
        <c:varyColors val="0"/>
        <c:ser>
          <c:idx val="0"/>
          <c:order val="2"/>
          <c:tx>
            <c:strRef>
              <c:f>'Dep Bancos'!$C$1</c:f>
              <c:strCache>
                <c:ptCount val="1"/>
                <c:pt idx="0">
                  <c:v>Bco. de la Nación (BNA)</c:v>
                </c:pt>
              </c:strCache>
            </c:strRef>
          </c:tx>
          <c:spPr>
            <a:ln w="38100">
              <a:solidFill>
                <a:schemeClr val="tx2">
                  <a:lumMod val="60000"/>
                  <a:lumOff val="40000"/>
                </a:schemeClr>
              </a:solidFill>
            </a:ln>
          </c:spPr>
          <c:marker>
            <c:symbol val="none"/>
          </c:marker>
          <c:cat>
            <c:multiLvlStrRef>
              <c:f>'Dep Bancos'!$A$2:$B$61</c:f>
              <c:multiLvlStrCache>
                <c:ptCount val="60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  <c:pt idx="12">
                    <c:v>Ene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Abr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Ago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Dic</c:v>
                  </c:pt>
                  <c:pt idx="24">
                    <c:v>Ene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Abr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Ago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Dic</c:v>
                  </c:pt>
                  <c:pt idx="36">
                    <c:v>Ene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Abr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Ago</c:v>
                  </c:pt>
                  <c:pt idx="44">
                    <c:v>Sep</c:v>
                  </c:pt>
                  <c:pt idx="45">
                    <c:v>Oct</c:v>
                  </c:pt>
                  <c:pt idx="46">
                    <c:v>Nov</c:v>
                  </c:pt>
                  <c:pt idx="47">
                    <c:v>Dic</c:v>
                  </c:pt>
                  <c:pt idx="48">
                    <c:v>Ene</c:v>
                  </c:pt>
                  <c:pt idx="49">
                    <c:v>Feb</c:v>
                  </c:pt>
                  <c:pt idx="50">
                    <c:v>Mar</c:v>
                  </c:pt>
                  <c:pt idx="51">
                    <c:v>Abr</c:v>
                  </c:pt>
                  <c:pt idx="52">
                    <c:v>May</c:v>
                  </c:pt>
                  <c:pt idx="53">
                    <c:v>Jun</c:v>
                  </c:pt>
                  <c:pt idx="54">
                    <c:v>Jul</c:v>
                  </c:pt>
                  <c:pt idx="55">
                    <c:v>Ago</c:v>
                  </c:pt>
                  <c:pt idx="56">
                    <c:v>Sep</c:v>
                  </c:pt>
                  <c:pt idx="57">
                    <c:v>Oct</c:v>
                  </c:pt>
                  <c:pt idx="58">
                    <c:v>Nov</c:v>
                  </c:pt>
                  <c:pt idx="59">
                    <c:v>Dic</c:v>
                  </c:pt>
                </c:lvl>
                <c:lvl>
                  <c:pt idx="0">
                    <c:v>1914</c:v>
                  </c:pt>
                  <c:pt idx="12">
                    <c:v>1915</c:v>
                  </c:pt>
                  <c:pt idx="24">
                    <c:v>1916</c:v>
                  </c:pt>
                  <c:pt idx="36">
                    <c:v>1917</c:v>
                  </c:pt>
                  <c:pt idx="48">
                    <c:v>1918</c:v>
                  </c:pt>
                </c:lvl>
              </c:multiLvlStrCache>
            </c:multiLvlStrRef>
          </c:cat>
          <c:val>
            <c:numRef>
              <c:f>'Dep Bancos'!$C$2:$C$61</c:f>
              <c:numCache>
                <c:formatCode>General</c:formatCode>
                <c:ptCount val="60"/>
                <c:pt idx="0">
                  <c:v>72.06</c:v>
                </c:pt>
                <c:pt idx="1">
                  <c:v>73.769333333333336</c:v>
                </c:pt>
                <c:pt idx="2">
                  <c:v>74.853333333333325</c:v>
                </c:pt>
                <c:pt idx="3">
                  <c:v>72.853333333333325</c:v>
                </c:pt>
                <c:pt idx="4">
                  <c:v>70.727741935483863</c:v>
                </c:pt>
                <c:pt idx="5">
                  <c:v>72.069677419354832</c:v>
                </c:pt>
                <c:pt idx="6">
                  <c:v>67.758750000000006</c:v>
                </c:pt>
                <c:pt idx="7">
                  <c:v>60.289142857142856</c:v>
                </c:pt>
                <c:pt idx="8">
                  <c:v>66.692121212121222</c:v>
                </c:pt>
                <c:pt idx="9">
                  <c:v>68.672727272727272</c:v>
                </c:pt>
                <c:pt idx="10">
                  <c:v>71.464242424242428</c:v>
                </c:pt>
                <c:pt idx="11">
                  <c:v>73.383030303030296</c:v>
                </c:pt>
                <c:pt idx="12">
                  <c:v>77.42</c:v>
                </c:pt>
                <c:pt idx="13">
                  <c:v>78.058181818181822</c:v>
                </c:pt>
                <c:pt idx="14">
                  <c:v>82.347715736040612</c:v>
                </c:pt>
                <c:pt idx="15">
                  <c:v>82.121290322580649</c:v>
                </c:pt>
                <c:pt idx="16">
                  <c:v>86.734666666666669</c:v>
                </c:pt>
                <c:pt idx="17">
                  <c:v>90.685636856368561</c:v>
                </c:pt>
                <c:pt idx="18">
                  <c:v>85.330322580645159</c:v>
                </c:pt>
                <c:pt idx="19">
                  <c:v>90.184281842818422</c:v>
                </c:pt>
                <c:pt idx="20">
                  <c:v>91.733062330623312</c:v>
                </c:pt>
                <c:pt idx="21">
                  <c:v>91.165311653116532</c:v>
                </c:pt>
                <c:pt idx="22">
                  <c:v>94.495172413793114</c:v>
                </c:pt>
                <c:pt idx="23">
                  <c:v>95.497931034482761</c:v>
                </c:pt>
                <c:pt idx="24">
                  <c:v>92.092000000000013</c:v>
                </c:pt>
                <c:pt idx="25">
                  <c:v>95.878620689655179</c:v>
                </c:pt>
                <c:pt idx="26">
                  <c:v>98.87310344827587</c:v>
                </c:pt>
                <c:pt idx="27">
                  <c:v>104.58139534883721</c:v>
                </c:pt>
                <c:pt idx="28">
                  <c:v>106.19111111111111</c:v>
                </c:pt>
                <c:pt idx="29">
                  <c:v>109.3288888888889</c:v>
                </c:pt>
                <c:pt idx="30">
                  <c:v>101.20056100981766</c:v>
                </c:pt>
                <c:pt idx="31">
                  <c:v>101.31276297335204</c:v>
                </c:pt>
                <c:pt idx="32">
                  <c:v>101.4866760168303</c:v>
                </c:pt>
                <c:pt idx="33">
                  <c:v>102.05750350631136</c:v>
                </c:pt>
                <c:pt idx="34">
                  <c:v>103.17251051893409</c:v>
                </c:pt>
                <c:pt idx="35">
                  <c:v>104.22758620689655</c:v>
                </c:pt>
                <c:pt idx="36">
                  <c:v>104.71724137931035</c:v>
                </c:pt>
                <c:pt idx="37">
                  <c:v>113.01857142857143</c:v>
                </c:pt>
                <c:pt idx="38">
                  <c:v>115.5942857142857</c:v>
                </c:pt>
                <c:pt idx="39">
                  <c:v>110.72137931034483</c:v>
                </c:pt>
                <c:pt idx="40">
                  <c:v>115.34285714285714</c:v>
                </c:pt>
                <c:pt idx="41">
                  <c:v>123.03851851851852</c:v>
                </c:pt>
                <c:pt idx="42">
                  <c:v>118.99428571428572</c:v>
                </c:pt>
                <c:pt idx="43">
                  <c:v>118.63714285714286</c:v>
                </c:pt>
                <c:pt idx="44">
                  <c:v>134.52000000000001</c:v>
                </c:pt>
                <c:pt idx="45">
                  <c:v>130.90769230769232</c:v>
                </c:pt>
                <c:pt idx="46">
                  <c:v>136.33440000000002</c:v>
                </c:pt>
                <c:pt idx="47">
                  <c:v>131.38159879336348</c:v>
                </c:pt>
                <c:pt idx="48">
                  <c:v>145.15497553017943</c:v>
                </c:pt>
                <c:pt idx="49">
                  <c:v>146.27200000000002</c:v>
                </c:pt>
                <c:pt idx="50">
                  <c:v>147.92923076923077</c:v>
                </c:pt>
                <c:pt idx="51">
                  <c:v>161.42476489028215</c:v>
                </c:pt>
                <c:pt idx="52">
                  <c:v>175.62560000000002</c:v>
                </c:pt>
                <c:pt idx="53">
                  <c:v>181.48</c:v>
                </c:pt>
                <c:pt idx="54">
                  <c:v>200.22789115646256</c:v>
                </c:pt>
                <c:pt idx="55">
                  <c:v>196.15986949429038</c:v>
                </c:pt>
                <c:pt idx="56">
                  <c:v>189.11360000000002</c:v>
                </c:pt>
                <c:pt idx="57">
                  <c:v>190.61439999999999</c:v>
                </c:pt>
                <c:pt idx="58">
                  <c:v>173.1308139534884</c:v>
                </c:pt>
                <c:pt idx="59">
                  <c:v>173.69767441860463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7B8-42A3-9ECF-E7BA86039679}"/>
            </c:ext>
          </c:extLst>
        </c:ser>
        <c:ser>
          <c:idx val="2"/>
          <c:order val="3"/>
          <c:tx>
            <c:strRef>
              <c:f>'Dep Bancos'!$E$1</c:f>
              <c:strCache>
                <c:ptCount val="1"/>
                <c:pt idx="0">
                  <c:v>Tend. BNA</c:v>
                </c:pt>
              </c:strCache>
            </c:strRef>
          </c:tx>
          <c:spPr>
            <a:ln w="19050">
              <a:solidFill>
                <a:schemeClr val="tx2">
                  <a:lumMod val="60000"/>
                  <a:lumOff val="40000"/>
                </a:schemeClr>
              </a:solidFill>
              <a:prstDash val="sysDash"/>
            </a:ln>
          </c:spPr>
          <c:marker>
            <c:symbol val="none"/>
          </c:marker>
          <c:cat>
            <c:multiLvlStrRef>
              <c:f>'Dep Bancos'!$A$2:$B$61</c:f>
              <c:multiLvlStrCache>
                <c:ptCount val="60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  <c:pt idx="12">
                    <c:v>Ene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Abr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Ago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Dic</c:v>
                  </c:pt>
                  <c:pt idx="24">
                    <c:v>Ene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Abr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Ago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Dic</c:v>
                  </c:pt>
                  <c:pt idx="36">
                    <c:v>Ene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Abr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Ago</c:v>
                  </c:pt>
                  <c:pt idx="44">
                    <c:v>Sep</c:v>
                  </c:pt>
                  <c:pt idx="45">
                    <c:v>Oct</c:v>
                  </c:pt>
                  <c:pt idx="46">
                    <c:v>Nov</c:v>
                  </c:pt>
                  <c:pt idx="47">
                    <c:v>Dic</c:v>
                  </c:pt>
                  <c:pt idx="48">
                    <c:v>Ene</c:v>
                  </c:pt>
                  <c:pt idx="49">
                    <c:v>Feb</c:v>
                  </c:pt>
                  <c:pt idx="50">
                    <c:v>Mar</c:v>
                  </c:pt>
                  <c:pt idx="51">
                    <c:v>Abr</c:v>
                  </c:pt>
                  <c:pt idx="52">
                    <c:v>May</c:v>
                  </c:pt>
                  <c:pt idx="53">
                    <c:v>Jun</c:v>
                  </c:pt>
                  <c:pt idx="54">
                    <c:v>Jul</c:v>
                  </c:pt>
                  <c:pt idx="55">
                    <c:v>Ago</c:v>
                  </c:pt>
                  <c:pt idx="56">
                    <c:v>Sep</c:v>
                  </c:pt>
                  <c:pt idx="57">
                    <c:v>Oct</c:v>
                  </c:pt>
                  <c:pt idx="58">
                    <c:v>Nov</c:v>
                  </c:pt>
                  <c:pt idx="59">
                    <c:v>Dic</c:v>
                  </c:pt>
                </c:lvl>
                <c:lvl>
                  <c:pt idx="0">
                    <c:v>1914</c:v>
                  </c:pt>
                  <c:pt idx="12">
                    <c:v>1915</c:v>
                  </c:pt>
                  <c:pt idx="24">
                    <c:v>1916</c:v>
                  </c:pt>
                  <c:pt idx="36">
                    <c:v>1917</c:v>
                  </c:pt>
                  <c:pt idx="48">
                    <c:v>1918</c:v>
                  </c:pt>
                </c:lvl>
              </c:multiLvlStrCache>
            </c:multiLvlStrRef>
          </c:cat>
          <c:val>
            <c:numRef>
              <c:f>'Dep Bancos'!$E$2:$E$61</c:f>
              <c:numCache>
                <c:formatCode>General</c:formatCode>
                <c:ptCount val="60"/>
                <c:pt idx="0">
                  <c:v>85.079152692299999</c:v>
                </c:pt>
                <c:pt idx="1">
                  <c:v>86.049655981100003</c:v>
                </c:pt>
                <c:pt idx="2">
                  <c:v>87.023369067399997</c:v>
                </c:pt>
                <c:pt idx="3">
                  <c:v>88.000221460600002</c:v>
                </c:pt>
                <c:pt idx="4">
                  <c:v>88.980142669800003</c:v>
                </c:pt>
                <c:pt idx="5">
                  <c:v>89.9630622042</c:v>
                </c:pt>
                <c:pt idx="6">
                  <c:v>90.948909573199998</c:v>
                </c:pt>
                <c:pt idx="7">
                  <c:v>91.937614285899997</c:v>
                </c:pt>
                <c:pt idx="8">
                  <c:v>92.929105851599999</c:v>
                </c:pt>
                <c:pt idx="9">
                  <c:v>93.923313779500006</c:v>
                </c:pt>
                <c:pt idx="10">
                  <c:v>94.920167578800005</c:v>
                </c:pt>
                <c:pt idx="11">
                  <c:v>95.919596758799997</c:v>
                </c:pt>
                <c:pt idx="12">
                  <c:v>96.9215308287</c:v>
                </c:pt>
                <c:pt idx="13">
                  <c:v>97.925899297699999</c:v>
                </c:pt>
                <c:pt idx="14">
                  <c:v>98.932631675099998</c:v>
                </c:pt>
                <c:pt idx="15">
                  <c:v>99.941657470099997</c:v>
                </c:pt>
                <c:pt idx="16">
                  <c:v>100.9529061919</c:v>
                </c:pt>
                <c:pt idx="17">
                  <c:v>101.9663073498</c:v>
                </c:pt>
                <c:pt idx="18">
                  <c:v>102.981790453</c:v>
                </c:pt>
                <c:pt idx="19">
                  <c:v>103.99928501070001</c:v>
                </c:pt>
                <c:pt idx="20">
                  <c:v>105.01872053210001</c:v>
                </c:pt>
                <c:pt idx="21">
                  <c:v>106.0400265265</c:v>
                </c:pt>
                <c:pt idx="22">
                  <c:v>107.06313250319999</c:v>
                </c:pt>
                <c:pt idx="23">
                  <c:v>108.0879679713</c:v>
                </c:pt>
                <c:pt idx="24">
                  <c:v>109.11446244</c:v>
                </c:pt>
                <c:pt idx="25">
                  <c:v>110.1425454187</c:v>
                </c:pt>
                <c:pt idx="26">
                  <c:v>111.1721464166</c:v>
                </c:pt>
                <c:pt idx="27">
                  <c:v>112.2031949428</c:v>
                </c:pt>
                <c:pt idx="28">
                  <c:v>113.2356205066</c:v>
                </c:pt>
                <c:pt idx="29">
                  <c:v>114.2693526173</c:v>
                </c:pt>
                <c:pt idx="30">
                  <c:v>115.304320784</c:v>
                </c:pt>
                <c:pt idx="31">
                  <c:v>116.3404545161</c:v>
                </c:pt>
                <c:pt idx="32">
                  <c:v>117.37768332260001</c:v>
                </c:pt>
                <c:pt idx="33">
                  <c:v>118.41593671299999</c:v>
                </c:pt>
                <c:pt idx="34">
                  <c:v>119.4551441963</c:v>
                </c:pt>
                <c:pt idx="35">
                  <c:v>120.49523528189999</c:v>
                </c:pt>
                <c:pt idx="36">
                  <c:v>121.536139479</c:v>
                </c:pt>
                <c:pt idx="37">
                  <c:v>122.5777862967</c:v>
                </c:pt>
                <c:pt idx="38">
                  <c:v>123.62010524439999</c:v>
                </c:pt>
                <c:pt idx="39">
                  <c:v>124.6630258312</c:v>
                </c:pt>
                <c:pt idx="40">
                  <c:v>125.7064775664</c:v>
                </c:pt>
                <c:pt idx="41">
                  <c:v>126.75038995929999</c:v>
                </c:pt>
                <c:pt idx="42">
                  <c:v>127.79469251899999</c:v>
                </c:pt>
                <c:pt idx="43">
                  <c:v>128.83931475470001</c:v>
                </c:pt>
                <c:pt idx="44">
                  <c:v>129.8841861759</c:v>
                </c:pt>
                <c:pt idx="45">
                  <c:v>130.92923629149999</c:v>
                </c:pt>
                <c:pt idx="46">
                  <c:v>131.97439461100001</c:v>
                </c:pt>
                <c:pt idx="47">
                  <c:v>133.01959064339999</c:v>
                </c:pt>
                <c:pt idx="48">
                  <c:v>134.06475389810001</c:v>
                </c:pt>
                <c:pt idx="49">
                  <c:v>135.1098138843</c:v>
                </c:pt>
                <c:pt idx="50">
                  <c:v>136.15470011119999</c:v>
                </c:pt>
                <c:pt idx="51">
                  <c:v>137.19934208800001</c:v>
                </c:pt>
                <c:pt idx="52">
                  <c:v>138.243669324</c:v>
                </c:pt>
                <c:pt idx="53">
                  <c:v>139.2876113284</c:v>
                </c:pt>
                <c:pt idx="54">
                  <c:v>140.3310976105</c:v>
                </c:pt>
                <c:pt idx="55">
                  <c:v>141.37405767940001</c:v>
                </c:pt>
                <c:pt idx="56">
                  <c:v>142.41642104440001</c:v>
                </c:pt>
                <c:pt idx="57">
                  <c:v>143.45811721480001</c:v>
                </c:pt>
                <c:pt idx="58">
                  <c:v>144.4990756997</c:v>
                </c:pt>
                <c:pt idx="59">
                  <c:v>145.53922600839999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7B8-42A3-9ECF-E7BA86039679}"/>
            </c:ext>
          </c:extLst>
        </c:ser>
        <c:ser>
          <c:idx val="1"/>
          <c:order val="0"/>
          <c:tx>
            <c:strRef>
              <c:f>'Dep Bancos'!$D$1</c:f>
              <c:strCache>
                <c:ptCount val="1"/>
                <c:pt idx="0">
                  <c:v>resto de los Bcos. (RdeB)</c:v>
                </c:pt>
              </c:strCache>
            </c:strRef>
          </c:tx>
          <c:spPr>
            <a:ln w="38100">
              <a:solidFill>
                <a:schemeClr val="tx2">
                  <a:lumMod val="50000"/>
                </a:schemeClr>
              </a:solidFill>
            </a:ln>
          </c:spPr>
          <c:marker>
            <c:symbol val="none"/>
          </c:marker>
          <c:cat>
            <c:multiLvlStrRef>
              <c:f>'Dep Bancos'!$A$2:$B$61</c:f>
              <c:multiLvlStrCache>
                <c:ptCount val="60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  <c:pt idx="12">
                    <c:v>Ene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Abr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Ago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Dic</c:v>
                  </c:pt>
                  <c:pt idx="24">
                    <c:v>Ene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Abr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Ago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Dic</c:v>
                  </c:pt>
                  <c:pt idx="36">
                    <c:v>Ene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Abr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Ago</c:v>
                  </c:pt>
                  <c:pt idx="44">
                    <c:v>Sep</c:v>
                  </c:pt>
                  <c:pt idx="45">
                    <c:v>Oct</c:v>
                  </c:pt>
                  <c:pt idx="46">
                    <c:v>Nov</c:v>
                  </c:pt>
                  <c:pt idx="47">
                    <c:v>Dic</c:v>
                  </c:pt>
                  <c:pt idx="48">
                    <c:v>Ene</c:v>
                  </c:pt>
                  <c:pt idx="49">
                    <c:v>Feb</c:v>
                  </c:pt>
                  <c:pt idx="50">
                    <c:v>Mar</c:v>
                  </c:pt>
                  <c:pt idx="51">
                    <c:v>Abr</c:v>
                  </c:pt>
                  <c:pt idx="52">
                    <c:v>May</c:v>
                  </c:pt>
                  <c:pt idx="53">
                    <c:v>Jun</c:v>
                  </c:pt>
                  <c:pt idx="54">
                    <c:v>Jul</c:v>
                  </c:pt>
                  <c:pt idx="55">
                    <c:v>Ago</c:v>
                  </c:pt>
                  <c:pt idx="56">
                    <c:v>Sep</c:v>
                  </c:pt>
                  <c:pt idx="57">
                    <c:v>Oct</c:v>
                  </c:pt>
                  <c:pt idx="58">
                    <c:v>Nov</c:v>
                  </c:pt>
                  <c:pt idx="59">
                    <c:v>Dic</c:v>
                  </c:pt>
                </c:lvl>
                <c:lvl>
                  <c:pt idx="0">
                    <c:v>1914</c:v>
                  </c:pt>
                  <c:pt idx="12">
                    <c:v>1915</c:v>
                  </c:pt>
                  <c:pt idx="24">
                    <c:v>1916</c:v>
                  </c:pt>
                  <c:pt idx="36">
                    <c:v>1917</c:v>
                  </c:pt>
                  <c:pt idx="48">
                    <c:v>1918</c:v>
                  </c:pt>
                </c:lvl>
              </c:multiLvlStrCache>
            </c:multiLvlStrRef>
          </c:cat>
          <c:val>
            <c:numRef>
              <c:f>'Dep Bancos'!$D$2:$D$61</c:f>
              <c:numCache>
                <c:formatCode>General</c:formatCode>
                <c:ptCount val="60"/>
                <c:pt idx="0">
                  <c:v>122.51733333333333</c:v>
                </c:pt>
                <c:pt idx="1">
                  <c:v>120.21866666666666</c:v>
                </c:pt>
                <c:pt idx="2">
                  <c:v>120.99600000000001</c:v>
                </c:pt>
                <c:pt idx="3">
                  <c:v>118.768</c:v>
                </c:pt>
                <c:pt idx="4">
                  <c:v>113.08645161290322</c:v>
                </c:pt>
                <c:pt idx="5">
                  <c:v>112.7858064516129</c:v>
                </c:pt>
                <c:pt idx="6">
                  <c:v>99.05</c:v>
                </c:pt>
                <c:pt idx="7">
                  <c:v>79.113142857142861</c:v>
                </c:pt>
                <c:pt idx="8">
                  <c:v>81.621818181818185</c:v>
                </c:pt>
                <c:pt idx="9">
                  <c:v>79.267878787878786</c:v>
                </c:pt>
                <c:pt idx="10">
                  <c:v>77.664242424242431</c:v>
                </c:pt>
                <c:pt idx="11">
                  <c:v>77.167272727272746</c:v>
                </c:pt>
                <c:pt idx="12">
                  <c:v>80.197499999999991</c:v>
                </c:pt>
                <c:pt idx="13">
                  <c:v>79.848484848484844</c:v>
                </c:pt>
                <c:pt idx="14">
                  <c:v>85.362944162436548</c:v>
                </c:pt>
                <c:pt idx="15">
                  <c:v>88.588387096774184</c:v>
                </c:pt>
                <c:pt idx="16">
                  <c:v>93.349333333333334</c:v>
                </c:pt>
                <c:pt idx="17">
                  <c:v>97.883468834688344</c:v>
                </c:pt>
                <c:pt idx="18">
                  <c:v>94.011612903225796</c:v>
                </c:pt>
                <c:pt idx="19">
                  <c:v>99.521680216802167</c:v>
                </c:pt>
                <c:pt idx="20">
                  <c:v>99.857723577235774</c:v>
                </c:pt>
                <c:pt idx="21">
                  <c:v>102.11924119241192</c:v>
                </c:pt>
                <c:pt idx="22">
                  <c:v>106.08827586206897</c:v>
                </c:pt>
                <c:pt idx="23">
                  <c:v>107.28</c:v>
                </c:pt>
                <c:pt idx="24">
                  <c:v>103.75066666666666</c:v>
                </c:pt>
                <c:pt idx="25">
                  <c:v>107.98896551724138</c:v>
                </c:pt>
                <c:pt idx="26">
                  <c:v>112.04827586206896</c:v>
                </c:pt>
                <c:pt idx="27">
                  <c:v>116.18313953488371</c:v>
                </c:pt>
                <c:pt idx="28">
                  <c:v>118.90222222222221</c:v>
                </c:pt>
                <c:pt idx="29">
                  <c:v>122.06814814814815</c:v>
                </c:pt>
                <c:pt idx="30">
                  <c:v>116.63394109396913</c:v>
                </c:pt>
                <c:pt idx="31">
                  <c:v>118.66199158485273</c:v>
                </c:pt>
                <c:pt idx="32">
                  <c:v>118.30995792426367</c:v>
                </c:pt>
                <c:pt idx="33">
                  <c:v>120.72370266479663</c:v>
                </c:pt>
                <c:pt idx="34">
                  <c:v>123.46002805049088</c:v>
                </c:pt>
                <c:pt idx="35">
                  <c:v>124.33103448275861</c:v>
                </c:pt>
                <c:pt idx="36">
                  <c:v>127.11034482758622</c:v>
                </c:pt>
                <c:pt idx="37">
                  <c:v>133.05000000000001</c:v>
                </c:pt>
                <c:pt idx="38">
                  <c:v>137.57714285714286</c:v>
                </c:pt>
                <c:pt idx="39">
                  <c:v>134.78344827586207</c:v>
                </c:pt>
                <c:pt idx="40">
                  <c:v>142.76857142857142</c:v>
                </c:pt>
                <c:pt idx="41">
                  <c:v>152.09037037037035</c:v>
                </c:pt>
                <c:pt idx="42">
                  <c:v>146.83571428571426</c:v>
                </c:pt>
                <c:pt idx="43">
                  <c:v>150.29</c:v>
                </c:pt>
                <c:pt idx="44">
                  <c:v>156.81230769230768</c:v>
                </c:pt>
                <c:pt idx="45">
                  <c:v>166.78153846153845</c:v>
                </c:pt>
                <c:pt idx="46">
                  <c:v>175.90879999999999</c:v>
                </c:pt>
                <c:pt idx="47">
                  <c:v>172.35595776772249</c:v>
                </c:pt>
                <c:pt idx="48">
                  <c:v>190.01305057096249</c:v>
                </c:pt>
                <c:pt idx="49">
                  <c:v>191.512</c:v>
                </c:pt>
                <c:pt idx="50">
                  <c:v>192.28923076923078</c:v>
                </c:pt>
                <c:pt idx="51">
                  <c:v>209.95454545454547</c:v>
                </c:pt>
                <c:pt idx="52">
                  <c:v>223.85440000000003</c:v>
                </c:pt>
                <c:pt idx="53">
                  <c:v>231.65760000000003</c:v>
                </c:pt>
                <c:pt idx="54">
                  <c:v>256.04421768707482</c:v>
                </c:pt>
                <c:pt idx="55">
                  <c:v>255.11419249592169</c:v>
                </c:pt>
                <c:pt idx="56">
                  <c:v>257.416</c:v>
                </c:pt>
                <c:pt idx="57">
                  <c:v>259.32319999999999</c:v>
                </c:pt>
                <c:pt idx="58">
                  <c:v>237.94040697674419</c:v>
                </c:pt>
                <c:pt idx="59">
                  <c:v>239.61627906976744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7B8-42A3-9ECF-E7BA86039679}"/>
            </c:ext>
          </c:extLst>
        </c:ser>
        <c:ser>
          <c:idx val="3"/>
          <c:order val="1"/>
          <c:tx>
            <c:strRef>
              <c:f>'Dep Bancos'!$F$1</c:f>
              <c:strCache>
                <c:ptCount val="1"/>
                <c:pt idx="0">
                  <c:v>Tend. RdeB</c:v>
                </c:pt>
              </c:strCache>
            </c:strRef>
          </c:tx>
          <c:spPr>
            <a:ln w="19050" cmpd="sng">
              <a:solidFill>
                <a:schemeClr val="tx2">
                  <a:lumMod val="50000"/>
                </a:schemeClr>
              </a:solidFill>
              <a:prstDash val="sysDash"/>
            </a:ln>
          </c:spPr>
          <c:marker>
            <c:symbol val="none"/>
          </c:marker>
          <c:cat>
            <c:multiLvlStrRef>
              <c:f>'Dep Bancos'!$A$2:$B$61</c:f>
              <c:multiLvlStrCache>
                <c:ptCount val="60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  <c:pt idx="12">
                    <c:v>Ene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Abr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Ago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Dic</c:v>
                  </c:pt>
                  <c:pt idx="24">
                    <c:v>Ene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Abr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Ago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Dic</c:v>
                  </c:pt>
                  <c:pt idx="36">
                    <c:v>Ene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Abr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Ago</c:v>
                  </c:pt>
                  <c:pt idx="44">
                    <c:v>Sep</c:v>
                  </c:pt>
                  <c:pt idx="45">
                    <c:v>Oct</c:v>
                  </c:pt>
                  <c:pt idx="46">
                    <c:v>Nov</c:v>
                  </c:pt>
                  <c:pt idx="47">
                    <c:v>Dic</c:v>
                  </c:pt>
                  <c:pt idx="48">
                    <c:v>Ene</c:v>
                  </c:pt>
                  <c:pt idx="49">
                    <c:v>Feb</c:v>
                  </c:pt>
                  <c:pt idx="50">
                    <c:v>Mar</c:v>
                  </c:pt>
                  <c:pt idx="51">
                    <c:v>Abr</c:v>
                  </c:pt>
                  <c:pt idx="52">
                    <c:v>May</c:v>
                  </c:pt>
                  <c:pt idx="53">
                    <c:v>Jun</c:v>
                  </c:pt>
                  <c:pt idx="54">
                    <c:v>Jul</c:v>
                  </c:pt>
                  <c:pt idx="55">
                    <c:v>Ago</c:v>
                  </c:pt>
                  <c:pt idx="56">
                    <c:v>Sep</c:v>
                  </c:pt>
                  <c:pt idx="57">
                    <c:v>Oct</c:v>
                  </c:pt>
                  <c:pt idx="58">
                    <c:v>Nov</c:v>
                  </c:pt>
                  <c:pt idx="59">
                    <c:v>Dic</c:v>
                  </c:pt>
                </c:lvl>
                <c:lvl>
                  <c:pt idx="0">
                    <c:v>1914</c:v>
                  </c:pt>
                  <c:pt idx="12">
                    <c:v>1915</c:v>
                  </c:pt>
                  <c:pt idx="24">
                    <c:v>1916</c:v>
                  </c:pt>
                  <c:pt idx="36">
                    <c:v>1917</c:v>
                  </c:pt>
                  <c:pt idx="48">
                    <c:v>1918</c:v>
                  </c:pt>
                </c:lvl>
              </c:multiLvlStrCache>
            </c:multiLvlStrRef>
          </c:cat>
          <c:val>
            <c:numRef>
              <c:f>'Dep Bancos'!$F$2:$F$61</c:f>
              <c:numCache>
                <c:formatCode>General</c:formatCode>
                <c:ptCount val="60"/>
                <c:pt idx="0">
                  <c:v>136.0101970135</c:v>
                </c:pt>
                <c:pt idx="1">
                  <c:v>136.97560706869999</c:v>
                </c:pt>
                <c:pt idx="2">
                  <c:v>137.94949507730001</c:v>
                </c:pt>
                <c:pt idx="3">
                  <c:v>138.93173602050001</c:v>
                </c:pt>
                <c:pt idx="4">
                  <c:v>139.9222048796</c:v>
                </c:pt>
                <c:pt idx="5">
                  <c:v>140.92077663570001</c:v>
                </c:pt>
                <c:pt idx="6">
                  <c:v>141.9273262703</c:v>
                </c:pt>
                <c:pt idx="7">
                  <c:v>142.9417287645</c:v>
                </c:pt>
                <c:pt idx="8">
                  <c:v>143.9638590996</c:v>
                </c:pt>
                <c:pt idx="9">
                  <c:v>144.9935922569</c:v>
                </c:pt>
                <c:pt idx="10">
                  <c:v>146.03080321749999</c:v>
                </c:pt>
                <c:pt idx="11">
                  <c:v>147.07536696279999</c:v>
                </c:pt>
                <c:pt idx="12">
                  <c:v>148.12715847410001</c:v>
                </c:pt>
                <c:pt idx="13">
                  <c:v>149.1860527325</c:v>
                </c:pt>
                <c:pt idx="14">
                  <c:v>150.25192471939999</c:v>
                </c:pt>
                <c:pt idx="15">
                  <c:v>151.32464941590001</c:v>
                </c:pt>
                <c:pt idx="16">
                  <c:v>152.40410180340001</c:v>
                </c:pt>
                <c:pt idx="17">
                  <c:v>153.4901568631</c:v>
                </c:pt>
                <c:pt idx="18">
                  <c:v>154.58268957620001</c:v>
                </c:pt>
                <c:pt idx="19">
                  <c:v>155.6815749241</c:v>
                </c:pt>
                <c:pt idx="20">
                  <c:v>156.7866878879</c:v>
                </c:pt>
                <c:pt idx="21">
                  <c:v>157.89790344900001</c:v>
                </c:pt>
                <c:pt idx="22">
                  <c:v>159.01509658859999</c:v>
                </c:pt>
                <c:pt idx="23">
                  <c:v>160.1381422879</c:v>
                </c:pt>
                <c:pt idx="24">
                  <c:v>161.26691552809999</c:v>
                </c:pt>
                <c:pt idx="25">
                  <c:v>162.40129129069999</c:v>
                </c:pt>
                <c:pt idx="26">
                  <c:v>163.5411445567</c:v>
                </c:pt>
                <c:pt idx="27">
                  <c:v>164.68635030760001</c:v>
                </c:pt>
                <c:pt idx="28">
                  <c:v>165.8367835244</c:v>
                </c:pt>
                <c:pt idx="29">
                  <c:v>166.99231918850001</c:v>
                </c:pt>
                <c:pt idx="30">
                  <c:v>168.15283228120001</c:v>
                </c:pt>
                <c:pt idx="31">
                  <c:v>169.3181977836</c:v>
                </c:pt>
                <c:pt idx="32">
                  <c:v>170.4882906771</c:v>
                </c:pt>
                <c:pt idx="33">
                  <c:v>171.662985943</c:v>
                </c:pt>
                <c:pt idx="34">
                  <c:v>172.8421585623</c:v>
                </c:pt>
                <c:pt idx="35">
                  <c:v>174.02568351650001</c:v>
                </c:pt>
                <c:pt idx="36">
                  <c:v>175.21343578680001</c:v>
                </c:pt>
                <c:pt idx="37">
                  <c:v>176.40529035439999</c:v>
                </c:pt>
                <c:pt idx="38">
                  <c:v>177.60112220049999</c:v>
                </c:pt>
                <c:pt idx="39">
                  <c:v>178.80080630660001</c:v>
                </c:pt>
                <c:pt idx="40">
                  <c:v>180.00421765370001</c:v>
                </c:pt>
                <c:pt idx="41">
                  <c:v>181.2112312232</c:v>
                </c:pt>
                <c:pt idx="42">
                  <c:v>182.42172199629999</c:v>
                </c:pt>
                <c:pt idx="43">
                  <c:v>183.63556495419999</c:v>
                </c:pt>
                <c:pt idx="44">
                  <c:v>184.85263507830001</c:v>
                </c:pt>
                <c:pt idx="45">
                  <c:v>186.0728073498</c:v>
                </c:pt>
                <c:pt idx="46">
                  <c:v>187.2959567499</c:v>
                </c:pt>
                <c:pt idx="47">
                  <c:v>188.5219582599</c:v>
                </c:pt>
                <c:pt idx="48">
                  <c:v>189.75068686099999</c:v>
                </c:pt>
                <c:pt idx="49">
                  <c:v>190.9820175346</c:v>
                </c:pt>
                <c:pt idx="50">
                  <c:v>192.21582526180001</c:v>
                </c:pt>
                <c:pt idx="51">
                  <c:v>193.45198502400001</c:v>
                </c:pt>
                <c:pt idx="52">
                  <c:v>194.69037180230001</c:v>
                </c:pt>
                <c:pt idx="53">
                  <c:v>195.93086057799999</c:v>
                </c:pt>
                <c:pt idx="54">
                  <c:v>197.17332633250001</c:v>
                </c:pt>
                <c:pt idx="55">
                  <c:v>198.41764404689999</c:v>
                </c:pt>
                <c:pt idx="56">
                  <c:v>199.6636887025</c:v>
                </c:pt>
                <c:pt idx="57">
                  <c:v>200.9113352805</c:v>
                </c:pt>
                <c:pt idx="58">
                  <c:v>202.16045876230001</c:v>
                </c:pt>
                <c:pt idx="59">
                  <c:v>203.410934129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7B8-42A3-9ECF-E7BA860396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5500032"/>
        <c:axId val="125501824"/>
      </c:lineChart>
      <c:catAx>
        <c:axId val="12550003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chemeClr val="tx2">
                <a:lumMod val="75000"/>
              </a:schemeClr>
            </a:solidFill>
          </a:ln>
        </c:spPr>
        <c:crossAx val="125501824"/>
        <c:crosses val="autoZero"/>
        <c:auto val="1"/>
        <c:lblAlgn val="ctr"/>
        <c:lblOffset val="100"/>
        <c:noMultiLvlLbl val="0"/>
      </c:catAx>
      <c:valAx>
        <c:axId val="125501824"/>
        <c:scaling>
          <c:orientation val="minMax"/>
        </c:scaling>
        <c:delete val="0"/>
        <c:axPos val="l"/>
        <c:numFmt formatCode="0" sourceLinked="0"/>
        <c:majorTickMark val="out"/>
        <c:minorTickMark val="none"/>
        <c:tickLblPos val="nextTo"/>
        <c:spPr>
          <a:ln>
            <a:solidFill>
              <a:schemeClr val="tx2">
                <a:lumMod val="75000"/>
              </a:schemeClr>
            </a:solidFill>
          </a:ln>
        </c:spPr>
        <c:crossAx val="12550003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"/>
          <c:y val="0.82840155525039727"/>
          <c:w val="0.99022492604072421"/>
          <c:h val="0.16985457584224231"/>
        </c:manualLayout>
      </c:layout>
      <c:overlay val="0"/>
      <c:txPr>
        <a:bodyPr/>
        <a:lstStyle/>
        <a:p>
          <a:pPr>
            <a:defRPr sz="1200"/>
          </a:pPr>
          <a:endParaRPr lang="es-AR"/>
        </a:p>
      </c:txPr>
    </c:legend>
    <c:plotVisOnly val="1"/>
    <c:dispBlanksAs val="gap"/>
    <c:showDLblsOverMax val="0"/>
  </c:chart>
  <c:spPr>
    <a:ln>
      <a:noFill/>
    </a:ln>
  </c:spPr>
  <c:txPr>
    <a:bodyPr/>
    <a:lstStyle/>
    <a:p>
      <a:pPr>
        <a:defRPr sz="1400">
          <a:solidFill>
            <a:schemeClr val="tx2">
              <a:lumMod val="75000"/>
            </a:schemeClr>
          </a:solidFill>
          <a:latin typeface="Abadi" panose="020B0604020104020204" pitchFamily="34" charset="0"/>
          <a:cs typeface="Times New Roman" pitchFamily="18" charset="0"/>
        </a:defRPr>
      </a:pPr>
      <a:endParaRPr lang="es-AR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850459482038442"/>
          <c:y val="4.2813629166860365E-2"/>
          <c:w val="0.87500000000000278"/>
          <c:h val="0.66745086616368476"/>
        </c:manualLayout>
      </c:layout>
      <c:lineChart>
        <c:grouping val="standard"/>
        <c:varyColors val="0"/>
        <c:ser>
          <c:idx val="1"/>
          <c:order val="1"/>
          <c:tx>
            <c:strRef>
              <c:f>'cap. 4 gráfico 9'!$C$2</c:f>
              <c:strCache>
                <c:ptCount val="1"/>
                <c:pt idx="0">
                  <c:v>Bco. de la Nación</c:v>
                </c:pt>
              </c:strCache>
            </c:strRef>
          </c:tx>
          <c:spPr>
            <a:ln w="38100">
              <a:solidFill>
                <a:schemeClr val="tx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'cap. 4 gráfico 9'!$A$3:$A$7</c:f>
              <c:numCache>
                <c:formatCode>General</c:formatCode>
                <c:ptCount val="5"/>
                <c:pt idx="0">
                  <c:v>1914</c:v>
                </c:pt>
                <c:pt idx="1">
                  <c:v>1915</c:v>
                </c:pt>
                <c:pt idx="2">
                  <c:v>1916</c:v>
                </c:pt>
                <c:pt idx="3">
                  <c:v>1917</c:v>
                </c:pt>
                <c:pt idx="4">
                  <c:v>1918</c:v>
                </c:pt>
              </c:numCache>
            </c:numRef>
          </c:cat>
          <c:val>
            <c:numRef>
              <c:f>'cap. 4 gráfico 9'!$C$3:$C$7</c:f>
              <c:numCache>
                <c:formatCode>0.00</c:formatCode>
                <c:ptCount val="5"/>
                <c:pt idx="0">
                  <c:v>0.42820567879618776</c:v>
                </c:pt>
                <c:pt idx="1">
                  <c:v>0.55708013172338089</c:v>
                </c:pt>
                <c:pt idx="2">
                  <c:v>0.53002051214186463</c:v>
                </c:pt>
                <c:pt idx="3">
                  <c:v>0.4359171584047023</c:v>
                </c:pt>
                <c:pt idx="4">
                  <c:v>0.33267505690186105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B70-45E6-8B84-1BB9FBD70DB7}"/>
            </c:ext>
          </c:extLst>
        </c:ser>
        <c:ser>
          <c:idx val="0"/>
          <c:order val="0"/>
          <c:tx>
            <c:strRef>
              <c:f>'cap. 4 gráfico 9'!$E$2</c:f>
              <c:strCache>
                <c:ptCount val="1"/>
                <c:pt idx="0">
                  <c:v>Resto de los Bcos.</c:v>
                </c:pt>
              </c:strCache>
            </c:strRef>
          </c:tx>
          <c:spPr>
            <a:ln w="38100">
              <a:solidFill>
                <a:schemeClr val="tx2">
                  <a:lumMod val="60000"/>
                  <a:lumOff val="40000"/>
                </a:schemeClr>
              </a:solidFill>
            </a:ln>
          </c:spPr>
          <c:marker>
            <c:symbol val="none"/>
          </c:marker>
          <c:cat>
            <c:numRef>
              <c:f>'cap. 4 gráfico 9'!$A$3:$A$7</c:f>
              <c:numCache>
                <c:formatCode>General</c:formatCode>
                <c:ptCount val="5"/>
                <c:pt idx="0">
                  <c:v>1914</c:v>
                </c:pt>
                <c:pt idx="1">
                  <c:v>1915</c:v>
                </c:pt>
                <c:pt idx="2">
                  <c:v>1916</c:v>
                </c:pt>
                <c:pt idx="3">
                  <c:v>1917</c:v>
                </c:pt>
                <c:pt idx="4">
                  <c:v>1918</c:v>
                </c:pt>
              </c:numCache>
            </c:numRef>
          </c:cat>
          <c:val>
            <c:numRef>
              <c:f>'cap. 4 gráfico 9'!$E$3:$E$7</c:f>
              <c:numCache>
                <c:formatCode>0.00</c:formatCode>
                <c:ptCount val="5"/>
                <c:pt idx="0">
                  <c:v>0.40709674379152722</c:v>
                </c:pt>
                <c:pt idx="1">
                  <c:v>0.35177042351307569</c:v>
                </c:pt>
                <c:pt idx="2">
                  <c:v>0.3323607721322388</c:v>
                </c:pt>
                <c:pt idx="3">
                  <c:v>0.35593146177541307</c:v>
                </c:pt>
                <c:pt idx="4">
                  <c:v>0.33720337749308488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B70-45E6-8B84-1BB9FBD70DB7}"/>
            </c:ext>
          </c:extLst>
        </c:ser>
        <c:ser>
          <c:idx val="2"/>
          <c:order val="2"/>
          <c:tx>
            <c:strRef>
              <c:f>'cap. 4 gráfico 9'!$D$2</c:f>
              <c:strCache>
                <c:ptCount val="1"/>
                <c:pt idx="0">
                  <c:v>prom BNA</c:v>
                </c:pt>
              </c:strCache>
            </c:strRef>
          </c:tx>
          <c:spPr>
            <a:ln>
              <a:solidFill>
                <a:schemeClr val="tx2">
                  <a:lumMod val="50000"/>
                </a:schemeClr>
              </a:solidFill>
              <a:prstDash val="sysDash"/>
            </a:ln>
          </c:spPr>
          <c:marker>
            <c:symbol val="none"/>
          </c:marker>
          <c:cat>
            <c:numRef>
              <c:f>'cap. 4 gráfico 9'!$A$3:$A$7</c:f>
              <c:numCache>
                <c:formatCode>General</c:formatCode>
                <c:ptCount val="5"/>
                <c:pt idx="0">
                  <c:v>1914</c:v>
                </c:pt>
                <c:pt idx="1">
                  <c:v>1915</c:v>
                </c:pt>
                <c:pt idx="2">
                  <c:v>1916</c:v>
                </c:pt>
                <c:pt idx="3">
                  <c:v>1917</c:v>
                </c:pt>
                <c:pt idx="4">
                  <c:v>1918</c:v>
                </c:pt>
              </c:numCache>
            </c:numRef>
          </c:cat>
          <c:val>
            <c:numRef>
              <c:f>'cap. 4 gráfico 9'!$D$3:$D$7</c:f>
              <c:numCache>
                <c:formatCode>0.00</c:formatCode>
                <c:ptCount val="5"/>
                <c:pt idx="0">
                  <c:v>0.45677970759359943</c:v>
                </c:pt>
                <c:pt idx="1">
                  <c:v>0.45677970759359943</c:v>
                </c:pt>
                <c:pt idx="2">
                  <c:v>0.45677970759359943</c:v>
                </c:pt>
                <c:pt idx="3">
                  <c:v>0.45677970759359943</c:v>
                </c:pt>
                <c:pt idx="4">
                  <c:v>0.45677970759359943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B70-45E6-8B84-1BB9FBD70DB7}"/>
            </c:ext>
          </c:extLst>
        </c:ser>
        <c:ser>
          <c:idx val="3"/>
          <c:order val="3"/>
          <c:tx>
            <c:strRef>
              <c:f>'cap. 4 gráfico 9'!$F$2</c:f>
              <c:strCache>
                <c:ptCount val="1"/>
                <c:pt idx="0">
                  <c:v>Prom (RdeB)</c:v>
                </c:pt>
              </c:strCache>
            </c:strRef>
          </c:tx>
          <c:spPr>
            <a:ln>
              <a:solidFill>
                <a:schemeClr val="tx2">
                  <a:lumMod val="60000"/>
                  <a:lumOff val="40000"/>
                </a:schemeClr>
              </a:solidFill>
              <a:prstDash val="sysDash"/>
            </a:ln>
          </c:spPr>
          <c:marker>
            <c:symbol val="none"/>
          </c:marker>
          <c:cat>
            <c:numRef>
              <c:f>'cap. 4 gráfico 9'!$A$3:$A$7</c:f>
              <c:numCache>
                <c:formatCode>General</c:formatCode>
                <c:ptCount val="5"/>
                <c:pt idx="0">
                  <c:v>1914</c:v>
                </c:pt>
                <c:pt idx="1">
                  <c:v>1915</c:v>
                </c:pt>
                <c:pt idx="2">
                  <c:v>1916</c:v>
                </c:pt>
                <c:pt idx="3">
                  <c:v>1917</c:v>
                </c:pt>
                <c:pt idx="4">
                  <c:v>1918</c:v>
                </c:pt>
              </c:numCache>
            </c:numRef>
          </c:cat>
          <c:val>
            <c:numRef>
              <c:f>'cap. 4 gráfico 9'!$F$3:$F$7</c:f>
              <c:numCache>
                <c:formatCode>0.00</c:formatCode>
                <c:ptCount val="5"/>
                <c:pt idx="0">
                  <c:v>0.35687255574106791</c:v>
                </c:pt>
                <c:pt idx="1">
                  <c:v>0.35687255574106791</c:v>
                </c:pt>
                <c:pt idx="2">
                  <c:v>0.35687255574106791</c:v>
                </c:pt>
                <c:pt idx="3">
                  <c:v>0.35687255574106791</c:v>
                </c:pt>
                <c:pt idx="4">
                  <c:v>0.35687255574106791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B70-45E6-8B84-1BB9FBD70D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5542784"/>
        <c:axId val="125544320"/>
      </c:lineChart>
      <c:catAx>
        <c:axId val="1255427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chemeClr val="tx2">
                <a:lumMod val="75000"/>
              </a:schemeClr>
            </a:solidFill>
          </a:ln>
        </c:spPr>
        <c:crossAx val="125544320"/>
        <c:crosses val="autoZero"/>
        <c:auto val="1"/>
        <c:lblAlgn val="ctr"/>
        <c:lblOffset val="100"/>
        <c:noMultiLvlLbl val="0"/>
      </c:catAx>
      <c:valAx>
        <c:axId val="125544320"/>
        <c:scaling>
          <c:orientation val="minMax"/>
          <c:max val="0.6000000000000003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>
            <a:solidFill>
              <a:schemeClr val="tx2">
                <a:lumMod val="75000"/>
              </a:schemeClr>
            </a:solidFill>
          </a:ln>
        </c:spPr>
        <c:crossAx val="125542784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5.2879104397664635E-3"/>
          <c:y val="0.84522051106336737"/>
          <c:w val="0.99174603174603149"/>
          <c:h val="0.1547794889366326"/>
        </c:manualLayout>
      </c:layout>
      <c:overlay val="0"/>
    </c:legend>
    <c:plotVisOnly val="1"/>
    <c:dispBlanksAs val="gap"/>
    <c:showDLblsOverMax val="0"/>
  </c:chart>
  <c:spPr>
    <a:ln>
      <a:noFill/>
    </a:ln>
  </c:spPr>
  <c:txPr>
    <a:bodyPr/>
    <a:lstStyle/>
    <a:p>
      <a:pPr>
        <a:defRPr sz="1400">
          <a:solidFill>
            <a:schemeClr val="tx2">
              <a:lumMod val="75000"/>
            </a:schemeClr>
          </a:solidFill>
          <a:latin typeface="Abadi" panose="020B0604020104020204" pitchFamily="34" charset="0"/>
          <a:cs typeface="Times New Roman" pitchFamily="18" charset="0"/>
        </a:defRPr>
      </a:pPr>
      <a:endParaRPr lang="es-AR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409511856578877"/>
          <c:y val="5.1400554097404488E-2"/>
          <c:w val="0.88590488143421153"/>
          <c:h val="0.65188336214070808"/>
        </c:manualLayout>
      </c:layout>
      <c:lineChart>
        <c:grouping val="standard"/>
        <c:varyColors val="0"/>
        <c:ser>
          <c:idx val="0"/>
          <c:order val="0"/>
          <c:tx>
            <c:strRef>
              <c:f>'Grafico 1'!$B$1:$E$1</c:f>
              <c:strCache>
                <c:ptCount val="1"/>
                <c:pt idx="0">
                  <c:v>Valores Observados</c:v>
                </c:pt>
              </c:strCache>
            </c:strRef>
          </c:tx>
          <c:spPr>
            <a:ln w="38100">
              <a:solidFill>
                <a:schemeClr val="tx2">
                  <a:lumMod val="75000"/>
                </a:schemeClr>
              </a:solidFill>
            </a:ln>
          </c:spPr>
          <c:marker>
            <c:symbol val="none"/>
          </c:marker>
          <c:cat>
            <c:numRef>
              <c:f>'Grafico 1'!$A$10:$A$14</c:f>
              <c:numCache>
                <c:formatCode>0</c:formatCode>
                <c:ptCount val="5"/>
                <c:pt idx="0">
                  <c:v>1914</c:v>
                </c:pt>
                <c:pt idx="1">
                  <c:v>1915</c:v>
                </c:pt>
                <c:pt idx="2">
                  <c:v>1916</c:v>
                </c:pt>
                <c:pt idx="3">
                  <c:v>1917</c:v>
                </c:pt>
                <c:pt idx="4">
                  <c:v>1918</c:v>
                </c:pt>
              </c:numCache>
            </c:numRef>
          </c:cat>
          <c:val>
            <c:numRef>
              <c:f>'Grafico 1'!$E$10:$E$14</c:f>
              <c:numCache>
                <c:formatCode>0%</c:formatCode>
                <c:ptCount val="5"/>
                <c:pt idx="0">
                  <c:v>0.40709674379152722</c:v>
                </c:pt>
                <c:pt idx="1">
                  <c:v>0.3517704235130758</c:v>
                </c:pt>
                <c:pt idx="2">
                  <c:v>0.33236077213223941</c:v>
                </c:pt>
                <c:pt idx="3">
                  <c:v>0.35593146177541346</c:v>
                </c:pt>
                <c:pt idx="4">
                  <c:v>0.33720337749308488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E0-498F-8CAD-95CB31A00818}"/>
            </c:ext>
          </c:extLst>
        </c:ser>
        <c:ser>
          <c:idx val="2"/>
          <c:order val="1"/>
          <c:tx>
            <c:strRef>
              <c:f>'Grafico 1'!$N$1:$Q$1</c:f>
              <c:strCache>
                <c:ptCount val="1"/>
                <c:pt idx="0">
                  <c:v>Valores Contrafactuales </c:v>
                </c:pt>
              </c:strCache>
            </c:strRef>
          </c:tx>
          <c:spPr>
            <a:ln w="38100">
              <a:solidFill>
                <a:schemeClr val="tx2">
                  <a:lumMod val="60000"/>
                  <a:lumOff val="40000"/>
                </a:schemeClr>
              </a:solidFill>
              <a:prstDash val="sysDash"/>
            </a:ln>
          </c:spPr>
          <c:marker>
            <c:symbol val="none"/>
          </c:marker>
          <c:cat>
            <c:numRef>
              <c:f>'Grafico 1'!$A$15:$A$24</c:f>
              <c:numCache>
                <c:formatCode>0</c:formatCode>
                <c:ptCount val="10"/>
                <c:pt idx="0">
                  <c:v>1919</c:v>
                </c:pt>
                <c:pt idx="1">
                  <c:v>1920</c:v>
                </c:pt>
                <c:pt idx="2">
                  <c:v>1921</c:v>
                </c:pt>
                <c:pt idx="3">
                  <c:v>1922</c:v>
                </c:pt>
                <c:pt idx="4">
                  <c:v>1923</c:v>
                </c:pt>
                <c:pt idx="5">
                  <c:v>1924</c:v>
                </c:pt>
                <c:pt idx="6">
                  <c:v>1925</c:v>
                </c:pt>
                <c:pt idx="7">
                  <c:v>1926</c:v>
                </c:pt>
                <c:pt idx="8">
                  <c:v>1927</c:v>
                </c:pt>
                <c:pt idx="9">
                  <c:v>1928</c:v>
                </c:pt>
              </c:numCache>
            </c:numRef>
          </c:cat>
          <c:val>
            <c:numRef>
              <c:f>'Grafico 1'!$Q$10:$Q$14</c:f>
              <c:numCache>
                <c:formatCode>0%</c:formatCode>
                <c:ptCount val="5"/>
                <c:pt idx="0">
                  <c:v>0.3392394326374818</c:v>
                </c:pt>
                <c:pt idx="1">
                  <c:v>0.33454190130885408</c:v>
                </c:pt>
                <c:pt idx="2">
                  <c:v>0.31505435988462444</c:v>
                </c:pt>
                <c:pt idx="3">
                  <c:v>0.35015576869224346</c:v>
                </c:pt>
                <c:pt idx="4">
                  <c:v>0.33720337749308488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5E0-498F-8CAD-95CB31A008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9251584"/>
        <c:axId val="129253376"/>
      </c:lineChart>
      <c:catAx>
        <c:axId val="129251584"/>
        <c:scaling>
          <c:orientation val="minMax"/>
        </c:scaling>
        <c:delete val="0"/>
        <c:axPos val="b"/>
        <c:numFmt formatCode="0" sourceLinked="1"/>
        <c:majorTickMark val="out"/>
        <c:minorTickMark val="none"/>
        <c:tickLblPos val="nextTo"/>
        <c:spPr>
          <a:ln>
            <a:solidFill>
              <a:schemeClr val="tx2">
                <a:lumMod val="75000"/>
              </a:schemeClr>
            </a:solidFill>
          </a:ln>
        </c:spPr>
        <c:crossAx val="129253376"/>
        <c:crosses val="autoZero"/>
        <c:auto val="1"/>
        <c:lblAlgn val="ctr"/>
        <c:lblOffset val="100"/>
        <c:noMultiLvlLbl val="0"/>
      </c:catAx>
      <c:valAx>
        <c:axId val="129253376"/>
        <c:scaling>
          <c:orientation val="minMax"/>
          <c:max val="0.45"/>
          <c:min val="0"/>
        </c:scaling>
        <c:delete val="0"/>
        <c:axPos val="l"/>
        <c:numFmt formatCode="0%" sourceLinked="1"/>
        <c:majorTickMark val="out"/>
        <c:minorTickMark val="none"/>
        <c:tickLblPos val="nextTo"/>
        <c:spPr>
          <a:ln>
            <a:solidFill>
              <a:schemeClr val="tx2">
                <a:lumMod val="75000"/>
              </a:schemeClr>
            </a:solidFill>
          </a:ln>
        </c:spPr>
        <c:crossAx val="129251584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"/>
          <c:y val="0.86207989245246786"/>
          <c:w val="1"/>
          <c:h val="0.13792010754753217"/>
        </c:manualLayout>
      </c:layout>
      <c:overlay val="0"/>
    </c:legend>
    <c:plotVisOnly val="1"/>
    <c:dispBlanksAs val="gap"/>
    <c:showDLblsOverMax val="0"/>
  </c:chart>
  <c:spPr>
    <a:ln>
      <a:noFill/>
    </a:ln>
  </c:spPr>
  <c:txPr>
    <a:bodyPr/>
    <a:lstStyle/>
    <a:p>
      <a:pPr>
        <a:defRPr sz="1400">
          <a:solidFill>
            <a:schemeClr val="tx2">
              <a:lumMod val="75000"/>
            </a:schemeClr>
          </a:solidFill>
          <a:latin typeface="Abadi" panose="020B0604020104020204" pitchFamily="34" charset="0"/>
          <a:cs typeface="Times New Roman" pitchFamily="18" charset="0"/>
        </a:defRPr>
      </a:pPr>
      <a:endParaRPr lang="es-AR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680553567167742"/>
          <c:y val="6.1680664916885432E-2"/>
          <c:w val="0.8763913147220237"/>
          <c:h val="0.54831289901601443"/>
        </c:manualLayout>
      </c:layout>
      <c:lineChart>
        <c:grouping val="standard"/>
        <c:varyColors val="0"/>
        <c:ser>
          <c:idx val="0"/>
          <c:order val="0"/>
          <c:tx>
            <c:strRef>
              <c:f>'graf 4'!$Q$1</c:f>
              <c:strCache>
                <c:ptCount val="1"/>
                <c:pt idx="0">
                  <c:v>Observado</c:v>
                </c:pt>
              </c:strCache>
            </c:strRef>
          </c:tx>
          <c:spPr>
            <a:ln w="38100">
              <a:solidFill>
                <a:schemeClr val="tx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'graf 4'!$M$15:$M$20</c:f>
              <c:numCache>
                <c:formatCode>General</c:formatCode>
                <c:ptCount val="6"/>
                <c:pt idx="0">
                  <c:v>1913</c:v>
                </c:pt>
                <c:pt idx="1">
                  <c:v>1914</c:v>
                </c:pt>
                <c:pt idx="2">
                  <c:v>1915</c:v>
                </c:pt>
                <c:pt idx="3">
                  <c:v>1916</c:v>
                </c:pt>
                <c:pt idx="4">
                  <c:v>1917</c:v>
                </c:pt>
                <c:pt idx="5">
                  <c:v>1918</c:v>
                </c:pt>
              </c:numCache>
            </c:numRef>
          </c:cat>
          <c:val>
            <c:numRef>
              <c:f>'graf 4'!$Q$15:$Q$20</c:f>
              <c:numCache>
                <c:formatCode>0</c:formatCode>
                <c:ptCount val="6"/>
                <c:pt idx="0">
                  <c:v>-33.232889</c:v>
                </c:pt>
                <c:pt idx="1">
                  <c:v>-146.24080499999982</c:v>
                </c:pt>
                <c:pt idx="2">
                  <c:v>-138.94853200000003</c:v>
                </c:pt>
                <c:pt idx="3">
                  <c:v>-119.90412900000021</c:v>
                </c:pt>
                <c:pt idx="4">
                  <c:v>-135.25296399999999</c:v>
                </c:pt>
                <c:pt idx="5">
                  <c:v>-99.214923000000198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F1D-4C6F-8900-EDE95BF8579B}"/>
            </c:ext>
          </c:extLst>
        </c:ser>
        <c:ser>
          <c:idx val="1"/>
          <c:order val="1"/>
          <c:tx>
            <c:strRef>
              <c:f>'graf 4'!$R$1</c:f>
              <c:strCache>
                <c:ptCount val="1"/>
                <c:pt idx="0">
                  <c:v>Contrafactual</c:v>
                </c:pt>
              </c:strCache>
            </c:strRef>
          </c:tx>
          <c:spPr>
            <a:ln w="38100">
              <a:solidFill>
                <a:schemeClr val="tx2">
                  <a:lumMod val="60000"/>
                  <a:lumOff val="40000"/>
                </a:schemeClr>
              </a:solidFill>
              <a:prstDash val="sysDash"/>
            </a:ln>
          </c:spPr>
          <c:marker>
            <c:symbol val="none"/>
          </c:marker>
          <c:cat>
            <c:numRef>
              <c:f>'graf 4'!$A$14:$A$19</c:f>
              <c:numCache>
                <c:formatCode>@</c:formatCode>
                <c:ptCount val="6"/>
                <c:pt idx="0">
                  <c:v>1913</c:v>
                </c:pt>
                <c:pt idx="1">
                  <c:v>1914</c:v>
                </c:pt>
                <c:pt idx="2">
                  <c:v>1915</c:v>
                </c:pt>
                <c:pt idx="3">
                  <c:v>1916</c:v>
                </c:pt>
                <c:pt idx="4">
                  <c:v>1917</c:v>
                </c:pt>
                <c:pt idx="5">
                  <c:v>1918</c:v>
                </c:pt>
              </c:numCache>
            </c:numRef>
          </c:cat>
          <c:val>
            <c:numRef>
              <c:f>'graf 4'!$R$15:$R$20</c:f>
              <c:numCache>
                <c:formatCode>0</c:formatCode>
                <c:ptCount val="6"/>
                <c:pt idx="0">
                  <c:v>-34.516680999999977</c:v>
                </c:pt>
                <c:pt idx="1">
                  <c:v>-148.21612637000001</c:v>
                </c:pt>
                <c:pt idx="2">
                  <c:v>-211.33664876000003</c:v>
                </c:pt>
                <c:pt idx="3">
                  <c:v>-252.97748380850004</c:v>
                </c:pt>
                <c:pt idx="4">
                  <c:v>-413.2667288998</c:v>
                </c:pt>
                <c:pt idx="5">
                  <c:v>-688.66454838529921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F1D-4C6F-8900-EDE95BF857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9262720"/>
        <c:axId val="129264256"/>
      </c:lineChart>
      <c:catAx>
        <c:axId val="1292627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>
            <a:solidFill>
              <a:schemeClr val="tx2">
                <a:lumMod val="75000"/>
              </a:schemeClr>
            </a:solidFill>
          </a:ln>
        </c:spPr>
        <c:txPr>
          <a:bodyPr rot="-5400000" vert="horz"/>
          <a:lstStyle/>
          <a:p>
            <a:pPr>
              <a:defRPr/>
            </a:pPr>
            <a:endParaRPr lang="es-AR"/>
          </a:p>
        </c:txPr>
        <c:crossAx val="129264256"/>
        <c:crosses val="autoZero"/>
        <c:auto val="1"/>
        <c:lblAlgn val="ctr"/>
        <c:lblOffset val="100"/>
        <c:noMultiLvlLbl val="0"/>
      </c:catAx>
      <c:valAx>
        <c:axId val="129264256"/>
        <c:scaling>
          <c:orientation val="minMax"/>
          <c:max val="100"/>
          <c:min val="-1200"/>
        </c:scaling>
        <c:delete val="0"/>
        <c:axPos val="l"/>
        <c:numFmt formatCode="0" sourceLinked="0"/>
        <c:majorTickMark val="out"/>
        <c:minorTickMark val="none"/>
        <c:tickLblPos val="nextTo"/>
        <c:spPr>
          <a:ln>
            <a:solidFill>
              <a:schemeClr val="tx2">
                <a:lumMod val="75000"/>
              </a:schemeClr>
            </a:solidFill>
          </a:ln>
        </c:spPr>
        <c:crossAx val="12926272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2.4185524672410449E-3"/>
          <c:y val="0.85908037142720051"/>
          <c:w val="0.97939876334846587"/>
          <c:h val="0.14091962857279947"/>
        </c:manualLayout>
      </c:layout>
      <c:overlay val="0"/>
    </c:legend>
    <c:plotVisOnly val="1"/>
    <c:dispBlanksAs val="gap"/>
    <c:showDLblsOverMax val="0"/>
  </c:chart>
  <c:spPr>
    <a:ln>
      <a:noFill/>
    </a:ln>
  </c:spPr>
  <c:txPr>
    <a:bodyPr/>
    <a:lstStyle/>
    <a:p>
      <a:pPr>
        <a:defRPr sz="1400">
          <a:solidFill>
            <a:schemeClr val="tx2">
              <a:lumMod val="75000"/>
            </a:schemeClr>
          </a:solidFill>
          <a:latin typeface="Abadi" panose="020B0604020104020204" pitchFamily="34" charset="0"/>
          <a:cs typeface="Times New Roman" pitchFamily="18" charset="0"/>
        </a:defRPr>
      </a:pPr>
      <a:endParaRPr lang="es-AR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702051132497327"/>
          <c:y val="4.7295078530519147E-2"/>
          <c:w val="0.89297948867502674"/>
          <c:h val="0.55990403108413145"/>
        </c:manualLayout>
      </c:layout>
      <c:lineChart>
        <c:grouping val="standard"/>
        <c:varyColors val="0"/>
        <c:ser>
          <c:idx val="3"/>
          <c:order val="0"/>
          <c:tx>
            <c:strRef>
              <c:f>'Bal de Pagos'!$E$1</c:f>
              <c:strCache>
                <c:ptCount val="1"/>
                <c:pt idx="0">
                  <c:v>Variación de Reservas</c:v>
                </c:pt>
              </c:strCache>
            </c:strRef>
          </c:tx>
          <c:spPr>
            <a:ln w="38100">
              <a:solidFill>
                <a:schemeClr val="tx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'Bal de Pagos'!$A$6:$A$15</c:f>
              <c:numCache>
                <c:formatCode>General</c:formatCode>
                <c:ptCount val="10"/>
                <c:pt idx="0">
                  <c:v>1919</c:v>
                </c:pt>
                <c:pt idx="1">
                  <c:v>1920</c:v>
                </c:pt>
                <c:pt idx="2">
                  <c:v>1921</c:v>
                </c:pt>
                <c:pt idx="3">
                  <c:v>1922</c:v>
                </c:pt>
                <c:pt idx="4">
                  <c:v>1923</c:v>
                </c:pt>
                <c:pt idx="5">
                  <c:v>1924</c:v>
                </c:pt>
                <c:pt idx="6">
                  <c:v>1925</c:v>
                </c:pt>
                <c:pt idx="7">
                  <c:v>1926</c:v>
                </c:pt>
                <c:pt idx="8">
                  <c:v>1927</c:v>
                </c:pt>
                <c:pt idx="9">
                  <c:v>1928</c:v>
                </c:pt>
              </c:numCache>
            </c:numRef>
          </c:cat>
          <c:val>
            <c:numRef>
              <c:f>'Bal de Pagos'!$E$6:$E$15</c:f>
              <c:numCache>
                <c:formatCode>#,##0.00\ \ </c:formatCode>
                <c:ptCount val="10"/>
                <c:pt idx="0">
                  <c:v>31.8</c:v>
                </c:pt>
                <c:pt idx="1">
                  <c:v>103.9</c:v>
                </c:pt>
                <c:pt idx="2">
                  <c:v>-14.3</c:v>
                </c:pt>
                <c:pt idx="3">
                  <c:v>-1.9</c:v>
                </c:pt>
                <c:pt idx="4">
                  <c:v>-18</c:v>
                </c:pt>
                <c:pt idx="5">
                  <c:v>-38.799999999999997</c:v>
                </c:pt>
                <c:pt idx="6">
                  <c:v>10.1</c:v>
                </c:pt>
                <c:pt idx="7" formatCode="#,##0.000\ \ ">
                  <c:v>0.1</c:v>
                </c:pt>
                <c:pt idx="8">
                  <c:v>137.30000000000001</c:v>
                </c:pt>
                <c:pt idx="9">
                  <c:v>133.1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83E-4D60-9D7E-E20F14D2F8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9542784"/>
        <c:axId val="129552768"/>
      </c:lineChart>
      <c:catAx>
        <c:axId val="1295427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>
            <a:solidFill>
              <a:schemeClr val="tx2">
                <a:lumMod val="75000"/>
              </a:schemeClr>
            </a:solidFill>
          </a:ln>
        </c:spPr>
        <c:txPr>
          <a:bodyPr rot="-5400000" vert="horz"/>
          <a:lstStyle/>
          <a:p>
            <a:pPr>
              <a:defRPr/>
            </a:pPr>
            <a:endParaRPr lang="es-AR"/>
          </a:p>
        </c:txPr>
        <c:crossAx val="129552768"/>
        <c:crosses val="autoZero"/>
        <c:auto val="1"/>
        <c:lblAlgn val="ctr"/>
        <c:lblOffset val="100"/>
        <c:tickLblSkip val="1"/>
        <c:noMultiLvlLbl val="0"/>
      </c:catAx>
      <c:valAx>
        <c:axId val="129552768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chemeClr val="tx2">
                <a:lumMod val="75000"/>
              </a:schemeClr>
            </a:solidFill>
          </a:ln>
        </c:spPr>
        <c:crossAx val="129542784"/>
        <c:crosses val="autoZero"/>
        <c:crossBetween val="between"/>
      </c:valAx>
      <c:spPr>
        <a:noFill/>
        <a:ln w="25400" cap="flat" cmpd="sng" algn="ctr">
          <a:noFill/>
          <a:prstDash val="solid"/>
        </a:ln>
        <a:effectLst/>
      </c:spPr>
    </c:plotArea>
    <c:legend>
      <c:legendPos val="b"/>
      <c:layout>
        <c:manualLayout>
          <c:xMode val="edge"/>
          <c:yMode val="edge"/>
          <c:x val="0"/>
          <c:y val="0.83735701122466077"/>
          <c:w val="1"/>
          <c:h val="0.16264298877533953"/>
        </c:manualLayout>
      </c:layout>
      <c:overlay val="0"/>
    </c:legend>
    <c:plotVisOnly val="1"/>
    <c:dispBlanksAs val="gap"/>
    <c:showDLblsOverMax val="0"/>
  </c:chart>
  <c:spPr>
    <a:noFill/>
    <a:ln w="25400" cap="flat" cmpd="sng" algn="ctr">
      <a:noFill/>
      <a:prstDash val="solid"/>
    </a:ln>
    <a:effectLst/>
  </c:spPr>
  <c:txPr>
    <a:bodyPr/>
    <a:lstStyle/>
    <a:p>
      <a:pPr>
        <a:defRPr sz="1600">
          <a:solidFill>
            <a:schemeClr val="tx2">
              <a:lumMod val="75000"/>
            </a:schemeClr>
          </a:solidFill>
          <a:latin typeface="Abadi" panose="020B0604020104020204" pitchFamily="34" charset="0"/>
          <a:ea typeface="+mn-ea"/>
          <a:cs typeface="Times New Roman" pitchFamily="18" charset="0"/>
        </a:defRPr>
      </a:pPr>
      <a:endParaRPr lang="es-AR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9.0559605975179022E-2"/>
          <c:y val="0.10790085898353614"/>
          <c:w val="0.8508829134947361"/>
          <c:h val="0.5117213787555106"/>
        </c:manualLayout>
      </c:layout>
      <c:lineChart>
        <c:grouping val="standard"/>
        <c:varyColors val="0"/>
        <c:ser>
          <c:idx val="0"/>
          <c:order val="0"/>
          <c:tx>
            <c:strRef>
              <c:f>'Tipo de Cambio'!$D$1</c:f>
              <c:strCache>
                <c:ptCount val="1"/>
                <c:pt idx="0">
                  <c:v>Observado</c:v>
                </c:pt>
              </c:strCache>
            </c:strRef>
          </c:tx>
          <c:spPr>
            <a:ln w="38100">
              <a:solidFill>
                <a:schemeClr val="tx2">
                  <a:lumMod val="50000"/>
                </a:schemeClr>
              </a:solidFill>
            </a:ln>
          </c:spPr>
          <c:marker>
            <c:symbol val="none"/>
          </c:marker>
          <c:cat>
            <c:multiLvlStrRef>
              <c:f>'Tipo de Cambio'!$A$2:$B$121</c:f>
              <c:multiLvlStrCache>
                <c:ptCount val="120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  <c:pt idx="12">
                    <c:v>Ene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Abr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Ago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Dic</c:v>
                  </c:pt>
                  <c:pt idx="24">
                    <c:v>Ene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Abr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Ago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Dic</c:v>
                  </c:pt>
                  <c:pt idx="36">
                    <c:v>Ene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Abr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Ago</c:v>
                  </c:pt>
                  <c:pt idx="44">
                    <c:v>Sep</c:v>
                  </c:pt>
                  <c:pt idx="45">
                    <c:v>Oct</c:v>
                  </c:pt>
                  <c:pt idx="46">
                    <c:v>Nov</c:v>
                  </c:pt>
                  <c:pt idx="47">
                    <c:v>Dic</c:v>
                  </c:pt>
                  <c:pt idx="48">
                    <c:v>Ene</c:v>
                  </c:pt>
                  <c:pt idx="49">
                    <c:v>Feb</c:v>
                  </c:pt>
                  <c:pt idx="50">
                    <c:v>Mar</c:v>
                  </c:pt>
                  <c:pt idx="51">
                    <c:v>Abr</c:v>
                  </c:pt>
                  <c:pt idx="52">
                    <c:v>May</c:v>
                  </c:pt>
                  <c:pt idx="53">
                    <c:v>Jun</c:v>
                  </c:pt>
                  <c:pt idx="54">
                    <c:v>Jul</c:v>
                  </c:pt>
                  <c:pt idx="55">
                    <c:v>Ago</c:v>
                  </c:pt>
                  <c:pt idx="56">
                    <c:v>Sep</c:v>
                  </c:pt>
                  <c:pt idx="57">
                    <c:v>Oct</c:v>
                  </c:pt>
                  <c:pt idx="58">
                    <c:v>Nov</c:v>
                  </c:pt>
                  <c:pt idx="59">
                    <c:v>Dic</c:v>
                  </c:pt>
                  <c:pt idx="60">
                    <c:v>Ene</c:v>
                  </c:pt>
                  <c:pt idx="61">
                    <c:v>Feb</c:v>
                  </c:pt>
                  <c:pt idx="62">
                    <c:v>Mar</c:v>
                  </c:pt>
                  <c:pt idx="63">
                    <c:v>Abr</c:v>
                  </c:pt>
                  <c:pt idx="64">
                    <c:v>May</c:v>
                  </c:pt>
                  <c:pt idx="65">
                    <c:v>Jun</c:v>
                  </c:pt>
                  <c:pt idx="66">
                    <c:v>Jul</c:v>
                  </c:pt>
                  <c:pt idx="67">
                    <c:v>Ago</c:v>
                  </c:pt>
                  <c:pt idx="68">
                    <c:v>Sep</c:v>
                  </c:pt>
                  <c:pt idx="69">
                    <c:v>Oct</c:v>
                  </c:pt>
                  <c:pt idx="70">
                    <c:v>Nov</c:v>
                  </c:pt>
                  <c:pt idx="71">
                    <c:v>Dic</c:v>
                  </c:pt>
                  <c:pt idx="72">
                    <c:v>Ene</c:v>
                  </c:pt>
                  <c:pt idx="73">
                    <c:v>Feb</c:v>
                  </c:pt>
                  <c:pt idx="74">
                    <c:v>Mar</c:v>
                  </c:pt>
                  <c:pt idx="75">
                    <c:v>Abr</c:v>
                  </c:pt>
                  <c:pt idx="76">
                    <c:v>May</c:v>
                  </c:pt>
                  <c:pt idx="77">
                    <c:v>Jun</c:v>
                  </c:pt>
                  <c:pt idx="78">
                    <c:v>Jul</c:v>
                  </c:pt>
                  <c:pt idx="79">
                    <c:v>Ago</c:v>
                  </c:pt>
                  <c:pt idx="80">
                    <c:v>Sep</c:v>
                  </c:pt>
                  <c:pt idx="81">
                    <c:v>Oct</c:v>
                  </c:pt>
                  <c:pt idx="82">
                    <c:v>Nov</c:v>
                  </c:pt>
                  <c:pt idx="83">
                    <c:v>Dic</c:v>
                  </c:pt>
                  <c:pt idx="84">
                    <c:v>Ene</c:v>
                  </c:pt>
                  <c:pt idx="85">
                    <c:v>Feb</c:v>
                  </c:pt>
                  <c:pt idx="86">
                    <c:v>Mar</c:v>
                  </c:pt>
                  <c:pt idx="87">
                    <c:v>Abr</c:v>
                  </c:pt>
                  <c:pt idx="88">
                    <c:v>May</c:v>
                  </c:pt>
                  <c:pt idx="89">
                    <c:v>Jun</c:v>
                  </c:pt>
                  <c:pt idx="90">
                    <c:v>Jul</c:v>
                  </c:pt>
                  <c:pt idx="91">
                    <c:v>Ago</c:v>
                  </c:pt>
                  <c:pt idx="92">
                    <c:v>Sep</c:v>
                  </c:pt>
                  <c:pt idx="93">
                    <c:v>Oct</c:v>
                  </c:pt>
                  <c:pt idx="94">
                    <c:v>Nov</c:v>
                  </c:pt>
                  <c:pt idx="95">
                    <c:v>Dic</c:v>
                  </c:pt>
                  <c:pt idx="96">
                    <c:v>Ene</c:v>
                  </c:pt>
                  <c:pt idx="97">
                    <c:v>Feb</c:v>
                  </c:pt>
                  <c:pt idx="98">
                    <c:v>Mar</c:v>
                  </c:pt>
                  <c:pt idx="99">
                    <c:v>Abr</c:v>
                  </c:pt>
                  <c:pt idx="100">
                    <c:v>May</c:v>
                  </c:pt>
                  <c:pt idx="101">
                    <c:v>Jun</c:v>
                  </c:pt>
                  <c:pt idx="102">
                    <c:v>Jul</c:v>
                  </c:pt>
                  <c:pt idx="103">
                    <c:v>Ago</c:v>
                  </c:pt>
                  <c:pt idx="104">
                    <c:v>Sep</c:v>
                  </c:pt>
                  <c:pt idx="105">
                    <c:v>Oct</c:v>
                  </c:pt>
                  <c:pt idx="106">
                    <c:v>Nov</c:v>
                  </c:pt>
                  <c:pt idx="107">
                    <c:v>Dic</c:v>
                  </c:pt>
                  <c:pt idx="108">
                    <c:v>Ene</c:v>
                  </c:pt>
                  <c:pt idx="109">
                    <c:v>Feb</c:v>
                  </c:pt>
                  <c:pt idx="110">
                    <c:v>Mar</c:v>
                  </c:pt>
                  <c:pt idx="111">
                    <c:v>Abr</c:v>
                  </c:pt>
                  <c:pt idx="112">
                    <c:v>May</c:v>
                  </c:pt>
                  <c:pt idx="113">
                    <c:v>Jun</c:v>
                  </c:pt>
                  <c:pt idx="114">
                    <c:v>Jul</c:v>
                  </c:pt>
                  <c:pt idx="115">
                    <c:v>Ago</c:v>
                  </c:pt>
                  <c:pt idx="116">
                    <c:v>Sep</c:v>
                  </c:pt>
                  <c:pt idx="117">
                    <c:v>Oct</c:v>
                  </c:pt>
                  <c:pt idx="118">
                    <c:v>Nov</c:v>
                  </c:pt>
                  <c:pt idx="119">
                    <c:v>Dic</c:v>
                  </c:pt>
                </c:lvl>
                <c:lvl>
                  <c:pt idx="0">
                    <c:v>1919</c:v>
                  </c:pt>
                  <c:pt idx="12">
                    <c:v>1920</c:v>
                  </c:pt>
                  <c:pt idx="24">
                    <c:v>1921</c:v>
                  </c:pt>
                  <c:pt idx="36">
                    <c:v>1922</c:v>
                  </c:pt>
                  <c:pt idx="48">
                    <c:v>1923</c:v>
                  </c:pt>
                  <c:pt idx="60">
                    <c:v>1924</c:v>
                  </c:pt>
                  <c:pt idx="72">
                    <c:v>1925</c:v>
                  </c:pt>
                  <c:pt idx="84">
                    <c:v>1926</c:v>
                  </c:pt>
                  <c:pt idx="96">
                    <c:v>1927</c:v>
                  </c:pt>
                  <c:pt idx="108">
                    <c:v>1928</c:v>
                  </c:pt>
                </c:lvl>
              </c:multiLvlStrCache>
            </c:multiLvlStrRef>
          </c:cat>
          <c:val>
            <c:numRef>
              <c:f>'Tipo de Cambio'!$D$2:$D$121</c:f>
              <c:numCache>
                <c:formatCode>_(* #,##0.00_);_(* \(#,##0.00\);_(* "-"??_);_(@_)</c:formatCode>
                <c:ptCount val="120"/>
                <c:pt idx="0">
                  <c:v>2.1539999999999999</c:v>
                </c:pt>
                <c:pt idx="1">
                  <c:v>2.1553</c:v>
                </c:pt>
                <c:pt idx="2">
                  <c:v>2.1737000000000002</c:v>
                </c:pt>
                <c:pt idx="3">
                  <c:v>2.1924999999999999</c:v>
                </c:pt>
                <c:pt idx="4">
                  <c:v>2.1818</c:v>
                </c:pt>
                <c:pt idx="5">
                  <c:v>2.2307000000000001</c:v>
                </c:pt>
                <c:pt idx="6">
                  <c:v>2.2690999999999999</c:v>
                </c:pt>
                <c:pt idx="7">
                  <c:v>2.2892999999999999</c:v>
                </c:pt>
                <c:pt idx="8">
                  <c:v>2.2787000000000002</c:v>
                </c:pt>
                <c:pt idx="9">
                  <c:v>2.2784999999999997</c:v>
                </c:pt>
                <c:pt idx="10">
                  <c:v>2.2486999999999999</c:v>
                </c:pt>
                <c:pt idx="11">
                  <c:v>2.2389999999999999</c:v>
                </c:pt>
                <c:pt idx="12">
                  <c:v>2.2395</c:v>
                </c:pt>
                <c:pt idx="13">
                  <c:v>2.2342</c:v>
                </c:pt>
                <c:pt idx="14">
                  <c:v>2.2357</c:v>
                </c:pt>
                <c:pt idx="15">
                  <c:v>2.2477999999999998</c:v>
                </c:pt>
                <c:pt idx="16">
                  <c:v>2.2747999999999999</c:v>
                </c:pt>
                <c:pt idx="17">
                  <c:v>2.2993000000000001</c:v>
                </c:pt>
                <c:pt idx="18">
                  <c:v>2.4086000000000003</c:v>
                </c:pt>
                <c:pt idx="19">
                  <c:v>2.548</c:v>
                </c:pt>
                <c:pt idx="20">
                  <c:v>2.6189</c:v>
                </c:pt>
                <c:pt idx="21">
                  <c:v>2.7157999999999998</c:v>
                </c:pt>
                <c:pt idx="22">
                  <c:v>2.8849</c:v>
                </c:pt>
                <c:pt idx="23">
                  <c:v>2.8254000000000001</c:v>
                </c:pt>
                <c:pt idx="24">
                  <c:v>2.7949999999999999</c:v>
                </c:pt>
                <c:pt idx="25">
                  <c:v>2.7610000000000001</c:v>
                </c:pt>
                <c:pt idx="26">
                  <c:v>2.8298000000000001</c:v>
                </c:pt>
                <c:pt idx="27">
                  <c:v>3.0110000000000001</c:v>
                </c:pt>
                <c:pt idx="28">
                  <c:v>3.1135999999999999</c:v>
                </c:pt>
                <c:pt idx="29">
                  <c:v>3.1888000000000001</c:v>
                </c:pt>
                <c:pt idx="30">
                  <c:v>3.3323</c:v>
                </c:pt>
                <c:pt idx="31">
                  <c:v>3.2920999999999996</c:v>
                </c:pt>
                <c:pt idx="32">
                  <c:v>3.1444999999999999</c:v>
                </c:pt>
                <c:pt idx="33">
                  <c:v>3.0048000000000004</c:v>
                </c:pt>
                <c:pt idx="34">
                  <c:v>2.9782999999999999</c:v>
                </c:pt>
                <c:pt idx="35">
                  <c:v>2.9211</c:v>
                </c:pt>
                <c:pt idx="36">
                  <c:v>2.8666</c:v>
                </c:pt>
                <c:pt idx="37">
                  <c:v>2.6582999999999997</c:v>
                </c:pt>
                <c:pt idx="38">
                  <c:v>2.6477999999999997</c:v>
                </c:pt>
                <c:pt idx="39">
                  <c:v>2.7168999999999999</c:v>
                </c:pt>
                <c:pt idx="40">
                  <c:v>2.6600999999999999</c:v>
                </c:pt>
                <c:pt idx="41">
                  <c:v>2.6757</c:v>
                </c:pt>
                <c:pt idx="42">
                  <c:v>2.6772000000000005</c:v>
                </c:pt>
                <c:pt idx="43">
                  <c:v>2.6697000000000002</c:v>
                </c:pt>
                <c:pt idx="44">
                  <c:v>2.7045999999999997</c:v>
                </c:pt>
                <c:pt idx="45">
                  <c:v>2.6893000000000002</c:v>
                </c:pt>
                <c:pt idx="46">
                  <c:v>2.6592000000000002</c:v>
                </c:pt>
                <c:pt idx="47">
                  <c:v>2.5594000000000001</c:v>
                </c:pt>
                <c:pt idx="48">
                  <c:v>2.5863999999999998</c:v>
                </c:pt>
                <c:pt idx="49">
                  <c:v>2.6008999999999998</c:v>
                </c:pt>
                <c:pt idx="50">
                  <c:v>2.6036999999999999</c:v>
                </c:pt>
                <c:pt idx="51">
                  <c:v>2.6419000000000001</c:v>
                </c:pt>
                <c:pt idx="52">
                  <c:v>2.6867999999999999</c:v>
                </c:pt>
                <c:pt idx="53">
                  <c:v>2.7220999999999997</c:v>
                </c:pt>
                <c:pt idx="54">
                  <c:v>2.8245999999999998</c:v>
                </c:pt>
                <c:pt idx="55">
                  <c:v>2.9508999999999999</c:v>
                </c:pt>
                <c:pt idx="56">
                  <c:v>2.9282999999999997</c:v>
                </c:pt>
                <c:pt idx="57">
                  <c:v>2.9781</c:v>
                </c:pt>
                <c:pt idx="58">
                  <c:v>3.0863999999999998</c:v>
                </c:pt>
                <c:pt idx="59">
                  <c:v>3.0311000000000003</c:v>
                </c:pt>
                <c:pt idx="60">
                  <c:v>2.9735</c:v>
                </c:pt>
                <c:pt idx="61">
                  <c:v>2.8643000000000001</c:v>
                </c:pt>
                <c:pt idx="62">
                  <c:v>2.8683999999999998</c:v>
                </c:pt>
                <c:pt idx="63">
                  <c:v>2.9370999999999996</c:v>
                </c:pt>
                <c:pt idx="64">
                  <c:v>2.9352999999999998</c:v>
                </c:pt>
                <c:pt idx="65">
                  <c:v>2.9654000000000003</c:v>
                </c:pt>
                <c:pt idx="66">
                  <c:v>2.9548000000000001</c:v>
                </c:pt>
                <c:pt idx="67">
                  <c:v>2.8538999999999999</c:v>
                </c:pt>
                <c:pt idx="68">
                  <c:v>2.7373000000000003</c:v>
                </c:pt>
                <c:pt idx="69">
                  <c:v>2.6224000000000003</c:v>
                </c:pt>
                <c:pt idx="70">
                  <c:v>2.5623</c:v>
                </c:pt>
                <c:pt idx="71">
                  <c:v>2.4781</c:v>
                </c:pt>
                <c:pt idx="72">
                  <c:v>2.4058999999999999</c:v>
                </c:pt>
                <c:pt idx="73">
                  <c:v>2.4276</c:v>
                </c:pt>
                <c:pt idx="74">
                  <c:v>2.4471000000000003</c:v>
                </c:pt>
                <c:pt idx="75">
                  <c:v>2.5269999999999997</c:v>
                </c:pt>
                <c:pt idx="76">
                  <c:v>2.4285000000000001</c:v>
                </c:pt>
                <c:pt idx="77">
                  <c:v>2.4037000000000002</c:v>
                </c:pt>
                <c:pt idx="78">
                  <c:v>2.3900999999999999</c:v>
                </c:pt>
                <c:pt idx="79">
                  <c:v>2.3919000000000001</c:v>
                </c:pt>
                <c:pt idx="80">
                  <c:v>2.3896999999999999</c:v>
                </c:pt>
                <c:pt idx="81">
                  <c:v>2.3475999999999999</c:v>
                </c:pt>
                <c:pt idx="82">
                  <c:v>2.3216999999999999</c:v>
                </c:pt>
                <c:pt idx="83">
                  <c:v>2.3279000000000001</c:v>
                </c:pt>
                <c:pt idx="84">
                  <c:v>2.3287</c:v>
                </c:pt>
                <c:pt idx="85">
                  <c:v>2.3538999999999999</c:v>
                </c:pt>
                <c:pt idx="86">
                  <c:v>2.4300000000000002</c:v>
                </c:pt>
                <c:pt idx="87">
                  <c:v>2.4144999999999999</c:v>
                </c:pt>
                <c:pt idx="88">
                  <c:v>2.4047999999999998</c:v>
                </c:pt>
                <c:pt idx="89">
                  <c:v>2.3934000000000002</c:v>
                </c:pt>
                <c:pt idx="90">
                  <c:v>2.3805000000000001</c:v>
                </c:pt>
                <c:pt idx="91">
                  <c:v>2.3866000000000001</c:v>
                </c:pt>
                <c:pt idx="92">
                  <c:v>2.3772000000000002</c:v>
                </c:pt>
                <c:pt idx="93">
                  <c:v>2.3649</c:v>
                </c:pt>
                <c:pt idx="94">
                  <c:v>2.3738999999999999</c:v>
                </c:pt>
                <c:pt idx="95">
                  <c:v>2.35</c:v>
                </c:pt>
                <c:pt idx="96">
                  <c:v>2.3353000000000002</c:v>
                </c:pt>
                <c:pt idx="97">
                  <c:v>2.3109999999999999</c:v>
                </c:pt>
                <c:pt idx="98">
                  <c:v>2.282</c:v>
                </c:pt>
                <c:pt idx="99">
                  <c:v>2.2783000000000002</c:v>
                </c:pt>
                <c:pt idx="100">
                  <c:v>2.2784999999999997</c:v>
                </c:pt>
                <c:pt idx="101">
                  <c:v>2.2730000000000001</c:v>
                </c:pt>
                <c:pt idx="102">
                  <c:v>2.2713000000000001</c:v>
                </c:pt>
                <c:pt idx="103">
                  <c:v>2.2726999999999999</c:v>
                </c:pt>
                <c:pt idx="104">
                  <c:v>2.2726999999999999</c:v>
                </c:pt>
                <c:pt idx="105">
                  <c:v>2.2726999999999999</c:v>
                </c:pt>
                <c:pt idx="106">
                  <c:v>2.2726999999999999</c:v>
                </c:pt>
                <c:pt idx="107">
                  <c:v>2.2726999999999999</c:v>
                </c:pt>
                <c:pt idx="108">
                  <c:v>2.2726999999999999</c:v>
                </c:pt>
                <c:pt idx="109">
                  <c:v>2.2726999999999999</c:v>
                </c:pt>
                <c:pt idx="110">
                  <c:v>2.2726999999999999</c:v>
                </c:pt>
                <c:pt idx="111">
                  <c:v>2.2726999999999999</c:v>
                </c:pt>
                <c:pt idx="112">
                  <c:v>2.2726999999999999</c:v>
                </c:pt>
                <c:pt idx="113">
                  <c:v>2.2726999999999999</c:v>
                </c:pt>
                <c:pt idx="114">
                  <c:v>2.2726999999999999</c:v>
                </c:pt>
                <c:pt idx="115">
                  <c:v>2.2726999999999999</c:v>
                </c:pt>
                <c:pt idx="116">
                  <c:v>2.2726999999999999</c:v>
                </c:pt>
                <c:pt idx="117">
                  <c:v>2.2726999999999999</c:v>
                </c:pt>
                <c:pt idx="118">
                  <c:v>2.2726999999999999</c:v>
                </c:pt>
                <c:pt idx="119">
                  <c:v>2.2726999999999999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FE-4FF6-BF06-525836A24B3C}"/>
            </c:ext>
          </c:extLst>
        </c:ser>
        <c:ser>
          <c:idx val="1"/>
          <c:order val="1"/>
          <c:tx>
            <c:strRef>
              <c:f>'Tipo de Cambio'!$E$1</c:f>
              <c:strCache>
                <c:ptCount val="1"/>
                <c:pt idx="0">
                  <c:v>Paridad</c:v>
                </c:pt>
              </c:strCache>
            </c:strRef>
          </c:tx>
          <c:spPr>
            <a:ln w="38100">
              <a:solidFill>
                <a:schemeClr val="tx2">
                  <a:lumMod val="60000"/>
                  <a:lumOff val="40000"/>
                </a:schemeClr>
              </a:solidFill>
              <a:prstDash val="sysDash"/>
            </a:ln>
          </c:spPr>
          <c:marker>
            <c:symbol val="none"/>
          </c:marker>
          <c:cat>
            <c:multiLvlStrRef>
              <c:f>'Tipo de Cambio'!$A$2:$B$121</c:f>
              <c:multiLvlStrCache>
                <c:ptCount val="120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  <c:pt idx="12">
                    <c:v>Ene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Abr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Ago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Dic</c:v>
                  </c:pt>
                  <c:pt idx="24">
                    <c:v>Ene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Abr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Ago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Dic</c:v>
                  </c:pt>
                  <c:pt idx="36">
                    <c:v>Ene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Abr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Ago</c:v>
                  </c:pt>
                  <c:pt idx="44">
                    <c:v>Sep</c:v>
                  </c:pt>
                  <c:pt idx="45">
                    <c:v>Oct</c:v>
                  </c:pt>
                  <c:pt idx="46">
                    <c:v>Nov</c:v>
                  </c:pt>
                  <c:pt idx="47">
                    <c:v>Dic</c:v>
                  </c:pt>
                  <c:pt idx="48">
                    <c:v>Ene</c:v>
                  </c:pt>
                  <c:pt idx="49">
                    <c:v>Feb</c:v>
                  </c:pt>
                  <c:pt idx="50">
                    <c:v>Mar</c:v>
                  </c:pt>
                  <c:pt idx="51">
                    <c:v>Abr</c:v>
                  </c:pt>
                  <c:pt idx="52">
                    <c:v>May</c:v>
                  </c:pt>
                  <c:pt idx="53">
                    <c:v>Jun</c:v>
                  </c:pt>
                  <c:pt idx="54">
                    <c:v>Jul</c:v>
                  </c:pt>
                  <c:pt idx="55">
                    <c:v>Ago</c:v>
                  </c:pt>
                  <c:pt idx="56">
                    <c:v>Sep</c:v>
                  </c:pt>
                  <c:pt idx="57">
                    <c:v>Oct</c:v>
                  </c:pt>
                  <c:pt idx="58">
                    <c:v>Nov</c:v>
                  </c:pt>
                  <c:pt idx="59">
                    <c:v>Dic</c:v>
                  </c:pt>
                  <c:pt idx="60">
                    <c:v>Ene</c:v>
                  </c:pt>
                  <c:pt idx="61">
                    <c:v>Feb</c:v>
                  </c:pt>
                  <c:pt idx="62">
                    <c:v>Mar</c:v>
                  </c:pt>
                  <c:pt idx="63">
                    <c:v>Abr</c:v>
                  </c:pt>
                  <c:pt idx="64">
                    <c:v>May</c:v>
                  </c:pt>
                  <c:pt idx="65">
                    <c:v>Jun</c:v>
                  </c:pt>
                  <c:pt idx="66">
                    <c:v>Jul</c:v>
                  </c:pt>
                  <c:pt idx="67">
                    <c:v>Ago</c:v>
                  </c:pt>
                  <c:pt idx="68">
                    <c:v>Sep</c:v>
                  </c:pt>
                  <c:pt idx="69">
                    <c:v>Oct</c:v>
                  </c:pt>
                  <c:pt idx="70">
                    <c:v>Nov</c:v>
                  </c:pt>
                  <c:pt idx="71">
                    <c:v>Dic</c:v>
                  </c:pt>
                  <c:pt idx="72">
                    <c:v>Ene</c:v>
                  </c:pt>
                  <c:pt idx="73">
                    <c:v>Feb</c:v>
                  </c:pt>
                  <c:pt idx="74">
                    <c:v>Mar</c:v>
                  </c:pt>
                  <c:pt idx="75">
                    <c:v>Abr</c:v>
                  </c:pt>
                  <c:pt idx="76">
                    <c:v>May</c:v>
                  </c:pt>
                  <c:pt idx="77">
                    <c:v>Jun</c:v>
                  </c:pt>
                  <c:pt idx="78">
                    <c:v>Jul</c:v>
                  </c:pt>
                  <c:pt idx="79">
                    <c:v>Ago</c:v>
                  </c:pt>
                  <c:pt idx="80">
                    <c:v>Sep</c:v>
                  </c:pt>
                  <c:pt idx="81">
                    <c:v>Oct</c:v>
                  </c:pt>
                  <c:pt idx="82">
                    <c:v>Nov</c:v>
                  </c:pt>
                  <c:pt idx="83">
                    <c:v>Dic</c:v>
                  </c:pt>
                  <c:pt idx="84">
                    <c:v>Ene</c:v>
                  </c:pt>
                  <c:pt idx="85">
                    <c:v>Feb</c:v>
                  </c:pt>
                  <c:pt idx="86">
                    <c:v>Mar</c:v>
                  </c:pt>
                  <c:pt idx="87">
                    <c:v>Abr</c:v>
                  </c:pt>
                  <c:pt idx="88">
                    <c:v>May</c:v>
                  </c:pt>
                  <c:pt idx="89">
                    <c:v>Jun</c:v>
                  </c:pt>
                  <c:pt idx="90">
                    <c:v>Jul</c:v>
                  </c:pt>
                  <c:pt idx="91">
                    <c:v>Ago</c:v>
                  </c:pt>
                  <c:pt idx="92">
                    <c:v>Sep</c:v>
                  </c:pt>
                  <c:pt idx="93">
                    <c:v>Oct</c:v>
                  </c:pt>
                  <c:pt idx="94">
                    <c:v>Nov</c:v>
                  </c:pt>
                  <c:pt idx="95">
                    <c:v>Dic</c:v>
                  </c:pt>
                  <c:pt idx="96">
                    <c:v>Ene</c:v>
                  </c:pt>
                  <c:pt idx="97">
                    <c:v>Feb</c:v>
                  </c:pt>
                  <c:pt idx="98">
                    <c:v>Mar</c:v>
                  </c:pt>
                  <c:pt idx="99">
                    <c:v>Abr</c:v>
                  </c:pt>
                  <c:pt idx="100">
                    <c:v>May</c:v>
                  </c:pt>
                  <c:pt idx="101">
                    <c:v>Jun</c:v>
                  </c:pt>
                  <c:pt idx="102">
                    <c:v>Jul</c:v>
                  </c:pt>
                  <c:pt idx="103">
                    <c:v>Ago</c:v>
                  </c:pt>
                  <c:pt idx="104">
                    <c:v>Sep</c:v>
                  </c:pt>
                  <c:pt idx="105">
                    <c:v>Oct</c:v>
                  </c:pt>
                  <c:pt idx="106">
                    <c:v>Nov</c:v>
                  </c:pt>
                  <c:pt idx="107">
                    <c:v>Dic</c:v>
                  </c:pt>
                  <c:pt idx="108">
                    <c:v>Ene</c:v>
                  </c:pt>
                  <c:pt idx="109">
                    <c:v>Feb</c:v>
                  </c:pt>
                  <c:pt idx="110">
                    <c:v>Mar</c:v>
                  </c:pt>
                  <c:pt idx="111">
                    <c:v>Abr</c:v>
                  </c:pt>
                  <c:pt idx="112">
                    <c:v>May</c:v>
                  </c:pt>
                  <c:pt idx="113">
                    <c:v>Jun</c:v>
                  </c:pt>
                  <c:pt idx="114">
                    <c:v>Jul</c:v>
                  </c:pt>
                  <c:pt idx="115">
                    <c:v>Ago</c:v>
                  </c:pt>
                  <c:pt idx="116">
                    <c:v>Sep</c:v>
                  </c:pt>
                  <c:pt idx="117">
                    <c:v>Oct</c:v>
                  </c:pt>
                  <c:pt idx="118">
                    <c:v>Nov</c:v>
                  </c:pt>
                  <c:pt idx="119">
                    <c:v>Dic</c:v>
                  </c:pt>
                </c:lvl>
                <c:lvl>
                  <c:pt idx="0">
                    <c:v>1919</c:v>
                  </c:pt>
                  <c:pt idx="12">
                    <c:v>1920</c:v>
                  </c:pt>
                  <c:pt idx="24">
                    <c:v>1921</c:v>
                  </c:pt>
                  <c:pt idx="36">
                    <c:v>1922</c:v>
                  </c:pt>
                  <c:pt idx="48">
                    <c:v>1923</c:v>
                  </c:pt>
                  <c:pt idx="60">
                    <c:v>1924</c:v>
                  </c:pt>
                  <c:pt idx="72">
                    <c:v>1925</c:v>
                  </c:pt>
                  <c:pt idx="84">
                    <c:v>1926</c:v>
                  </c:pt>
                  <c:pt idx="96">
                    <c:v>1927</c:v>
                  </c:pt>
                  <c:pt idx="108">
                    <c:v>1928</c:v>
                  </c:pt>
                </c:lvl>
              </c:multiLvlStrCache>
            </c:multiLvlStrRef>
          </c:cat>
          <c:val>
            <c:numRef>
              <c:f>'Tipo de Cambio'!$E$2:$E$121</c:f>
              <c:numCache>
                <c:formatCode>_(* #,##0.00_);_(* \(#,##0.00\);_(* "-"??_);_(@_)</c:formatCode>
                <c:ptCount val="120"/>
                <c:pt idx="0">
                  <c:v>2.2726999999999999</c:v>
                </c:pt>
                <c:pt idx="1">
                  <c:v>2.2726999999999999</c:v>
                </c:pt>
                <c:pt idx="2">
                  <c:v>2.2726999999999999</c:v>
                </c:pt>
                <c:pt idx="3">
                  <c:v>2.2726999999999999</c:v>
                </c:pt>
                <c:pt idx="4">
                  <c:v>2.2726999999999999</c:v>
                </c:pt>
                <c:pt idx="5">
                  <c:v>2.2726999999999999</c:v>
                </c:pt>
                <c:pt idx="6">
                  <c:v>2.2726999999999999</c:v>
                </c:pt>
                <c:pt idx="7">
                  <c:v>2.2726999999999999</c:v>
                </c:pt>
                <c:pt idx="8">
                  <c:v>2.2726999999999999</c:v>
                </c:pt>
                <c:pt idx="9">
                  <c:v>2.2726999999999999</c:v>
                </c:pt>
                <c:pt idx="10">
                  <c:v>2.2726999999999999</c:v>
                </c:pt>
                <c:pt idx="11">
                  <c:v>2.2726999999999999</c:v>
                </c:pt>
                <c:pt idx="12">
                  <c:v>2.2726999999999999</c:v>
                </c:pt>
                <c:pt idx="13">
                  <c:v>2.2726999999999999</c:v>
                </c:pt>
                <c:pt idx="14">
                  <c:v>2.2726999999999999</c:v>
                </c:pt>
                <c:pt idx="15">
                  <c:v>2.2726999999999999</c:v>
                </c:pt>
                <c:pt idx="16">
                  <c:v>2.2726999999999999</c:v>
                </c:pt>
                <c:pt idx="17">
                  <c:v>2.2726999999999999</c:v>
                </c:pt>
                <c:pt idx="18">
                  <c:v>2.2726999999999999</c:v>
                </c:pt>
                <c:pt idx="19">
                  <c:v>2.2726999999999999</c:v>
                </c:pt>
                <c:pt idx="20">
                  <c:v>2.2726999999999999</c:v>
                </c:pt>
                <c:pt idx="21">
                  <c:v>2.2726999999999999</c:v>
                </c:pt>
                <c:pt idx="22">
                  <c:v>2.2726999999999999</c:v>
                </c:pt>
                <c:pt idx="23">
                  <c:v>2.2726999999999999</c:v>
                </c:pt>
                <c:pt idx="24">
                  <c:v>2.2726999999999999</c:v>
                </c:pt>
                <c:pt idx="25">
                  <c:v>2.2726999999999999</c:v>
                </c:pt>
                <c:pt idx="26">
                  <c:v>2.2726999999999999</c:v>
                </c:pt>
                <c:pt idx="27">
                  <c:v>2.2726999999999999</c:v>
                </c:pt>
                <c:pt idx="28">
                  <c:v>2.2726999999999999</c:v>
                </c:pt>
                <c:pt idx="29">
                  <c:v>2.2726999999999999</c:v>
                </c:pt>
                <c:pt idx="30">
                  <c:v>2.2726999999999999</c:v>
                </c:pt>
                <c:pt idx="31">
                  <c:v>2.2726999999999999</c:v>
                </c:pt>
                <c:pt idx="32">
                  <c:v>2.2726999999999999</c:v>
                </c:pt>
                <c:pt idx="33">
                  <c:v>2.2726999999999999</c:v>
                </c:pt>
                <c:pt idx="34">
                  <c:v>2.2726999999999999</c:v>
                </c:pt>
                <c:pt idx="35">
                  <c:v>2.2726999999999999</c:v>
                </c:pt>
                <c:pt idx="36">
                  <c:v>2.2726999999999999</c:v>
                </c:pt>
                <c:pt idx="37">
                  <c:v>2.2726999999999999</c:v>
                </c:pt>
                <c:pt idx="38">
                  <c:v>2.2726999999999999</c:v>
                </c:pt>
                <c:pt idx="39">
                  <c:v>2.2726999999999999</c:v>
                </c:pt>
                <c:pt idx="40">
                  <c:v>2.2726999999999999</c:v>
                </c:pt>
                <c:pt idx="41">
                  <c:v>2.2726999999999999</c:v>
                </c:pt>
                <c:pt idx="42">
                  <c:v>2.2726999999999999</c:v>
                </c:pt>
                <c:pt idx="43">
                  <c:v>2.2726999999999999</c:v>
                </c:pt>
                <c:pt idx="44">
                  <c:v>2.2726999999999999</c:v>
                </c:pt>
                <c:pt idx="45">
                  <c:v>2.2726999999999999</c:v>
                </c:pt>
                <c:pt idx="46">
                  <c:v>2.2726999999999999</c:v>
                </c:pt>
                <c:pt idx="47">
                  <c:v>2.2726999999999999</c:v>
                </c:pt>
                <c:pt idx="48">
                  <c:v>2.2726999999999999</c:v>
                </c:pt>
                <c:pt idx="49">
                  <c:v>2.2726999999999999</c:v>
                </c:pt>
                <c:pt idx="50">
                  <c:v>2.2726999999999999</c:v>
                </c:pt>
                <c:pt idx="51">
                  <c:v>2.2726999999999999</c:v>
                </c:pt>
                <c:pt idx="52">
                  <c:v>2.2726999999999999</c:v>
                </c:pt>
                <c:pt idx="53">
                  <c:v>2.2726999999999999</c:v>
                </c:pt>
                <c:pt idx="54">
                  <c:v>2.2726999999999999</c:v>
                </c:pt>
                <c:pt idx="55">
                  <c:v>2.2726999999999999</c:v>
                </c:pt>
                <c:pt idx="56">
                  <c:v>2.2726999999999999</c:v>
                </c:pt>
                <c:pt idx="57">
                  <c:v>2.2726999999999999</c:v>
                </c:pt>
                <c:pt idx="58">
                  <c:v>2.2726999999999999</c:v>
                </c:pt>
                <c:pt idx="59">
                  <c:v>2.2726999999999999</c:v>
                </c:pt>
                <c:pt idx="60">
                  <c:v>2.2726999999999999</c:v>
                </c:pt>
                <c:pt idx="61">
                  <c:v>2.2726999999999999</c:v>
                </c:pt>
                <c:pt idx="62">
                  <c:v>2.2726999999999999</c:v>
                </c:pt>
                <c:pt idx="63">
                  <c:v>2.2726999999999999</c:v>
                </c:pt>
                <c:pt idx="64">
                  <c:v>2.2726999999999999</c:v>
                </c:pt>
                <c:pt idx="65">
                  <c:v>2.2726999999999999</c:v>
                </c:pt>
                <c:pt idx="66">
                  <c:v>2.2726999999999999</c:v>
                </c:pt>
                <c:pt idx="67">
                  <c:v>2.2726999999999999</c:v>
                </c:pt>
                <c:pt idx="68">
                  <c:v>2.2726999999999999</c:v>
                </c:pt>
                <c:pt idx="69">
                  <c:v>2.2726999999999999</c:v>
                </c:pt>
                <c:pt idx="70">
                  <c:v>2.2726999999999999</c:v>
                </c:pt>
                <c:pt idx="71">
                  <c:v>2.2726999999999999</c:v>
                </c:pt>
                <c:pt idx="72">
                  <c:v>2.2726999999999999</c:v>
                </c:pt>
                <c:pt idx="73">
                  <c:v>2.2726999999999999</c:v>
                </c:pt>
                <c:pt idx="74">
                  <c:v>2.2726999999999999</c:v>
                </c:pt>
                <c:pt idx="75">
                  <c:v>2.2726999999999999</c:v>
                </c:pt>
                <c:pt idx="76">
                  <c:v>2.2726999999999999</c:v>
                </c:pt>
                <c:pt idx="77">
                  <c:v>2.2726999999999999</c:v>
                </c:pt>
                <c:pt idx="78">
                  <c:v>2.2726999999999999</c:v>
                </c:pt>
                <c:pt idx="79">
                  <c:v>2.2726999999999999</c:v>
                </c:pt>
                <c:pt idx="80">
                  <c:v>2.2726999999999999</c:v>
                </c:pt>
                <c:pt idx="81">
                  <c:v>2.2726999999999999</c:v>
                </c:pt>
                <c:pt idx="82">
                  <c:v>2.2726999999999999</c:v>
                </c:pt>
                <c:pt idx="83">
                  <c:v>2.2726999999999999</c:v>
                </c:pt>
                <c:pt idx="84">
                  <c:v>2.2726999999999999</c:v>
                </c:pt>
                <c:pt idx="85">
                  <c:v>2.2726999999999999</c:v>
                </c:pt>
                <c:pt idx="86">
                  <c:v>2.2726999999999999</c:v>
                </c:pt>
                <c:pt idx="87">
                  <c:v>2.2726999999999999</c:v>
                </c:pt>
                <c:pt idx="88">
                  <c:v>2.2726999999999999</c:v>
                </c:pt>
                <c:pt idx="89">
                  <c:v>2.2726999999999999</c:v>
                </c:pt>
                <c:pt idx="90">
                  <c:v>2.2726999999999999</c:v>
                </c:pt>
                <c:pt idx="91">
                  <c:v>2.2726999999999999</c:v>
                </c:pt>
                <c:pt idx="92">
                  <c:v>2.2726999999999999</c:v>
                </c:pt>
                <c:pt idx="93">
                  <c:v>2.2726999999999999</c:v>
                </c:pt>
                <c:pt idx="94">
                  <c:v>2.2726999999999999</c:v>
                </c:pt>
                <c:pt idx="95">
                  <c:v>2.2726999999999999</c:v>
                </c:pt>
                <c:pt idx="96">
                  <c:v>2.2726999999999999</c:v>
                </c:pt>
                <c:pt idx="97">
                  <c:v>2.2726999999999999</c:v>
                </c:pt>
                <c:pt idx="98">
                  <c:v>2.2726999999999999</c:v>
                </c:pt>
                <c:pt idx="99">
                  <c:v>2.2726999999999999</c:v>
                </c:pt>
                <c:pt idx="100">
                  <c:v>2.2726999999999999</c:v>
                </c:pt>
                <c:pt idx="101">
                  <c:v>2.2726999999999999</c:v>
                </c:pt>
                <c:pt idx="102">
                  <c:v>2.2726999999999999</c:v>
                </c:pt>
                <c:pt idx="103">
                  <c:v>2.2726999999999999</c:v>
                </c:pt>
                <c:pt idx="104">
                  <c:v>2.2726999999999999</c:v>
                </c:pt>
                <c:pt idx="105">
                  <c:v>2.2726999999999999</c:v>
                </c:pt>
                <c:pt idx="106">
                  <c:v>2.2726999999999999</c:v>
                </c:pt>
                <c:pt idx="107">
                  <c:v>2.2726999999999999</c:v>
                </c:pt>
                <c:pt idx="108">
                  <c:v>2.2726999999999999</c:v>
                </c:pt>
                <c:pt idx="109">
                  <c:v>2.2726999999999999</c:v>
                </c:pt>
                <c:pt idx="110">
                  <c:v>2.2726999999999999</c:v>
                </c:pt>
                <c:pt idx="111">
                  <c:v>2.2726999999999999</c:v>
                </c:pt>
                <c:pt idx="112">
                  <c:v>2.2726999999999999</c:v>
                </c:pt>
                <c:pt idx="113">
                  <c:v>2.2726999999999999</c:v>
                </c:pt>
                <c:pt idx="114">
                  <c:v>2.2726999999999999</c:v>
                </c:pt>
                <c:pt idx="115">
                  <c:v>2.2726999999999999</c:v>
                </c:pt>
                <c:pt idx="116">
                  <c:v>2.2726999999999999</c:v>
                </c:pt>
                <c:pt idx="117">
                  <c:v>2.2726999999999999</c:v>
                </c:pt>
                <c:pt idx="118">
                  <c:v>2.2726999999999999</c:v>
                </c:pt>
                <c:pt idx="119">
                  <c:v>2.2726999999999999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DFE-4FF6-BF06-525836A24B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9590784"/>
        <c:axId val="129592320"/>
      </c:lineChart>
      <c:catAx>
        <c:axId val="1295907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>
            <a:solidFill>
              <a:schemeClr val="tx2">
                <a:lumMod val="75000"/>
              </a:schemeClr>
            </a:solidFill>
          </a:ln>
        </c:spPr>
        <c:txPr>
          <a:bodyPr rot="-5400000" vert="horz"/>
          <a:lstStyle/>
          <a:p>
            <a:pPr>
              <a:defRPr sz="1200"/>
            </a:pPr>
            <a:endParaRPr lang="es-AR"/>
          </a:p>
        </c:txPr>
        <c:crossAx val="129592320"/>
        <c:crosses val="autoZero"/>
        <c:auto val="1"/>
        <c:lblAlgn val="ctr"/>
        <c:lblOffset val="100"/>
        <c:noMultiLvlLbl val="0"/>
      </c:catAx>
      <c:valAx>
        <c:axId val="129592320"/>
        <c:scaling>
          <c:orientation val="minMax"/>
        </c:scaling>
        <c:delete val="0"/>
        <c:axPos val="l"/>
        <c:numFmt formatCode="#,##0.00" sourceLinked="0"/>
        <c:majorTickMark val="none"/>
        <c:minorTickMark val="none"/>
        <c:tickLblPos val="nextTo"/>
        <c:spPr>
          <a:ln>
            <a:solidFill>
              <a:schemeClr val="tx2">
                <a:lumMod val="75000"/>
              </a:schemeClr>
            </a:solidFill>
          </a:ln>
        </c:spPr>
        <c:crossAx val="129590784"/>
        <c:crosses val="autoZero"/>
        <c:crossBetween val="between"/>
      </c:valAx>
      <c:spPr>
        <a:noFill/>
        <a:ln w="25400" cap="flat" cmpd="sng" algn="ctr">
          <a:noFill/>
          <a:prstDash val="solid"/>
        </a:ln>
        <a:effectLst/>
      </c:spPr>
    </c:plotArea>
    <c:legend>
      <c:legendPos val="b"/>
      <c:layout>
        <c:manualLayout>
          <c:xMode val="edge"/>
          <c:yMode val="edge"/>
          <c:x val="6.2186896418301163E-3"/>
          <c:y val="0.88893772117219239"/>
          <c:w val="0.99160578611884065"/>
          <c:h val="6.288177807561289E-2"/>
        </c:manualLayout>
      </c:layout>
      <c:overlay val="0"/>
    </c:legend>
    <c:plotVisOnly val="1"/>
    <c:dispBlanksAs val="gap"/>
    <c:showDLblsOverMax val="0"/>
  </c:chart>
  <c:spPr>
    <a:noFill/>
    <a:ln w="25400" cap="flat" cmpd="sng" algn="ctr">
      <a:noFill/>
      <a:prstDash val="solid"/>
    </a:ln>
    <a:effectLst/>
  </c:spPr>
  <c:txPr>
    <a:bodyPr/>
    <a:lstStyle/>
    <a:p>
      <a:pPr>
        <a:defRPr sz="1600">
          <a:solidFill>
            <a:schemeClr val="tx2">
              <a:lumMod val="75000"/>
            </a:schemeClr>
          </a:solidFill>
          <a:latin typeface="Abadi" panose="020B0604020104020204" pitchFamily="34" charset="0"/>
          <a:ea typeface="+mn-ea"/>
          <a:cs typeface="Times New Roman" pitchFamily="18" charset="0"/>
        </a:defRPr>
      </a:pPr>
      <a:endParaRPr lang="es-AR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128859999162206"/>
          <c:y val="7.2249589490968796E-2"/>
          <c:w val="0.75944703776083156"/>
          <c:h val="0.80725754108322667"/>
        </c:manualLayout>
      </c:layout>
      <c:scatterChart>
        <c:scatterStyle val="lineMarker"/>
        <c:varyColors val="0"/>
        <c:ser>
          <c:idx val="0"/>
          <c:order val="0"/>
          <c:spPr>
            <a:ln w="28575" cap="rnd">
              <a:noFill/>
              <a:round/>
            </a:ln>
            <a:effectLst/>
          </c:spPr>
          <c:marker>
            <c:symbol val="diamond"/>
            <c:size val="8"/>
            <c:spPr>
              <a:solidFill>
                <a:schemeClr val="tx2">
                  <a:lumMod val="75000"/>
                </a:schemeClr>
              </a:solidFill>
              <a:ln w="9525">
                <a:noFill/>
              </a:ln>
              <a:effectLst/>
            </c:spPr>
          </c:marker>
          <c:xVal>
            <c:numRef>
              <c:f>'diagrama 1919-1927'!$B$2:$B$104</c:f>
              <c:numCache>
                <c:formatCode>General</c:formatCode>
                <c:ptCount val="103"/>
                <c:pt idx="0">
                  <c:v>-4</c:v>
                </c:pt>
                <c:pt idx="1">
                  <c:v>9</c:v>
                </c:pt>
                <c:pt idx="2">
                  <c:v>-8</c:v>
                </c:pt>
                <c:pt idx="3">
                  <c:v>-8</c:v>
                </c:pt>
                <c:pt idx="4">
                  <c:v>4</c:v>
                </c:pt>
                <c:pt idx="5">
                  <c:v>-20</c:v>
                </c:pt>
                <c:pt idx="6">
                  <c:v>-14</c:v>
                </c:pt>
                <c:pt idx="7">
                  <c:v>-8</c:v>
                </c:pt>
                <c:pt idx="8">
                  <c:v>4</c:v>
                </c:pt>
                <c:pt idx="9">
                  <c:v>0</c:v>
                </c:pt>
                <c:pt idx="10">
                  <c:v>12</c:v>
                </c:pt>
                <c:pt idx="11">
                  <c:v>16</c:v>
                </c:pt>
                <c:pt idx="12">
                  <c:v>12</c:v>
                </c:pt>
                <c:pt idx="13">
                  <c:v>9</c:v>
                </c:pt>
                <c:pt idx="14">
                  <c:v>83</c:v>
                </c:pt>
                <c:pt idx="15">
                  <c:v>62</c:v>
                </c:pt>
                <c:pt idx="16">
                  <c:v>5</c:v>
                </c:pt>
                <c:pt idx="17">
                  <c:v>-11</c:v>
                </c:pt>
                <c:pt idx="18">
                  <c:v>-48</c:v>
                </c:pt>
                <c:pt idx="19">
                  <c:v>-55</c:v>
                </c:pt>
                <c:pt idx="20">
                  <c:v>-26</c:v>
                </c:pt>
                <c:pt idx="21">
                  <c:v>-33</c:v>
                </c:pt>
                <c:pt idx="22">
                  <c:v>-52</c:v>
                </c:pt>
                <c:pt idx="23">
                  <c:v>18</c:v>
                </c:pt>
                <c:pt idx="24">
                  <c:v>9</c:v>
                </c:pt>
                <c:pt idx="25">
                  <c:v>11</c:v>
                </c:pt>
                <c:pt idx="26">
                  <c:v>-21</c:v>
                </c:pt>
                <c:pt idx="27">
                  <c:v>-52</c:v>
                </c:pt>
                <c:pt idx="28">
                  <c:v>-27</c:v>
                </c:pt>
                <c:pt idx="29">
                  <c:v>-18</c:v>
                </c:pt>
                <c:pt idx="30">
                  <c:v>-33</c:v>
                </c:pt>
                <c:pt idx="31">
                  <c:v>9</c:v>
                </c:pt>
                <c:pt idx="32">
                  <c:v>35</c:v>
                </c:pt>
                <c:pt idx="33">
                  <c:v>36</c:v>
                </c:pt>
                <c:pt idx="34">
                  <c:v>7</c:v>
                </c:pt>
                <c:pt idx="35">
                  <c:v>16</c:v>
                </c:pt>
                <c:pt idx="36">
                  <c:v>16</c:v>
                </c:pt>
                <c:pt idx="37">
                  <c:v>66</c:v>
                </c:pt>
                <c:pt idx="38">
                  <c:v>4</c:v>
                </c:pt>
                <c:pt idx="39">
                  <c:v>-23</c:v>
                </c:pt>
                <c:pt idx="40">
                  <c:v>19</c:v>
                </c:pt>
                <c:pt idx="41">
                  <c:v>-5</c:v>
                </c:pt>
                <c:pt idx="42">
                  <c:v>-1</c:v>
                </c:pt>
                <c:pt idx="43">
                  <c:v>3</c:v>
                </c:pt>
                <c:pt idx="44">
                  <c:v>-12</c:v>
                </c:pt>
                <c:pt idx="45">
                  <c:v>5</c:v>
                </c:pt>
                <c:pt idx="46">
                  <c:v>10</c:v>
                </c:pt>
                <c:pt idx="47">
                  <c:v>36</c:v>
                </c:pt>
                <c:pt idx="48">
                  <c:v>-10</c:v>
                </c:pt>
                <c:pt idx="49">
                  <c:v>-5</c:v>
                </c:pt>
                <c:pt idx="50">
                  <c:v>-1</c:v>
                </c:pt>
                <c:pt idx="51">
                  <c:v>-13</c:v>
                </c:pt>
                <c:pt idx="52">
                  <c:v>-15</c:v>
                </c:pt>
                <c:pt idx="53">
                  <c:v>-12</c:v>
                </c:pt>
                <c:pt idx="54">
                  <c:v>-32</c:v>
                </c:pt>
                <c:pt idx="55">
                  <c:v>-37</c:v>
                </c:pt>
                <c:pt idx="56">
                  <c:v>6</c:v>
                </c:pt>
                <c:pt idx="57">
                  <c:v>-14</c:v>
                </c:pt>
                <c:pt idx="58">
                  <c:v>-29</c:v>
                </c:pt>
                <c:pt idx="59">
                  <c:v>14</c:v>
                </c:pt>
                <c:pt idx="60">
                  <c:v>16</c:v>
                </c:pt>
                <c:pt idx="61">
                  <c:v>31</c:v>
                </c:pt>
                <c:pt idx="62">
                  <c:v>-1</c:v>
                </c:pt>
                <c:pt idx="63">
                  <c:v>-27</c:v>
                </c:pt>
                <c:pt idx="64">
                  <c:v>-11</c:v>
                </c:pt>
                <c:pt idx="65">
                  <c:v>-11</c:v>
                </c:pt>
                <c:pt idx="66">
                  <c:v>3</c:v>
                </c:pt>
                <c:pt idx="67">
                  <c:v>25</c:v>
                </c:pt>
                <c:pt idx="68">
                  <c:v>32</c:v>
                </c:pt>
                <c:pt idx="69">
                  <c:v>31</c:v>
                </c:pt>
                <c:pt idx="70">
                  <c:v>21</c:v>
                </c:pt>
                <c:pt idx="71">
                  <c:v>31</c:v>
                </c:pt>
                <c:pt idx="72">
                  <c:v>28</c:v>
                </c:pt>
                <c:pt idx="73">
                  <c:v>18</c:v>
                </c:pt>
                <c:pt idx="74">
                  <c:v>28</c:v>
                </c:pt>
                <c:pt idx="75">
                  <c:v>-32</c:v>
                </c:pt>
                <c:pt idx="76">
                  <c:v>16</c:v>
                </c:pt>
                <c:pt idx="77">
                  <c:v>-2</c:v>
                </c:pt>
                <c:pt idx="78">
                  <c:v>-13</c:v>
                </c:pt>
                <c:pt idx="79">
                  <c:v>-8</c:v>
                </c:pt>
                <c:pt idx="80">
                  <c:v>-1</c:v>
                </c:pt>
                <c:pt idx="81">
                  <c:v>18</c:v>
                </c:pt>
                <c:pt idx="82">
                  <c:v>11</c:v>
                </c:pt>
                <c:pt idx="83">
                  <c:v>-3</c:v>
                </c:pt>
                <c:pt idx="84">
                  <c:v>0</c:v>
                </c:pt>
                <c:pt idx="85">
                  <c:v>-11</c:v>
                </c:pt>
                <c:pt idx="86">
                  <c:v>-31</c:v>
                </c:pt>
                <c:pt idx="87">
                  <c:v>6</c:v>
                </c:pt>
                <c:pt idx="88">
                  <c:v>4</c:v>
                </c:pt>
                <c:pt idx="89">
                  <c:v>5</c:v>
                </c:pt>
                <c:pt idx="90">
                  <c:v>5</c:v>
                </c:pt>
                <c:pt idx="91">
                  <c:v>-3</c:v>
                </c:pt>
                <c:pt idx="92">
                  <c:v>4</c:v>
                </c:pt>
                <c:pt idx="93">
                  <c:v>5</c:v>
                </c:pt>
                <c:pt idx="94">
                  <c:v>-4</c:v>
                </c:pt>
                <c:pt idx="95">
                  <c:v>10</c:v>
                </c:pt>
                <c:pt idx="96">
                  <c:v>6</c:v>
                </c:pt>
                <c:pt idx="97">
                  <c:v>11</c:v>
                </c:pt>
                <c:pt idx="98" formatCode="0">
                  <c:v>13</c:v>
                </c:pt>
                <c:pt idx="99">
                  <c:v>2</c:v>
                </c:pt>
                <c:pt idx="100">
                  <c:v>4</c:v>
                </c:pt>
                <c:pt idx="101">
                  <c:v>2</c:v>
                </c:pt>
                <c:pt idx="102">
                  <c:v>1</c:v>
                </c:pt>
              </c:numCache>
            </c:numRef>
          </c:xVal>
          <c:yVal>
            <c:numRef>
              <c:f>'diagrama 1919-1927'!$C$2:$C$104</c:f>
              <c:numCache>
                <c:formatCode>General</c:formatCode>
                <c:ptCount val="103"/>
                <c:pt idx="0">
                  <c:v>0</c:v>
                </c:pt>
                <c:pt idx="1">
                  <c:v>9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12</c:v>
                </c:pt>
                <c:pt idx="12">
                  <c:v>12</c:v>
                </c:pt>
                <c:pt idx="13">
                  <c:v>6</c:v>
                </c:pt>
                <c:pt idx="14">
                  <c:v>82</c:v>
                </c:pt>
                <c:pt idx="15">
                  <c:v>67</c:v>
                </c:pt>
                <c:pt idx="16">
                  <c:v>18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-9</c:v>
                </c:pt>
                <c:pt idx="65">
                  <c:v>-15</c:v>
                </c:pt>
                <c:pt idx="66">
                  <c:v>-3</c:v>
                </c:pt>
                <c:pt idx="67">
                  <c:v>0</c:v>
                </c:pt>
                <c:pt idx="68">
                  <c:v>-5</c:v>
                </c:pt>
                <c:pt idx="69">
                  <c:v>-3</c:v>
                </c:pt>
                <c:pt idx="70">
                  <c:v>-7</c:v>
                </c:pt>
                <c:pt idx="71">
                  <c:v>0</c:v>
                </c:pt>
                <c:pt idx="72">
                  <c:v>0</c:v>
                </c:pt>
                <c:pt idx="73">
                  <c:v>28</c:v>
                </c:pt>
                <c:pt idx="74">
                  <c:v>40</c:v>
                </c:pt>
                <c:pt idx="75">
                  <c:v>1</c:v>
                </c:pt>
                <c:pt idx="76">
                  <c:v>-25</c:v>
                </c:pt>
                <c:pt idx="77">
                  <c:v>-14</c:v>
                </c:pt>
                <c:pt idx="78">
                  <c:v>-21</c:v>
                </c:pt>
                <c:pt idx="79">
                  <c:v>-8</c:v>
                </c:pt>
                <c:pt idx="80">
                  <c:v>-2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5</c:v>
                </c:pt>
                <c:pt idx="101">
                  <c:v>0</c:v>
                </c:pt>
                <c:pt idx="102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2A7-4911-A3F8-EC6400874E6F}"/>
            </c:ext>
          </c:extLst>
        </c:ser>
        <c:ser>
          <c:idx val="1"/>
          <c:order val="1"/>
          <c:spPr>
            <a:ln w="25400" cap="rnd">
              <a:solidFill>
                <a:schemeClr val="tx2">
                  <a:lumMod val="60000"/>
                  <a:lumOff val="40000"/>
                </a:schemeClr>
              </a:solidFill>
              <a:prstDash val="sysDash"/>
              <a:round/>
            </a:ln>
            <a:effectLst/>
          </c:spPr>
          <c:marker>
            <c:symbol val="none"/>
          </c:marker>
          <c:dPt>
            <c:idx val="1"/>
            <c:bubble3D val="0"/>
            <c:extLst>
              <c:ext xmlns:c16="http://schemas.microsoft.com/office/drawing/2014/chart" uri="{C3380CC4-5D6E-409C-BE32-E72D297353CC}">
                <c16:uniqueId val="{00000001-C2A7-4911-A3F8-EC6400874E6F}"/>
              </c:ext>
            </c:extLst>
          </c:dPt>
          <c:xVal>
            <c:numRef>
              <c:f>'diagrama 1919-1927'!$D$2:$D$4</c:f>
              <c:numCache>
                <c:formatCode>General</c:formatCode>
                <c:ptCount val="3"/>
                <c:pt idx="0">
                  <c:v>0</c:v>
                </c:pt>
                <c:pt idx="1">
                  <c:v>80</c:v>
                </c:pt>
                <c:pt idx="2">
                  <c:v>-40</c:v>
                </c:pt>
              </c:numCache>
            </c:numRef>
          </c:xVal>
          <c:yVal>
            <c:numRef>
              <c:f>'diagrama 1919-1927'!$D$2:$D$4</c:f>
              <c:numCache>
                <c:formatCode>General</c:formatCode>
                <c:ptCount val="3"/>
                <c:pt idx="0">
                  <c:v>0</c:v>
                </c:pt>
                <c:pt idx="1">
                  <c:v>80</c:v>
                </c:pt>
                <c:pt idx="2">
                  <c:v>-40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C2A7-4911-A3F8-EC6400874E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9970176"/>
        <c:axId val="129972096"/>
      </c:scatterChart>
      <c:valAx>
        <c:axId val="129970176"/>
        <c:scaling>
          <c:orientation val="minMax"/>
        </c:scaling>
        <c:delete val="0"/>
        <c:axPos val="b"/>
        <c:title>
          <c:tx>
            <c:rich>
              <a:bodyPr rot="0" vert="horz"/>
              <a:lstStyle/>
              <a:p>
                <a:pPr>
                  <a:defRPr/>
                </a:pPr>
                <a:r>
                  <a:rPr lang="es-ES"/>
                  <a:t>Variaciones de las Reservas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29972096"/>
        <c:crosses val="autoZero"/>
        <c:crossBetween val="midCat"/>
      </c:valAx>
      <c:valAx>
        <c:axId val="129972096"/>
        <c:scaling>
          <c:orientation val="minMax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s-ES"/>
                  <a:t>Variaciones de la BM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2">
                <a:lumMod val="7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/>
            </a:pPr>
            <a:endParaRPr lang="es-AR"/>
          </a:p>
        </c:txPr>
        <c:crossAx val="12997017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400">
          <a:solidFill>
            <a:schemeClr val="tx2">
              <a:lumMod val="75000"/>
            </a:schemeClr>
          </a:solidFill>
          <a:latin typeface="Abadi" panose="020B0604020104020204" pitchFamily="34" charset="0"/>
          <a:cs typeface="Times New Roman" panose="02020603050405020304" pitchFamily="18" charset="0"/>
        </a:defRPr>
      </a:pPr>
      <a:endParaRPr lang="es-AR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702051132497327"/>
          <c:y val="4.7295078530519147E-2"/>
          <c:w val="0.89297948867502674"/>
          <c:h val="0.55990403108413145"/>
        </c:manualLayout>
      </c:layout>
      <c:lineChart>
        <c:grouping val="standard"/>
        <c:varyColors val="0"/>
        <c:ser>
          <c:idx val="3"/>
          <c:order val="0"/>
          <c:tx>
            <c:strRef>
              <c:f>'Bal de Pagos'!$E$1</c:f>
              <c:strCache>
                <c:ptCount val="1"/>
                <c:pt idx="0">
                  <c:v>Variación de Reservas</c:v>
                </c:pt>
              </c:strCache>
            </c:strRef>
          </c:tx>
          <c:spPr>
            <a:ln w="38100">
              <a:solidFill>
                <a:schemeClr val="tx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'Bal de Pagos'!$A$6:$A$15</c:f>
              <c:numCache>
                <c:formatCode>General</c:formatCode>
                <c:ptCount val="10"/>
                <c:pt idx="0">
                  <c:v>1919</c:v>
                </c:pt>
                <c:pt idx="1">
                  <c:v>1920</c:v>
                </c:pt>
                <c:pt idx="2">
                  <c:v>1921</c:v>
                </c:pt>
                <c:pt idx="3">
                  <c:v>1922</c:v>
                </c:pt>
                <c:pt idx="4">
                  <c:v>1923</c:v>
                </c:pt>
                <c:pt idx="5">
                  <c:v>1924</c:v>
                </c:pt>
                <c:pt idx="6">
                  <c:v>1925</c:v>
                </c:pt>
                <c:pt idx="7">
                  <c:v>1926</c:v>
                </c:pt>
                <c:pt idx="8">
                  <c:v>1927</c:v>
                </c:pt>
                <c:pt idx="9">
                  <c:v>1928</c:v>
                </c:pt>
              </c:numCache>
            </c:numRef>
          </c:cat>
          <c:val>
            <c:numRef>
              <c:f>'Bal de Pagos'!$E$6:$E$15</c:f>
              <c:numCache>
                <c:formatCode>#,##0.00\ \ </c:formatCode>
                <c:ptCount val="10"/>
                <c:pt idx="0">
                  <c:v>31.8</c:v>
                </c:pt>
                <c:pt idx="1">
                  <c:v>103.9</c:v>
                </c:pt>
                <c:pt idx="2">
                  <c:v>-14.3</c:v>
                </c:pt>
                <c:pt idx="3">
                  <c:v>-1.9</c:v>
                </c:pt>
                <c:pt idx="4">
                  <c:v>-18</c:v>
                </c:pt>
                <c:pt idx="5">
                  <c:v>-38.799999999999997</c:v>
                </c:pt>
                <c:pt idx="6">
                  <c:v>10.1</c:v>
                </c:pt>
                <c:pt idx="7" formatCode="#,##0.000\ \ ">
                  <c:v>0.1</c:v>
                </c:pt>
                <c:pt idx="8">
                  <c:v>137.30000000000001</c:v>
                </c:pt>
                <c:pt idx="9">
                  <c:v>133.1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83E-4D60-9D7E-E20F14D2F8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9542784"/>
        <c:axId val="129552768"/>
      </c:lineChart>
      <c:catAx>
        <c:axId val="1295427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>
            <a:solidFill>
              <a:schemeClr val="tx2">
                <a:lumMod val="75000"/>
              </a:schemeClr>
            </a:solidFill>
          </a:ln>
        </c:spPr>
        <c:txPr>
          <a:bodyPr rot="-5400000" vert="horz"/>
          <a:lstStyle/>
          <a:p>
            <a:pPr>
              <a:defRPr/>
            </a:pPr>
            <a:endParaRPr lang="es-AR"/>
          </a:p>
        </c:txPr>
        <c:crossAx val="129552768"/>
        <c:crosses val="autoZero"/>
        <c:auto val="1"/>
        <c:lblAlgn val="ctr"/>
        <c:lblOffset val="100"/>
        <c:tickLblSkip val="1"/>
        <c:noMultiLvlLbl val="0"/>
      </c:catAx>
      <c:valAx>
        <c:axId val="129552768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chemeClr val="tx2">
                <a:lumMod val="75000"/>
              </a:schemeClr>
            </a:solidFill>
          </a:ln>
        </c:spPr>
        <c:crossAx val="129542784"/>
        <c:crosses val="autoZero"/>
        <c:crossBetween val="between"/>
      </c:valAx>
      <c:spPr>
        <a:noFill/>
        <a:ln w="25400" cap="flat" cmpd="sng" algn="ctr">
          <a:noFill/>
          <a:prstDash val="solid"/>
        </a:ln>
        <a:effectLst/>
      </c:spPr>
    </c:plotArea>
    <c:legend>
      <c:legendPos val="b"/>
      <c:layout>
        <c:manualLayout>
          <c:xMode val="edge"/>
          <c:yMode val="edge"/>
          <c:x val="0"/>
          <c:y val="0.83735701122466077"/>
          <c:w val="1"/>
          <c:h val="0.16264298877533953"/>
        </c:manualLayout>
      </c:layout>
      <c:overlay val="0"/>
    </c:legend>
    <c:plotVisOnly val="1"/>
    <c:dispBlanksAs val="gap"/>
    <c:showDLblsOverMax val="0"/>
  </c:chart>
  <c:spPr>
    <a:noFill/>
    <a:ln w="25400" cap="flat" cmpd="sng" algn="ctr">
      <a:noFill/>
      <a:prstDash val="solid"/>
    </a:ln>
    <a:effectLst/>
  </c:spPr>
  <c:txPr>
    <a:bodyPr/>
    <a:lstStyle/>
    <a:p>
      <a:pPr>
        <a:defRPr sz="1600">
          <a:solidFill>
            <a:schemeClr val="tx2">
              <a:lumMod val="75000"/>
            </a:schemeClr>
          </a:solidFill>
          <a:latin typeface="Abadi" panose="020B0604020104020204" pitchFamily="34" charset="0"/>
          <a:ea typeface="+mn-ea"/>
          <a:cs typeface="Times New Roman" pitchFamily="18" charset="0"/>
        </a:defRPr>
      </a:pPr>
      <a:endParaRPr lang="es-AR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9.0559605975179022E-2"/>
          <c:y val="0.10790085898353614"/>
          <c:w val="0.8508829134947361"/>
          <c:h val="0.5117213787555106"/>
        </c:manualLayout>
      </c:layout>
      <c:lineChart>
        <c:grouping val="standard"/>
        <c:varyColors val="0"/>
        <c:ser>
          <c:idx val="0"/>
          <c:order val="0"/>
          <c:tx>
            <c:strRef>
              <c:f>'Tipo de Cambio'!$D$1</c:f>
              <c:strCache>
                <c:ptCount val="1"/>
                <c:pt idx="0">
                  <c:v>Observado</c:v>
                </c:pt>
              </c:strCache>
            </c:strRef>
          </c:tx>
          <c:spPr>
            <a:ln w="38100">
              <a:solidFill>
                <a:schemeClr val="tx2">
                  <a:lumMod val="50000"/>
                </a:schemeClr>
              </a:solidFill>
            </a:ln>
          </c:spPr>
          <c:marker>
            <c:symbol val="none"/>
          </c:marker>
          <c:cat>
            <c:multiLvlStrRef>
              <c:f>'Tipo de Cambio'!$A$2:$B$121</c:f>
              <c:multiLvlStrCache>
                <c:ptCount val="120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  <c:pt idx="12">
                    <c:v>Ene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Abr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Ago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Dic</c:v>
                  </c:pt>
                  <c:pt idx="24">
                    <c:v>Ene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Abr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Ago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Dic</c:v>
                  </c:pt>
                  <c:pt idx="36">
                    <c:v>Ene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Abr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Ago</c:v>
                  </c:pt>
                  <c:pt idx="44">
                    <c:v>Sep</c:v>
                  </c:pt>
                  <c:pt idx="45">
                    <c:v>Oct</c:v>
                  </c:pt>
                  <c:pt idx="46">
                    <c:v>Nov</c:v>
                  </c:pt>
                  <c:pt idx="47">
                    <c:v>Dic</c:v>
                  </c:pt>
                  <c:pt idx="48">
                    <c:v>Ene</c:v>
                  </c:pt>
                  <c:pt idx="49">
                    <c:v>Feb</c:v>
                  </c:pt>
                  <c:pt idx="50">
                    <c:v>Mar</c:v>
                  </c:pt>
                  <c:pt idx="51">
                    <c:v>Abr</c:v>
                  </c:pt>
                  <c:pt idx="52">
                    <c:v>May</c:v>
                  </c:pt>
                  <c:pt idx="53">
                    <c:v>Jun</c:v>
                  </c:pt>
                  <c:pt idx="54">
                    <c:v>Jul</c:v>
                  </c:pt>
                  <c:pt idx="55">
                    <c:v>Ago</c:v>
                  </c:pt>
                  <c:pt idx="56">
                    <c:v>Sep</c:v>
                  </c:pt>
                  <c:pt idx="57">
                    <c:v>Oct</c:v>
                  </c:pt>
                  <c:pt idx="58">
                    <c:v>Nov</c:v>
                  </c:pt>
                  <c:pt idx="59">
                    <c:v>Dic</c:v>
                  </c:pt>
                  <c:pt idx="60">
                    <c:v>Ene</c:v>
                  </c:pt>
                  <c:pt idx="61">
                    <c:v>Feb</c:v>
                  </c:pt>
                  <c:pt idx="62">
                    <c:v>Mar</c:v>
                  </c:pt>
                  <c:pt idx="63">
                    <c:v>Abr</c:v>
                  </c:pt>
                  <c:pt idx="64">
                    <c:v>May</c:v>
                  </c:pt>
                  <c:pt idx="65">
                    <c:v>Jun</c:v>
                  </c:pt>
                  <c:pt idx="66">
                    <c:v>Jul</c:v>
                  </c:pt>
                  <c:pt idx="67">
                    <c:v>Ago</c:v>
                  </c:pt>
                  <c:pt idx="68">
                    <c:v>Sep</c:v>
                  </c:pt>
                  <c:pt idx="69">
                    <c:v>Oct</c:v>
                  </c:pt>
                  <c:pt idx="70">
                    <c:v>Nov</c:v>
                  </c:pt>
                  <c:pt idx="71">
                    <c:v>Dic</c:v>
                  </c:pt>
                  <c:pt idx="72">
                    <c:v>Ene</c:v>
                  </c:pt>
                  <c:pt idx="73">
                    <c:v>Feb</c:v>
                  </c:pt>
                  <c:pt idx="74">
                    <c:v>Mar</c:v>
                  </c:pt>
                  <c:pt idx="75">
                    <c:v>Abr</c:v>
                  </c:pt>
                  <c:pt idx="76">
                    <c:v>May</c:v>
                  </c:pt>
                  <c:pt idx="77">
                    <c:v>Jun</c:v>
                  </c:pt>
                  <c:pt idx="78">
                    <c:v>Jul</c:v>
                  </c:pt>
                  <c:pt idx="79">
                    <c:v>Ago</c:v>
                  </c:pt>
                  <c:pt idx="80">
                    <c:v>Sep</c:v>
                  </c:pt>
                  <c:pt idx="81">
                    <c:v>Oct</c:v>
                  </c:pt>
                  <c:pt idx="82">
                    <c:v>Nov</c:v>
                  </c:pt>
                  <c:pt idx="83">
                    <c:v>Dic</c:v>
                  </c:pt>
                  <c:pt idx="84">
                    <c:v>Ene</c:v>
                  </c:pt>
                  <c:pt idx="85">
                    <c:v>Feb</c:v>
                  </c:pt>
                  <c:pt idx="86">
                    <c:v>Mar</c:v>
                  </c:pt>
                  <c:pt idx="87">
                    <c:v>Abr</c:v>
                  </c:pt>
                  <c:pt idx="88">
                    <c:v>May</c:v>
                  </c:pt>
                  <c:pt idx="89">
                    <c:v>Jun</c:v>
                  </c:pt>
                  <c:pt idx="90">
                    <c:v>Jul</c:v>
                  </c:pt>
                  <c:pt idx="91">
                    <c:v>Ago</c:v>
                  </c:pt>
                  <c:pt idx="92">
                    <c:v>Sep</c:v>
                  </c:pt>
                  <c:pt idx="93">
                    <c:v>Oct</c:v>
                  </c:pt>
                  <c:pt idx="94">
                    <c:v>Nov</c:v>
                  </c:pt>
                  <c:pt idx="95">
                    <c:v>Dic</c:v>
                  </c:pt>
                  <c:pt idx="96">
                    <c:v>Ene</c:v>
                  </c:pt>
                  <c:pt idx="97">
                    <c:v>Feb</c:v>
                  </c:pt>
                  <c:pt idx="98">
                    <c:v>Mar</c:v>
                  </c:pt>
                  <c:pt idx="99">
                    <c:v>Abr</c:v>
                  </c:pt>
                  <c:pt idx="100">
                    <c:v>May</c:v>
                  </c:pt>
                  <c:pt idx="101">
                    <c:v>Jun</c:v>
                  </c:pt>
                  <c:pt idx="102">
                    <c:v>Jul</c:v>
                  </c:pt>
                  <c:pt idx="103">
                    <c:v>Ago</c:v>
                  </c:pt>
                  <c:pt idx="104">
                    <c:v>Sep</c:v>
                  </c:pt>
                  <c:pt idx="105">
                    <c:v>Oct</c:v>
                  </c:pt>
                  <c:pt idx="106">
                    <c:v>Nov</c:v>
                  </c:pt>
                  <c:pt idx="107">
                    <c:v>Dic</c:v>
                  </c:pt>
                  <c:pt idx="108">
                    <c:v>Ene</c:v>
                  </c:pt>
                  <c:pt idx="109">
                    <c:v>Feb</c:v>
                  </c:pt>
                  <c:pt idx="110">
                    <c:v>Mar</c:v>
                  </c:pt>
                  <c:pt idx="111">
                    <c:v>Abr</c:v>
                  </c:pt>
                  <c:pt idx="112">
                    <c:v>May</c:v>
                  </c:pt>
                  <c:pt idx="113">
                    <c:v>Jun</c:v>
                  </c:pt>
                  <c:pt idx="114">
                    <c:v>Jul</c:v>
                  </c:pt>
                  <c:pt idx="115">
                    <c:v>Ago</c:v>
                  </c:pt>
                  <c:pt idx="116">
                    <c:v>Sep</c:v>
                  </c:pt>
                  <c:pt idx="117">
                    <c:v>Oct</c:v>
                  </c:pt>
                  <c:pt idx="118">
                    <c:v>Nov</c:v>
                  </c:pt>
                  <c:pt idx="119">
                    <c:v>Dic</c:v>
                  </c:pt>
                </c:lvl>
                <c:lvl>
                  <c:pt idx="0">
                    <c:v>1919</c:v>
                  </c:pt>
                  <c:pt idx="12">
                    <c:v>1920</c:v>
                  </c:pt>
                  <c:pt idx="24">
                    <c:v>1921</c:v>
                  </c:pt>
                  <c:pt idx="36">
                    <c:v>1922</c:v>
                  </c:pt>
                  <c:pt idx="48">
                    <c:v>1923</c:v>
                  </c:pt>
                  <c:pt idx="60">
                    <c:v>1924</c:v>
                  </c:pt>
                  <c:pt idx="72">
                    <c:v>1925</c:v>
                  </c:pt>
                  <c:pt idx="84">
                    <c:v>1926</c:v>
                  </c:pt>
                  <c:pt idx="96">
                    <c:v>1927</c:v>
                  </c:pt>
                  <c:pt idx="108">
                    <c:v>1928</c:v>
                  </c:pt>
                </c:lvl>
              </c:multiLvlStrCache>
            </c:multiLvlStrRef>
          </c:cat>
          <c:val>
            <c:numRef>
              <c:f>'Tipo de Cambio'!$D$2:$D$121</c:f>
              <c:numCache>
                <c:formatCode>_(* #,##0.00_);_(* \(#,##0.00\);_(* "-"??_);_(@_)</c:formatCode>
                <c:ptCount val="120"/>
                <c:pt idx="0">
                  <c:v>2.1539999999999999</c:v>
                </c:pt>
                <c:pt idx="1">
                  <c:v>2.1553</c:v>
                </c:pt>
                <c:pt idx="2">
                  <c:v>2.1737000000000002</c:v>
                </c:pt>
                <c:pt idx="3">
                  <c:v>2.1924999999999999</c:v>
                </c:pt>
                <c:pt idx="4">
                  <c:v>2.1818</c:v>
                </c:pt>
                <c:pt idx="5">
                  <c:v>2.2307000000000001</c:v>
                </c:pt>
                <c:pt idx="6">
                  <c:v>2.2690999999999999</c:v>
                </c:pt>
                <c:pt idx="7">
                  <c:v>2.2892999999999999</c:v>
                </c:pt>
                <c:pt idx="8">
                  <c:v>2.2787000000000002</c:v>
                </c:pt>
                <c:pt idx="9">
                  <c:v>2.2784999999999997</c:v>
                </c:pt>
                <c:pt idx="10">
                  <c:v>2.2486999999999999</c:v>
                </c:pt>
                <c:pt idx="11">
                  <c:v>2.2389999999999999</c:v>
                </c:pt>
                <c:pt idx="12">
                  <c:v>2.2395</c:v>
                </c:pt>
                <c:pt idx="13">
                  <c:v>2.2342</c:v>
                </c:pt>
                <c:pt idx="14">
                  <c:v>2.2357</c:v>
                </c:pt>
                <c:pt idx="15">
                  <c:v>2.2477999999999998</c:v>
                </c:pt>
                <c:pt idx="16">
                  <c:v>2.2747999999999999</c:v>
                </c:pt>
                <c:pt idx="17">
                  <c:v>2.2993000000000001</c:v>
                </c:pt>
                <c:pt idx="18">
                  <c:v>2.4086000000000003</c:v>
                </c:pt>
                <c:pt idx="19">
                  <c:v>2.548</c:v>
                </c:pt>
                <c:pt idx="20">
                  <c:v>2.6189</c:v>
                </c:pt>
                <c:pt idx="21">
                  <c:v>2.7157999999999998</c:v>
                </c:pt>
                <c:pt idx="22">
                  <c:v>2.8849</c:v>
                </c:pt>
                <c:pt idx="23">
                  <c:v>2.8254000000000001</c:v>
                </c:pt>
                <c:pt idx="24">
                  <c:v>2.7949999999999999</c:v>
                </c:pt>
                <c:pt idx="25">
                  <c:v>2.7610000000000001</c:v>
                </c:pt>
                <c:pt idx="26">
                  <c:v>2.8298000000000001</c:v>
                </c:pt>
                <c:pt idx="27">
                  <c:v>3.0110000000000001</c:v>
                </c:pt>
                <c:pt idx="28">
                  <c:v>3.1135999999999999</c:v>
                </c:pt>
                <c:pt idx="29">
                  <c:v>3.1888000000000001</c:v>
                </c:pt>
                <c:pt idx="30">
                  <c:v>3.3323</c:v>
                </c:pt>
                <c:pt idx="31">
                  <c:v>3.2920999999999996</c:v>
                </c:pt>
                <c:pt idx="32">
                  <c:v>3.1444999999999999</c:v>
                </c:pt>
                <c:pt idx="33">
                  <c:v>3.0048000000000004</c:v>
                </c:pt>
                <c:pt idx="34">
                  <c:v>2.9782999999999999</c:v>
                </c:pt>
                <c:pt idx="35">
                  <c:v>2.9211</c:v>
                </c:pt>
                <c:pt idx="36">
                  <c:v>2.8666</c:v>
                </c:pt>
                <c:pt idx="37">
                  <c:v>2.6582999999999997</c:v>
                </c:pt>
                <c:pt idx="38">
                  <c:v>2.6477999999999997</c:v>
                </c:pt>
                <c:pt idx="39">
                  <c:v>2.7168999999999999</c:v>
                </c:pt>
                <c:pt idx="40">
                  <c:v>2.6600999999999999</c:v>
                </c:pt>
                <c:pt idx="41">
                  <c:v>2.6757</c:v>
                </c:pt>
                <c:pt idx="42">
                  <c:v>2.6772000000000005</c:v>
                </c:pt>
                <c:pt idx="43">
                  <c:v>2.6697000000000002</c:v>
                </c:pt>
                <c:pt idx="44">
                  <c:v>2.7045999999999997</c:v>
                </c:pt>
                <c:pt idx="45">
                  <c:v>2.6893000000000002</c:v>
                </c:pt>
                <c:pt idx="46">
                  <c:v>2.6592000000000002</c:v>
                </c:pt>
                <c:pt idx="47">
                  <c:v>2.5594000000000001</c:v>
                </c:pt>
                <c:pt idx="48">
                  <c:v>2.5863999999999998</c:v>
                </c:pt>
                <c:pt idx="49">
                  <c:v>2.6008999999999998</c:v>
                </c:pt>
                <c:pt idx="50">
                  <c:v>2.6036999999999999</c:v>
                </c:pt>
                <c:pt idx="51">
                  <c:v>2.6419000000000001</c:v>
                </c:pt>
                <c:pt idx="52">
                  <c:v>2.6867999999999999</c:v>
                </c:pt>
                <c:pt idx="53">
                  <c:v>2.7220999999999997</c:v>
                </c:pt>
                <c:pt idx="54">
                  <c:v>2.8245999999999998</c:v>
                </c:pt>
                <c:pt idx="55">
                  <c:v>2.9508999999999999</c:v>
                </c:pt>
                <c:pt idx="56">
                  <c:v>2.9282999999999997</c:v>
                </c:pt>
                <c:pt idx="57">
                  <c:v>2.9781</c:v>
                </c:pt>
                <c:pt idx="58">
                  <c:v>3.0863999999999998</c:v>
                </c:pt>
                <c:pt idx="59">
                  <c:v>3.0311000000000003</c:v>
                </c:pt>
                <c:pt idx="60">
                  <c:v>2.9735</c:v>
                </c:pt>
                <c:pt idx="61">
                  <c:v>2.8643000000000001</c:v>
                </c:pt>
                <c:pt idx="62">
                  <c:v>2.8683999999999998</c:v>
                </c:pt>
                <c:pt idx="63">
                  <c:v>2.9370999999999996</c:v>
                </c:pt>
                <c:pt idx="64">
                  <c:v>2.9352999999999998</c:v>
                </c:pt>
                <c:pt idx="65">
                  <c:v>2.9654000000000003</c:v>
                </c:pt>
                <c:pt idx="66">
                  <c:v>2.9548000000000001</c:v>
                </c:pt>
                <c:pt idx="67">
                  <c:v>2.8538999999999999</c:v>
                </c:pt>
                <c:pt idx="68">
                  <c:v>2.7373000000000003</c:v>
                </c:pt>
                <c:pt idx="69">
                  <c:v>2.6224000000000003</c:v>
                </c:pt>
                <c:pt idx="70">
                  <c:v>2.5623</c:v>
                </c:pt>
                <c:pt idx="71">
                  <c:v>2.4781</c:v>
                </c:pt>
                <c:pt idx="72">
                  <c:v>2.4058999999999999</c:v>
                </c:pt>
                <c:pt idx="73">
                  <c:v>2.4276</c:v>
                </c:pt>
                <c:pt idx="74">
                  <c:v>2.4471000000000003</c:v>
                </c:pt>
                <c:pt idx="75">
                  <c:v>2.5269999999999997</c:v>
                </c:pt>
                <c:pt idx="76">
                  <c:v>2.4285000000000001</c:v>
                </c:pt>
                <c:pt idx="77">
                  <c:v>2.4037000000000002</c:v>
                </c:pt>
                <c:pt idx="78">
                  <c:v>2.3900999999999999</c:v>
                </c:pt>
                <c:pt idx="79">
                  <c:v>2.3919000000000001</c:v>
                </c:pt>
                <c:pt idx="80">
                  <c:v>2.3896999999999999</c:v>
                </c:pt>
                <c:pt idx="81">
                  <c:v>2.3475999999999999</c:v>
                </c:pt>
                <c:pt idx="82">
                  <c:v>2.3216999999999999</c:v>
                </c:pt>
                <c:pt idx="83">
                  <c:v>2.3279000000000001</c:v>
                </c:pt>
                <c:pt idx="84">
                  <c:v>2.3287</c:v>
                </c:pt>
                <c:pt idx="85">
                  <c:v>2.3538999999999999</c:v>
                </c:pt>
                <c:pt idx="86">
                  <c:v>2.4300000000000002</c:v>
                </c:pt>
                <c:pt idx="87">
                  <c:v>2.4144999999999999</c:v>
                </c:pt>
                <c:pt idx="88">
                  <c:v>2.4047999999999998</c:v>
                </c:pt>
                <c:pt idx="89">
                  <c:v>2.3934000000000002</c:v>
                </c:pt>
                <c:pt idx="90">
                  <c:v>2.3805000000000001</c:v>
                </c:pt>
                <c:pt idx="91">
                  <c:v>2.3866000000000001</c:v>
                </c:pt>
                <c:pt idx="92">
                  <c:v>2.3772000000000002</c:v>
                </c:pt>
                <c:pt idx="93">
                  <c:v>2.3649</c:v>
                </c:pt>
                <c:pt idx="94">
                  <c:v>2.3738999999999999</c:v>
                </c:pt>
                <c:pt idx="95">
                  <c:v>2.35</c:v>
                </c:pt>
                <c:pt idx="96">
                  <c:v>2.3353000000000002</c:v>
                </c:pt>
                <c:pt idx="97">
                  <c:v>2.3109999999999999</c:v>
                </c:pt>
                <c:pt idx="98">
                  <c:v>2.282</c:v>
                </c:pt>
                <c:pt idx="99">
                  <c:v>2.2783000000000002</c:v>
                </c:pt>
                <c:pt idx="100">
                  <c:v>2.2784999999999997</c:v>
                </c:pt>
                <c:pt idx="101">
                  <c:v>2.2730000000000001</c:v>
                </c:pt>
                <c:pt idx="102">
                  <c:v>2.2713000000000001</c:v>
                </c:pt>
                <c:pt idx="103">
                  <c:v>2.2726999999999999</c:v>
                </c:pt>
                <c:pt idx="104">
                  <c:v>2.2726999999999999</c:v>
                </c:pt>
                <c:pt idx="105">
                  <c:v>2.2726999999999999</c:v>
                </c:pt>
                <c:pt idx="106">
                  <c:v>2.2726999999999999</c:v>
                </c:pt>
                <c:pt idx="107">
                  <c:v>2.2726999999999999</c:v>
                </c:pt>
                <c:pt idx="108">
                  <c:v>2.2726999999999999</c:v>
                </c:pt>
                <c:pt idx="109">
                  <c:v>2.2726999999999999</c:v>
                </c:pt>
                <c:pt idx="110">
                  <c:v>2.2726999999999999</c:v>
                </c:pt>
                <c:pt idx="111">
                  <c:v>2.2726999999999999</c:v>
                </c:pt>
                <c:pt idx="112">
                  <c:v>2.2726999999999999</c:v>
                </c:pt>
                <c:pt idx="113">
                  <c:v>2.2726999999999999</c:v>
                </c:pt>
                <c:pt idx="114">
                  <c:v>2.2726999999999999</c:v>
                </c:pt>
                <c:pt idx="115">
                  <c:v>2.2726999999999999</c:v>
                </c:pt>
                <c:pt idx="116">
                  <c:v>2.2726999999999999</c:v>
                </c:pt>
                <c:pt idx="117">
                  <c:v>2.2726999999999999</c:v>
                </c:pt>
                <c:pt idx="118">
                  <c:v>2.2726999999999999</c:v>
                </c:pt>
                <c:pt idx="119">
                  <c:v>2.2726999999999999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FE-4FF6-BF06-525836A24B3C}"/>
            </c:ext>
          </c:extLst>
        </c:ser>
        <c:ser>
          <c:idx val="1"/>
          <c:order val="1"/>
          <c:tx>
            <c:strRef>
              <c:f>'Tipo de Cambio'!$E$1</c:f>
              <c:strCache>
                <c:ptCount val="1"/>
                <c:pt idx="0">
                  <c:v>Paridad</c:v>
                </c:pt>
              </c:strCache>
            </c:strRef>
          </c:tx>
          <c:spPr>
            <a:ln w="38100">
              <a:solidFill>
                <a:schemeClr val="tx2">
                  <a:lumMod val="60000"/>
                  <a:lumOff val="40000"/>
                </a:schemeClr>
              </a:solidFill>
              <a:prstDash val="sysDash"/>
            </a:ln>
          </c:spPr>
          <c:marker>
            <c:symbol val="none"/>
          </c:marker>
          <c:cat>
            <c:multiLvlStrRef>
              <c:f>'Tipo de Cambio'!$A$2:$B$121</c:f>
              <c:multiLvlStrCache>
                <c:ptCount val="120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  <c:pt idx="12">
                    <c:v>Ene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Abr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Ago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Dic</c:v>
                  </c:pt>
                  <c:pt idx="24">
                    <c:v>Ene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Abr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Ago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Dic</c:v>
                  </c:pt>
                  <c:pt idx="36">
                    <c:v>Ene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Abr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Ago</c:v>
                  </c:pt>
                  <c:pt idx="44">
                    <c:v>Sep</c:v>
                  </c:pt>
                  <c:pt idx="45">
                    <c:v>Oct</c:v>
                  </c:pt>
                  <c:pt idx="46">
                    <c:v>Nov</c:v>
                  </c:pt>
                  <c:pt idx="47">
                    <c:v>Dic</c:v>
                  </c:pt>
                  <c:pt idx="48">
                    <c:v>Ene</c:v>
                  </c:pt>
                  <c:pt idx="49">
                    <c:v>Feb</c:v>
                  </c:pt>
                  <c:pt idx="50">
                    <c:v>Mar</c:v>
                  </c:pt>
                  <c:pt idx="51">
                    <c:v>Abr</c:v>
                  </c:pt>
                  <c:pt idx="52">
                    <c:v>May</c:v>
                  </c:pt>
                  <c:pt idx="53">
                    <c:v>Jun</c:v>
                  </c:pt>
                  <c:pt idx="54">
                    <c:v>Jul</c:v>
                  </c:pt>
                  <c:pt idx="55">
                    <c:v>Ago</c:v>
                  </c:pt>
                  <c:pt idx="56">
                    <c:v>Sep</c:v>
                  </c:pt>
                  <c:pt idx="57">
                    <c:v>Oct</c:v>
                  </c:pt>
                  <c:pt idx="58">
                    <c:v>Nov</c:v>
                  </c:pt>
                  <c:pt idx="59">
                    <c:v>Dic</c:v>
                  </c:pt>
                  <c:pt idx="60">
                    <c:v>Ene</c:v>
                  </c:pt>
                  <c:pt idx="61">
                    <c:v>Feb</c:v>
                  </c:pt>
                  <c:pt idx="62">
                    <c:v>Mar</c:v>
                  </c:pt>
                  <c:pt idx="63">
                    <c:v>Abr</c:v>
                  </c:pt>
                  <c:pt idx="64">
                    <c:v>May</c:v>
                  </c:pt>
                  <c:pt idx="65">
                    <c:v>Jun</c:v>
                  </c:pt>
                  <c:pt idx="66">
                    <c:v>Jul</c:v>
                  </c:pt>
                  <c:pt idx="67">
                    <c:v>Ago</c:v>
                  </c:pt>
                  <c:pt idx="68">
                    <c:v>Sep</c:v>
                  </c:pt>
                  <c:pt idx="69">
                    <c:v>Oct</c:v>
                  </c:pt>
                  <c:pt idx="70">
                    <c:v>Nov</c:v>
                  </c:pt>
                  <c:pt idx="71">
                    <c:v>Dic</c:v>
                  </c:pt>
                  <c:pt idx="72">
                    <c:v>Ene</c:v>
                  </c:pt>
                  <c:pt idx="73">
                    <c:v>Feb</c:v>
                  </c:pt>
                  <c:pt idx="74">
                    <c:v>Mar</c:v>
                  </c:pt>
                  <c:pt idx="75">
                    <c:v>Abr</c:v>
                  </c:pt>
                  <c:pt idx="76">
                    <c:v>May</c:v>
                  </c:pt>
                  <c:pt idx="77">
                    <c:v>Jun</c:v>
                  </c:pt>
                  <c:pt idx="78">
                    <c:v>Jul</c:v>
                  </c:pt>
                  <c:pt idx="79">
                    <c:v>Ago</c:v>
                  </c:pt>
                  <c:pt idx="80">
                    <c:v>Sep</c:v>
                  </c:pt>
                  <c:pt idx="81">
                    <c:v>Oct</c:v>
                  </c:pt>
                  <c:pt idx="82">
                    <c:v>Nov</c:v>
                  </c:pt>
                  <c:pt idx="83">
                    <c:v>Dic</c:v>
                  </c:pt>
                  <c:pt idx="84">
                    <c:v>Ene</c:v>
                  </c:pt>
                  <c:pt idx="85">
                    <c:v>Feb</c:v>
                  </c:pt>
                  <c:pt idx="86">
                    <c:v>Mar</c:v>
                  </c:pt>
                  <c:pt idx="87">
                    <c:v>Abr</c:v>
                  </c:pt>
                  <c:pt idx="88">
                    <c:v>May</c:v>
                  </c:pt>
                  <c:pt idx="89">
                    <c:v>Jun</c:v>
                  </c:pt>
                  <c:pt idx="90">
                    <c:v>Jul</c:v>
                  </c:pt>
                  <c:pt idx="91">
                    <c:v>Ago</c:v>
                  </c:pt>
                  <c:pt idx="92">
                    <c:v>Sep</c:v>
                  </c:pt>
                  <c:pt idx="93">
                    <c:v>Oct</c:v>
                  </c:pt>
                  <c:pt idx="94">
                    <c:v>Nov</c:v>
                  </c:pt>
                  <c:pt idx="95">
                    <c:v>Dic</c:v>
                  </c:pt>
                  <c:pt idx="96">
                    <c:v>Ene</c:v>
                  </c:pt>
                  <c:pt idx="97">
                    <c:v>Feb</c:v>
                  </c:pt>
                  <c:pt idx="98">
                    <c:v>Mar</c:v>
                  </c:pt>
                  <c:pt idx="99">
                    <c:v>Abr</c:v>
                  </c:pt>
                  <c:pt idx="100">
                    <c:v>May</c:v>
                  </c:pt>
                  <c:pt idx="101">
                    <c:v>Jun</c:v>
                  </c:pt>
                  <c:pt idx="102">
                    <c:v>Jul</c:v>
                  </c:pt>
                  <c:pt idx="103">
                    <c:v>Ago</c:v>
                  </c:pt>
                  <c:pt idx="104">
                    <c:v>Sep</c:v>
                  </c:pt>
                  <c:pt idx="105">
                    <c:v>Oct</c:v>
                  </c:pt>
                  <c:pt idx="106">
                    <c:v>Nov</c:v>
                  </c:pt>
                  <c:pt idx="107">
                    <c:v>Dic</c:v>
                  </c:pt>
                  <c:pt idx="108">
                    <c:v>Ene</c:v>
                  </c:pt>
                  <c:pt idx="109">
                    <c:v>Feb</c:v>
                  </c:pt>
                  <c:pt idx="110">
                    <c:v>Mar</c:v>
                  </c:pt>
                  <c:pt idx="111">
                    <c:v>Abr</c:v>
                  </c:pt>
                  <c:pt idx="112">
                    <c:v>May</c:v>
                  </c:pt>
                  <c:pt idx="113">
                    <c:v>Jun</c:v>
                  </c:pt>
                  <c:pt idx="114">
                    <c:v>Jul</c:v>
                  </c:pt>
                  <c:pt idx="115">
                    <c:v>Ago</c:v>
                  </c:pt>
                  <c:pt idx="116">
                    <c:v>Sep</c:v>
                  </c:pt>
                  <c:pt idx="117">
                    <c:v>Oct</c:v>
                  </c:pt>
                  <c:pt idx="118">
                    <c:v>Nov</c:v>
                  </c:pt>
                  <c:pt idx="119">
                    <c:v>Dic</c:v>
                  </c:pt>
                </c:lvl>
                <c:lvl>
                  <c:pt idx="0">
                    <c:v>1919</c:v>
                  </c:pt>
                  <c:pt idx="12">
                    <c:v>1920</c:v>
                  </c:pt>
                  <c:pt idx="24">
                    <c:v>1921</c:v>
                  </c:pt>
                  <c:pt idx="36">
                    <c:v>1922</c:v>
                  </c:pt>
                  <c:pt idx="48">
                    <c:v>1923</c:v>
                  </c:pt>
                  <c:pt idx="60">
                    <c:v>1924</c:v>
                  </c:pt>
                  <c:pt idx="72">
                    <c:v>1925</c:v>
                  </c:pt>
                  <c:pt idx="84">
                    <c:v>1926</c:v>
                  </c:pt>
                  <c:pt idx="96">
                    <c:v>1927</c:v>
                  </c:pt>
                  <c:pt idx="108">
                    <c:v>1928</c:v>
                  </c:pt>
                </c:lvl>
              </c:multiLvlStrCache>
            </c:multiLvlStrRef>
          </c:cat>
          <c:val>
            <c:numRef>
              <c:f>'Tipo de Cambio'!$E$2:$E$121</c:f>
              <c:numCache>
                <c:formatCode>_(* #,##0.00_);_(* \(#,##0.00\);_(* "-"??_);_(@_)</c:formatCode>
                <c:ptCount val="120"/>
                <c:pt idx="0">
                  <c:v>2.2726999999999999</c:v>
                </c:pt>
                <c:pt idx="1">
                  <c:v>2.2726999999999999</c:v>
                </c:pt>
                <c:pt idx="2">
                  <c:v>2.2726999999999999</c:v>
                </c:pt>
                <c:pt idx="3">
                  <c:v>2.2726999999999999</c:v>
                </c:pt>
                <c:pt idx="4">
                  <c:v>2.2726999999999999</c:v>
                </c:pt>
                <c:pt idx="5">
                  <c:v>2.2726999999999999</c:v>
                </c:pt>
                <c:pt idx="6">
                  <c:v>2.2726999999999999</c:v>
                </c:pt>
                <c:pt idx="7">
                  <c:v>2.2726999999999999</c:v>
                </c:pt>
                <c:pt idx="8">
                  <c:v>2.2726999999999999</c:v>
                </c:pt>
                <c:pt idx="9">
                  <c:v>2.2726999999999999</c:v>
                </c:pt>
                <c:pt idx="10">
                  <c:v>2.2726999999999999</c:v>
                </c:pt>
                <c:pt idx="11">
                  <c:v>2.2726999999999999</c:v>
                </c:pt>
                <c:pt idx="12">
                  <c:v>2.2726999999999999</c:v>
                </c:pt>
                <c:pt idx="13">
                  <c:v>2.2726999999999999</c:v>
                </c:pt>
                <c:pt idx="14">
                  <c:v>2.2726999999999999</c:v>
                </c:pt>
                <c:pt idx="15">
                  <c:v>2.2726999999999999</c:v>
                </c:pt>
                <c:pt idx="16">
                  <c:v>2.2726999999999999</c:v>
                </c:pt>
                <c:pt idx="17">
                  <c:v>2.2726999999999999</c:v>
                </c:pt>
                <c:pt idx="18">
                  <c:v>2.2726999999999999</c:v>
                </c:pt>
                <c:pt idx="19">
                  <c:v>2.2726999999999999</c:v>
                </c:pt>
                <c:pt idx="20">
                  <c:v>2.2726999999999999</c:v>
                </c:pt>
                <c:pt idx="21">
                  <c:v>2.2726999999999999</c:v>
                </c:pt>
                <c:pt idx="22">
                  <c:v>2.2726999999999999</c:v>
                </c:pt>
                <c:pt idx="23">
                  <c:v>2.2726999999999999</c:v>
                </c:pt>
                <c:pt idx="24">
                  <c:v>2.2726999999999999</c:v>
                </c:pt>
                <c:pt idx="25">
                  <c:v>2.2726999999999999</c:v>
                </c:pt>
                <c:pt idx="26">
                  <c:v>2.2726999999999999</c:v>
                </c:pt>
                <c:pt idx="27">
                  <c:v>2.2726999999999999</c:v>
                </c:pt>
                <c:pt idx="28">
                  <c:v>2.2726999999999999</c:v>
                </c:pt>
                <c:pt idx="29">
                  <c:v>2.2726999999999999</c:v>
                </c:pt>
                <c:pt idx="30">
                  <c:v>2.2726999999999999</c:v>
                </c:pt>
                <c:pt idx="31">
                  <c:v>2.2726999999999999</c:v>
                </c:pt>
                <c:pt idx="32">
                  <c:v>2.2726999999999999</c:v>
                </c:pt>
                <c:pt idx="33">
                  <c:v>2.2726999999999999</c:v>
                </c:pt>
                <c:pt idx="34">
                  <c:v>2.2726999999999999</c:v>
                </c:pt>
                <c:pt idx="35">
                  <c:v>2.2726999999999999</c:v>
                </c:pt>
                <c:pt idx="36">
                  <c:v>2.2726999999999999</c:v>
                </c:pt>
                <c:pt idx="37">
                  <c:v>2.2726999999999999</c:v>
                </c:pt>
                <c:pt idx="38">
                  <c:v>2.2726999999999999</c:v>
                </c:pt>
                <c:pt idx="39">
                  <c:v>2.2726999999999999</c:v>
                </c:pt>
                <c:pt idx="40">
                  <c:v>2.2726999999999999</c:v>
                </c:pt>
                <c:pt idx="41">
                  <c:v>2.2726999999999999</c:v>
                </c:pt>
                <c:pt idx="42">
                  <c:v>2.2726999999999999</c:v>
                </c:pt>
                <c:pt idx="43">
                  <c:v>2.2726999999999999</c:v>
                </c:pt>
                <c:pt idx="44">
                  <c:v>2.2726999999999999</c:v>
                </c:pt>
                <c:pt idx="45">
                  <c:v>2.2726999999999999</c:v>
                </c:pt>
                <c:pt idx="46">
                  <c:v>2.2726999999999999</c:v>
                </c:pt>
                <c:pt idx="47">
                  <c:v>2.2726999999999999</c:v>
                </c:pt>
                <c:pt idx="48">
                  <c:v>2.2726999999999999</c:v>
                </c:pt>
                <c:pt idx="49">
                  <c:v>2.2726999999999999</c:v>
                </c:pt>
                <c:pt idx="50">
                  <c:v>2.2726999999999999</c:v>
                </c:pt>
                <c:pt idx="51">
                  <c:v>2.2726999999999999</c:v>
                </c:pt>
                <c:pt idx="52">
                  <c:v>2.2726999999999999</c:v>
                </c:pt>
                <c:pt idx="53">
                  <c:v>2.2726999999999999</c:v>
                </c:pt>
                <c:pt idx="54">
                  <c:v>2.2726999999999999</c:v>
                </c:pt>
                <c:pt idx="55">
                  <c:v>2.2726999999999999</c:v>
                </c:pt>
                <c:pt idx="56">
                  <c:v>2.2726999999999999</c:v>
                </c:pt>
                <c:pt idx="57">
                  <c:v>2.2726999999999999</c:v>
                </c:pt>
                <c:pt idx="58">
                  <c:v>2.2726999999999999</c:v>
                </c:pt>
                <c:pt idx="59">
                  <c:v>2.2726999999999999</c:v>
                </c:pt>
                <c:pt idx="60">
                  <c:v>2.2726999999999999</c:v>
                </c:pt>
                <c:pt idx="61">
                  <c:v>2.2726999999999999</c:v>
                </c:pt>
                <c:pt idx="62">
                  <c:v>2.2726999999999999</c:v>
                </c:pt>
                <c:pt idx="63">
                  <c:v>2.2726999999999999</c:v>
                </c:pt>
                <c:pt idx="64">
                  <c:v>2.2726999999999999</c:v>
                </c:pt>
                <c:pt idx="65">
                  <c:v>2.2726999999999999</c:v>
                </c:pt>
                <c:pt idx="66">
                  <c:v>2.2726999999999999</c:v>
                </c:pt>
                <c:pt idx="67">
                  <c:v>2.2726999999999999</c:v>
                </c:pt>
                <c:pt idx="68">
                  <c:v>2.2726999999999999</c:v>
                </c:pt>
                <c:pt idx="69">
                  <c:v>2.2726999999999999</c:v>
                </c:pt>
                <c:pt idx="70">
                  <c:v>2.2726999999999999</c:v>
                </c:pt>
                <c:pt idx="71">
                  <c:v>2.2726999999999999</c:v>
                </c:pt>
                <c:pt idx="72">
                  <c:v>2.2726999999999999</c:v>
                </c:pt>
                <c:pt idx="73">
                  <c:v>2.2726999999999999</c:v>
                </c:pt>
                <c:pt idx="74">
                  <c:v>2.2726999999999999</c:v>
                </c:pt>
                <c:pt idx="75">
                  <c:v>2.2726999999999999</c:v>
                </c:pt>
                <c:pt idx="76">
                  <c:v>2.2726999999999999</c:v>
                </c:pt>
                <c:pt idx="77">
                  <c:v>2.2726999999999999</c:v>
                </c:pt>
                <c:pt idx="78">
                  <c:v>2.2726999999999999</c:v>
                </c:pt>
                <c:pt idx="79">
                  <c:v>2.2726999999999999</c:v>
                </c:pt>
                <c:pt idx="80">
                  <c:v>2.2726999999999999</c:v>
                </c:pt>
                <c:pt idx="81">
                  <c:v>2.2726999999999999</c:v>
                </c:pt>
                <c:pt idx="82">
                  <c:v>2.2726999999999999</c:v>
                </c:pt>
                <c:pt idx="83">
                  <c:v>2.2726999999999999</c:v>
                </c:pt>
                <c:pt idx="84">
                  <c:v>2.2726999999999999</c:v>
                </c:pt>
                <c:pt idx="85">
                  <c:v>2.2726999999999999</c:v>
                </c:pt>
                <c:pt idx="86">
                  <c:v>2.2726999999999999</c:v>
                </c:pt>
                <c:pt idx="87">
                  <c:v>2.2726999999999999</c:v>
                </c:pt>
                <c:pt idx="88">
                  <c:v>2.2726999999999999</c:v>
                </c:pt>
                <c:pt idx="89">
                  <c:v>2.2726999999999999</c:v>
                </c:pt>
                <c:pt idx="90">
                  <c:v>2.2726999999999999</c:v>
                </c:pt>
                <c:pt idx="91">
                  <c:v>2.2726999999999999</c:v>
                </c:pt>
                <c:pt idx="92">
                  <c:v>2.2726999999999999</c:v>
                </c:pt>
                <c:pt idx="93">
                  <c:v>2.2726999999999999</c:v>
                </c:pt>
                <c:pt idx="94">
                  <c:v>2.2726999999999999</c:v>
                </c:pt>
                <c:pt idx="95">
                  <c:v>2.2726999999999999</c:v>
                </c:pt>
                <c:pt idx="96">
                  <c:v>2.2726999999999999</c:v>
                </c:pt>
                <c:pt idx="97">
                  <c:v>2.2726999999999999</c:v>
                </c:pt>
                <c:pt idx="98">
                  <c:v>2.2726999999999999</c:v>
                </c:pt>
                <c:pt idx="99">
                  <c:v>2.2726999999999999</c:v>
                </c:pt>
                <c:pt idx="100">
                  <c:v>2.2726999999999999</c:v>
                </c:pt>
                <c:pt idx="101">
                  <c:v>2.2726999999999999</c:v>
                </c:pt>
                <c:pt idx="102">
                  <c:v>2.2726999999999999</c:v>
                </c:pt>
                <c:pt idx="103">
                  <c:v>2.2726999999999999</c:v>
                </c:pt>
                <c:pt idx="104">
                  <c:v>2.2726999999999999</c:v>
                </c:pt>
                <c:pt idx="105">
                  <c:v>2.2726999999999999</c:v>
                </c:pt>
                <c:pt idx="106">
                  <c:v>2.2726999999999999</c:v>
                </c:pt>
                <c:pt idx="107">
                  <c:v>2.2726999999999999</c:v>
                </c:pt>
                <c:pt idx="108">
                  <c:v>2.2726999999999999</c:v>
                </c:pt>
                <c:pt idx="109">
                  <c:v>2.2726999999999999</c:v>
                </c:pt>
                <c:pt idx="110">
                  <c:v>2.2726999999999999</c:v>
                </c:pt>
                <c:pt idx="111">
                  <c:v>2.2726999999999999</c:v>
                </c:pt>
                <c:pt idx="112">
                  <c:v>2.2726999999999999</c:v>
                </c:pt>
                <c:pt idx="113">
                  <c:v>2.2726999999999999</c:v>
                </c:pt>
                <c:pt idx="114">
                  <c:v>2.2726999999999999</c:v>
                </c:pt>
                <c:pt idx="115">
                  <c:v>2.2726999999999999</c:v>
                </c:pt>
                <c:pt idx="116">
                  <c:v>2.2726999999999999</c:v>
                </c:pt>
                <c:pt idx="117">
                  <c:v>2.2726999999999999</c:v>
                </c:pt>
                <c:pt idx="118">
                  <c:v>2.2726999999999999</c:v>
                </c:pt>
                <c:pt idx="119">
                  <c:v>2.2726999999999999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DFE-4FF6-BF06-525836A24B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9590784"/>
        <c:axId val="129592320"/>
      </c:lineChart>
      <c:catAx>
        <c:axId val="1295907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>
            <a:solidFill>
              <a:schemeClr val="tx2">
                <a:lumMod val="75000"/>
              </a:schemeClr>
            </a:solidFill>
          </a:ln>
        </c:spPr>
        <c:txPr>
          <a:bodyPr rot="-5400000" vert="horz"/>
          <a:lstStyle/>
          <a:p>
            <a:pPr>
              <a:defRPr sz="1200"/>
            </a:pPr>
            <a:endParaRPr lang="es-AR"/>
          </a:p>
        </c:txPr>
        <c:crossAx val="129592320"/>
        <c:crosses val="autoZero"/>
        <c:auto val="1"/>
        <c:lblAlgn val="ctr"/>
        <c:lblOffset val="100"/>
        <c:noMultiLvlLbl val="0"/>
      </c:catAx>
      <c:valAx>
        <c:axId val="129592320"/>
        <c:scaling>
          <c:orientation val="minMax"/>
        </c:scaling>
        <c:delete val="0"/>
        <c:axPos val="l"/>
        <c:numFmt formatCode="#,##0.00" sourceLinked="0"/>
        <c:majorTickMark val="none"/>
        <c:minorTickMark val="none"/>
        <c:tickLblPos val="nextTo"/>
        <c:spPr>
          <a:ln>
            <a:solidFill>
              <a:schemeClr val="tx2">
                <a:lumMod val="75000"/>
              </a:schemeClr>
            </a:solidFill>
          </a:ln>
        </c:spPr>
        <c:crossAx val="129590784"/>
        <c:crosses val="autoZero"/>
        <c:crossBetween val="between"/>
      </c:valAx>
      <c:spPr>
        <a:noFill/>
        <a:ln w="25400" cap="flat" cmpd="sng" algn="ctr">
          <a:noFill/>
          <a:prstDash val="solid"/>
        </a:ln>
        <a:effectLst/>
      </c:spPr>
    </c:plotArea>
    <c:legend>
      <c:legendPos val="b"/>
      <c:layout>
        <c:manualLayout>
          <c:xMode val="edge"/>
          <c:yMode val="edge"/>
          <c:x val="6.2186896418301163E-3"/>
          <c:y val="0.88893772117219239"/>
          <c:w val="0.99160578611884065"/>
          <c:h val="6.288177807561289E-2"/>
        </c:manualLayout>
      </c:layout>
      <c:overlay val="0"/>
    </c:legend>
    <c:plotVisOnly val="1"/>
    <c:dispBlanksAs val="gap"/>
    <c:showDLblsOverMax val="0"/>
  </c:chart>
  <c:spPr>
    <a:noFill/>
    <a:ln w="25400" cap="flat" cmpd="sng" algn="ctr">
      <a:noFill/>
      <a:prstDash val="solid"/>
    </a:ln>
    <a:effectLst/>
  </c:spPr>
  <c:txPr>
    <a:bodyPr/>
    <a:lstStyle/>
    <a:p>
      <a:pPr>
        <a:defRPr sz="1600">
          <a:solidFill>
            <a:schemeClr val="tx2">
              <a:lumMod val="75000"/>
            </a:schemeClr>
          </a:solidFill>
          <a:latin typeface="Abadi" panose="020B0604020104020204" pitchFamily="34" charset="0"/>
          <a:ea typeface="+mn-ea"/>
          <a:cs typeface="Times New Roman" pitchFamily="18" charset="0"/>
        </a:defRPr>
      </a:pPr>
      <a:endParaRPr lang="es-AR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1116441607498157"/>
          <c:y val="7.7601410934744264E-2"/>
          <c:w val="0.74248265344254682"/>
          <c:h val="0.61040039056495421"/>
        </c:manualLayout>
      </c:layout>
      <c:scatterChart>
        <c:scatterStyle val="lineMarker"/>
        <c:varyColors val="0"/>
        <c:ser>
          <c:idx val="0"/>
          <c:order val="0"/>
          <c:spPr>
            <a:ln w="28575">
              <a:noFill/>
            </a:ln>
          </c:spPr>
          <c:marker>
            <c:symbol val="diamond"/>
            <c:size val="6"/>
            <c:spPr>
              <a:solidFill>
                <a:schemeClr val="tx2">
                  <a:lumMod val="75000"/>
                </a:schemeClr>
              </a:solidFill>
              <a:ln>
                <a:noFill/>
              </a:ln>
            </c:spPr>
          </c:marker>
          <c:xVal>
            <c:numRef>
              <c:f>'Oro-BM'!$C$2:$C$29</c:f>
              <c:numCache>
                <c:formatCode>_ * #,##0_ ;_ * \-#,##0_ ;_ * "-"??_ ;_ @_ </c:formatCode>
                <c:ptCount val="28"/>
                <c:pt idx="0">
                  <c:v>1.6607133869398467</c:v>
                </c:pt>
                <c:pt idx="1">
                  <c:v>4.4784352686040165</c:v>
                </c:pt>
                <c:pt idx="2">
                  <c:v>2.4892391145406236</c:v>
                </c:pt>
                <c:pt idx="3">
                  <c:v>1.4622654825805057</c:v>
                </c:pt>
                <c:pt idx="4">
                  <c:v>3.6838577026373969</c:v>
                </c:pt>
                <c:pt idx="5">
                  <c:v>11.520000000000209</c:v>
                </c:pt>
                <c:pt idx="6">
                  <c:v>14.459999999999809</c:v>
                </c:pt>
                <c:pt idx="7">
                  <c:v>2.2300000000000182</c:v>
                </c:pt>
                <c:pt idx="8">
                  <c:v>20.830000000000155</c:v>
                </c:pt>
                <c:pt idx="9">
                  <c:v>9.959999999999809</c:v>
                </c:pt>
                <c:pt idx="10">
                  <c:v>14.840000000000146</c:v>
                </c:pt>
                <c:pt idx="11">
                  <c:v>16.079999999999927</c:v>
                </c:pt>
                <c:pt idx="12">
                  <c:v>7.5299999999999727</c:v>
                </c:pt>
                <c:pt idx="13">
                  <c:v>7.0199999999999818</c:v>
                </c:pt>
                <c:pt idx="14">
                  <c:v>6.6900000000000546</c:v>
                </c:pt>
                <c:pt idx="15">
                  <c:v>-1.1800000000000637</c:v>
                </c:pt>
                <c:pt idx="16">
                  <c:v>-0.79999999999995453</c:v>
                </c:pt>
                <c:pt idx="17">
                  <c:v>-0.83999999999991815</c:v>
                </c:pt>
                <c:pt idx="18">
                  <c:v>-23.779999999999973</c:v>
                </c:pt>
                <c:pt idx="19">
                  <c:v>-0.59000000000014552</c:v>
                </c:pt>
                <c:pt idx="20">
                  <c:v>-7.4800000000000182</c:v>
                </c:pt>
                <c:pt idx="21">
                  <c:v>29.3900000000001</c:v>
                </c:pt>
                <c:pt idx="22">
                  <c:v>-5.8699999999998909</c:v>
                </c:pt>
                <c:pt idx="23">
                  <c:v>-40.700000000000045</c:v>
                </c:pt>
                <c:pt idx="24">
                  <c:v>4.4099999999998545</c:v>
                </c:pt>
                <c:pt idx="25">
                  <c:v>-11.639999999999873</c:v>
                </c:pt>
                <c:pt idx="26">
                  <c:v>-28.019999999999982</c:v>
                </c:pt>
                <c:pt idx="27">
                  <c:v>-5.2300000000000182</c:v>
                </c:pt>
              </c:numCache>
            </c:numRef>
          </c:xVal>
          <c:yVal>
            <c:numRef>
              <c:f>'Oro-BM'!$D$2:$D$29</c:f>
              <c:numCache>
                <c:formatCode>_ * #,##0_ ;_ * \-#,##0_ ;_ * "-"??_ ;_ @_ </c:formatCode>
                <c:ptCount val="28"/>
                <c:pt idx="0">
                  <c:v>0</c:v>
                </c:pt>
                <c:pt idx="1">
                  <c:v>4.5800000000001546</c:v>
                </c:pt>
                <c:pt idx="2">
                  <c:v>0</c:v>
                </c:pt>
                <c:pt idx="3">
                  <c:v>0.6899999999998272</c:v>
                </c:pt>
                <c:pt idx="4">
                  <c:v>4.3200000000001637</c:v>
                </c:pt>
                <c:pt idx="5">
                  <c:v>11.519999999999982</c:v>
                </c:pt>
                <c:pt idx="6">
                  <c:v>14.449999999999818</c:v>
                </c:pt>
                <c:pt idx="7">
                  <c:v>2.2400000000000091</c:v>
                </c:pt>
                <c:pt idx="8">
                  <c:v>20.830000000000155</c:v>
                </c:pt>
                <c:pt idx="9">
                  <c:v>9.9600000000000364</c:v>
                </c:pt>
                <c:pt idx="10">
                  <c:v>14.839999999999918</c:v>
                </c:pt>
                <c:pt idx="11">
                  <c:v>16.079999999999927</c:v>
                </c:pt>
                <c:pt idx="12">
                  <c:v>7.5299999999999727</c:v>
                </c:pt>
                <c:pt idx="13">
                  <c:v>7.0199999999999818</c:v>
                </c:pt>
                <c:pt idx="14">
                  <c:v>6.6900000000000546</c:v>
                </c:pt>
                <c:pt idx="15">
                  <c:v>-1.4800000000000182</c:v>
                </c:pt>
                <c:pt idx="16">
                  <c:v>-0.5</c:v>
                </c:pt>
                <c:pt idx="17">
                  <c:v>-0.83999999999991815</c:v>
                </c:pt>
                <c:pt idx="18">
                  <c:v>-23.779999999999973</c:v>
                </c:pt>
                <c:pt idx="19">
                  <c:v>-0.59000000000014552</c:v>
                </c:pt>
                <c:pt idx="20">
                  <c:v>-7.4799999999997908</c:v>
                </c:pt>
                <c:pt idx="21">
                  <c:v>29.389999999999873</c:v>
                </c:pt>
                <c:pt idx="22">
                  <c:v>-5.8699999999998909</c:v>
                </c:pt>
                <c:pt idx="23">
                  <c:v>-40.710000000000036</c:v>
                </c:pt>
                <c:pt idx="24">
                  <c:v>4.4199999999998454</c:v>
                </c:pt>
                <c:pt idx="25">
                  <c:v>-11.639999999999873</c:v>
                </c:pt>
                <c:pt idx="26">
                  <c:v>-28.019999999999982</c:v>
                </c:pt>
                <c:pt idx="27">
                  <c:v>-5.2400000000000091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F98-4C4E-9B43-6A142AC209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0265856"/>
        <c:axId val="130268160"/>
      </c:scatterChart>
      <c:valAx>
        <c:axId val="13026585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s-ES"/>
                  <a:t>Variaciones de las reservas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chemeClr val="tx2">
                <a:lumMod val="75000"/>
              </a:schemeClr>
            </a:solidFill>
          </a:ln>
        </c:spPr>
        <c:crossAx val="130268160"/>
        <c:crosses val="autoZero"/>
        <c:crossBetween val="midCat"/>
      </c:valAx>
      <c:valAx>
        <c:axId val="130268160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/>
                </a:pPr>
                <a:r>
                  <a:rPr lang="es-ES"/>
                  <a:t>Variaciones de la BM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low"/>
        <c:spPr>
          <a:ln>
            <a:solidFill>
              <a:schemeClr val="tx2">
                <a:lumMod val="75000"/>
              </a:schemeClr>
            </a:solidFill>
          </a:ln>
        </c:spPr>
        <c:crossAx val="130265856"/>
        <c:crosses val="autoZero"/>
        <c:crossBetween val="midCat"/>
      </c:valAx>
    </c:plotArea>
    <c:plotVisOnly val="1"/>
    <c:dispBlanksAs val="gap"/>
    <c:showDLblsOverMax val="0"/>
  </c:chart>
  <c:spPr>
    <a:ln>
      <a:noFill/>
    </a:ln>
  </c:spPr>
  <c:txPr>
    <a:bodyPr/>
    <a:lstStyle/>
    <a:p>
      <a:pPr>
        <a:defRPr sz="1600">
          <a:solidFill>
            <a:schemeClr val="tx2">
              <a:lumMod val="75000"/>
            </a:schemeClr>
          </a:solidFill>
          <a:latin typeface="Abadi" panose="020B0604020104020204" pitchFamily="34" charset="0"/>
          <a:cs typeface="Times New Roman" pitchFamily="18" charset="0"/>
        </a:defRPr>
      </a:pPr>
      <a:endParaRPr lang="es-AR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9.8571741032371027E-2"/>
          <c:y val="4.2174826233207327E-2"/>
          <c:w val="0.8854698162729655"/>
          <c:h val="0.59005961597854339"/>
        </c:manualLayout>
      </c:layout>
      <c:lineChart>
        <c:grouping val="standard"/>
        <c:varyColors val="0"/>
        <c:ser>
          <c:idx val="0"/>
          <c:order val="2"/>
          <c:tx>
            <c:strRef>
              <c:f>'Dep Bancos'!$C$1</c:f>
              <c:strCache>
                <c:ptCount val="1"/>
                <c:pt idx="0">
                  <c:v>Bco. de la Nación (BNA)</c:v>
                </c:pt>
              </c:strCache>
            </c:strRef>
          </c:tx>
          <c:spPr>
            <a:ln w="38100">
              <a:solidFill>
                <a:schemeClr val="tx2">
                  <a:lumMod val="60000"/>
                  <a:lumOff val="40000"/>
                </a:schemeClr>
              </a:solidFill>
            </a:ln>
          </c:spPr>
          <c:marker>
            <c:symbol val="none"/>
          </c:marker>
          <c:cat>
            <c:multiLvlStrRef>
              <c:f>'Dep Bancos'!$A$2:$B$121</c:f>
              <c:multiLvlStrCache>
                <c:ptCount val="120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  <c:pt idx="12">
                    <c:v>Ene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Abr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Ago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Dic</c:v>
                  </c:pt>
                  <c:pt idx="24">
                    <c:v>Ene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Abr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Ago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Dic</c:v>
                  </c:pt>
                  <c:pt idx="36">
                    <c:v>Ene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Abr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Ago</c:v>
                  </c:pt>
                  <c:pt idx="44">
                    <c:v>Sep</c:v>
                  </c:pt>
                  <c:pt idx="45">
                    <c:v>Oct</c:v>
                  </c:pt>
                  <c:pt idx="46">
                    <c:v>Nov</c:v>
                  </c:pt>
                  <c:pt idx="47">
                    <c:v>Dic</c:v>
                  </c:pt>
                  <c:pt idx="48">
                    <c:v>Ene</c:v>
                  </c:pt>
                  <c:pt idx="49">
                    <c:v>Feb</c:v>
                  </c:pt>
                  <c:pt idx="50">
                    <c:v>Mar</c:v>
                  </c:pt>
                  <c:pt idx="51">
                    <c:v>Abr</c:v>
                  </c:pt>
                  <c:pt idx="52">
                    <c:v>May</c:v>
                  </c:pt>
                  <c:pt idx="53">
                    <c:v>Jun</c:v>
                  </c:pt>
                  <c:pt idx="54">
                    <c:v>Jul</c:v>
                  </c:pt>
                  <c:pt idx="55">
                    <c:v>Ago</c:v>
                  </c:pt>
                  <c:pt idx="56">
                    <c:v>Sep</c:v>
                  </c:pt>
                  <c:pt idx="57">
                    <c:v>Oct</c:v>
                  </c:pt>
                  <c:pt idx="58">
                    <c:v>Nov</c:v>
                  </c:pt>
                  <c:pt idx="59">
                    <c:v>Dic</c:v>
                  </c:pt>
                  <c:pt idx="60">
                    <c:v>Ene</c:v>
                  </c:pt>
                  <c:pt idx="61">
                    <c:v>Feb</c:v>
                  </c:pt>
                  <c:pt idx="62">
                    <c:v>Mar</c:v>
                  </c:pt>
                  <c:pt idx="63">
                    <c:v>Abr</c:v>
                  </c:pt>
                  <c:pt idx="64">
                    <c:v>May</c:v>
                  </c:pt>
                  <c:pt idx="65">
                    <c:v>Jun</c:v>
                  </c:pt>
                  <c:pt idx="66">
                    <c:v>Jul</c:v>
                  </c:pt>
                  <c:pt idx="67">
                    <c:v>Ago</c:v>
                  </c:pt>
                  <c:pt idx="68">
                    <c:v>Sep</c:v>
                  </c:pt>
                  <c:pt idx="69">
                    <c:v>Oct</c:v>
                  </c:pt>
                  <c:pt idx="70">
                    <c:v>Nov</c:v>
                  </c:pt>
                  <c:pt idx="71">
                    <c:v>Dic</c:v>
                  </c:pt>
                  <c:pt idx="72">
                    <c:v>Ene</c:v>
                  </c:pt>
                  <c:pt idx="73">
                    <c:v>Feb</c:v>
                  </c:pt>
                  <c:pt idx="74">
                    <c:v>Mar</c:v>
                  </c:pt>
                  <c:pt idx="75">
                    <c:v>Abr</c:v>
                  </c:pt>
                  <c:pt idx="76">
                    <c:v>May</c:v>
                  </c:pt>
                  <c:pt idx="77">
                    <c:v>Jun</c:v>
                  </c:pt>
                  <c:pt idx="78">
                    <c:v>Jul</c:v>
                  </c:pt>
                  <c:pt idx="79">
                    <c:v>Ago</c:v>
                  </c:pt>
                  <c:pt idx="80">
                    <c:v>Sep</c:v>
                  </c:pt>
                  <c:pt idx="81">
                    <c:v>Oct</c:v>
                  </c:pt>
                  <c:pt idx="82">
                    <c:v>Nov</c:v>
                  </c:pt>
                  <c:pt idx="83">
                    <c:v>Dic</c:v>
                  </c:pt>
                  <c:pt idx="84">
                    <c:v>Ene</c:v>
                  </c:pt>
                  <c:pt idx="85">
                    <c:v>Feb</c:v>
                  </c:pt>
                  <c:pt idx="86">
                    <c:v>Mar</c:v>
                  </c:pt>
                  <c:pt idx="87">
                    <c:v>Abr</c:v>
                  </c:pt>
                  <c:pt idx="88">
                    <c:v>May</c:v>
                  </c:pt>
                  <c:pt idx="89">
                    <c:v>Jun</c:v>
                  </c:pt>
                  <c:pt idx="90">
                    <c:v>Jul</c:v>
                  </c:pt>
                  <c:pt idx="91">
                    <c:v>Ago</c:v>
                  </c:pt>
                  <c:pt idx="92">
                    <c:v>Sep</c:v>
                  </c:pt>
                  <c:pt idx="93">
                    <c:v>Oct</c:v>
                  </c:pt>
                  <c:pt idx="94">
                    <c:v>Nov</c:v>
                  </c:pt>
                  <c:pt idx="95">
                    <c:v>Dic</c:v>
                  </c:pt>
                  <c:pt idx="96">
                    <c:v>Ene</c:v>
                  </c:pt>
                  <c:pt idx="97">
                    <c:v>Feb</c:v>
                  </c:pt>
                  <c:pt idx="98">
                    <c:v>Mar</c:v>
                  </c:pt>
                  <c:pt idx="99">
                    <c:v>Abr</c:v>
                  </c:pt>
                  <c:pt idx="100">
                    <c:v>May</c:v>
                  </c:pt>
                  <c:pt idx="101">
                    <c:v>Jun</c:v>
                  </c:pt>
                  <c:pt idx="102">
                    <c:v>Jul</c:v>
                  </c:pt>
                  <c:pt idx="103">
                    <c:v>Ago</c:v>
                  </c:pt>
                  <c:pt idx="104">
                    <c:v>Sep</c:v>
                  </c:pt>
                  <c:pt idx="105">
                    <c:v>Oct</c:v>
                  </c:pt>
                  <c:pt idx="106">
                    <c:v>Nov</c:v>
                  </c:pt>
                  <c:pt idx="107">
                    <c:v>Dic</c:v>
                  </c:pt>
                  <c:pt idx="108">
                    <c:v>Ene</c:v>
                  </c:pt>
                  <c:pt idx="109">
                    <c:v>Feb</c:v>
                  </c:pt>
                  <c:pt idx="110">
                    <c:v>Mar</c:v>
                  </c:pt>
                  <c:pt idx="111">
                    <c:v>Abr</c:v>
                  </c:pt>
                  <c:pt idx="112">
                    <c:v>May</c:v>
                  </c:pt>
                  <c:pt idx="113">
                    <c:v>Jun</c:v>
                  </c:pt>
                  <c:pt idx="114">
                    <c:v>Jul</c:v>
                  </c:pt>
                  <c:pt idx="115">
                    <c:v>Ago</c:v>
                  </c:pt>
                  <c:pt idx="116">
                    <c:v>Sep</c:v>
                  </c:pt>
                  <c:pt idx="117">
                    <c:v>Oct</c:v>
                  </c:pt>
                  <c:pt idx="118">
                    <c:v>Nov</c:v>
                  </c:pt>
                  <c:pt idx="119">
                    <c:v>Dic</c:v>
                  </c:pt>
                </c:lvl>
                <c:lvl>
                  <c:pt idx="0">
                    <c:v>1919</c:v>
                  </c:pt>
                  <c:pt idx="12">
                    <c:v>1920</c:v>
                  </c:pt>
                  <c:pt idx="24">
                    <c:v>1921</c:v>
                  </c:pt>
                  <c:pt idx="36">
                    <c:v>1922</c:v>
                  </c:pt>
                  <c:pt idx="48">
                    <c:v>1923</c:v>
                  </c:pt>
                  <c:pt idx="60">
                    <c:v>1924</c:v>
                  </c:pt>
                  <c:pt idx="72">
                    <c:v>1925</c:v>
                  </c:pt>
                  <c:pt idx="84">
                    <c:v>1926</c:v>
                  </c:pt>
                  <c:pt idx="96">
                    <c:v>1927</c:v>
                  </c:pt>
                  <c:pt idx="108">
                    <c:v>1928</c:v>
                  </c:pt>
                </c:lvl>
              </c:multiLvlStrCache>
            </c:multiLvlStrRef>
          </c:cat>
          <c:val>
            <c:numRef>
              <c:f>'Dep Bancos'!$C$2:$C$121</c:f>
              <c:numCache>
                <c:formatCode>General</c:formatCode>
                <c:ptCount val="120"/>
                <c:pt idx="0">
                  <c:v>185.21076923076922</c:v>
                </c:pt>
                <c:pt idx="1">
                  <c:v>170.96072931276299</c:v>
                </c:pt>
                <c:pt idx="2">
                  <c:v>168.96285714285713</c:v>
                </c:pt>
                <c:pt idx="3">
                  <c:v>158.01466666666664</c:v>
                </c:pt>
                <c:pt idx="4">
                  <c:v>158.99333333333334</c:v>
                </c:pt>
                <c:pt idx="5">
                  <c:v>168.46143057503508</c:v>
                </c:pt>
                <c:pt idx="6">
                  <c:v>171.05285714285714</c:v>
                </c:pt>
                <c:pt idx="7">
                  <c:v>168.40714285714284</c:v>
                </c:pt>
                <c:pt idx="8">
                  <c:v>169.1357142857143</c:v>
                </c:pt>
                <c:pt idx="9">
                  <c:v>169.95428571428573</c:v>
                </c:pt>
                <c:pt idx="10">
                  <c:v>159.25688073394497</c:v>
                </c:pt>
                <c:pt idx="11">
                  <c:v>156.21625</c:v>
                </c:pt>
                <c:pt idx="12">
                  <c:v>159.16624999999999</c:v>
                </c:pt>
                <c:pt idx="13">
                  <c:v>157.22624999999999</c:v>
                </c:pt>
                <c:pt idx="14">
                  <c:v>165.52791878172587</c:v>
                </c:pt>
                <c:pt idx="15">
                  <c:v>172.61</c:v>
                </c:pt>
                <c:pt idx="16">
                  <c:v>173.44</c:v>
                </c:pt>
                <c:pt idx="17">
                  <c:v>175.27500000000001</c:v>
                </c:pt>
                <c:pt idx="18">
                  <c:v>173.83375000000001</c:v>
                </c:pt>
                <c:pt idx="19">
                  <c:v>178.31979695431474</c:v>
                </c:pt>
                <c:pt idx="20">
                  <c:v>184.99066666666667</c:v>
                </c:pt>
                <c:pt idx="21">
                  <c:v>186.19647696476966</c:v>
                </c:pt>
                <c:pt idx="22">
                  <c:v>188.39333333333335</c:v>
                </c:pt>
                <c:pt idx="23">
                  <c:v>191.37533875338752</c:v>
                </c:pt>
                <c:pt idx="24">
                  <c:v>180.07339449541286</c:v>
                </c:pt>
                <c:pt idx="25">
                  <c:v>175.86107470511141</c:v>
                </c:pt>
                <c:pt idx="26">
                  <c:v>174.53032258064516</c:v>
                </c:pt>
                <c:pt idx="27">
                  <c:v>166.8351783517835</c:v>
                </c:pt>
                <c:pt idx="28">
                  <c:v>167.39975399753996</c:v>
                </c:pt>
                <c:pt idx="29">
                  <c:v>177.17824377457404</c:v>
                </c:pt>
                <c:pt idx="30">
                  <c:v>179.93733333333333</c:v>
                </c:pt>
                <c:pt idx="31">
                  <c:v>179.88533333333334</c:v>
                </c:pt>
                <c:pt idx="32">
                  <c:v>174.25677419354838</c:v>
                </c:pt>
                <c:pt idx="33">
                  <c:v>171.84796854521625</c:v>
                </c:pt>
                <c:pt idx="34">
                  <c:v>169.51376146788994</c:v>
                </c:pt>
                <c:pt idx="35">
                  <c:v>169.15483870967742</c:v>
                </c:pt>
                <c:pt idx="36">
                  <c:v>168.63741935483873</c:v>
                </c:pt>
                <c:pt idx="37">
                  <c:v>174.60933333333332</c:v>
                </c:pt>
                <c:pt idx="38">
                  <c:v>162.38832487309642</c:v>
                </c:pt>
                <c:pt idx="39">
                  <c:v>158.72570725707257</c:v>
                </c:pt>
                <c:pt idx="40">
                  <c:v>162.67625000000001</c:v>
                </c:pt>
                <c:pt idx="41">
                  <c:v>172.37161290322581</c:v>
                </c:pt>
                <c:pt idx="42">
                  <c:v>174.21494102228047</c:v>
                </c:pt>
                <c:pt idx="43">
                  <c:v>181.37199999999999</c:v>
                </c:pt>
                <c:pt idx="44">
                  <c:v>177.35910878112713</c:v>
                </c:pt>
                <c:pt idx="45">
                  <c:v>175.04062909567497</c:v>
                </c:pt>
                <c:pt idx="46">
                  <c:v>180.35333333333335</c:v>
                </c:pt>
                <c:pt idx="47">
                  <c:v>186.14533333333333</c:v>
                </c:pt>
                <c:pt idx="48">
                  <c:v>200.03633720930233</c:v>
                </c:pt>
                <c:pt idx="49">
                  <c:v>192.59467040673212</c:v>
                </c:pt>
                <c:pt idx="50">
                  <c:v>209.05580693815989</c:v>
                </c:pt>
                <c:pt idx="51">
                  <c:v>205.88536953242837</c:v>
                </c:pt>
                <c:pt idx="52">
                  <c:v>201.94570135746608</c:v>
                </c:pt>
                <c:pt idx="53">
                  <c:v>205.02262443438914</c:v>
                </c:pt>
                <c:pt idx="54">
                  <c:v>213.90438871473356</c:v>
                </c:pt>
                <c:pt idx="55">
                  <c:v>209.92319749216301</c:v>
                </c:pt>
                <c:pt idx="56">
                  <c:v>209.22727272727272</c:v>
                </c:pt>
                <c:pt idx="57">
                  <c:v>233.1305057096248</c:v>
                </c:pt>
                <c:pt idx="58">
                  <c:v>237.07504078303427</c:v>
                </c:pt>
                <c:pt idx="59">
                  <c:v>241.32463295269167</c:v>
                </c:pt>
                <c:pt idx="60">
                  <c:v>247.7830342577488</c:v>
                </c:pt>
                <c:pt idx="61">
                  <c:v>240.10720000000001</c:v>
                </c:pt>
                <c:pt idx="62">
                  <c:v>235.59404388714734</c:v>
                </c:pt>
                <c:pt idx="63">
                  <c:v>245.74388254486135</c:v>
                </c:pt>
                <c:pt idx="64">
                  <c:v>235.39341692789969</c:v>
                </c:pt>
                <c:pt idx="65">
                  <c:v>232.56153846153848</c:v>
                </c:pt>
                <c:pt idx="66">
                  <c:v>242.19839999999999</c:v>
                </c:pt>
                <c:pt idx="67">
                  <c:v>244.6721044045677</c:v>
                </c:pt>
                <c:pt idx="68">
                  <c:v>230.65538461538461</c:v>
                </c:pt>
                <c:pt idx="69">
                  <c:v>213.85857142857142</c:v>
                </c:pt>
                <c:pt idx="70">
                  <c:v>210.39971949509118</c:v>
                </c:pt>
                <c:pt idx="71">
                  <c:v>210.81346423562411</c:v>
                </c:pt>
                <c:pt idx="72">
                  <c:v>206.00551724137929</c:v>
                </c:pt>
                <c:pt idx="73">
                  <c:v>205.34010840108402</c:v>
                </c:pt>
                <c:pt idx="74">
                  <c:v>208.21951219512198</c:v>
                </c:pt>
                <c:pt idx="75">
                  <c:v>198.82193548387096</c:v>
                </c:pt>
                <c:pt idx="76">
                  <c:v>194.58451612903227</c:v>
                </c:pt>
                <c:pt idx="77">
                  <c:v>209.99186991869919</c:v>
                </c:pt>
                <c:pt idx="78">
                  <c:v>203.59066666666666</c:v>
                </c:pt>
                <c:pt idx="79">
                  <c:v>204.25880758807588</c:v>
                </c:pt>
                <c:pt idx="80">
                  <c:v>209.4</c:v>
                </c:pt>
                <c:pt idx="81">
                  <c:v>207.43172413793104</c:v>
                </c:pt>
                <c:pt idx="82">
                  <c:v>207.34758620689655</c:v>
                </c:pt>
                <c:pt idx="83">
                  <c:v>206.79724137931035</c:v>
                </c:pt>
                <c:pt idx="84">
                  <c:v>215.98</c:v>
                </c:pt>
                <c:pt idx="85">
                  <c:v>212.82</c:v>
                </c:pt>
                <c:pt idx="86">
                  <c:v>208.66142857142859</c:v>
                </c:pt>
                <c:pt idx="87">
                  <c:v>211.3857142857143</c:v>
                </c:pt>
                <c:pt idx="88">
                  <c:v>215.78</c:v>
                </c:pt>
                <c:pt idx="89">
                  <c:v>222.84738372093025</c:v>
                </c:pt>
                <c:pt idx="90">
                  <c:v>219.62209302325581</c:v>
                </c:pt>
                <c:pt idx="91">
                  <c:v>219.26598837209303</c:v>
                </c:pt>
                <c:pt idx="92">
                  <c:v>219.75000000000003</c:v>
                </c:pt>
                <c:pt idx="93">
                  <c:v>219.97093023255815</c:v>
                </c:pt>
                <c:pt idx="94">
                  <c:v>226.5851851851852</c:v>
                </c:pt>
                <c:pt idx="95">
                  <c:v>227.17185185185187</c:v>
                </c:pt>
                <c:pt idx="96">
                  <c:v>227.88296296296298</c:v>
                </c:pt>
                <c:pt idx="97">
                  <c:v>215.40428571428569</c:v>
                </c:pt>
                <c:pt idx="98">
                  <c:v>220.17000000000002</c:v>
                </c:pt>
                <c:pt idx="99">
                  <c:v>221.17285714285714</c:v>
                </c:pt>
                <c:pt idx="100">
                  <c:v>220.6142857142857</c:v>
                </c:pt>
                <c:pt idx="101">
                  <c:v>225.49285714285716</c:v>
                </c:pt>
                <c:pt idx="102">
                  <c:v>227.25290697674419</c:v>
                </c:pt>
                <c:pt idx="103">
                  <c:v>229.61482558139537</c:v>
                </c:pt>
                <c:pt idx="104">
                  <c:v>233.93023255813955</c:v>
                </c:pt>
                <c:pt idx="105">
                  <c:v>237.7093023255814</c:v>
                </c:pt>
                <c:pt idx="106">
                  <c:v>237.27325581395351</c:v>
                </c:pt>
                <c:pt idx="107">
                  <c:v>235.58430232558138</c:v>
                </c:pt>
                <c:pt idx="108">
                  <c:v>246.22666666666666</c:v>
                </c:pt>
                <c:pt idx="109">
                  <c:v>246.54814814814816</c:v>
                </c:pt>
                <c:pt idx="110">
                  <c:v>261.3244514106583</c:v>
                </c:pt>
                <c:pt idx="111">
                  <c:v>265.12539184952976</c:v>
                </c:pt>
                <c:pt idx="112">
                  <c:v>270.34796238244513</c:v>
                </c:pt>
                <c:pt idx="113">
                  <c:v>277.95839999999998</c:v>
                </c:pt>
                <c:pt idx="114">
                  <c:v>287.81566068515497</c:v>
                </c:pt>
                <c:pt idx="115">
                  <c:v>288.55464926590537</c:v>
                </c:pt>
                <c:pt idx="116">
                  <c:v>286.89559543230018</c:v>
                </c:pt>
                <c:pt idx="117">
                  <c:v>287.81729200652529</c:v>
                </c:pt>
                <c:pt idx="118">
                  <c:v>290.15334420880913</c:v>
                </c:pt>
                <c:pt idx="119">
                  <c:v>285.2952691680261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1B2-4605-9381-DC24982C8891}"/>
            </c:ext>
          </c:extLst>
        </c:ser>
        <c:ser>
          <c:idx val="2"/>
          <c:order val="3"/>
          <c:tx>
            <c:strRef>
              <c:f>'Dep Bancos'!$E$1</c:f>
              <c:strCache>
                <c:ptCount val="1"/>
                <c:pt idx="0">
                  <c:v>Tend. BNA</c:v>
                </c:pt>
              </c:strCache>
            </c:strRef>
          </c:tx>
          <c:spPr>
            <a:ln w="19050">
              <a:solidFill>
                <a:schemeClr val="tx2">
                  <a:lumMod val="60000"/>
                  <a:lumOff val="40000"/>
                </a:schemeClr>
              </a:solidFill>
              <a:prstDash val="sysDash"/>
            </a:ln>
          </c:spPr>
          <c:marker>
            <c:symbol val="none"/>
          </c:marker>
          <c:cat>
            <c:multiLvlStrRef>
              <c:f>'Dep Bancos'!$A$2:$B$121</c:f>
              <c:multiLvlStrCache>
                <c:ptCount val="120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  <c:pt idx="12">
                    <c:v>Ene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Abr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Ago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Dic</c:v>
                  </c:pt>
                  <c:pt idx="24">
                    <c:v>Ene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Abr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Ago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Dic</c:v>
                  </c:pt>
                  <c:pt idx="36">
                    <c:v>Ene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Abr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Ago</c:v>
                  </c:pt>
                  <c:pt idx="44">
                    <c:v>Sep</c:v>
                  </c:pt>
                  <c:pt idx="45">
                    <c:v>Oct</c:v>
                  </c:pt>
                  <c:pt idx="46">
                    <c:v>Nov</c:v>
                  </c:pt>
                  <c:pt idx="47">
                    <c:v>Dic</c:v>
                  </c:pt>
                  <c:pt idx="48">
                    <c:v>Ene</c:v>
                  </c:pt>
                  <c:pt idx="49">
                    <c:v>Feb</c:v>
                  </c:pt>
                  <c:pt idx="50">
                    <c:v>Mar</c:v>
                  </c:pt>
                  <c:pt idx="51">
                    <c:v>Abr</c:v>
                  </c:pt>
                  <c:pt idx="52">
                    <c:v>May</c:v>
                  </c:pt>
                  <c:pt idx="53">
                    <c:v>Jun</c:v>
                  </c:pt>
                  <c:pt idx="54">
                    <c:v>Jul</c:v>
                  </c:pt>
                  <c:pt idx="55">
                    <c:v>Ago</c:v>
                  </c:pt>
                  <c:pt idx="56">
                    <c:v>Sep</c:v>
                  </c:pt>
                  <c:pt idx="57">
                    <c:v>Oct</c:v>
                  </c:pt>
                  <c:pt idx="58">
                    <c:v>Nov</c:v>
                  </c:pt>
                  <c:pt idx="59">
                    <c:v>Dic</c:v>
                  </c:pt>
                  <c:pt idx="60">
                    <c:v>Ene</c:v>
                  </c:pt>
                  <c:pt idx="61">
                    <c:v>Feb</c:v>
                  </c:pt>
                  <c:pt idx="62">
                    <c:v>Mar</c:v>
                  </c:pt>
                  <c:pt idx="63">
                    <c:v>Abr</c:v>
                  </c:pt>
                  <c:pt idx="64">
                    <c:v>May</c:v>
                  </c:pt>
                  <c:pt idx="65">
                    <c:v>Jun</c:v>
                  </c:pt>
                  <c:pt idx="66">
                    <c:v>Jul</c:v>
                  </c:pt>
                  <c:pt idx="67">
                    <c:v>Ago</c:v>
                  </c:pt>
                  <c:pt idx="68">
                    <c:v>Sep</c:v>
                  </c:pt>
                  <c:pt idx="69">
                    <c:v>Oct</c:v>
                  </c:pt>
                  <c:pt idx="70">
                    <c:v>Nov</c:v>
                  </c:pt>
                  <c:pt idx="71">
                    <c:v>Dic</c:v>
                  </c:pt>
                  <c:pt idx="72">
                    <c:v>Ene</c:v>
                  </c:pt>
                  <c:pt idx="73">
                    <c:v>Feb</c:v>
                  </c:pt>
                  <c:pt idx="74">
                    <c:v>Mar</c:v>
                  </c:pt>
                  <c:pt idx="75">
                    <c:v>Abr</c:v>
                  </c:pt>
                  <c:pt idx="76">
                    <c:v>May</c:v>
                  </c:pt>
                  <c:pt idx="77">
                    <c:v>Jun</c:v>
                  </c:pt>
                  <c:pt idx="78">
                    <c:v>Jul</c:v>
                  </c:pt>
                  <c:pt idx="79">
                    <c:v>Ago</c:v>
                  </c:pt>
                  <c:pt idx="80">
                    <c:v>Sep</c:v>
                  </c:pt>
                  <c:pt idx="81">
                    <c:v>Oct</c:v>
                  </c:pt>
                  <c:pt idx="82">
                    <c:v>Nov</c:v>
                  </c:pt>
                  <c:pt idx="83">
                    <c:v>Dic</c:v>
                  </c:pt>
                  <c:pt idx="84">
                    <c:v>Ene</c:v>
                  </c:pt>
                  <c:pt idx="85">
                    <c:v>Feb</c:v>
                  </c:pt>
                  <c:pt idx="86">
                    <c:v>Mar</c:v>
                  </c:pt>
                  <c:pt idx="87">
                    <c:v>Abr</c:v>
                  </c:pt>
                  <c:pt idx="88">
                    <c:v>May</c:v>
                  </c:pt>
                  <c:pt idx="89">
                    <c:v>Jun</c:v>
                  </c:pt>
                  <c:pt idx="90">
                    <c:v>Jul</c:v>
                  </c:pt>
                  <c:pt idx="91">
                    <c:v>Ago</c:v>
                  </c:pt>
                  <c:pt idx="92">
                    <c:v>Sep</c:v>
                  </c:pt>
                  <c:pt idx="93">
                    <c:v>Oct</c:v>
                  </c:pt>
                  <c:pt idx="94">
                    <c:v>Nov</c:v>
                  </c:pt>
                  <c:pt idx="95">
                    <c:v>Dic</c:v>
                  </c:pt>
                  <c:pt idx="96">
                    <c:v>Ene</c:v>
                  </c:pt>
                  <c:pt idx="97">
                    <c:v>Feb</c:v>
                  </c:pt>
                  <c:pt idx="98">
                    <c:v>Mar</c:v>
                  </c:pt>
                  <c:pt idx="99">
                    <c:v>Abr</c:v>
                  </c:pt>
                  <c:pt idx="100">
                    <c:v>May</c:v>
                  </c:pt>
                  <c:pt idx="101">
                    <c:v>Jun</c:v>
                  </c:pt>
                  <c:pt idx="102">
                    <c:v>Jul</c:v>
                  </c:pt>
                  <c:pt idx="103">
                    <c:v>Ago</c:v>
                  </c:pt>
                  <c:pt idx="104">
                    <c:v>Sep</c:v>
                  </c:pt>
                  <c:pt idx="105">
                    <c:v>Oct</c:v>
                  </c:pt>
                  <c:pt idx="106">
                    <c:v>Nov</c:v>
                  </c:pt>
                  <c:pt idx="107">
                    <c:v>Dic</c:v>
                  </c:pt>
                  <c:pt idx="108">
                    <c:v>Ene</c:v>
                  </c:pt>
                  <c:pt idx="109">
                    <c:v>Feb</c:v>
                  </c:pt>
                  <c:pt idx="110">
                    <c:v>Mar</c:v>
                  </c:pt>
                  <c:pt idx="111">
                    <c:v>Abr</c:v>
                  </c:pt>
                  <c:pt idx="112">
                    <c:v>May</c:v>
                  </c:pt>
                  <c:pt idx="113">
                    <c:v>Jun</c:v>
                  </c:pt>
                  <c:pt idx="114">
                    <c:v>Jul</c:v>
                  </c:pt>
                  <c:pt idx="115">
                    <c:v>Ago</c:v>
                  </c:pt>
                  <c:pt idx="116">
                    <c:v>Sep</c:v>
                  </c:pt>
                  <c:pt idx="117">
                    <c:v>Oct</c:v>
                  </c:pt>
                  <c:pt idx="118">
                    <c:v>Nov</c:v>
                  </c:pt>
                  <c:pt idx="119">
                    <c:v>Dic</c:v>
                  </c:pt>
                </c:lvl>
                <c:lvl>
                  <c:pt idx="0">
                    <c:v>1919</c:v>
                  </c:pt>
                  <c:pt idx="12">
                    <c:v>1920</c:v>
                  </c:pt>
                  <c:pt idx="24">
                    <c:v>1921</c:v>
                  </c:pt>
                  <c:pt idx="36">
                    <c:v>1922</c:v>
                  </c:pt>
                  <c:pt idx="48">
                    <c:v>1923</c:v>
                  </c:pt>
                  <c:pt idx="60">
                    <c:v>1924</c:v>
                  </c:pt>
                  <c:pt idx="72">
                    <c:v>1925</c:v>
                  </c:pt>
                  <c:pt idx="84">
                    <c:v>1926</c:v>
                  </c:pt>
                  <c:pt idx="96">
                    <c:v>1927</c:v>
                  </c:pt>
                  <c:pt idx="108">
                    <c:v>1928</c:v>
                  </c:pt>
                </c:lvl>
              </c:multiLvlStrCache>
            </c:multiLvlStrRef>
          </c:cat>
          <c:val>
            <c:numRef>
              <c:f>'Dep Bancos'!$E$2:$E$121</c:f>
              <c:numCache>
                <c:formatCode>General</c:formatCode>
                <c:ptCount val="120"/>
                <c:pt idx="0">
                  <c:v>146.57849765009999</c:v>
                </c:pt>
                <c:pt idx="1">
                  <c:v>147.61682013410001</c:v>
                </c:pt>
                <c:pt idx="2">
                  <c:v>148.6541229696</c:v>
                </c:pt>
                <c:pt idx="3">
                  <c:v>149.69033566580001</c:v>
                </c:pt>
                <c:pt idx="4">
                  <c:v>150.725387732</c:v>
                </c:pt>
                <c:pt idx="5">
                  <c:v>151.75920867740001</c:v>
                </c:pt>
                <c:pt idx="6">
                  <c:v>152.79172801120001</c:v>
                </c:pt>
                <c:pt idx="7">
                  <c:v>153.82287524259999</c:v>
                </c:pt>
                <c:pt idx="8">
                  <c:v>154.85257988090001</c:v>
                </c:pt>
                <c:pt idx="9">
                  <c:v>155.88077143539999</c:v>
                </c:pt>
                <c:pt idx="10">
                  <c:v>156.9073794151</c:v>
                </c:pt>
                <c:pt idx="11">
                  <c:v>157.93233332950001</c:v>
                </c:pt>
                <c:pt idx="12">
                  <c:v>158.9555626877</c:v>
                </c:pt>
                <c:pt idx="13">
                  <c:v>159.97699699890001</c:v>
                </c:pt>
                <c:pt idx="14">
                  <c:v>160.9965657724</c:v>
                </c:pt>
                <c:pt idx="15">
                  <c:v>162.01419851739999</c:v>
                </c:pt>
                <c:pt idx="16">
                  <c:v>163.02982474309999</c:v>
                </c:pt>
                <c:pt idx="17">
                  <c:v>164.0433739588</c:v>
                </c:pt>
                <c:pt idx="18">
                  <c:v>165.05477567369999</c:v>
                </c:pt>
                <c:pt idx="19">
                  <c:v>166.06395939710001</c:v>
                </c:pt>
                <c:pt idx="20">
                  <c:v>167.0708546381</c:v>
                </c:pt>
                <c:pt idx="21">
                  <c:v>168.075390906</c:v>
                </c:pt>
                <c:pt idx="22">
                  <c:v>169.07749770999999</c:v>
                </c:pt>
                <c:pt idx="23">
                  <c:v>170.0771045594</c:v>
                </c:pt>
                <c:pt idx="24">
                  <c:v>171.0741409634</c:v>
                </c:pt>
                <c:pt idx="25">
                  <c:v>172.06853643119999</c:v>
                </c:pt>
                <c:pt idx="26">
                  <c:v>173.06022047210001</c:v>
                </c:pt>
                <c:pt idx="27">
                  <c:v>174.0491225952</c:v>
                </c:pt>
                <c:pt idx="28">
                  <c:v>175.03517230989999</c:v>
                </c:pt>
                <c:pt idx="29">
                  <c:v>176.01829912529999</c:v>
                </c:pt>
                <c:pt idx="30">
                  <c:v>176.99843255069999</c:v>
                </c:pt>
                <c:pt idx="31">
                  <c:v>177.9755020954</c:v>
                </c:pt>
                <c:pt idx="32">
                  <c:v>178.94943726849999</c:v>
                </c:pt>
                <c:pt idx="33">
                  <c:v>179.92016757920001</c:v>
                </c:pt>
                <c:pt idx="34">
                  <c:v>180.88762253690001</c:v>
                </c:pt>
                <c:pt idx="35">
                  <c:v>181.8517316507</c:v>
                </c:pt>
                <c:pt idx="36">
                  <c:v>182.81242442990001</c:v>
                </c:pt>
                <c:pt idx="37">
                  <c:v>183.76963038369999</c:v>
                </c:pt>
                <c:pt idx="38">
                  <c:v>184.72327902129999</c:v>
                </c:pt>
                <c:pt idx="39">
                  <c:v>185.67329985200001</c:v>
                </c:pt>
                <c:pt idx="40">
                  <c:v>186.61962238500001</c:v>
                </c:pt>
                <c:pt idx="41">
                  <c:v>187.5621761296</c:v>
                </c:pt>
                <c:pt idx="42">
                  <c:v>188.5008905949</c:v>
                </c:pt>
                <c:pt idx="43">
                  <c:v>189.43569529019999</c:v>
                </c:pt>
                <c:pt idx="44">
                  <c:v>190.36651972480001</c:v>
                </c:pt>
                <c:pt idx="45">
                  <c:v>191.29329340780001</c:v>
                </c:pt>
                <c:pt idx="46">
                  <c:v>192.21594584850001</c:v>
                </c:pt>
                <c:pt idx="47">
                  <c:v>193.1344065561</c:v>
                </c:pt>
                <c:pt idx="48">
                  <c:v>194.0486050399</c:v>
                </c:pt>
                <c:pt idx="49">
                  <c:v>194.958470809</c:v>
                </c:pt>
                <c:pt idx="50">
                  <c:v>195.86393337280001</c:v>
                </c:pt>
                <c:pt idx="51">
                  <c:v>196.7649222405</c:v>
                </c:pt>
                <c:pt idx="52">
                  <c:v>197.6613669212</c:v>
                </c:pt>
                <c:pt idx="53">
                  <c:v>198.55319692419999</c:v>
                </c:pt>
                <c:pt idx="54">
                  <c:v>199.4403417588</c:v>
                </c:pt>
                <c:pt idx="55">
                  <c:v>200.3227309342</c:v>
                </c:pt>
                <c:pt idx="56">
                  <c:v>201.2002939596</c:v>
                </c:pt>
                <c:pt idx="57">
                  <c:v>202.0729603442</c:v>
                </c:pt>
                <c:pt idx="58">
                  <c:v>202.9406595973</c:v>
                </c:pt>
                <c:pt idx="59">
                  <c:v>203.80332122819999</c:v>
                </c:pt>
                <c:pt idx="60">
                  <c:v>204.6608747459</c:v>
                </c:pt>
                <c:pt idx="61">
                  <c:v>205.51324965980001</c:v>
                </c:pt>
                <c:pt idx="62">
                  <c:v>206.3603754792</c:v>
                </c:pt>
                <c:pt idx="63">
                  <c:v>207.2021817131</c:v>
                </c:pt>
                <c:pt idx="64">
                  <c:v>208.03859787100001</c:v>
                </c:pt>
                <c:pt idx="65">
                  <c:v>208.86955346190001</c:v>
                </c:pt>
                <c:pt idx="66">
                  <c:v>209.69497799519999</c:v>
                </c:pt>
                <c:pt idx="67">
                  <c:v>210.51480097999999</c:v>
                </c:pt>
                <c:pt idx="68">
                  <c:v>211.32895192559999</c:v>
                </c:pt>
                <c:pt idx="69">
                  <c:v>212.1373603413</c:v>
                </c:pt>
                <c:pt idx="70">
                  <c:v>212.93995573620001</c:v>
                </c:pt>
                <c:pt idx="71">
                  <c:v>213.73666761960001</c:v>
                </c:pt>
                <c:pt idx="72">
                  <c:v>214.52742550069999</c:v>
                </c:pt>
                <c:pt idx="73">
                  <c:v>215.31215888880001</c:v>
                </c:pt>
                <c:pt idx="74">
                  <c:v>216.0907972931</c:v>
                </c:pt>
                <c:pt idx="75">
                  <c:v>216.86327022270001</c:v>
                </c:pt>
                <c:pt idx="76">
                  <c:v>217.62950718709999</c:v>
                </c:pt>
                <c:pt idx="77">
                  <c:v>218.38943769529999</c:v>
                </c:pt>
                <c:pt idx="78">
                  <c:v>219.1429912566</c:v>
                </c:pt>
                <c:pt idx="79">
                  <c:v>219.89009738030001</c:v>
                </c:pt>
                <c:pt idx="80">
                  <c:v>220.6306855755</c:v>
                </c:pt>
                <c:pt idx="81">
                  <c:v>221.3646853516</c:v>
                </c:pt>
                <c:pt idx="82">
                  <c:v>222.09202621770001</c:v>
                </c:pt>
                <c:pt idx="83">
                  <c:v>222.81263768299999</c:v>
                </c:pt>
                <c:pt idx="84">
                  <c:v>223.52644925690001</c:v>
                </c:pt>
                <c:pt idx="85">
                  <c:v>224.23339044849999</c:v>
                </c:pt>
                <c:pt idx="86">
                  <c:v>224.93339076710001</c:v>
                </c:pt>
                <c:pt idx="87">
                  <c:v>225.62637972190001</c:v>
                </c:pt>
                <c:pt idx="88">
                  <c:v>226.31228682209999</c:v>
                </c:pt>
                <c:pt idx="89">
                  <c:v>226.99104157689999</c:v>
                </c:pt>
                <c:pt idx="90">
                  <c:v>227.6625734957</c:v>
                </c:pt>
                <c:pt idx="91">
                  <c:v>228.32681208759999</c:v>
                </c:pt>
                <c:pt idx="92">
                  <c:v>228.9836868619</c:v>
                </c:pt>
                <c:pt idx="93">
                  <c:v>229.63312732770001</c:v>
                </c:pt>
                <c:pt idx="94">
                  <c:v>230.2750629944</c:v>
                </c:pt>
                <c:pt idx="95">
                  <c:v>230.90942337109999</c:v>
                </c:pt>
                <c:pt idx="96">
                  <c:v>231.53613796709999</c:v>
                </c:pt>
                <c:pt idx="97">
                  <c:v>232.1551362916</c:v>
                </c:pt>
                <c:pt idx="98">
                  <c:v>232.76634785389999</c:v>
                </c:pt>
                <c:pt idx="99">
                  <c:v>233.3697021632</c:v>
                </c:pt>
                <c:pt idx="100">
                  <c:v>233.96512872860001</c:v>
                </c:pt>
                <c:pt idx="101">
                  <c:v>234.55255705959999</c:v>
                </c:pt>
                <c:pt idx="102">
                  <c:v>235.13191666520001</c:v>
                </c:pt>
                <c:pt idx="103">
                  <c:v>235.70313705469999</c:v>
                </c:pt>
                <c:pt idx="104">
                  <c:v>236.2661477373</c:v>
                </c:pt>
                <c:pt idx="105">
                  <c:v>236.8208782223</c:v>
                </c:pt>
                <c:pt idx="106">
                  <c:v>237.36725801899999</c:v>
                </c:pt>
                <c:pt idx="107">
                  <c:v>237.90521663640001</c:v>
                </c:pt>
                <c:pt idx="108">
                  <c:v>238.434683584</c:v>
                </c:pt>
                <c:pt idx="109">
                  <c:v>238.9555883708</c:v>
                </c:pt>
                <c:pt idx="110">
                  <c:v>239.4678605062</c:v>
                </c:pt>
                <c:pt idx="111">
                  <c:v>239.9714294993</c:v>
                </c:pt>
                <c:pt idx="112">
                  <c:v>240.4662248594</c:v>
                </c:pt>
                <c:pt idx="113">
                  <c:v>240.95217609580001</c:v>
                </c:pt>
                <c:pt idx="114">
                  <c:v>241.4292127176</c:v>
                </c:pt>
                <c:pt idx="115">
                  <c:v>241.89726423409999</c:v>
                </c:pt>
                <c:pt idx="116">
                  <c:v>242.35626015459999</c:v>
                </c:pt>
                <c:pt idx="117">
                  <c:v>242.80612998820001</c:v>
                </c:pt>
                <c:pt idx="118">
                  <c:v>243.24680324409999</c:v>
                </c:pt>
                <c:pt idx="119">
                  <c:v>243.6782094317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1B2-4605-9381-DC24982C8891}"/>
            </c:ext>
          </c:extLst>
        </c:ser>
        <c:ser>
          <c:idx val="1"/>
          <c:order val="0"/>
          <c:tx>
            <c:strRef>
              <c:f>'Dep Bancos'!$D$1</c:f>
              <c:strCache>
                <c:ptCount val="1"/>
                <c:pt idx="0">
                  <c:v>resto de los Bcos. (RdeB)</c:v>
                </c:pt>
              </c:strCache>
            </c:strRef>
          </c:tx>
          <c:spPr>
            <a:ln w="38100">
              <a:solidFill>
                <a:schemeClr val="tx2">
                  <a:lumMod val="50000"/>
                </a:schemeClr>
              </a:solidFill>
            </a:ln>
          </c:spPr>
          <c:marker>
            <c:symbol val="none"/>
          </c:marker>
          <c:cat>
            <c:multiLvlStrRef>
              <c:f>'Dep Bancos'!$A$2:$B$121</c:f>
              <c:multiLvlStrCache>
                <c:ptCount val="120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  <c:pt idx="12">
                    <c:v>Ene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Abr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Ago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Dic</c:v>
                  </c:pt>
                  <c:pt idx="24">
                    <c:v>Ene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Abr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Ago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Dic</c:v>
                  </c:pt>
                  <c:pt idx="36">
                    <c:v>Ene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Abr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Ago</c:v>
                  </c:pt>
                  <c:pt idx="44">
                    <c:v>Sep</c:v>
                  </c:pt>
                  <c:pt idx="45">
                    <c:v>Oct</c:v>
                  </c:pt>
                  <c:pt idx="46">
                    <c:v>Nov</c:v>
                  </c:pt>
                  <c:pt idx="47">
                    <c:v>Dic</c:v>
                  </c:pt>
                  <c:pt idx="48">
                    <c:v>Ene</c:v>
                  </c:pt>
                  <c:pt idx="49">
                    <c:v>Feb</c:v>
                  </c:pt>
                  <c:pt idx="50">
                    <c:v>Mar</c:v>
                  </c:pt>
                  <c:pt idx="51">
                    <c:v>Abr</c:v>
                  </c:pt>
                  <c:pt idx="52">
                    <c:v>May</c:v>
                  </c:pt>
                  <c:pt idx="53">
                    <c:v>Jun</c:v>
                  </c:pt>
                  <c:pt idx="54">
                    <c:v>Jul</c:v>
                  </c:pt>
                  <c:pt idx="55">
                    <c:v>Ago</c:v>
                  </c:pt>
                  <c:pt idx="56">
                    <c:v>Sep</c:v>
                  </c:pt>
                  <c:pt idx="57">
                    <c:v>Oct</c:v>
                  </c:pt>
                  <c:pt idx="58">
                    <c:v>Nov</c:v>
                  </c:pt>
                  <c:pt idx="59">
                    <c:v>Dic</c:v>
                  </c:pt>
                  <c:pt idx="60">
                    <c:v>Ene</c:v>
                  </c:pt>
                  <c:pt idx="61">
                    <c:v>Feb</c:v>
                  </c:pt>
                  <c:pt idx="62">
                    <c:v>Mar</c:v>
                  </c:pt>
                  <c:pt idx="63">
                    <c:v>Abr</c:v>
                  </c:pt>
                  <c:pt idx="64">
                    <c:v>May</c:v>
                  </c:pt>
                  <c:pt idx="65">
                    <c:v>Jun</c:v>
                  </c:pt>
                  <c:pt idx="66">
                    <c:v>Jul</c:v>
                  </c:pt>
                  <c:pt idx="67">
                    <c:v>Ago</c:v>
                  </c:pt>
                  <c:pt idx="68">
                    <c:v>Sep</c:v>
                  </c:pt>
                  <c:pt idx="69">
                    <c:v>Oct</c:v>
                  </c:pt>
                  <c:pt idx="70">
                    <c:v>Nov</c:v>
                  </c:pt>
                  <c:pt idx="71">
                    <c:v>Dic</c:v>
                  </c:pt>
                  <c:pt idx="72">
                    <c:v>Ene</c:v>
                  </c:pt>
                  <c:pt idx="73">
                    <c:v>Feb</c:v>
                  </c:pt>
                  <c:pt idx="74">
                    <c:v>Mar</c:v>
                  </c:pt>
                  <c:pt idx="75">
                    <c:v>Abr</c:v>
                  </c:pt>
                  <c:pt idx="76">
                    <c:v>May</c:v>
                  </c:pt>
                  <c:pt idx="77">
                    <c:v>Jun</c:v>
                  </c:pt>
                  <c:pt idx="78">
                    <c:v>Jul</c:v>
                  </c:pt>
                  <c:pt idx="79">
                    <c:v>Ago</c:v>
                  </c:pt>
                  <c:pt idx="80">
                    <c:v>Sep</c:v>
                  </c:pt>
                  <c:pt idx="81">
                    <c:v>Oct</c:v>
                  </c:pt>
                  <c:pt idx="82">
                    <c:v>Nov</c:v>
                  </c:pt>
                  <c:pt idx="83">
                    <c:v>Dic</c:v>
                  </c:pt>
                  <c:pt idx="84">
                    <c:v>Ene</c:v>
                  </c:pt>
                  <c:pt idx="85">
                    <c:v>Feb</c:v>
                  </c:pt>
                  <c:pt idx="86">
                    <c:v>Mar</c:v>
                  </c:pt>
                  <c:pt idx="87">
                    <c:v>Abr</c:v>
                  </c:pt>
                  <c:pt idx="88">
                    <c:v>May</c:v>
                  </c:pt>
                  <c:pt idx="89">
                    <c:v>Jun</c:v>
                  </c:pt>
                  <c:pt idx="90">
                    <c:v>Jul</c:v>
                  </c:pt>
                  <c:pt idx="91">
                    <c:v>Ago</c:v>
                  </c:pt>
                  <c:pt idx="92">
                    <c:v>Sep</c:v>
                  </c:pt>
                  <c:pt idx="93">
                    <c:v>Oct</c:v>
                  </c:pt>
                  <c:pt idx="94">
                    <c:v>Nov</c:v>
                  </c:pt>
                  <c:pt idx="95">
                    <c:v>Dic</c:v>
                  </c:pt>
                  <c:pt idx="96">
                    <c:v>Ene</c:v>
                  </c:pt>
                  <c:pt idx="97">
                    <c:v>Feb</c:v>
                  </c:pt>
                  <c:pt idx="98">
                    <c:v>Mar</c:v>
                  </c:pt>
                  <c:pt idx="99">
                    <c:v>Abr</c:v>
                  </c:pt>
                  <c:pt idx="100">
                    <c:v>May</c:v>
                  </c:pt>
                  <c:pt idx="101">
                    <c:v>Jun</c:v>
                  </c:pt>
                  <c:pt idx="102">
                    <c:v>Jul</c:v>
                  </c:pt>
                  <c:pt idx="103">
                    <c:v>Ago</c:v>
                  </c:pt>
                  <c:pt idx="104">
                    <c:v>Sep</c:v>
                  </c:pt>
                  <c:pt idx="105">
                    <c:v>Oct</c:v>
                  </c:pt>
                  <c:pt idx="106">
                    <c:v>Nov</c:v>
                  </c:pt>
                  <c:pt idx="107">
                    <c:v>Dic</c:v>
                  </c:pt>
                  <c:pt idx="108">
                    <c:v>Ene</c:v>
                  </c:pt>
                  <c:pt idx="109">
                    <c:v>Feb</c:v>
                  </c:pt>
                  <c:pt idx="110">
                    <c:v>Mar</c:v>
                  </c:pt>
                  <c:pt idx="111">
                    <c:v>Abr</c:v>
                  </c:pt>
                  <c:pt idx="112">
                    <c:v>May</c:v>
                  </c:pt>
                  <c:pt idx="113">
                    <c:v>Jun</c:v>
                  </c:pt>
                  <c:pt idx="114">
                    <c:v>Jul</c:v>
                  </c:pt>
                  <c:pt idx="115">
                    <c:v>Ago</c:v>
                  </c:pt>
                  <c:pt idx="116">
                    <c:v>Sep</c:v>
                  </c:pt>
                  <c:pt idx="117">
                    <c:v>Oct</c:v>
                  </c:pt>
                  <c:pt idx="118">
                    <c:v>Nov</c:v>
                  </c:pt>
                  <c:pt idx="119">
                    <c:v>Dic</c:v>
                  </c:pt>
                </c:lvl>
                <c:lvl>
                  <c:pt idx="0">
                    <c:v>1919</c:v>
                  </c:pt>
                  <c:pt idx="12">
                    <c:v>1920</c:v>
                  </c:pt>
                  <c:pt idx="24">
                    <c:v>1921</c:v>
                  </c:pt>
                  <c:pt idx="36">
                    <c:v>1922</c:v>
                  </c:pt>
                  <c:pt idx="48">
                    <c:v>1923</c:v>
                  </c:pt>
                  <c:pt idx="60">
                    <c:v>1924</c:v>
                  </c:pt>
                  <c:pt idx="72">
                    <c:v>1925</c:v>
                  </c:pt>
                  <c:pt idx="84">
                    <c:v>1926</c:v>
                  </c:pt>
                  <c:pt idx="96">
                    <c:v>1927</c:v>
                  </c:pt>
                  <c:pt idx="108">
                    <c:v>1928</c:v>
                  </c:pt>
                </c:lvl>
              </c:multiLvlStrCache>
            </c:multiLvlStrRef>
          </c:cat>
          <c:val>
            <c:numRef>
              <c:f>'Dep Bancos'!$D$2:$D$121</c:f>
              <c:numCache>
                <c:formatCode>General</c:formatCode>
                <c:ptCount val="120"/>
                <c:pt idx="0">
                  <c:v>252.50923076923075</c:v>
                </c:pt>
                <c:pt idx="1">
                  <c:v>221.93548387096777</c:v>
                </c:pt>
                <c:pt idx="2">
                  <c:v>232.47714285714284</c:v>
                </c:pt>
                <c:pt idx="3">
                  <c:v>215.33333333333334</c:v>
                </c:pt>
                <c:pt idx="4">
                  <c:v>216.71333333333331</c:v>
                </c:pt>
                <c:pt idx="5">
                  <c:v>235.79663394109397</c:v>
                </c:pt>
                <c:pt idx="6">
                  <c:v>247.79285714285714</c:v>
                </c:pt>
                <c:pt idx="7">
                  <c:v>247.10857142857142</c:v>
                </c:pt>
                <c:pt idx="8">
                  <c:v>247.21</c:v>
                </c:pt>
                <c:pt idx="9">
                  <c:v>252.82285714285715</c:v>
                </c:pt>
                <c:pt idx="10">
                  <c:v>233.16775884665793</c:v>
                </c:pt>
                <c:pt idx="11">
                  <c:v>220.00749999999999</c:v>
                </c:pt>
                <c:pt idx="12">
                  <c:v>228.96249999999998</c:v>
                </c:pt>
                <c:pt idx="13">
                  <c:v>233.54750000000001</c:v>
                </c:pt>
                <c:pt idx="14">
                  <c:v>240.14086294416242</c:v>
                </c:pt>
                <c:pt idx="15">
                  <c:v>245.405</c:v>
                </c:pt>
                <c:pt idx="16">
                  <c:v>253.86</c:v>
                </c:pt>
                <c:pt idx="17">
                  <c:v>260.54124999999999</c:v>
                </c:pt>
                <c:pt idx="18">
                  <c:v>262.94124999999997</c:v>
                </c:pt>
                <c:pt idx="19">
                  <c:v>272.97208121827413</c:v>
                </c:pt>
                <c:pt idx="20">
                  <c:v>282.87333333333333</c:v>
                </c:pt>
                <c:pt idx="21">
                  <c:v>283.11382113821139</c:v>
                </c:pt>
                <c:pt idx="22">
                  <c:v>279.38799999999998</c:v>
                </c:pt>
                <c:pt idx="23">
                  <c:v>286.92276422764229</c:v>
                </c:pt>
                <c:pt idx="24">
                  <c:v>277.2634338138925</c:v>
                </c:pt>
                <c:pt idx="25">
                  <c:v>270.00000000000006</c:v>
                </c:pt>
                <c:pt idx="26">
                  <c:v>269.02322580645159</c:v>
                </c:pt>
                <c:pt idx="27">
                  <c:v>258.68388683886837</c:v>
                </c:pt>
                <c:pt idx="28">
                  <c:v>258.32472324723244</c:v>
                </c:pt>
                <c:pt idx="29">
                  <c:v>275.69331585845345</c:v>
                </c:pt>
                <c:pt idx="30">
                  <c:v>280.65333333333336</c:v>
                </c:pt>
                <c:pt idx="31">
                  <c:v>279.36266666666666</c:v>
                </c:pt>
                <c:pt idx="32">
                  <c:v>270.48</c:v>
                </c:pt>
                <c:pt idx="33">
                  <c:v>272.5792922673657</c:v>
                </c:pt>
                <c:pt idx="34">
                  <c:v>270.69200524246395</c:v>
                </c:pt>
                <c:pt idx="35">
                  <c:v>266.45548387096778</c:v>
                </c:pt>
                <c:pt idx="36">
                  <c:v>265.1522580645161</c:v>
                </c:pt>
                <c:pt idx="37">
                  <c:v>273.584</c:v>
                </c:pt>
                <c:pt idx="38">
                  <c:v>260.74238578680206</c:v>
                </c:pt>
                <c:pt idx="39">
                  <c:v>250.2324723247232</c:v>
                </c:pt>
                <c:pt idx="40">
                  <c:v>249.67375000000001</c:v>
                </c:pt>
                <c:pt idx="41">
                  <c:v>259.57290322580644</c:v>
                </c:pt>
                <c:pt idx="42">
                  <c:v>261.98951507208386</c:v>
                </c:pt>
                <c:pt idx="43">
                  <c:v>268.79466666666667</c:v>
                </c:pt>
                <c:pt idx="44">
                  <c:v>268.33289646133687</c:v>
                </c:pt>
                <c:pt idx="45">
                  <c:v>267.40498034076018</c:v>
                </c:pt>
                <c:pt idx="46">
                  <c:v>275.19333333333333</c:v>
                </c:pt>
                <c:pt idx="47">
                  <c:v>277.64400000000001</c:v>
                </c:pt>
                <c:pt idx="48">
                  <c:v>304.29796511627904</c:v>
                </c:pt>
                <c:pt idx="49">
                  <c:v>295.77138849929872</c:v>
                </c:pt>
                <c:pt idx="50">
                  <c:v>316.52941176470591</c:v>
                </c:pt>
                <c:pt idx="51">
                  <c:v>318.69532428355956</c:v>
                </c:pt>
                <c:pt idx="52">
                  <c:v>323.25641025641028</c:v>
                </c:pt>
                <c:pt idx="53">
                  <c:v>324.99849170437403</c:v>
                </c:pt>
                <c:pt idx="54">
                  <c:v>337.46238244514109</c:v>
                </c:pt>
                <c:pt idx="55">
                  <c:v>333.32601880877741</c:v>
                </c:pt>
                <c:pt idx="56">
                  <c:v>330.36833855799375</c:v>
                </c:pt>
                <c:pt idx="57">
                  <c:v>334.74225122349105</c:v>
                </c:pt>
                <c:pt idx="58">
                  <c:v>326.25938009787927</c:v>
                </c:pt>
                <c:pt idx="59">
                  <c:v>318.21207177814028</c:v>
                </c:pt>
                <c:pt idx="60">
                  <c:v>316.89070146818921</c:v>
                </c:pt>
                <c:pt idx="61">
                  <c:v>310.37279999999998</c:v>
                </c:pt>
                <c:pt idx="62">
                  <c:v>302.77272727272731</c:v>
                </c:pt>
                <c:pt idx="63">
                  <c:v>311.06035889070148</c:v>
                </c:pt>
                <c:pt idx="64">
                  <c:v>292.63009404388714</c:v>
                </c:pt>
                <c:pt idx="65">
                  <c:v>295.7430769230769</c:v>
                </c:pt>
                <c:pt idx="66">
                  <c:v>304.61279999999999</c:v>
                </c:pt>
                <c:pt idx="67">
                  <c:v>308.27079934747144</c:v>
                </c:pt>
                <c:pt idx="68">
                  <c:v>290.49538461538458</c:v>
                </c:pt>
                <c:pt idx="69">
                  <c:v>269.31571428571431</c:v>
                </c:pt>
                <c:pt idx="70">
                  <c:v>265.62973352033663</c:v>
                </c:pt>
                <c:pt idx="71">
                  <c:v>269.3744740532959</c:v>
                </c:pt>
                <c:pt idx="72">
                  <c:v>260.61793103448275</c:v>
                </c:pt>
                <c:pt idx="73">
                  <c:v>261.8780487804878</c:v>
                </c:pt>
                <c:pt idx="74">
                  <c:v>265.39837398373982</c:v>
                </c:pt>
                <c:pt idx="75">
                  <c:v>250.78451612903226</c:v>
                </c:pt>
                <c:pt idx="76">
                  <c:v>251.16129032258064</c:v>
                </c:pt>
                <c:pt idx="77">
                  <c:v>268.00135501355015</c:v>
                </c:pt>
                <c:pt idx="78">
                  <c:v>263.89466666666669</c:v>
                </c:pt>
                <c:pt idx="79">
                  <c:v>267.96070460704607</c:v>
                </c:pt>
                <c:pt idx="80">
                  <c:v>272.19724137931036</c:v>
                </c:pt>
                <c:pt idx="81">
                  <c:v>273.49103448275861</c:v>
                </c:pt>
                <c:pt idx="82">
                  <c:v>273.49931034482756</c:v>
                </c:pt>
                <c:pt idx="83">
                  <c:v>267.83172413793102</c:v>
                </c:pt>
                <c:pt idx="84">
                  <c:v>278.98999999999995</c:v>
                </c:pt>
                <c:pt idx="85">
                  <c:v>281.00428571428569</c:v>
                </c:pt>
                <c:pt idx="86">
                  <c:v>279.10857142857139</c:v>
                </c:pt>
                <c:pt idx="87">
                  <c:v>281.11142857142858</c:v>
                </c:pt>
                <c:pt idx="88">
                  <c:v>276.84000000000003</c:v>
                </c:pt>
                <c:pt idx="89">
                  <c:v>281.32558139534882</c:v>
                </c:pt>
                <c:pt idx="90">
                  <c:v>278.21366279069764</c:v>
                </c:pt>
                <c:pt idx="91">
                  <c:v>281.55813953488376</c:v>
                </c:pt>
                <c:pt idx="92">
                  <c:v>280.53488372093022</c:v>
                </c:pt>
                <c:pt idx="93">
                  <c:v>280.09156976744185</c:v>
                </c:pt>
                <c:pt idx="94">
                  <c:v>286.30222222222221</c:v>
                </c:pt>
                <c:pt idx="95">
                  <c:v>290.60148148148147</c:v>
                </c:pt>
                <c:pt idx="96">
                  <c:v>296.89925925925922</c:v>
                </c:pt>
                <c:pt idx="97">
                  <c:v>284.61714285714288</c:v>
                </c:pt>
                <c:pt idx="98">
                  <c:v>285.18571428571425</c:v>
                </c:pt>
                <c:pt idx="99">
                  <c:v>282.53571428571428</c:v>
                </c:pt>
                <c:pt idx="100">
                  <c:v>283.27</c:v>
                </c:pt>
                <c:pt idx="101">
                  <c:v>282.73142857142858</c:v>
                </c:pt>
                <c:pt idx="102">
                  <c:v>287.42732558139534</c:v>
                </c:pt>
                <c:pt idx="103">
                  <c:v>288.64098837209303</c:v>
                </c:pt>
                <c:pt idx="104">
                  <c:v>287.72674418604652</c:v>
                </c:pt>
                <c:pt idx="105">
                  <c:v>289.11337209302326</c:v>
                </c:pt>
                <c:pt idx="106">
                  <c:v>293.29215116279067</c:v>
                </c:pt>
                <c:pt idx="107">
                  <c:v>299.1104651162791</c:v>
                </c:pt>
                <c:pt idx="108">
                  <c:v>306.60000000000002</c:v>
                </c:pt>
                <c:pt idx="109">
                  <c:v>313.61037037037033</c:v>
                </c:pt>
                <c:pt idx="110">
                  <c:v>334.90909090909093</c:v>
                </c:pt>
                <c:pt idx="111">
                  <c:v>333.84012539184948</c:v>
                </c:pt>
                <c:pt idx="112">
                  <c:v>336.19592476489032</c:v>
                </c:pt>
                <c:pt idx="113">
                  <c:v>346.41759999999994</c:v>
                </c:pt>
                <c:pt idx="114">
                  <c:v>350.39641109298532</c:v>
                </c:pt>
                <c:pt idx="115">
                  <c:v>359.30831973898859</c:v>
                </c:pt>
                <c:pt idx="116">
                  <c:v>359.54812398042412</c:v>
                </c:pt>
                <c:pt idx="117">
                  <c:v>364.80750407830345</c:v>
                </c:pt>
                <c:pt idx="118">
                  <c:v>366.29853181076669</c:v>
                </c:pt>
                <c:pt idx="119">
                  <c:v>370.65252854812405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1B2-4605-9381-DC24982C8891}"/>
            </c:ext>
          </c:extLst>
        </c:ser>
        <c:ser>
          <c:idx val="3"/>
          <c:order val="1"/>
          <c:tx>
            <c:strRef>
              <c:f>'Dep Bancos'!$F$1</c:f>
              <c:strCache>
                <c:ptCount val="1"/>
                <c:pt idx="0">
                  <c:v>Tend. RdeB</c:v>
                </c:pt>
              </c:strCache>
            </c:strRef>
          </c:tx>
          <c:spPr>
            <a:ln w="19050" cmpd="sng">
              <a:solidFill>
                <a:schemeClr val="tx2">
                  <a:lumMod val="50000"/>
                </a:schemeClr>
              </a:solidFill>
              <a:prstDash val="sysDash"/>
            </a:ln>
          </c:spPr>
          <c:marker>
            <c:symbol val="none"/>
          </c:marker>
          <c:cat>
            <c:multiLvlStrRef>
              <c:f>'Dep Bancos'!$A$2:$B$121</c:f>
              <c:multiLvlStrCache>
                <c:ptCount val="120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  <c:pt idx="12">
                    <c:v>Ene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Abr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Ago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Dic</c:v>
                  </c:pt>
                  <c:pt idx="24">
                    <c:v>Ene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Abr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Ago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Dic</c:v>
                  </c:pt>
                  <c:pt idx="36">
                    <c:v>Ene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Abr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Ago</c:v>
                  </c:pt>
                  <c:pt idx="44">
                    <c:v>Sep</c:v>
                  </c:pt>
                  <c:pt idx="45">
                    <c:v>Oct</c:v>
                  </c:pt>
                  <c:pt idx="46">
                    <c:v>Nov</c:v>
                  </c:pt>
                  <c:pt idx="47">
                    <c:v>Dic</c:v>
                  </c:pt>
                  <c:pt idx="48">
                    <c:v>Ene</c:v>
                  </c:pt>
                  <c:pt idx="49">
                    <c:v>Feb</c:v>
                  </c:pt>
                  <c:pt idx="50">
                    <c:v>Mar</c:v>
                  </c:pt>
                  <c:pt idx="51">
                    <c:v>Abr</c:v>
                  </c:pt>
                  <c:pt idx="52">
                    <c:v>May</c:v>
                  </c:pt>
                  <c:pt idx="53">
                    <c:v>Jun</c:v>
                  </c:pt>
                  <c:pt idx="54">
                    <c:v>Jul</c:v>
                  </c:pt>
                  <c:pt idx="55">
                    <c:v>Ago</c:v>
                  </c:pt>
                  <c:pt idx="56">
                    <c:v>Sep</c:v>
                  </c:pt>
                  <c:pt idx="57">
                    <c:v>Oct</c:v>
                  </c:pt>
                  <c:pt idx="58">
                    <c:v>Nov</c:v>
                  </c:pt>
                  <c:pt idx="59">
                    <c:v>Dic</c:v>
                  </c:pt>
                  <c:pt idx="60">
                    <c:v>Ene</c:v>
                  </c:pt>
                  <c:pt idx="61">
                    <c:v>Feb</c:v>
                  </c:pt>
                  <c:pt idx="62">
                    <c:v>Mar</c:v>
                  </c:pt>
                  <c:pt idx="63">
                    <c:v>Abr</c:v>
                  </c:pt>
                  <c:pt idx="64">
                    <c:v>May</c:v>
                  </c:pt>
                  <c:pt idx="65">
                    <c:v>Jun</c:v>
                  </c:pt>
                  <c:pt idx="66">
                    <c:v>Jul</c:v>
                  </c:pt>
                  <c:pt idx="67">
                    <c:v>Ago</c:v>
                  </c:pt>
                  <c:pt idx="68">
                    <c:v>Sep</c:v>
                  </c:pt>
                  <c:pt idx="69">
                    <c:v>Oct</c:v>
                  </c:pt>
                  <c:pt idx="70">
                    <c:v>Nov</c:v>
                  </c:pt>
                  <c:pt idx="71">
                    <c:v>Dic</c:v>
                  </c:pt>
                  <c:pt idx="72">
                    <c:v>Ene</c:v>
                  </c:pt>
                  <c:pt idx="73">
                    <c:v>Feb</c:v>
                  </c:pt>
                  <c:pt idx="74">
                    <c:v>Mar</c:v>
                  </c:pt>
                  <c:pt idx="75">
                    <c:v>Abr</c:v>
                  </c:pt>
                  <c:pt idx="76">
                    <c:v>May</c:v>
                  </c:pt>
                  <c:pt idx="77">
                    <c:v>Jun</c:v>
                  </c:pt>
                  <c:pt idx="78">
                    <c:v>Jul</c:v>
                  </c:pt>
                  <c:pt idx="79">
                    <c:v>Ago</c:v>
                  </c:pt>
                  <c:pt idx="80">
                    <c:v>Sep</c:v>
                  </c:pt>
                  <c:pt idx="81">
                    <c:v>Oct</c:v>
                  </c:pt>
                  <c:pt idx="82">
                    <c:v>Nov</c:v>
                  </c:pt>
                  <c:pt idx="83">
                    <c:v>Dic</c:v>
                  </c:pt>
                  <c:pt idx="84">
                    <c:v>Ene</c:v>
                  </c:pt>
                  <c:pt idx="85">
                    <c:v>Feb</c:v>
                  </c:pt>
                  <c:pt idx="86">
                    <c:v>Mar</c:v>
                  </c:pt>
                  <c:pt idx="87">
                    <c:v>Abr</c:v>
                  </c:pt>
                  <c:pt idx="88">
                    <c:v>May</c:v>
                  </c:pt>
                  <c:pt idx="89">
                    <c:v>Jun</c:v>
                  </c:pt>
                  <c:pt idx="90">
                    <c:v>Jul</c:v>
                  </c:pt>
                  <c:pt idx="91">
                    <c:v>Ago</c:v>
                  </c:pt>
                  <c:pt idx="92">
                    <c:v>Sep</c:v>
                  </c:pt>
                  <c:pt idx="93">
                    <c:v>Oct</c:v>
                  </c:pt>
                  <c:pt idx="94">
                    <c:v>Nov</c:v>
                  </c:pt>
                  <c:pt idx="95">
                    <c:v>Dic</c:v>
                  </c:pt>
                  <c:pt idx="96">
                    <c:v>Ene</c:v>
                  </c:pt>
                  <c:pt idx="97">
                    <c:v>Feb</c:v>
                  </c:pt>
                  <c:pt idx="98">
                    <c:v>Mar</c:v>
                  </c:pt>
                  <c:pt idx="99">
                    <c:v>Abr</c:v>
                  </c:pt>
                  <c:pt idx="100">
                    <c:v>May</c:v>
                  </c:pt>
                  <c:pt idx="101">
                    <c:v>Jun</c:v>
                  </c:pt>
                  <c:pt idx="102">
                    <c:v>Jul</c:v>
                  </c:pt>
                  <c:pt idx="103">
                    <c:v>Ago</c:v>
                  </c:pt>
                  <c:pt idx="104">
                    <c:v>Sep</c:v>
                  </c:pt>
                  <c:pt idx="105">
                    <c:v>Oct</c:v>
                  </c:pt>
                  <c:pt idx="106">
                    <c:v>Nov</c:v>
                  </c:pt>
                  <c:pt idx="107">
                    <c:v>Dic</c:v>
                  </c:pt>
                  <c:pt idx="108">
                    <c:v>Ene</c:v>
                  </c:pt>
                  <c:pt idx="109">
                    <c:v>Feb</c:v>
                  </c:pt>
                  <c:pt idx="110">
                    <c:v>Mar</c:v>
                  </c:pt>
                  <c:pt idx="111">
                    <c:v>Abr</c:v>
                  </c:pt>
                  <c:pt idx="112">
                    <c:v>May</c:v>
                  </c:pt>
                  <c:pt idx="113">
                    <c:v>Jun</c:v>
                  </c:pt>
                  <c:pt idx="114">
                    <c:v>Jul</c:v>
                  </c:pt>
                  <c:pt idx="115">
                    <c:v>Ago</c:v>
                  </c:pt>
                  <c:pt idx="116">
                    <c:v>Sep</c:v>
                  </c:pt>
                  <c:pt idx="117">
                    <c:v>Oct</c:v>
                  </c:pt>
                  <c:pt idx="118">
                    <c:v>Nov</c:v>
                  </c:pt>
                  <c:pt idx="119">
                    <c:v>Dic</c:v>
                  </c:pt>
                </c:lvl>
                <c:lvl>
                  <c:pt idx="0">
                    <c:v>1919</c:v>
                  </c:pt>
                  <c:pt idx="12">
                    <c:v>1920</c:v>
                  </c:pt>
                  <c:pt idx="24">
                    <c:v>1921</c:v>
                  </c:pt>
                  <c:pt idx="36">
                    <c:v>1922</c:v>
                  </c:pt>
                  <c:pt idx="48">
                    <c:v>1923</c:v>
                  </c:pt>
                  <c:pt idx="60">
                    <c:v>1924</c:v>
                  </c:pt>
                  <c:pt idx="72">
                    <c:v>1925</c:v>
                  </c:pt>
                  <c:pt idx="84">
                    <c:v>1926</c:v>
                  </c:pt>
                  <c:pt idx="96">
                    <c:v>1927</c:v>
                  </c:pt>
                  <c:pt idx="108">
                    <c:v>1928</c:v>
                  </c:pt>
                </c:lvl>
              </c:multiLvlStrCache>
            </c:multiLvlStrRef>
          </c:cat>
          <c:val>
            <c:numRef>
              <c:f>'Dep Bancos'!$F$2:$F$121</c:f>
              <c:numCache>
                <c:formatCode>General</c:formatCode>
                <c:ptCount val="120"/>
                <c:pt idx="0">
                  <c:v>204.662636362</c:v>
                </c:pt>
                <c:pt idx="1">
                  <c:v>205.9154404425</c:v>
                </c:pt>
                <c:pt idx="2">
                  <c:v>207.16922135159999</c:v>
                </c:pt>
                <c:pt idx="3">
                  <c:v>208.42385407079999</c:v>
                </c:pt>
                <c:pt idx="4">
                  <c:v>209.67921358129999</c:v>
                </c:pt>
                <c:pt idx="5">
                  <c:v>210.93517486420001</c:v>
                </c:pt>
                <c:pt idx="6">
                  <c:v>212.19161290100001</c:v>
                </c:pt>
                <c:pt idx="7">
                  <c:v>213.44840267270001</c:v>
                </c:pt>
                <c:pt idx="8">
                  <c:v>214.70541916069999</c:v>
                </c:pt>
                <c:pt idx="9">
                  <c:v>215.9625373463</c:v>
                </c:pt>
                <c:pt idx="10">
                  <c:v>217.2196322106</c:v>
                </c:pt>
                <c:pt idx="11">
                  <c:v>218.476578735</c:v>
                </c:pt>
                <c:pt idx="12">
                  <c:v>219.7332519007</c:v>
                </c:pt>
                <c:pt idx="13">
                  <c:v>220.989526689</c:v>
                </c:pt>
                <c:pt idx="14">
                  <c:v>222.2452780811</c:v>
                </c:pt>
                <c:pt idx="15">
                  <c:v>223.50038105830001</c:v>
                </c:pt>
                <c:pt idx="16">
                  <c:v>224.7547106017</c:v>
                </c:pt>
                <c:pt idx="17">
                  <c:v>226.0081416928</c:v>
                </c:pt>
                <c:pt idx="18">
                  <c:v>227.26054931269999</c:v>
                </c:pt>
                <c:pt idx="19">
                  <c:v>228.5118084428</c:v>
                </c:pt>
                <c:pt idx="20">
                  <c:v>229.7617940641</c:v>
                </c:pt>
                <c:pt idx="21">
                  <c:v>231.01038115809999</c:v>
                </c:pt>
                <c:pt idx="22">
                  <c:v>232.257444706</c:v>
                </c:pt>
                <c:pt idx="23">
                  <c:v>233.50285968899999</c:v>
                </c:pt>
                <c:pt idx="24">
                  <c:v>234.74650108829999</c:v>
                </c:pt>
                <c:pt idx="25">
                  <c:v>235.98824388529999</c:v>
                </c:pt>
                <c:pt idx="26">
                  <c:v>237.2279630612</c:v>
                </c:pt>
                <c:pt idx="27">
                  <c:v>238.46553359730001</c:v>
                </c:pt>
                <c:pt idx="28">
                  <c:v>239.70083047470001</c:v>
                </c:pt>
                <c:pt idx="29">
                  <c:v>240.93372867479999</c:v>
                </c:pt>
                <c:pt idx="30">
                  <c:v>242.16410317890001</c:v>
                </c:pt>
                <c:pt idx="31">
                  <c:v>243.39182896809999</c:v>
                </c:pt>
                <c:pt idx="32">
                  <c:v>244.6167810238</c:v>
                </c:pt>
                <c:pt idx="33">
                  <c:v>245.83883432709999</c:v>
                </c:pt>
                <c:pt idx="34">
                  <c:v>247.05786385939999</c:v>
                </c:pt>
                <c:pt idx="35">
                  <c:v>248.27374460190001</c:v>
                </c:pt>
                <c:pt idx="36">
                  <c:v>249.4863515358</c:v>
                </c:pt>
                <c:pt idx="37">
                  <c:v>250.6955596425</c:v>
                </c:pt>
                <c:pt idx="38">
                  <c:v>251.90124390310001</c:v>
                </c:pt>
                <c:pt idx="39">
                  <c:v>253.10327929900001</c:v>
                </c:pt>
                <c:pt idx="40">
                  <c:v>254.30154081129999</c:v>
                </c:pt>
                <c:pt idx="41">
                  <c:v>255.49590342139999</c:v>
                </c:pt>
                <c:pt idx="42">
                  <c:v>256.68624211050002</c:v>
                </c:pt>
                <c:pt idx="43">
                  <c:v>257.87243185979997</c:v>
                </c:pt>
                <c:pt idx="44">
                  <c:v>259.05434765069998</c:v>
                </c:pt>
                <c:pt idx="45">
                  <c:v>260.23186446429997</c:v>
                </c:pt>
                <c:pt idx="46">
                  <c:v>261.40485728189998</c:v>
                </c:pt>
                <c:pt idx="47">
                  <c:v>262.57320108480002</c:v>
                </c:pt>
                <c:pt idx="48">
                  <c:v>263.7367708543</c:v>
                </c:pt>
                <c:pt idx="49">
                  <c:v>264.89544157149999</c:v>
                </c:pt>
                <c:pt idx="50">
                  <c:v>266.04908821779998</c:v>
                </c:pt>
                <c:pt idx="51">
                  <c:v>267.19758577440001</c:v>
                </c:pt>
                <c:pt idx="52">
                  <c:v>268.3408092226</c:v>
                </c:pt>
                <c:pt idx="53">
                  <c:v>269.4786335435</c:v>
                </c:pt>
                <c:pt idx="54">
                  <c:v>270.61093371859999</c:v>
                </c:pt>
                <c:pt idx="55">
                  <c:v>271.73758472899999</c:v>
                </c:pt>
                <c:pt idx="56">
                  <c:v>272.85846155590002</c:v>
                </c:pt>
                <c:pt idx="57">
                  <c:v>273.97343918069998</c:v>
                </c:pt>
                <c:pt idx="58">
                  <c:v>275.08239258459997</c:v>
                </c:pt>
                <c:pt idx="59">
                  <c:v>276.18519674890001</c:v>
                </c:pt>
                <c:pt idx="60">
                  <c:v>277.28172665480002</c:v>
                </c:pt>
                <c:pt idx="61">
                  <c:v>278.37185728349999</c:v>
                </c:pt>
                <c:pt idx="62">
                  <c:v>279.45546361639998</c:v>
                </c:pt>
                <c:pt idx="63">
                  <c:v>280.53242063469997</c:v>
                </c:pt>
                <c:pt idx="64">
                  <c:v>281.60260331950002</c:v>
                </c:pt>
                <c:pt idx="65">
                  <c:v>282.6658866523</c:v>
                </c:pt>
                <c:pt idx="66">
                  <c:v>283.72214561430002</c:v>
                </c:pt>
                <c:pt idx="67">
                  <c:v>284.7712551866</c:v>
                </c:pt>
                <c:pt idx="68">
                  <c:v>285.81309035060002</c:v>
                </c:pt>
                <c:pt idx="69">
                  <c:v>286.8475260875</c:v>
                </c:pt>
                <c:pt idx="70">
                  <c:v>287.87443737860002</c:v>
                </c:pt>
                <c:pt idx="71">
                  <c:v>288.89369920519999</c:v>
                </c:pt>
                <c:pt idx="72">
                  <c:v>289.90518654840002</c:v>
                </c:pt>
                <c:pt idx="73">
                  <c:v>290.90877438960001</c:v>
                </c:pt>
                <c:pt idx="74">
                  <c:v>291.90433770990001</c:v>
                </c:pt>
                <c:pt idx="75">
                  <c:v>292.8917514908</c:v>
                </c:pt>
                <c:pt idx="76">
                  <c:v>293.87089071330001</c:v>
                </c:pt>
                <c:pt idx="77">
                  <c:v>294.84163035879999</c:v>
                </c:pt>
                <c:pt idx="78">
                  <c:v>295.80384540860001</c:v>
                </c:pt>
                <c:pt idx="79">
                  <c:v>296.75741084380002</c:v>
                </c:pt>
                <c:pt idx="80">
                  <c:v>297.70220164580002</c:v>
                </c:pt>
                <c:pt idx="81">
                  <c:v>298.63809279579999</c:v>
                </c:pt>
                <c:pt idx="82">
                  <c:v>299.56495927499998</c:v>
                </c:pt>
                <c:pt idx="83">
                  <c:v>300.4826760647</c:v>
                </c:pt>
                <c:pt idx="84">
                  <c:v>301.39111814619997</c:v>
                </c:pt>
                <c:pt idx="85">
                  <c:v>302.29016050069998</c:v>
                </c:pt>
                <c:pt idx="86">
                  <c:v>303.1796781095</c:v>
                </c:pt>
                <c:pt idx="87">
                  <c:v>304.05954595380001</c:v>
                </c:pt>
                <c:pt idx="88">
                  <c:v>304.92963901500002</c:v>
                </c:pt>
                <c:pt idx="89">
                  <c:v>305.78983227409998</c:v>
                </c:pt>
                <c:pt idx="90">
                  <c:v>306.6400007126</c:v>
                </c:pt>
                <c:pt idx="91">
                  <c:v>307.4800193117</c:v>
                </c:pt>
                <c:pt idx="92">
                  <c:v>308.30976305249999</c:v>
                </c:pt>
                <c:pt idx="93">
                  <c:v>309.12910691640002</c:v>
                </c:pt>
                <c:pt idx="94">
                  <c:v>309.93792588470001</c:v>
                </c:pt>
                <c:pt idx="95">
                  <c:v>310.73609493859999</c:v>
                </c:pt>
                <c:pt idx="96">
                  <c:v>311.52348905920002</c:v>
                </c:pt>
                <c:pt idx="97">
                  <c:v>312.29998322799997</c:v>
                </c:pt>
                <c:pt idx="98">
                  <c:v>313.06545242620001</c:v>
                </c:pt>
                <c:pt idx="99">
                  <c:v>313.81977163490001</c:v>
                </c:pt>
                <c:pt idx="100">
                  <c:v>314.56281583560002</c:v>
                </c:pt>
                <c:pt idx="101">
                  <c:v>315.2944600093</c:v>
                </c:pt>
                <c:pt idx="102">
                  <c:v>316.01457913740001</c:v>
                </c:pt>
                <c:pt idx="103">
                  <c:v>316.72304820120002</c:v>
                </c:pt>
                <c:pt idx="104">
                  <c:v>317.41974218190001</c:v>
                </c:pt>
                <c:pt idx="105">
                  <c:v>318.10453606070001</c:v>
                </c:pt>
                <c:pt idx="106">
                  <c:v>318.77730481890001</c:v>
                </c:pt>
                <c:pt idx="107">
                  <c:v>319.43792343780001</c:v>
                </c:pt>
                <c:pt idx="108">
                  <c:v>320.0862668986</c:v>
                </c:pt>
                <c:pt idx="109">
                  <c:v>320.72221018260001</c:v>
                </c:pt>
                <c:pt idx="110">
                  <c:v>321.34562827100001</c:v>
                </c:pt>
                <c:pt idx="111">
                  <c:v>321.95639614509997</c:v>
                </c:pt>
                <c:pt idx="112">
                  <c:v>322.55438878619998</c:v>
                </c:pt>
                <c:pt idx="113">
                  <c:v>323.13948117540002</c:v>
                </c:pt>
                <c:pt idx="114">
                  <c:v>323.7115482941</c:v>
                </c:pt>
                <c:pt idx="115">
                  <c:v>324.2704651235</c:v>
                </c:pt>
                <c:pt idx="116">
                  <c:v>324.8161066449</c:v>
                </c:pt>
                <c:pt idx="117">
                  <c:v>325.34834783960002</c:v>
                </c:pt>
                <c:pt idx="118">
                  <c:v>325.8670636887</c:v>
                </c:pt>
                <c:pt idx="119">
                  <c:v>326.37212917350001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1B2-4605-9381-DC24982C88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2985344"/>
        <c:axId val="172995328"/>
      </c:lineChart>
      <c:catAx>
        <c:axId val="17298534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chemeClr val="tx2">
                <a:lumMod val="75000"/>
              </a:schemeClr>
            </a:solidFill>
          </a:ln>
        </c:spPr>
        <c:txPr>
          <a:bodyPr/>
          <a:lstStyle/>
          <a:p>
            <a:pPr>
              <a:defRPr sz="1200"/>
            </a:pPr>
            <a:endParaRPr lang="es-AR"/>
          </a:p>
        </c:txPr>
        <c:crossAx val="172995328"/>
        <c:crosses val="autoZero"/>
        <c:auto val="1"/>
        <c:lblAlgn val="ctr"/>
        <c:lblOffset val="100"/>
        <c:noMultiLvlLbl val="0"/>
      </c:catAx>
      <c:valAx>
        <c:axId val="172995328"/>
        <c:scaling>
          <c:orientation val="minMax"/>
          <c:max val="400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spPr>
          <a:ln>
            <a:solidFill>
              <a:schemeClr val="tx2">
                <a:lumMod val="75000"/>
              </a:schemeClr>
            </a:solidFill>
          </a:ln>
        </c:spPr>
        <c:crossAx val="17298534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"/>
          <c:y val="0.83302284523851555"/>
          <c:w val="0.99922118507604385"/>
          <c:h val="0.16523286607111332"/>
        </c:manualLayout>
      </c:layout>
      <c:overlay val="0"/>
      <c:txPr>
        <a:bodyPr/>
        <a:lstStyle/>
        <a:p>
          <a:pPr>
            <a:defRPr sz="1200"/>
          </a:pPr>
          <a:endParaRPr lang="es-AR"/>
        </a:p>
      </c:txPr>
    </c:legend>
    <c:plotVisOnly val="1"/>
    <c:dispBlanksAs val="gap"/>
    <c:showDLblsOverMax val="0"/>
  </c:chart>
  <c:spPr>
    <a:ln>
      <a:noFill/>
    </a:ln>
  </c:spPr>
  <c:txPr>
    <a:bodyPr/>
    <a:lstStyle/>
    <a:p>
      <a:pPr>
        <a:defRPr sz="1400">
          <a:solidFill>
            <a:schemeClr val="tx2">
              <a:lumMod val="75000"/>
            </a:schemeClr>
          </a:solidFill>
          <a:latin typeface="Abadi" panose="020B0604020104020204" pitchFamily="34" charset="0"/>
          <a:cs typeface="Times New Roman" pitchFamily="18" charset="0"/>
        </a:defRPr>
      </a:pPr>
      <a:endParaRPr lang="es-AR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850459482038442"/>
          <c:y val="4.2813629166860399E-2"/>
          <c:w val="0.875000000000003"/>
          <c:h val="0.60822415155813092"/>
        </c:manualLayout>
      </c:layout>
      <c:lineChart>
        <c:grouping val="standard"/>
        <c:varyColors val="0"/>
        <c:ser>
          <c:idx val="1"/>
          <c:order val="1"/>
          <c:tx>
            <c:strRef>
              <c:f>'Res Dep bcos'!$C$2</c:f>
              <c:strCache>
                <c:ptCount val="1"/>
                <c:pt idx="0">
                  <c:v>Bco. de la Nación</c:v>
                </c:pt>
              </c:strCache>
            </c:strRef>
          </c:tx>
          <c:spPr>
            <a:ln w="38100">
              <a:solidFill>
                <a:schemeClr val="tx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'Res Dep bcos'!$A$3:$A$12</c:f>
              <c:numCache>
                <c:formatCode>General</c:formatCode>
                <c:ptCount val="10"/>
                <c:pt idx="0">
                  <c:v>1919</c:v>
                </c:pt>
                <c:pt idx="1">
                  <c:v>1920</c:v>
                </c:pt>
                <c:pt idx="2">
                  <c:v>1921</c:v>
                </c:pt>
                <c:pt idx="3">
                  <c:v>1922</c:v>
                </c:pt>
                <c:pt idx="4">
                  <c:v>1923</c:v>
                </c:pt>
                <c:pt idx="5">
                  <c:v>1924</c:v>
                </c:pt>
                <c:pt idx="6">
                  <c:v>1925</c:v>
                </c:pt>
                <c:pt idx="7">
                  <c:v>1926</c:v>
                </c:pt>
                <c:pt idx="8">
                  <c:v>1927</c:v>
                </c:pt>
                <c:pt idx="9">
                  <c:v>1928</c:v>
                </c:pt>
              </c:numCache>
            </c:numRef>
          </c:cat>
          <c:val>
            <c:numRef>
              <c:f>'Res Dep bcos'!$C$3:$C$12</c:f>
              <c:numCache>
                <c:formatCode>0.00</c:formatCode>
                <c:ptCount val="10"/>
                <c:pt idx="0">
                  <c:v>0.28526961823753932</c:v>
                </c:pt>
                <c:pt idx="1">
                  <c:v>0.32706482104294266</c:v>
                </c:pt>
                <c:pt idx="2">
                  <c:v>0.35304931538197487</c:v>
                </c:pt>
                <c:pt idx="3">
                  <c:v>0.28112084464468629</c:v>
                </c:pt>
                <c:pt idx="4">
                  <c:v>0.2202430846605197</c:v>
                </c:pt>
                <c:pt idx="5">
                  <c:v>0.18821103053689042</c:v>
                </c:pt>
                <c:pt idx="6">
                  <c:v>0.22200656315031217</c:v>
                </c:pt>
                <c:pt idx="7">
                  <c:v>0.23132104264351996</c:v>
                </c:pt>
                <c:pt idx="8">
                  <c:v>0.29727545316568155</c:v>
                </c:pt>
                <c:pt idx="9">
                  <c:v>0.34090207335063988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FE1-49D2-9E5E-BC6D96A15653}"/>
            </c:ext>
          </c:extLst>
        </c:ser>
        <c:ser>
          <c:idx val="0"/>
          <c:order val="0"/>
          <c:tx>
            <c:strRef>
              <c:f>'Res Dep bcos'!$I$2</c:f>
              <c:strCache>
                <c:ptCount val="1"/>
                <c:pt idx="0">
                  <c:v>Resto de los Bcos.</c:v>
                </c:pt>
              </c:strCache>
            </c:strRef>
          </c:tx>
          <c:spPr>
            <a:ln w="38100">
              <a:solidFill>
                <a:schemeClr val="tx2">
                  <a:lumMod val="60000"/>
                  <a:lumOff val="40000"/>
                </a:schemeClr>
              </a:solidFill>
            </a:ln>
          </c:spPr>
          <c:marker>
            <c:symbol val="none"/>
          </c:marker>
          <c:cat>
            <c:numRef>
              <c:f>'Res Dep bcos'!$A$3:$A$12</c:f>
              <c:numCache>
                <c:formatCode>General</c:formatCode>
                <c:ptCount val="10"/>
                <c:pt idx="0">
                  <c:v>1919</c:v>
                </c:pt>
                <c:pt idx="1">
                  <c:v>1920</c:v>
                </c:pt>
                <c:pt idx="2">
                  <c:v>1921</c:v>
                </c:pt>
                <c:pt idx="3">
                  <c:v>1922</c:v>
                </c:pt>
                <c:pt idx="4">
                  <c:v>1923</c:v>
                </c:pt>
                <c:pt idx="5">
                  <c:v>1924</c:v>
                </c:pt>
                <c:pt idx="6">
                  <c:v>1925</c:v>
                </c:pt>
                <c:pt idx="7">
                  <c:v>1926</c:v>
                </c:pt>
                <c:pt idx="8">
                  <c:v>1927</c:v>
                </c:pt>
                <c:pt idx="9">
                  <c:v>1928</c:v>
                </c:pt>
              </c:numCache>
            </c:numRef>
          </c:cat>
          <c:val>
            <c:numRef>
              <c:f>'Res Dep bcos'!$I$3:$I$12</c:f>
              <c:numCache>
                <c:formatCode>0.00</c:formatCode>
                <c:ptCount val="10"/>
                <c:pt idx="0">
                  <c:v>0.32038680499528432</c:v>
                </c:pt>
                <c:pt idx="1">
                  <c:v>0.34164978347005182</c:v>
                </c:pt>
                <c:pt idx="2">
                  <c:v>0.34169963632489597</c:v>
                </c:pt>
                <c:pt idx="3">
                  <c:v>0.34142523039095629</c:v>
                </c:pt>
                <c:pt idx="4">
                  <c:v>0.36024586802280284</c:v>
                </c:pt>
                <c:pt idx="5">
                  <c:v>0.25353527990669777</c:v>
                </c:pt>
                <c:pt idx="6">
                  <c:v>0.24834430265014576</c:v>
                </c:pt>
                <c:pt idx="7">
                  <c:v>0.25013764554742146</c:v>
                </c:pt>
                <c:pt idx="8">
                  <c:v>0.2430656792427158</c:v>
                </c:pt>
                <c:pt idx="9">
                  <c:v>0.223726948637824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FE1-49D2-9E5E-BC6D96A15653}"/>
            </c:ext>
          </c:extLst>
        </c:ser>
        <c:ser>
          <c:idx val="2"/>
          <c:order val="2"/>
          <c:tx>
            <c:strRef>
              <c:f>'Res Dep bcos'!$D$2</c:f>
              <c:strCache>
                <c:ptCount val="1"/>
                <c:pt idx="0">
                  <c:v>prom BNA</c:v>
                </c:pt>
              </c:strCache>
            </c:strRef>
          </c:tx>
          <c:spPr>
            <a:ln>
              <a:solidFill>
                <a:schemeClr val="tx2">
                  <a:lumMod val="50000"/>
                </a:schemeClr>
              </a:solidFill>
              <a:prstDash val="sysDash"/>
            </a:ln>
          </c:spPr>
          <c:marker>
            <c:symbol val="none"/>
          </c:marker>
          <c:cat>
            <c:numRef>
              <c:f>'Res Dep bcos'!$A$3:$A$12</c:f>
              <c:numCache>
                <c:formatCode>General</c:formatCode>
                <c:ptCount val="10"/>
                <c:pt idx="0">
                  <c:v>1919</c:v>
                </c:pt>
                <c:pt idx="1">
                  <c:v>1920</c:v>
                </c:pt>
                <c:pt idx="2">
                  <c:v>1921</c:v>
                </c:pt>
                <c:pt idx="3">
                  <c:v>1922</c:v>
                </c:pt>
                <c:pt idx="4">
                  <c:v>1923</c:v>
                </c:pt>
                <c:pt idx="5">
                  <c:v>1924</c:v>
                </c:pt>
                <c:pt idx="6">
                  <c:v>1925</c:v>
                </c:pt>
                <c:pt idx="7">
                  <c:v>1926</c:v>
                </c:pt>
                <c:pt idx="8">
                  <c:v>1927</c:v>
                </c:pt>
                <c:pt idx="9">
                  <c:v>1928</c:v>
                </c:pt>
              </c:numCache>
            </c:numRef>
          </c:cat>
          <c:val>
            <c:numRef>
              <c:f>'Res Dep bcos'!$D$3:$D$12</c:f>
              <c:numCache>
                <c:formatCode>0.00</c:formatCode>
                <c:ptCount val="10"/>
                <c:pt idx="0">
                  <c:v>0.27464638468147068</c:v>
                </c:pt>
                <c:pt idx="1">
                  <c:v>0.27464638468147068</c:v>
                </c:pt>
                <c:pt idx="2">
                  <c:v>0.27464638468147068</c:v>
                </c:pt>
                <c:pt idx="3">
                  <c:v>0.27464638468147068</c:v>
                </c:pt>
                <c:pt idx="4">
                  <c:v>0.27464638468147068</c:v>
                </c:pt>
                <c:pt idx="5">
                  <c:v>0.27464638468147068</c:v>
                </c:pt>
                <c:pt idx="6">
                  <c:v>0.27464638468147068</c:v>
                </c:pt>
                <c:pt idx="7">
                  <c:v>0.27464638468147068</c:v>
                </c:pt>
                <c:pt idx="8">
                  <c:v>0.27464638468147068</c:v>
                </c:pt>
                <c:pt idx="9">
                  <c:v>0.27464638468147068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FE1-49D2-9E5E-BC6D96A15653}"/>
            </c:ext>
          </c:extLst>
        </c:ser>
        <c:ser>
          <c:idx val="3"/>
          <c:order val="3"/>
          <c:tx>
            <c:strRef>
              <c:f>'Res Dep bcos'!$J$2</c:f>
              <c:strCache>
                <c:ptCount val="1"/>
                <c:pt idx="0">
                  <c:v>Prom (RdeB)</c:v>
                </c:pt>
              </c:strCache>
            </c:strRef>
          </c:tx>
          <c:spPr>
            <a:ln>
              <a:solidFill>
                <a:schemeClr val="tx2">
                  <a:lumMod val="60000"/>
                  <a:lumOff val="40000"/>
                </a:schemeClr>
              </a:solidFill>
              <a:prstDash val="sysDash"/>
            </a:ln>
          </c:spPr>
          <c:marker>
            <c:symbol val="none"/>
          </c:marker>
          <c:cat>
            <c:numRef>
              <c:f>'Res Dep bcos'!$A$3:$A$12</c:f>
              <c:numCache>
                <c:formatCode>General</c:formatCode>
                <c:ptCount val="10"/>
                <c:pt idx="0">
                  <c:v>1919</c:v>
                </c:pt>
                <c:pt idx="1">
                  <c:v>1920</c:v>
                </c:pt>
                <c:pt idx="2">
                  <c:v>1921</c:v>
                </c:pt>
                <c:pt idx="3">
                  <c:v>1922</c:v>
                </c:pt>
                <c:pt idx="4">
                  <c:v>1923</c:v>
                </c:pt>
                <c:pt idx="5">
                  <c:v>1924</c:v>
                </c:pt>
                <c:pt idx="6">
                  <c:v>1925</c:v>
                </c:pt>
                <c:pt idx="7">
                  <c:v>1926</c:v>
                </c:pt>
                <c:pt idx="8">
                  <c:v>1927</c:v>
                </c:pt>
                <c:pt idx="9">
                  <c:v>1928</c:v>
                </c:pt>
              </c:numCache>
            </c:numRef>
          </c:cat>
          <c:val>
            <c:numRef>
              <c:f>'Res Dep bcos'!$J$3:$J$12</c:f>
              <c:numCache>
                <c:formatCode>0.00</c:formatCode>
                <c:ptCount val="10"/>
                <c:pt idx="0">
                  <c:v>0.29242171791887961</c:v>
                </c:pt>
                <c:pt idx="1">
                  <c:v>0.29242171791887961</c:v>
                </c:pt>
                <c:pt idx="2">
                  <c:v>0.29242171791887961</c:v>
                </c:pt>
                <c:pt idx="3">
                  <c:v>0.29242171791887961</c:v>
                </c:pt>
                <c:pt idx="4">
                  <c:v>0.29242171791887961</c:v>
                </c:pt>
                <c:pt idx="5">
                  <c:v>0.29242171791887961</c:v>
                </c:pt>
                <c:pt idx="6">
                  <c:v>0.29242171791887961</c:v>
                </c:pt>
                <c:pt idx="7">
                  <c:v>0.29242171791887961</c:v>
                </c:pt>
                <c:pt idx="8">
                  <c:v>0.29242171791887961</c:v>
                </c:pt>
                <c:pt idx="9">
                  <c:v>0.29242171791887961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FE1-49D2-9E5E-BC6D96A156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3027712"/>
        <c:axId val="173029248"/>
      </c:lineChart>
      <c:catAx>
        <c:axId val="1730277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chemeClr val="tx2">
                <a:lumMod val="75000"/>
              </a:schemeClr>
            </a:solidFill>
          </a:ln>
        </c:spPr>
        <c:txPr>
          <a:bodyPr rot="-5400000" vert="horz"/>
          <a:lstStyle/>
          <a:p>
            <a:pPr>
              <a:defRPr/>
            </a:pPr>
            <a:endParaRPr lang="es-AR"/>
          </a:p>
        </c:txPr>
        <c:crossAx val="173029248"/>
        <c:crosses val="autoZero"/>
        <c:auto val="1"/>
        <c:lblAlgn val="ctr"/>
        <c:lblOffset val="100"/>
        <c:noMultiLvlLbl val="0"/>
      </c:catAx>
      <c:valAx>
        <c:axId val="173029248"/>
        <c:scaling>
          <c:orientation val="minMax"/>
          <c:max val="0.60000000000000031"/>
          <c:min val="0"/>
        </c:scaling>
        <c:delete val="0"/>
        <c:axPos val="l"/>
        <c:numFmt formatCode="0.00" sourceLinked="1"/>
        <c:majorTickMark val="out"/>
        <c:minorTickMark val="none"/>
        <c:tickLblPos val="nextTo"/>
        <c:spPr>
          <a:ln>
            <a:solidFill>
              <a:schemeClr val="tx2">
                <a:lumMod val="75000"/>
              </a:schemeClr>
            </a:solidFill>
          </a:ln>
        </c:spPr>
        <c:crossAx val="173027712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5.2879104397664635E-3"/>
          <c:y val="0.82561866281625551"/>
          <c:w val="0.99174603174603149"/>
          <c:h val="0.17438133718374391"/>
        </c:manualLayout>
      </c:layout>
      <c:overlay val="0"/>
    </c:legend>
    <c:plotVisOnly val="1"/>
    <c:dispBlanksAs val="gap"/>
    <c:showDLblsOverMax val="0"/>
  </c:chart>
  <c:spPr>
    <a:ln>
      <a:noFill/>
    </a:ln>
  </c:spPr>
  <c:txPr>
    <a:bodyPr/>
    <a:lstStyle/>
    <a:p>
      <a:pPr>
        <a:defRPr sz="1400">
          <a:solidFill>
            <a:schemeClr val="tx2">
              <a:lumMod val="75000"/>
            </a:schemeClr>
          </a:solidFill>
          <a:latin typeface="Abadi" panose="020B0604020104020204" pitchFamily="34" charset="0"/>
          <a:cs typeface="Times New Roman" pitchFamily="18" charset="0"/>
        </a:defRPr>
      </a:pPr>
      <a:endParaRPr lang="es-AR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409511856578873"/>
          <c:y val="5.1400554097404488E-2"/>
          <c:w val="0.88590488143421131"/>
          <c:h val="0.66339378925948866"/>
        </c:manualLayout>
      </c:layout>
      <c:lineChart>
        <c:grouping val="standard"/>
        <c:varyColors val="0"/>
        <c:ser>
          <c:idx val="0"/>
          <c:order val="0"/>
          <c:tx>
            <c:strRef>
              <c:f>'Grafico 1'!$B$1:$E$1</c:f>
              <c:strCache>
                <c:ptCount val="1"/>
                <c:pt idx="0">
                  <c:v>Valores Observados</c:v>
                </c:pt>
              </c:strCache>
            </c:strRef>
          </c:tx>
          <c:spPr>
            <a:ln w="38100">
              <a:solidFill>
                <a:schemeClr val="tx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'Grafico 1'!$A$15:$A$24</c:f>
              <c:numCache>
                <c:formatCode>0</c:formatCode>
                <c:ptCount val="10"/>
                <c:pt idx="0">
                  <c:v>1919</c:v>
                </c:pt>
                <c:pt idx="1">
                  <c:v>1920</c:v>
                </c:pt>
                <c:pt idx="2">
                  <c:v>1921</c:v>
                </c:pt>
                <c:pt idx="3">
                  <c:v>1922</c:v>
                </c:pt>
                <c:pt idx="4">
                  <c:v>1923</c:v>
                </c:pt>
                <c:pt idx="5">
                  <c:v>1924</c:v>
                </c:pt>
                <c:pt idx="6">
                  <c:v>1925</c:v>
                </c:pt>
                <c:pt idx="7">
                  <c:v>1926</c:v>
                </c:pt>
                <c:pt idx="8">
                  <c:v>1927</c:v>
                </c:pt>
                <c:pt idx="9">
                  <c:v>1928</c:v>
                </c:pt>
              </c:numCache>
            </c:numRef>
          </c:cat>
          <c:val>
            <c:numRef>
              <c:f>'Grafico 1'!$E$15:$E$24</c:f>
              <c:numCache>
                <c:formatCode>0%</c:formatCode>
                <c:ptCount val="10"/>
                <c:pt idx="0">
                  <c:v>0.32038680499528543</c:v>
                </c:pt>
                <c:pt idx="1">
                  <c:v>0.34164978347005182</c:v>
                </c:pt>
                <c:pt idx="2">
                  <c:v>0.34169963632489597</c:v>
                </c:pt>
                <c:pt idx="3">
                  <c:v>0.34142523039095674</c:v>
                </c:pt>
                <c:pt idx="4">
                  <c:v>0.36024586802280323</c:v>
                </c:pt>
                <c:pt idx="5">
                  <c:v>0.25353527990669777</c:v>
                </c:pt>
                <c:pt idx="6">
                  <c:v>0.24834430265014601</c:v>
                </c:pt>
                <c:pt idx="7">
                  <c:v>0.25013764554742129</c:v>
                </c:pt>
                <c:pt idx="8">
                  <c:v>0.2430656792427158</c:v>
                </c:pt>
                <c:pt idx="9">
                  <c:v>0.22372694863782419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C7A-44D0-9EDE-B6D752DC955E}"/>
            </c:ext>
          </c:extLst>
        </c:ser>
        <c:ser>
          <c:idx val="2"/>
          <c:order val="1"/>
          <c:tx>
            <c:strRef>
              <c:f>'Grafico 1'!$N$1:$Q$1</c:f>
              <c:strCache>
                <c:ptCount val="1"/>
                <c:pt idx="0">
                  <c:v>Valores Contrafactuales </c:v>
                </c:pt>
              </c:strCache>
            </c:strRef>
          </c:tx>
          <c:spPr>
            <a:ln w="38100">
              <a:solidFill>
                <a:schemeClr val="tx2">
                  <a:lumMod val="60000"/>
                  <a:lumOff val="40000"/>
                </a:schemeClr>
              </a:solidFill>
              <a:prstDash val="sysDash"/>
            </a:ln>
          </c:spPr>
          <c:marker>
            <c:symbol val="none"/>
          </c:marker>
          <c:cat>
            <c:numRef>
              <c:f>'Grafico 1'!$A$15:$A$24</c:f>
              <c:numCache>
                <c:formatCode>0</c:formatCode>
                <c:ptCount val="10"/>
                <c:pt idx="0">
                  <c:v>1919</c:v>
                </c:pt>
                <c:pt idx="1">
                  <c:v>1920</c:v>
                </c:pt>
                <c:pt idx="2">
                  <c:v>1921</c:v>
                </c:pt>
                <c:pt idx="3">
                  <c:v>1922</c:v>
                </c:pt>
                <c:pt idx="4">
                  <c:v>1923</c:v>
                </c:pt>
                <c:pt idx="5">
                  <c:v>1924</c:v>
                </c:pt>
                <c:pt idx="6">
                  <c:v>1925</c:v>
                </c:pt>
                <c:pt idx="7">
                  <c:v>1926</c:v>
                </c:pt>
                <c:pt idx="8">
                  <c:v>1927</c:v>
                </c:pt>
                <c:pt idx="9">
                  <c:v>1928</c:v>
                </c:pt>
              </c:numCache>
            </c:numRef>
          </c:cat>
          <c:val>
            <c:numRef>
              <c:f>'Grafico 1'!$Q$15:$Q$24</c:f>
              <c:numCache>
                <c:formatCode>0%</c:formatCode>
                <c:ptCount val="10"/>
                <c:pt idx="0">
                  <c:v>0.32038680499528543</c:v>
                </c:pt>
                <c:pt idx="1">
                  <c:v>0.34164978347005182</c:v>
                </c:pt>
                <c:pt idx="2">
                  <c:v>0.32334639206210136</c:v>
                </c:pt>
                <c:pt idx="3">
                  <c:v>0.33523024688690078</c:v>
                </c:pt>
                <c:pt idx="4">
                  <c:v>0.3053920764467048</c:v>
                </c:pt>
                <c:pt idx="5">
                  <c:v>0.19022305064978337</c:v>
                </c:pt>
                <c:pt idx="6">
                  <c:v>0.18500036049397994</c:v>
                </c:pt>
                <c:pt idx="7">
                  <c:v>0.17509533228654767</c:v>
                </c:pt>
                <c:pt idx="8">
                  <c:v>0.19136198417789207</c:v>
                </c:pt>
                <c:pt idx="9">
                  <c:v>0.18341182166277911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C7A-44D0-9EDE-B6D752DC95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3062016"/>
        <c:axId val="173063552"/>
      </c:lineChart>
      <c:catAx>
        <c:axId val="173062016"/>
        <c:scaling>
          <c:orientation val="minMax"/>
        </c:scaling>
        <c:delete val="0"/>
        <c:axPos val="b"/>
        <c:numFmt formatCode="0" sourceLinked="1"/>
        <c:majorTickMark val="out"/>
        <c:minorTickMark val="none"/>
        <c:tickLblPos val="nextTo"/>
        <c:spPr>
          <a:ln>
            <a:solidFill>
              <a:schemeClr val="tx2">
                <a:lumMod val="75000"/>
              </a:schemeClr>
            </a:solidFill>
          </a:ln>
        </c:spPr>
        <c:txPr>
          <a:bodyPr rot="-5400000" vert="horz"/>
          <a:lstStyle/>
          <a:p>
            <a:pPr>
              <a:defRPr/>
            </a:pPr>
            <a:endParaRPr lang="es-AR"/>
          </a:p>
        </c:txPr>
        <c:crossAx val="173063552"/>
        <c:crosses val="autoZero"/>
        <c:auto val="1"/>
        <c:lblAlgn val="ctr"/>
        <c:lblOffset val="100"/>
        <c:noMultiLvlLbl val="0"/>
      </c:catAx>
      <c:valAx>
        <c:axId val="173063552"/>
        <c:scaling>
          <c:orientation val="minMax"/>
          <c:max val="0.45"/>
          <c:min val="0"/>
        </c:scaling>
        <c:delete val="0"/>
        <c:axPos val="l"/>
        <c:numFmt formatCode="0%" sourceLinked="1"/>
        <c:majorTickMark val="out"/>
        <c:minorTickMark val="none"/>
        <c:tickLblPos val="nextTo"/>
        <c:spPr>
          <a:ln>
            <a:solidFill>
              <a:schemeClr val="tx2">
                <a:lumMod val="75000"/>
              </a:schemeClr>
            </a:solidFill>
          </a:ln>
        </c:spPr>
        <c:crossAx val="173062016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"/>
          <c:y val="0.87292754136070072"/>
          <c:w val="1"/>
          <c:h val="0.12707245863929931"/>
        </c:manualLayout>
      </c:layout>
      <c:overlay val="0"/>
    </c:legend>
    <c:plotVisOnly val="1"/>
    <c:dispBlanksAs val="gap"/>
    <c:showDLblsOverMax val="0"/>
  </c:chart>
  <c:spPr>
    <a:ln>
      <a:noFill/>
    </a:ln>
  </c:spPr>
  <c:txPr>
    <a:bodyPr/>
    <a:lstStyle/>
    <a:p>
      <a:pPr>
        <a:defRPr sz="1400">
          <a:solidFill>
            <a:schemeClr val="tx2">
              <a:lumMod val="75000"/>
            </a:schemeClr>
          </a:solidFill>
          <a:latin typeface="Abadi" panose="020B0604020104020204" pitchFamily="34" charset="0"/>
          <a:cs typeface="Times New Roman" pitchFamily="18" charset="0"/>
        </a:defRPr>
      </a:pPr>
      <a:endParaRPr lang="es-AR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680553567167742"/>
          <c:y val="6.1680664916885432E-2"/>
          <c:w val="0.8763913147220237"/>
          <c:h val="0.64320127523326609"/>
        </c:manualLayout>
      </c:layout>
      <c:lineChart>
        <c:grouping val="standard"/>
        <c:varyColors val="0"/>
        <c:ser>
          <c:idx val="0"/>
          <c:order val="0"/>
          <c:tx>
            <c:strRef>
              <c:f>'Cap. 5 Gráficos 11, 12 y 13'!$E$14</c:f>
              <c:strCache>
                <c:ptCount val="1"/>
                <c:pt idx="0">
                  <c:v>Observado</c:v>
                </c:pt>
              </c:strCache>
            </c:strRef>
          </c:tx>
          <c:spPr>
            <a:ln w="38100">
              <a:solidFill>
                <a:schemeClr val="tx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'Cap. 5 Gráficos 11, 12 y 13'!$A$15:$A$24</c:f>
              <c:numCache>
                <c:formatCode>General</c:formatCode>
                <c:ptCount val="10"/>
                <c:pt idx="0">
                  <c:v>1919</c:v>
                </c:pt>
                <c:pt idx="1">
                  <c:v>1920</c:v>
                </c:pt>
                <c:pt idx="2">
                  <c:v>1921</c:v>
                </c:pt>
                <c:pt idx="3">
                  <c:v>1922</c:v>
                </c:pt>
                <c:pt idx="4">
                  <c:v>1923</c:v>
                </c:pt>
                <c:pt idx="5">
                  <c:v>1924</c:v>
                </c:pt>
                <c:pt idx="6">
                  <c:v>1925</c:v>
                </c:pt>
                <c:pt idx="7">
                  <c:v>1926</c:v>
                </c:pt>
                <c:pt idx="8">
                  <c:v>1927</c:v>
                </c:pt>
                <c:pt idx="9">
                  <c:v>1928</c:v>
                </c:pt>
              </c:numCache>
            </c:numRef>
          </c:cat>
          <c:val>
            <c:numRef>
              <c:f>'Cap. 5 Gráficos 11, 12 y 13'!$E$15:$E$24</c:f>
              <c:numCache>
                <c:formatCode>0</c:formatCode>
                <c:ptCount val="10"/>
                <c:pt idx="0">
                  <c:v>-26.908991</c:v>
                </c:pt>
                <c:pt idx="1">
                  <c:v>21.034200000000038</c:v>
                </c:pt>
                <c:pt idx="2">
                  <c:v>-90.007884000000075</c:v>
                </c:pt>
                <c:pt idx="3">
                  <c:v>-161.62148599999995</c:v>
                </c:pt>
                <c:pt idx="4">
                  <c:v>-89.890511000000032</c:v>
                </c:pt>
                <c:pt idx="5">
                  <c:v>-74.405596999999872</c:v>
                </c:pt>
                <c:pt idx="6">
                  <c:v>-50.941262999999978</c:v>
                </c:pt>
                <c:pt idx="7">
                  <c:v>-105.62262999999987</c:v>
                </c:pt>
                <c:pt idx="8">
                  <c:v>-367.37566600000002</c:v>
                </c:pt>
                <c:pt idx="9">
                  <c:v>-180.34500000000014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05F-48C0-964F-564D44F16EB6}"/>
            </c:ext>
          </c:extLst>
        </c:ser>
        <c:ser>
          <c:idx val="1"/>
          <c:order val="1"/>
          <c:tx>
            <c:strRef>
              <c:f>'Cap. 5 Gráficos 11, 12 y 13'!$F$14</c:f>
              <c:strCache>
                <c:ptCount val="1"/>
                <c:pt idx="0">
                  <c:v>Contrafactual</c:v>
                </c:pt>
              </c:strCache>
            </c:strRef>
          </c:tx>
          <c:spPr>
            <a:ln w="38100">
              <a:solidFill>
                <a:schemeClr val="tx2">
                  <a:lumMod val="60000"/>
                  <a:lumOff val="40000"/>
                </a:schemeClr>
              </a:solidFill>
              <a:prstDash val="sysDash"/>
            </a:ln>
          </c:spPr>
          <c:marker>
            <c:symbol val="none"/>
          </c:marker>
          <c:cat>
            <c:numRef>
              <c:f>'Cap. 5 Gráficos 11, 12 y 13'!$A$15:$A$24</c:f>
              <c:numCache>
                <c:formatCode>General</c:formatCode>
                <c:ptCount val="10"/>
                <c:pt idx="0">
                  <c:v>1919</c:v>
                </c:pt>
                <c:pt idx="1">
                  <c:v>1920</c:v>
                </c:pt>
                <c:pt idx="2">
                  <c:v>1921</c:v>
                </c:pt>
                <c:pt idx="3">
                  <c:v>1922</c:v>
                </c:pt>
                <c:pt idx="4">
                  <c:v>1923</c:v>
                </c:pt>
                <c:pt idx="5">
                  <c:v>1924</c:v>
                </c:pt>
                <c:pt idx="6">
                  <c:v>1925</c:v>
                </c:pt>
                <c:pt idx="7">
                  <c:v>1926</c:v>
                </c:pt>
                <c:pt idx="8">
                  <c:v>1927</c:v>
                </c:pt>
                <c:pt idx="9">
                  <c:v>1928</c:v>
                </c:pt>
              </c:numCache>
            </c:numRef>
          </c:cat>
          <c:val>
            <c:numRef>
              <c:f>'Cap. 5 Gráficos 11, 12 y 13'!$F$15:$F$24</c:f>
              <c:numCache>
                <c:formatCode>0</c:formatCode>
                <c:ptCount val="10"/>
                <c:pt idx="0">
                  <c:v>-656.39467737600012</c:v>
                </c:pt>
                <c:pt idx="1">
                  <c:v>-542.73537967559992</c:v>
                </c:pt>
                <c:pt idx="2">
                  <c:v>-484.56759552040012</c:v>
                </c:pt>
                <c:pt idx="3">
                  <c:v>-567.17777195979988</c:v>
                </c:pt>
                <c:pt idx="4">
                  <c:v>-533.11744721050002</c:v>
                </c:pt>
                <c:pt idx="5">
                  <c:v>-551.69131179549993</c:v>
                </c:pt>
                <c:pt idx="6">
                  <c:v>-444.95387622639998</c:v>
                </c:pt>
                <c:pt idx="7">
                  <c:v>-513.36118926999984</c:v>
                </c:pt>
                <c:pt idx="8">
                  <c:v>-744.69734964350005</c:v>
                </c:pt>
                <c:pt idx="9">
                  <c:v>-590.21925245300019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05F-48C0-964F-564D44F16E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3544192"/>
        <c:axId val="173545728"/>
      </c:lineChart>
      <c:catAx>
        <c:axId val="1735441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>
            <a:solidFill>
              <a:schemeClr val="tx2">
                <a:lumMod val="75000"/>
              </a:schemeClr>
            </a:solidFill>
          </a:ln>
        </c:spPr>
        <c:txPr>
          <a:bodyPr rot="-5400000" vert="horz"/>
          <a:lstStyle/>
          <a:p>
            <a:pPr>
              <a:defRPr/>
            </a:pPr>
            <a:endParaRPr lang="es-AR"/>
          </a:p>
        </c:txPr>
        <c:crossAx val="173545728"/>
        <c:crosses val="autoZero"/>
        <c:auto val="1"/>
        <c:lblAlgn val="ctr"/>
        <c:lblOffset val="100"/>
        <c:noMultiLvlLbl val="0"/>
      </c:catAx>
      <c:valAx>
        <c:axId val="173545728"/>
        <c:scaling>
          <c:orientation val="minMax"/>
          <c:min val="-1200"/>
        </c:scaling>
        <c:delete val="0"/>
        <c:axPos val="l"/>
        <c:numFmt formatCode="0" sourceLinked="0"/>
        <c:majorTickMark val="out"/>
        <c:minorTickMark val="none"/>
        <c:tickLblPos val="nextTo"/>
        <c:spPr>
          <a:ln>
            <a:solidFill>
              <a:schemeClr val="tx2">
                <a:lumMod val="75000"/>
              </a:schemeClr>
            </a:solidFill>
          </a:ln>
        </c:spPr>
        <c:crossAx val="173544192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2.66860548419088E-2"/>
          <c:y val="0.88924709018702508"/>
          <c:w val="0.94362812349871195"/>
          <c:h val="0.11075290981297495"/>
        </c:manualLayout>
      </c:layout>
      <c:overlay val="0"/>
    </c:legend>
    <c:plotVisOnly val="1"/>
    <c:dispBlanksAs val="gap"/>
    <c:showDLblsOverMax val="0"/>
  </c:chart>
  <c:spPr>
    <a:ln>
      <a:noFill/>
    </a:ln>
  </c:spPr>
  <c:txPr>
    <a:bodyPr/>
    <a:lstStyle/>
    <a:p>
      <a:pPr>
        <a:defRPr sz="1400">
          <a:solidFill>
            <a:schemeClr val="tx2">
              <a:lumMod val="75000"/>
            </a:schemeClr>
          </a:solidFill>
          <a:latin typeface="Abadi" panose="020B0604020104020204" pitchFamily="34" charset="0"/>
          <a:cs typeface="Times New Roman" pitchFamily="18" charset="0"/>
        </a:defRPr>
      </a:pPr>
      <a:endParaRPr lang="es-AR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461732043219999"/>
          <c:y val="6.2726099915477104E-2"/>
          <c:w val="0.87423076692072543"/>
          <c:h val="0.66460004575840104"/>
        </c:manualLayout>
      </c:layout>
      <c:lineChart>
        <c:grouping val="standard"/>
        <c:varyColors val="0"/>
        <c:ser>
          <c:idx val="0"/>
          <c:order val="0"/>
          <c:tx>
            <c:strRef>
              <c:f>'Cap. 5 Gráficos 11, 12 y 13'!$B$27</c:f>
              <c:strCache>
                <c:ptCount val="1"/>
                <c:pt idx="0">
                  <c:v>Valores Observados</c:v>
                </c:pt>
              </c:strCache>
            </c:strRef>
          </c:tx>
          <c:spPr>
            <a:ln w="38100">
              <a:solidFill>
                <a:schemeClr val="tx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'Cap. 5 Gráficos 11, 12 y 13'!$A$30:$A$39</c:f>
              <c:numCache>
                <c:formatCode>0</c:formatCode>
                <c:ptCount val="10"/>
                <c:pt idx="0">
                  <c:v>1919</c:v>
                </c:pt>
                <c:pt idx="1">
                  <c:v>1920</c:v>
                </c:pt>
                <c:pt idx="2">
                  <c:v>1921</c:v>
                </c:pt>
                <c:pt idx="3">
                  <c:v>1922</c:v>
                </c:pt>
                <c:pt idx="4">
                  <c:v>1923</c:v>
                </c:pt>
                <c:pt idx="5">
                  <c:v>1924</c:v>
                </c:pt>
                <c:pt idx="6">
                  <c:v>1925</c:v>
                </c:pt>
                <c:pt idx="7">
                  <c:v>1926</c:v>
                </c:pt>
                <c:pt idx="8">
                  <c:v>1927</c:v>
                </c:pt>
                <c:pt idx="9">
                  <c:v>1928</c:v>
                </c:pt>
              </c:numCache>
            </c:numRef>
          </c:cat>
          <c:val>
            <c:numRef>
              <c:f>'Cap. 5 Gráficos 11, 12 y 13'!$B$30:$B$39</c:f>
              <c:numCache>
                <c:formatCode>0%</c:formatCode>
                <c:ptCount val="10"/>
                <c:pt idx="0">
                  <c:v>0.28526961823753932</c:v>
                </c:pt>
                <c:pt idx="1">
                  <c:v>0.32706482104294266</c:v>
                </c:pt>
                <c:pt idx="2">
                  <c:v>0.35304931538197487</c:v>
                </c:pt>
                <c:pt idx="3">
                  <c:v>0.28112084464468629</c:v>
                </c:pt>
                <c:pt idx="4">
                  <c:v>0.2202430846605197</c:v>
                </c:pt>
                <c:pt idx="5">
                  <c:v>0.18821103053689042</c:v>
                </c:pt>
                <c:pt idx="6">
                  <c:v>0.22200656315031217</c:v>
                </c:pt>
                <c:pt idx="7">
                  <c:v>0.23132104264351996</c:v>
                </c:pt>
                <c:pt idx="8">
                  <c:v>0.29727545316568155</c:v>
                </c:pt>
                <c:pt idx="9">
                  <c:v>0.34090207335063988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1F9-460E-AB9A-4FA1FA1D5989}"/>
            </c:ext>
          </c:extLst>
        </c:ser>
        <c:ser>
          <c:idx val="1"/>
          <c:order val="1"/>
          <c:tx>
            <c:strRef>
              <c:f>'Cap. 5 Gráficos 11, 12 y 13'!$C$27</c:f>
              <c:strCache>
                <c:ptCount val="1"/>
                <c:pt idx="0">
                  <c:v>Valores Contrafactuales 1</c:v>
                </c:pt>
              </c:strCache>
            </c:strRef>
          </c:tx>
          <c:spPr>
            <a:ln w="38100">
              <a:solidFill>
                <a:schemeClr val="tx2">
                  <a:lumMod val="75000"/>
                </a:schemeClr>
              </a:solidFill>
              <a:prstDash val="sysDash"/>
            </a:ln>
          </c:spPr>
          <c:marker>
            <c:symbol val="none"/>
          </c:marker>
          <c:cat>
            <c:numRef>
              <c:f>'Cap. 5 Gráficos 11, 12 y 13'!$A$30:$A$39</c:f>
              <c:numCache>
                <c:formatCode>0</c:formatCode>
                <c:ptCount val="10"/>
                <c:pt idx="0">
                  <c:v>1919</c:v>
                </c:pt>
                <c:pt idx="1">
                  <c:v>1920</c:v>
                </c:pt>
                <c:pt idx="2">
                  <c:v>1921</c:v>
                </c:pt>
                <c:pt idx="3">
                  <c:v>1922</c:v>
                </c:pt>
                <c:pt idx="4">
                  <c:v>1923</c:v>
                </c:pt>
                <c:pt idx="5">
                  <c:v>1924</c:v>
                </c:pt>
                <c:pt idx="6">
                  <c:v>1925</c:v>
                </c:pt>
                <c:pt idx="7">
                  <c:v>1926</c:v>
                </c:pt>
                <c:pt idx="8">
                  <c:v>1927</c:v>
                </c:pt>
                <c:pt idx="9">
                  <c:v>1928</c:v>
                </c:pt>
              </c:numCache>
            </c:numRef>
          </c:cat>
          <c:val>
            <c:numRef>
              <c:f>'Cap. 5 Gráficos 11, 12 y 13'!$C$30:$C$39</c:f>
              <c:numCache>
                <c:formatCode>0%</c:formatCode>
                <c:ptCount val="10"/>
                <c:pt idx="0">
                  <c:v>0.31093908284189387</c:v>
                </c:pt>
                <c:pt idx="1">
                  <c:v>0.34778631359082385</c:v>
                </c:pt>
                <c:pt idx="2">
                  <c:v>0.3819736069262748</c:v>
                </c:pt>
                <c:pt idx="3">
                  <c:v>0.29036458967545076</c:v>
                </c:pt>
                <c:pt idx="4">
                  <c:v>0.29256800421815427</c:v>
                </c:pt>
                <c:pt idx="5">
                  <c:v>0.26910298715986963</c:v>
                </c:pt>
                <c:pt idx="6">
                  <c:v>0.30404554186009286</c:v>
                </c:pt>
                <c:pt idx="7">
                  <c:v>0.32731285174871688</c:v>
                </c:pt>
                <c:pt idx="8">
                  <c:v>0.36293363852864602</c:v>
                </c:pt>
                <c:pt idx="9">
                  <c:v>0.39326595610855075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1F9-460E-AB9A-4FA1FA1D5989}"/>
            </c:ext>
          </c:extLst>
        </c:ser>
        <c:ser>
          <c:idx val="2"/>
          <c:order val="2"/>
          <c:tx>
            <c:strRef>
              <c:f>'Cap. 5 Gráficos 11, 12 y 13'!$D$27</c:f>
              <c:strCache>
                <c:ptCount val="1"/>
                <c:pt idx="0">
                  <c:v>Valores Contrafactuales 2</c:v>
                </c:pt>
              </c:strCache>
            </c:strRef>
          </c:tx>
          <c:spPr>
            <a:ln w="38100">
              <a:solidFill>
                <a:schemeClr val="tx2">
                  <a:lumMod val="60000"/>
                  <a:lumOff val="40000"/>
                </a:schemeClr>
              </a:solidFill>
              <a:prstDash val="sysDot"/>
            </a:ln>
          </c:spPr>
          <c:marker>
            <c:symbol val="none"/>
          </c:marker>
          <c:cat>
            <c:numRef>
              <c:f>'Cap. 5 Gráficos 11, 12 y 13'!$A$30:$A$39</c:f>
              <c:numCache>
                <c:formatCode>0</c:formatCode>
                <c:ptCount val="10"/>
                <c:pt idx="0">
                  <c:v>1919</c:v>
                </c:pt>
                <c:pt idx="1">
                  <c:v>1920</c:v>
                </c:pt>
                <c:pt idx="2">
                  <c:v>1921</c:v>
                </c:pt>
                <c:pt idx="3">
                  <c:v>1922</c:v>
                </c:pt>
                <c:pt idx="4">
                  <c:v>1923</c:v>
                </c:pt>
                <c:pt idx="5">
                  <c:v>1924</c:v>
                </c:pt>
                <c:pt idx="6">
                  <c:v>1925</c:v>
                </c:pt>
                <c:pt idx="7">
                  <c:v>1926</c:v>
                </c:pt>
                <c:pt idx="8">
                  <c:v>1927</c:v>
                </c:pt>
                <c:pt idx="9">
                  <c:v>1928</c:v>
                </c:pt>
              </c:numCache>
            </c:numRef>
          </c:cat>
          <c:val>
            <c:numRef>
              <c:f>'Cap. 5 Gráficos 11, 12 y 13'!$D$30:$D$39</c:f>
              <c:numCache>
                <c:formatCode>0%</c:formatCode>
                <c:ptCount val="10"/>
                <c:pt idx="0">
                  <c:v>0.78896696596544857</c:v>
                </c:pt>
                <c:pt idx="1">
                  <c:v>0.72623611688009349</c:v>
                </c:pt>
                <c:pt idx="2">
                  <c:v>0.65402167246683696</c:v>
                </c:pt>
                <c:pt idx="3">
                  <c:v>0.57161521532265114</c:v>
                </c:pt>
                <c:pt idx="4">
                  <c:v>0.51985840535550121</c:v>
                </c:pt>
                <c:pt idx="5">
                  <c:v>0.50574526963974453</c:v>
                </c:pt>
                <c:pt idx="6">
                  <c:v>0.48480778322021245</c:v>
                </c:pt>
                <c:pt idx="7">
                  <c:v>0.49722419918351907</c:v>
                </c:pt>
                <c:pt idx="8">
                  <c:v>0.5300722372894584</c:v>
                </c:pt>
                <c:pt idx="9">
                  <c:v>0.57526860495008181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1F9-460E-AB9A-4FA1FA1D59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7672576"/>
        <c:axId val="177674112"/>
      </c:lineChart>
      <c:catAx>
        <c:axId val="177672576"/>
        <c:scaling>
          <c:orientation val="minMax"/>
        </c:scaling>
        <c:delete val="0"/>
        <c:axPos val="b"/>
        <c:numFmt formatCode="0" sourceLinked="1"/>
        <c:majorTickMark val="out"/>
        <c:minorTickMark val="none"/>
        <c:tickLblPos val="nextTo"/>
        <c:spPr>
          <a:ln>
            <a:solidFill>
              <a:schemeClr val="tx2">
                <a:lumMod val="75000"/>
              </a:schemeClr>
            </a:solidFill>
          </a:ln>
        </c:spPr>
        <c:txPr>
          <a:bodyPr rot="-5400000" vert="horz"/>
          <a:lstStyle/>
          <a:p>
            <a:pPr>
              <a:defRPr/>
            </a:pPr>
            <a:endParaRPr lang="es-AR"/>
          </a:p>
        </c:txPr>
        <c:crossAx val="177674112"/>
        <c:crosses val="autoZero"/>
        <c:auto val="1"/>
        <c:lblAlgn val="ctr"/>
        <c:lblOffset val="100"/>
        <c:noMultiLvlLbl val="0"/>
      </c:catAx>
      <c:valAx>
        <c:axId val="177674112"/>
        <c:scaling>
          <c:orientation val="minMax"/>
          <c:max val="0.9"/>
          <c:min val="0"/>
        </c:scaling>
        <c:delete val="0"/>
        <c:axPos val="l"/>
        <c:numFmt formatCode="0%" sourceLinked="1"/>
        <c:majorTickMark val="out"/>
        <c:minorTickMark val="none"/>
        <c:tickLblPos val="nextTo"/>
        <c:spPr>
          <a:ln>
            <a:solidFill>
              <a:schemeClr val="tx2">
                <a:lumMod val="75000"/>
              </a:schemeClr>
            </a:solidFill>
          </a:ln>
        </c:spPr>
        <c:crossAx val="177672576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1.9042735042735019E-2"/>
          <c:y val="0.87262739575052228"/>
          <c:w val="0.979008547008547"/>
          <c:h val="0.12737260424947766"/>
        </c:manualLayout>
      </c:layout>
      <c:overlay val="0"/>
    </c:legend>
    <c:plotVisOnly val="1"/>
    <c:dispBlanksAs val="gap"/>
    <c:showDLblsOverMax val="0"/>
  </c:chart>
  <c:spPr>
    <a:ln>
      <a:noFill/>
    </a:ln>
  </c:spPr>
  <c:txPr>
    <a:bodyPr/>
    <a:lstStyle/>
    <a:p>
      <a:pPr>
        <a:defRPr sz="1600">
          <a:solidFill>
            <a:schemeClr val="tx2">
              <a:lumMod val="75000"/>
            </a:schemeClr>
          </a:solidFill>
          <a:latin typeface="Abadi" panose="020B0604020104020204" pitchFamily="34" charset="0"/>
          <a:cs typeface="Times New Roman" pitchFamily="18" charset="0"/>
        </a:defRPr>
      </a:pPr>
      <a:endParaRPr lang="es-AR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lineChart>
        <c:grouping val="standard"/>
        <c:varyColors val="0"/>
        <c:ser>
          <c:idx val="0"/>
          <c:order val="0"/>
          <c:tx>
            <c:v>Préstamos Oficiales</c:v>
          </c:tx>
          <c:spPr>
            <a:ln w="57150">
              <a:prstDash val="sysDash"/>
            </a:ln>
          </c:spPr>
          <c:marker>
            <c:symbol val="none"/>
          </c:marker>
          <c:cat>
            <c:numRef>
              <c:f>Sintesis!$AB$3:$AB$17</c:f>
              <c:numCache>
                <c:formatCode>General</c:formatCode>
                <c:ptCount val="15"/>
                <c:pt idx="0">
                  <c:v>1914</c:v>
                </c:pt>
                <c:pt idx="1">
                  <c:v>1915</c:v>
                </c:pt>
                <c:pt idx="2">
                  <c:v>1916</c:v>
                </c:pt>
                <c:pt idx="3">
                  <c:v>1917</c:v>
                </c:pt>
                <c:pt idx="4">
                  <c:v>1918</c:v>
                </c:pt>
                <c:pt idx="5">
                  <c:v>1919</c:v>
                </c:pt>
                <c:pt idx="6">
                  <c:v>1920</c:v>
                </c:pt>
                <c:pt idx="7">
                  <c:v>1921</c:v>
                </c:pt>
                <c:pt idx="8">
                  <c:v>1922</c:v>
                </c:pt>
                <c:pt idx="9">
                  <c:v>1923</c:v>
                </c:pt>
                <c:pt idx="10">
                  <c:v>1924</c:v>
                </c:pt>
                <c:pt idx="11">
                  <c:v>1925</c:v>
                </c:pt>
                <c:pt idx="12">
                  <c:v>1926</c:v>
                </c:pt>
                <c:pt idx="13">
                  <c:v>1927</c:v>
                </c:pt>
                <c:pt idx="14">
                  <c:v>1928</c:v>
                </c:pt>
              </c:numCache>
            </c:numRef>
          </c:cat>
          <c:val>
            <c:numRef>
              <c:f>Sintesis!$AC$3:$AC$17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 formatCode="_-* #,##0.00\ _€_-;\-* #,##0.00\ _€_-;_-* &quot;-&quot;??\ _€_-;_-@_-">
                  <c:v>71.999700000000004</c:v>
                </c:pt>
                <c:pt idx="4" formatCode="_-* #,##0.00\ _€_-;\-* #,##0.00\ _€_-;_-* &quot;-&quot;??\ _€_-;_-@_-">
                  <c:v>410.7593</c:v>
                </c:pt>
                <c:pt idx="5" formatCode="_-* #,##0.00\ _€_-;\-* #,##0.00\ _€_-;_-* &quot;-&quot;??\ _€_-;_-@_-">
                  <c:v>361.4948</c:v>
                </c:pt>
                <c:pt idx="6" formatCode="_-* #,##0.00\ _€_-;\-* #,##0.00\ _€_-;_-* &quot;-&quot;??\ _€_-;_-@_-">
                  <c:v>338.43539999999894</c:v>
                </c:pt>
                <c:pt idx="7" formatCode="_-* #,##0.00\ _€_-;\-* #,##0.00\ _€_-;_-* &quot;-&quot;??\ _€_-;_-@_-">
                  <c:v>147.79349999999999</c:v>
                </c:pt>
                <c:pt idx="8" formatCode="_-* #,##0.00\ _€_-;\-* #,##0.00\ _€_-;_-* &quot;-&quot;??\ _€_-;_-@_-">
                  <c:v>150.87389999999999</c:v>
                </c:pt>
                <c:pt idx="9" formatCode="_-* #,##0.00\ _€_-;\-* #,##0.00\ _€_-;_-* &quot;-&quot;??\ _€_-;_-@_-">
                  <c:v>152.70319999999998</c:v>
                </c:pt>
                <c:pt idx="10" formatCode="_-* #,##0.00\ _€_-;\-* #,##0.00\ _€_-;_-* &quot;-&quot;??\ _€_-;_-@_-">
                  <c:v>154.62040000000007</c:v>
                </c:pt>
                <c:pt idx="11" formatCode="_-* #,##0.00\ _€_-;\-* #,##0.00\ _€_-;_-* &quot;-&quot;??\ _€_-;_-@_-">
                  <c:v>84.625499999999988</c:v>
                </c:pt>
                <c:pt idx="12" formatCode="_-* #,##0.00\ _€_-;\-* #,##0.00\ _€_-;_-* &quot;-&quot;??\ _€_-;_-@_-">
                  <c:v>86.733700000000013</c:v>
                </c:pt>
                <c:pt idx="13" formatCode="_-* #,##0.00\ _€_-;\-* #,##0.00\ _€_-;_-* &quot;-&quot;??\ _€_-;_-@_-">
                  <c:v>76.072999999999979</c:v>
                </c:pt>
                <c:pt idx="14" formatCode="_-* #,##0.00\ _€_-;\-* #,##0.00\ _€_-;_-* &quot;-&quot;??\ _€_-;_-@_-">
                  <c:v>70.082799999999978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59-4068-AAC2-F524CCA061D4}"/>
            </c:ext>
          </c:extLst>
        </c:ser>
        <c:ser>
          <c:idx val="1"/>
          <c:order val="1"/>
          <c:tx>
            <c:v>Fondos Públicos</c:v>
          </c:tx>
          <c:spPr>
            <a:ln w="57150"/>
          </c:spPr>
          <c:marker>
            <c:symbol val="none"/>
          </c:marker>
          <c:cat>
            <c:numRef>
              <c:f>Sintesis!$AB$3:$AB$17</c:f>
              <c:numCache>
                <c:formatCode>General</c:formatCode>
                <c:ptCount val="15"/>
                <c:pt idx="0">
                  <c:v>1914</c:v>
                </c:pt>
                <c:pt idx="1">
                  <c:v>1915</c:v>
                </c:pt>
                <c:pt idx="2">
                  <c:v>1916</c:v>
                </c:pt>
                <c:pt idx="3">
                  <c:v>1917</c:v>
                </c:pt>
                <c:pt idx="4">
                  <c:v>1918</c:v>
                </c:pt>
                <c:pt idx="5">
                  <c:v>1919</c:v>
                </c:pt>
                <c:pt idx="6">
                  <c:v>1920</c:v>
                </c:pt>
                <c:pt idx="7">
                  <c:v>1921</c:v>
                </c:pt>
                <c:pt idx="8">
                  <c:v>1922</c:v>
                </c:pt>
                <c:pt idx="9">
                  <c:v>1923</c:v>
                </c:pt>
                <c:pt idx="10">
                  <c:v>1924</c:v>
                </c:pt>
                <c:pt idx="11">
                  <c:v>1925</c:v>
                </c:pt>
                <c:pt idx="12">
                  <c:v>1926</c:v>
                </c:pt>
                <c:pt idx="13">
                  <c:v>1927</c:v>
                </c:pt>
                <c:pt idx="14">
                  <c:v>1928</c:v>
                </c:pt>
              </c:numCache>
            </c:numRef>
          </c:cat>
          <c:val>
            <c:numRef>
              <c:f>Sintesis!$AD$3:$AD$17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 formatCode="_-* #,##0.00\ _€_-;\-* #,##0.00\ _€_-;_-* &quot;-&quot;??\ _€_-;_-@_-">
                  <c:v>21.248974</c:v>
                </c:pt>
                <c:pt idx="3" formatCode="_-* #,##0.00\ _€_-;\-* #,##0.00\ _€_-;_-* &quot;-&quot;??\ _€_-;_-@_-">
                  <c:v>24.166886999999999</c:v>
                </c:pt>
                <c:pt idx="4" formatCode="_-* #,##0.00\ _€_-;\-* #,##0.00\ _€_-;_-* &quot;-&quot;??\ _€_-;_-@_-">
                  <c:v>22.547236000000002</c:v>
                </c:pt>
                <c:pt idx="5" formatCode="_-* #,##0.00\ _€_-;\-* #,##0.00\ _€_-;_-* &quot;-&quot;??\ _€_-;_-@_-">
                  <c:v>22.405400999999959</c:v>
                </c:pt>
                <c:pt idx="6" formatCode="_-* #,##0.00\ _€_-;\-* #,##0.00\ _€_-;_-* &quot;-&quot;??\ _€_-;_-@_-">
                  <c:v>22.132138999999999</c:v>
                </c:pt>
                <c:pt idx="7" formatCode="_-* #,##0.00\ _€_-;\-* #,##0.00\ _€_-;_-* &quot;-&quot;??\ _€_-;_-@_-">
                  <c:v>21.883391</c:v>
                </c:pt>
                <c:pt idx="8" formatCode="_-* #,##0.00\ _€_-;\-* #,##0.00\ _€_-;_-* &quot;-&quot;??\ _€_-;_-@_-">
                  <c:v>21.58817399999996</c:v>
                </c:pt>
                <c:pt idx="9" formatCode="_-* #,##0.00\ _€_-;\-* #,##0.00\ _€_-;_-* &quot;-&quot;??\ _€_-;_-@_-">
                  <c:v>21.23104</c:v>
                </c:pt>
                <c:pt idx="10" formatCode="_-* #,##0.00\ _€_-;\-* #,##0.00\ _€_-;_-* &quot;-&quot;??\ _€_-;_-@_-">
                  <c:v>20.498433999999936</c:v>
                </c:pt>
                <c:pt idx="11" formatCode="_-* #,##0.00\ _€_-;\-* #,##0.00\ _€_-;_-* &quot;-&quot;??\ _€_-;_-@_-">
                  <c:v>19.466796999999936</c:v>
                </c:pt>
                <c:pt idx="12" formatCode="_-* #,##0.00\ _€_-;\-* #,##0.00\ _€_-;_-* &quot;-&quot;??\ _€_-;_-@_-">
                  <c:v>19.252734999999959</c:v>
                </c:pt>
                <c:pt idx="13" formatCode="_-* #,##0.00\ _€_-;\-* #,##0.00\ _€_-;_-* &quot;-&quot;??\ _€_-;_-@_-">
                  <c:v>19.140720000000002</c:v>
                </c:pt>
                <c:pt idx="14" formatCode="_-* #,##0.00\ _€_-;\-* #,##0.00\ _€_-;_-* &quot;-&quot;??\ _€_-;_-@_-">
                  <c:v>19.134706000000001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D59-4068-AAC2-F524CCA061D4}"/>
            </c:ext>
          </c:extLst>
        </c:ser>
        <c:ser>
          <c:idx val="2"/>
          <c:order val="2"/>
          <c:tx>
            <c:v>Redescuento Letras Tesorería</c:v>
          </c:tx>
          <c:spPr>
            <a:ln w="57150">
              <a:solidFill>
                <a:sysClr val="windowText" lastClr="000000"/>
              </a:solidFill>
            </a:ln>
          </c:spPr>
          <c:marker>
            <c:symbol val="none"/>
          </c:marker>
          <c:cat>
            <c:numRef>
              <c:f>Sintesis!$AB$3:$AB$17</c:f>
              <c:numCache>
                <c:formatCode>General</c:formatCode>
                <c:ptCount val="15"/>
                <c:pt idx="0">
                  <c:v>1914</c:v>
                </c:pt>
                <c:pt idx="1">
                  <c:v>1915</c:v>
                </c:pt>
                <c:pt idx="2">
                  <c:v>1916</c:v>
                </c:pt>
                <c:pt idx="3">
                  <c:v>1917</c:v>
                </c:pt>
                <c:pt idx="4">
                  <c:v>1918</c:v>
                </c:pt>
                <c:pt idx="5">
                  <c:v>1919</c:v>
                </c:pt>
                <c:pt idx="6">
                  <c:v>1920</c:v>
                </c:pt>
                <c:pt idx="7">
                  <c:v>1921</c:v>
                </c:pt>
                <c:pt idx="8">
                  <c:v>1922</c:v>
                </c:pt>
                <c:pt idx="9">
                  <c:v>1923</c:v>
                </c:pt>
                <c:pt idx="10">
                  <c:v>1924</c:v>
                </c:pt>
                <c:pt idx="11">
                  <c:v>1925</c:v>
                </c:pt>
                <c:pt idx="12">
                  <c:v>1926</c:v>
                </c:pt>
                <c:pt idx="13">
                  <c:v>1927</c:v>
                </c:pt>
                <c:pt idx="14">
                  <c:v>1928</c:v>
                </c:pt>
              </c:numCache>
            </c:numRef>
          </c:cat>
          <c:val>
            <c:numRef>
              <c:f>Sintesis!$AE$3:$AE$17</c:f>
              <c:numCache>
                <c:formatCode>_-* #,##0.00\ _€_-;\-* #,##0.00\ _€_-;_-* "-"??\ _€_-;_-@_-</c:formatCode>
                <c:ptCount val="15"/>
                <c:pt idx="0" formatCode="General">
                  <c:v>0</c:v>
                </c:pt>
                <c:pt idx="1">
                  <c:v>49.566000000000003</c:v>
                </c:pt>
                <c:pt idx="2">
                  <c:v>59.22800000000008</c:v>
                </c:pt>
                <c:pt idx="3">
                  <c:v>112.524</c:v>
                </c:pt>
                <c:pt idx="4">
                  <c:v>80.001000000000005</c:v>
                </c:pt>
                <c:pt idx="5">
                  <c:v>160.9</c:v>
                </c:pt>
                <c:pt idx="6">
                  <c:v>169.77899999999997</c:v>
                </c:pt>
                <c:pt idx="7">
                  <c:v>144.08100000000007</c:v>
                </c:pt>
                <c:pt idx="8">
                  <c:v>211.29</c:v>
                </c:pt>
                <c:pt idx="9">
                  <c:v>243.99800000000027</c:v>
                </c:pt>
                <c:pt idx="10">
                  <c:v>281.48699999999906</c:v>
                </c:pt>
                <c:pt idx="11">
                  <c:v>269.56</c:v>
                </c:pt>
                <c:pt idx="12">
                  <c:v>265.9209999999992</c:v>
                </c:pt>
                <c:pt idx="13">
                  <c:v>245.57</c:v>
                </c:pt>
                <c:pt idx="14">
                  <c:v>268.81200000000001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D59-4068-AAC2-F524CCA061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8378880"/>
        <c:axId val="78380416"/>
      </c:lineChart>
      <c:catAx>
        <c:axId val="78378880"/>
        <c:scaling>
          <c:orientation val="minMax"/>
        </c:scaling>
        <c:delete val="0"/>
        <c:axPos val="b"/>
        <c:majorGridlines/>
        <c:numFmt formatCode="General" sourceLinked="1"/>
        <c:majorTickMark val="none"/>
        <c:minorTickMark val="none"/>
        <c:tickLblPos val="nextTo"/>
        <c:txPr>
          <a:bodyPr rot="-5400000" vert="horz"/>
          <a:lstStyle/>
          <a:p>
            <a:pPr>
              <a:defRPr lang="es-AR" sz="1400"/>
            </a:pPr>
            <a:endParaRPr lang="es-AR"/>
          </a:p>
        </c:txPr>
        <c:crossAx val="78380416"/>
        <c:crosses val="autoZero"/>
        <c:auto val="1"/>
        <c:lblAlgn val="ctr"/>
        <c:lblOffset val="100"/>
        <c:noMultiLvlLbl val="0"/>
      </c:catAx>
      <c:valAx>
        <c:axId val="78380416"/>
        <c:scaling>
          <c:orientation val="minMax"/>
        </c:scaling>
        <c:delete val="0"/>
        <c:axPos val="l"/>
        <c:majorGridlines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lang="es-AR"/>
            </a:pPr>
            <a:endParaRPr lang="es-AR"/>
          </a:p>
        </c:txPr>
        <c:crossAx val="78378880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lang="es-AR" sz="1600"/>
          </a:pPr>
          <a:endParaRPr lang="es-AR"/>
        </a:p>
      </c:txPr>
    </c:legend>
    <c:plotVisOnly val="1"/>
    <c:dispBlanksAs val="gap"/>
    <c:showDLblsOverMax val="0"/>
  </c:chart>
  <c:externalData r:id="rId2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8.4931751952058626E-2"/>
          <c:y val="4.7295024292176392E-2"/>
          <c:w val="0.85088291349473621"/>
          <c:h val="0.55553604735578266"/>
        </c:manualLayout>
      </c:layout>
      <c:lineChart>
        <c:grouping val="standard"/>
        <c:varyColors val="0"/>
        <c:ser>
          <c:idx val="0"/>
          <c:order val="0"/>
          <c:tx>
            <c:strRef>
              <c:f>'Cap. 6 Gráfico 5'!$D$1</c:f>
              <c:strCache>
                <c:ptCount val="1"/>
                <c:pt idx="0">
                  <c:v>Observado</c:v>
                </c:pt>
              </c:strCache>
            </c:strRef>
          </c:tx>
          <c:spPr>
            <a:ln w="38100">
              <a:solidFill>
                <a:schemeClr val="tx2">
                  <a:lumMod val="50000"/>
                </a:schemeClr>
              </a:solidFill>
            </a:ln>
          </c:spPr>
          <c:marker>
            <c:symbol val="none"/>
          </c:marker>
          <c:cat>
            <c:multiLvlStrRef>
              <c:f>'Cap. 6 Gráfico 5'!$A$2:$B$73</c:f>
              <c:multiLvlStrCache>
                <c:ptCount val="72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  <c:pt idx="12">
                    <c:v>Ene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Abr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Ago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Dic</c:v>
                  </c:pt>
                  <c:pt idx="24">
                    <c:v>Ene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Abr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Ago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Dic</c:v>
                  </c:pt>
                  <c:pt idx="36">
                    <c:v>Ene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Abr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Ago</c:v>
                  </c:pt>
                  <c:pt idx="44">
                    <c:v>Sep</c:v>
                  </c:pt>
                  <c:pt idx="45">
                    <c:v>Oct</c:v>
                  </c:pt>
                  <c:pt idx="46">
                    <c:v>Nov</c:v>
                  </c:pt>
                  <c:pt idx="47">
                    <c:v>Dic</c:v>
                  </c:pt>
                  <c:pt idx="48">
                    <c:v>Ene</c:v>
                  </c:pt>
                  <c:pt idx="49">
                    <c:v>Feb</c:v>
                  </c:pt>
                  <c:pt idx="50">
                    <c:v>Mar</c:v>
                  </c:pt>
                  <c:pt idx="51">
                    <c:v>Abr</c:v>
                  </c:pt>
                  <c:pt idx="52">
                    <c:v>May</c:v>
                  </c:pt>
                  <c:pt idx="53">
                    <c:v>Jun</c:v>
                  </c:pt>
                  <c:pt idx="54">
                    <c:v>Jul</c:v>
                  </c:pt>
                  <c:pt idx="55">
                    <c:v>Ago</c:v>
                  </c:pt>
                  <c:pt idx="56">
                    <c:v>Sep</c:v>
                  </c:pt>
                  <c:pt idx="57">
                    <c:v>Oct</c:v>
                  </c:pt>
                  <c:pt idx="58">
                    <c:v>Nov</c:v>
                  </c:pt>
                  <c:pt idx="59">
                    <c:v>Dic</c:v>
                  </c:pt>
                  <c:pt idx="60">
                    <c:v>Ene</c:v>
                  </c:pt>
                  <c:pt idx="61">
                    <c:v>Feb</c:v>
                  </c:pt>
                  <c:pt idx="62">
                    <c:v>Mar</c:v>
                  </c:pt>
                  <c:pt idx="63">
                    <c:v>Abr</c:v>
                  </c:pt>
                  <c:pt idx="64">
                    <c:v>May</c:v>
                  </c:pt>
                  <c:pt idx="65">
                    <c:v>Jun</c:v>
                  </c:pt>
                  <c:pt idx="66">
                    <c:v>Jul</c:v>
                  </c:pt>
                  <c:pt idx="67">
                    <c:v>Ago</c:v>
                  </c:pt>
                  <c:pt idx="68">
                    <c:v>Sep</c:v>
                  </c:pt>
                  <c:pt idx="69">
                    <c:v>Oct</c:v>
                  </c:pt>
                  <c:pt idx="70">
                    <c:v>Nov</c:v>
                  </c:pt>
                  <c:pt idx="71">
                    <c:v>Dic</c:v>
                  </c:pt>
                </c:lvl>
                <c:lvl>
                  <c:pt idx="0">
                    <c:v>1929</c:v>
                  </c:pt>
                  <c:pt idx="12">
                    <c:v>1930</c:v>
                  </c:pt>
                  <c:pt idx="24">
                    <c:v>1931</c:v>
                  </c:pt>
                  <c:pt idx="36">
                    <c:v>1932</c:v>
                  </c:pt>
                  <c:pt idx="48">
                    <c:v>1933</c:v>
                  </c:pt>
                  <c:pt idx="60">
                    <c:v>1934</c:v>
                  </c:pt>
                </c:lvl>
              </c:multiLvlStrCache>
            </c:multiLvlStrRef>
          </c:cat>
          <c:val>
            <c:numRef>
              <c:f>'Cap. 6 Gráfico 5'!$D$2:$D$73</c:f>
              <c:numCache>
                <c:formatCode>_(* #,##0.00_);_(* \(#,##0.00\);_(* "-"??_);_(@_)</c:formatCode>
                <c:ptCount val="72"/>
                <c:pt idx="0">
                  <c:v>2.2726999999999999</c:v>
                </c:pt>
                <c:pt idx="1">
                  <c:v>2.2726999999999999</c:v>
                </c:pt>
                <c:pt idx="2">
                  <c:v>2.2726999999999999</c:v>
                </c:pt>
                <c:pt idx="3">
                  <c:v>2.2726999999999999</c:v>
                </c:pt>
                <c:pt idx="4">
                  <c:v>2.2726999999999999</c:v>
                </c:pt>
                <c:pt idx="5">
                  <c:v>2.2726999999999999</c:v>
                </c:pt>
                <c:pt idx="6">
                  <c:v>2.2726999999999999</c:v>
                </c:pt>
                <c:pt idx="7">
                  <c:v>2.2726999999999999</c:v>
                </c:pt>
                <c:pt idx="8">
                  <c:v>2.2726999999999999</c:v>
                </c:pt>
                <c:pt idx="9">
                  <c:v>2.2726999999999999</c:v>
                </c:pt>
                <c:pt idx="10">
                  <c:v>2.2726999999999999</c:v>
                </c:pt>
                <c:pt idx="11">
                  <c:v>2.3599000000000001</c:v>
                </c:pt>
                <c:pt idx="12">
                  <c:v>2.407</c:v>
                </c:pt>
                <c:pt idx="13">
                  <c:v>2.5461</c:v>
                </c:pt>
                <c:pt idx="14">
                  <c:v>2.5688999999999997</c:v>
                </c:pt>
                <c:pt idx="15">
                  <c:v>2.4842</c:v>
                </c:pt>
                <c:pt idx="16">
                  <c:v>2.5154000000000001</c:v>
                </c:pt>
                <c:pt idx="17">
                  <c:v>2.6068000000000002</c:v>
                </c:pt>
                <c:pt idx="18">
                  <c:v>2.6808999999999998</c:v>
                </c:pt>
                <c:pt idx="19">
                  <c:v>2.6644999999999999</c:v>
                </c:pt>
                <c:pt idx="20">
                  <c:v>2.6907999999999999</c:v>
                </c:pt>
                <c:pt idx="21">
                  <c:v>2.8193000000000001</c:v>
                </c:pt>
                <c:pt idx="22">
                  <c:v>2.8099000000000003</c:v>
                </c:pt>
                <c:pt idx="23">
                  <c:v>2.9155000000000002</c:v>
                </c:pt>
                <c:pt idx="24">
                  <c:v>3.1508999999999996</c:v>
                </c:pt>
                <c:pt idx="25">
                  <c:v>3.0432000000000001</c:v>
                </c:pt>
                <c:pt idx="26">
                  <c:v>2.8068</c:v>
                </c:pt>
                <c:pt idx="27">
                  <c:v>2.8879000000000001</c:v>
                </c:pt>
                <c:pt idx="28">
                  <c:v>3.1101000000000001</c:v>
                </c:pt>
                <c:pt idx="29">
                  <c:v>3.1235000000000004</c:v>
                </c:pt>
                <c:pt idx="30">
                  <c:v>3.1464999999999996</c:v>
                </c:pt>
                <c:pt idx="31">
                  <c:v>3.4045999999999998</c:v>
                </c:pt>
                <c:pt idx="32">
                  <c:v>3.6814999999999998</c:v>
                </c:pt>
                <c:pt idx="33">
                  <c:v>4.1139999999999999</c:v>
                </c:pt>
                <c:pt idx="34">
                  <c:v>3.7606999999999999</c:v>
                </c:pt>
                <c:pt idx="35">
                  <c:v>3.75</c:v>
                </c:pt>
                <c:pt idx="36">
                  <c:v>3.75</c:v>
                </c:pt>
                <c:pt idx="37">
                  <c:v>3.75</c:v>
                </c:pt>
                <c:pt idx="38">
                  <c:v>3.75</c:v>
                </c:pt>
                <c:pt idx="39">
                  <c:v>3.75</c:v>
                </c:pt>
                <c:pt idx="40">
                  <c:v>3.75</c:v>
                </c:pt>
                <c:pt idx="41">
                  <c:v>3.75</c:v>
                </c:pt>
                <c:pt idx="42">
                  <c:v>3.75</c:v>
                </c:pt>
                <c:pt idx="43">
                  <c:v>3.75</c:v>
                </c:pt>
                <c:pt idx="44">
                  <c:v>3.75</c:v>
                </c:pt>
                <c:pt idx="45">
                  <c:v>3.75</c:v>
                </c:pt>
                <c:pt idx="46">
                  <c:v>3.75</c:v>
                </c:pt>
                <c:pt idx="47">
                  <c:v>3.75</c:v>
                </c:pt>
                <c:pt idx="48">
                  <c:v>3.75</c:v>
                </c:pt>
                <c:pt idx="49">
                  <c:v>3.75</c:v>
                </c:pt>
                <c:pt idx="50">
                  <c:v>3.8097000000000003</c:v>
                </c:pt>
                <c:pt idx="51">
                  <c:v>3.8097000000000003</c:v>
                </c:pt>
                <c:pt idx="52">
                  <c:v>3.8097000000000003</c:v>
                </c:pt>
                <c:pt idx="53">
                  <c:v>3.8097000000000003</c:v>
                </c:pt>
                <c:pt idx="54">
                  <c:v>3.8097000000000003</c:v>
                </c:pt>
                <c:pt idx="55">
                  <c:v>3.8097000000000003</c:v>
                </c:pt>
                <c:pt idx="56">
                  <c:v>3.8097000000000003</c:v>
                </c:pt>
                <c:pt idx="57">
                  <c:v>3.8097000000000003</c:v>
                </c:pt>
                <c:pt idx="58">
                  <c:v>3.8385000000000002</c:v>
                </c:pt>
                <c:pt idx="59">
                  <c:v>4.8266999999999998</c:v>
                </c:pt>
                <c:pt idx="60">
                  <c:v>4.9767000000000001</c:v>
                </c:pt>
                <c:pt idx="61">
                  <c:v>5.2525000000000004</c:v>
                </c:pt>
                <c:pt idx="62">
                  <c:v>5.4396000000000004</c:v>
                </c:pt>
                <c:pt idx="63">
                  <c:v>5.4124999999999996</c:v>
                </c:pt>
                <c:pt idx="64">
                  <c:v>5.5602999999999998</c:v>
                </c:pt>
                <c:pt idx="65">
                  <c:v>5.5972</c:v>
                </c:pt>
                <c:pt idx="66">
                  <c:v>5.6120000000000001</c:v>
                </c:pt>
                <c:pt idx="67">
                  <c:v>5.5873999999999997</c:v>
                </c:pt>
                <c:pt idx="68">
                  <c:v>5.6415999999999995</c:v>
                </c:pt>
                <c:pt idx="69">
                  <c:v>5.6341999999999999</c:v>
                </c:pt>
                <c:pt idx="70">
                  <c:v>5.5528999999999993</c:v>
                </c:pt>
                <c:pt idx="71">
                  <c:v>5.6095000000000006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AE6-44D5-A749-E2F200339E8F}"/>
            </c:ext>
          </c:extLst>
        </c:ser>
        <c:ser>
          <c:idx val="1"/>
          <c:order val="1"/>
          <c:tx>
            <c:strRef>
              <c:f>'Cap. 6 Gráfico 5'!$E$1</c:f>
              <c:strCache>
                <c:ptCount val="1"/>
                <c:pt idx="0">
                  <c:v>Paridad</c:v>
                </c:pt>
              </c:strCache>
            </c:strRef>
          </c:tx>
          <c:spPr>
            <a:ln w="38100">
              <a:solidFill>
                <a:schemeClr val="tx2">
                  <a:lumMod val="60000"/>
                  <a:lumOff val="40000"/>
                </a:schemeClr>
              </a:solidFill>
              <a:prstDash val="sysDash"/>
            </a:ln>
          </c:spPr>
          <c:marker>
            <c:symbol val="none"/>
          </c:marker>
          <c:cat>
            <c:multiLvlStrRef>
              <c:f>'Cap. 6 Gráfico 5'!$A$2:$B$73</c:f>
              <c:multiLvlStrCache>
                <c:ptCount val="72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  <c:pt idx="12">
                    <c:v>Ene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Abr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Ago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Dic</c:v>
                  </c:pt>
                  <c:pt idx="24">
                    <c:v>Ene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Abr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Ago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Dic</c:v>
                  </c:pt>
                  <c:pt idx="36">
                    <c:v>Ene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Abr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Ago</c:v>
                  </c:pt>
                  <c:pt idx="44">
                    <c:v>Sep</c:v>
                  </c:pt>
                  <c:pt idx="45">
                    <c:v>Oct</c:v>
                  </c:pt>
                  <c:pt idx="46">
                    <c:v>Nov</c:v>
                  </c:pt>
                  <c:pt idx="47">
                    <c:v>Dic</c:v>
                  </c:pt>
                  <c:pt idx="48">
                    <c:v>Ene</c:v>
                  </c:pt>
                  <c:pt idx="49">
                    <c:v>Feb</c:v>
                  </c:pt>
                  <c:pt idx="50">
                    <c:v>Mar</c:v>
                  </c:pt>
                  <c:pt idx="51">
                    <c:v>Abr</c:v>
                  </c:pt>
                  <c:pt idx="52">
                    <c:v>May</c:v>
                  </c:pt>
                  <c:pt idx="53">
                    <c:v>Jun</c:v>
                  </c:pt>
                  <c:pt idx="54">
                    <c:v>Jul</c:v>
                  </c:pt>
                  <c:pt idx="55">
                    <c:v>Ago</c:v>
                  </c:pt>
                  <c:pt idx="56">
                    <c:v>Sep</c:v>
                  </c:pt>
                  <c:pt idx="57">
                    <c:v>Oct</c:v>
                  </c:pt>
                  <c:pt idx="58">
                    <c:v>Nov</c:v>
                  </c:pt>
                  <c:pt idx="59">
                    <c:v>Dic</c:v>
                  </c:pt>
                  <c:pt idx="60">
                    <c:v>Ene</c:v>
                  </c:pt>
                  <c:pt idx="61">
                    <c:v>Feb</c:v>
                  </c:pt>
                  <c:pt idx="62">
                    <c:v>Mar</c:v>
                  </c:pt>
                  <c:pt idx="63">
                    <c:v>Abr</c:v>
                  </c:pt>
                  <c:pt idx="64">
                    <c:v>May</c:v>
                  </c:pt>
                  <c:pt idx="65">
                    <c:v>Jun</c:v>
                  </c:pt>
                  <c:pt idx="66">
                    <c:v>Jul</c:v>
                  </c:pt>
                  <c:pt idx="67">
                    <c:v>Ago</c:v>
                  </c:pt>
                  <c:pt idx="68">
                    <c:v>Sep</c:v>
                  </c:pt>
                  <c:pt idx="69">
                    <c:v>Oct</c:v>
                  </c:pt>
                  <c:pt idx="70">
                    <c:v>Nov</c:v>
                  </c:pt>
                  <c:pt idx="71">
                    <c:v>Dic</c:v>
                  </c:pt>
                </c:lvl>
                <c:lvl>
                  <c:pt idx="0">
                    <c:v>1929</c:v>
                  </c:pt>
                  <c:pt idx="12">
                    <c:v>1930</c:v>
                  </c:pt>
                  <c:pt idx="24">
                    <c:v>1931</c:v>
                  </c:pt>
                  <c:pt idx="36">
                    <c:v>1932</c:v>
                  </c:pt>
                  <c:pt idx="48">
                    <c:v>1933</c:v>
                  </c:pt>
                  <c:pt idx="60">
                    <c:v>1934</c:v>
                  </c:pt>
                </c:lvl>
              </c:multiLvlStrCache>
            </c:multiLvlStrRef>
          </c:cat>
          <c:val>
            <c:numRef>
              <c:f>'Cap. 6 Gráfico 5'!$E$2:$E$73</c:f>
              <c:numCache>
                <c:formatCode>_(* #,##0.00_);_(* \(#,##0.00\);_(* "-"??_);_(@_)</c:formatCode>
                <c:ptCount val="72"/>
                <c:pt idx="0">
                  <c:v>2.2726999999999999</c:v>
                </c:pt>
                <c:pt idx="1">
                  <c:v>2.2726999999999999</c:v>
                </c:pt>
                <c:pt idx="2">
                  <c:v>2.2726999999999999</c:v>
                </c:pt>
                <c:pt idx="3">
                  <c:v>2.2726999999999999</c:v>
                </c:pt>
                <c:pt idx="4">
                  <c:v>2.2726999999999999</c:v>
                </c:pt>
                <c:pt idx="5">
                  <c:v>2.2726999999999999</c:v>
                </c:pt>
                <c:pt idx="6">
                  <c:v>2.2726999999999999</c:v>
                </c:pt>
                <c:pt idx="7">
                  <c:v>2.2726999999999999</c:v>
                </c:pt>
                <c:pt idx="8">
                  <c:v>2.2726999999999999</c:v>
                </c:pt>
                <c:pt idx="9">
                  <c:v>2.2726999999999999</c:v>
                </c:pt>
                <c:pt idx="10">
                  <c:v>2.2726999999999999</c:v>
                </c:pt>
                <c:pt idx="11">
                  <c:v>2.2726999999999999</c:v>
                </c:pt>
                <c:pt idx="12">
                  <c:v>2.2726999999999999</c:v>
                </c:pt>
                <c:pt idx="13">
                  <c:v>2.2726999999999999</c:v>
                </c:pt>
                <c:pt idx="14">
                  <c:v>2.2726999999999999</c:v>
                </c:pt>
                <c:pt idx="15">
                  <c:v>2.2726999999999999</c:v>
                </c:pt>
                <c:pt idx="16">
                  <c:v>2.2726999999999999</c:v>
                </c:pt>
                <c:pt idx="17">
                  <c:v>2.2726999999999999</c:v>
                </c:pt>
                <c:pt idx="18">
                  <c:v>2.2726999999999999</c:v>
                </c:pt>
                <c:pt idx="19">
                  <c:v>2.2726999999999999</c:v>
                </c:pt>
                <c:pt idx="20">
                  <c:v>2.2726999999999999</c:v>
                </c:pt>
                <c:pt idx="21">
                  <c:v>2.2726999999999999</c:v>
                </c:pt>
                <c:pt idx="22">
                  <c:v>2.2726999999999999</c:v>
                </c:pt>
                <c:pt idx="23">
                  <c:v>2.2726999999999999</c:v>
                </c:pt>
                <c:pt idx="24">
                  <c:v>2.2726999999999999</c:v>
                </c:pt>
                <c:pt idx="25">
                  <c:v>2.2726999999999999</c:v>
                </c:pt>
                <c:pt idx="26">
                  <c:v>2.2726999999999999</c:v>
                </c:pt>
                <c:pt idx="27">
                  <c:v>2.2726999999999999</c:v>
                </c:pt>
                <c:pt idx="28">
                  <c:v>2.2726999999999999</c:v>
                </c:pt>
                <c:pt idx="29">
                  <c:v>2.2726999999999999</c:v>
                </c:pt>
                <c:pt idx="30">
                  <c:v>2.2726999999999999</c:v>
                </c:pt>
                <c:pt idx="31">
                  <c:v>2.2726999999999999</c:v>
                </c:pt>
                <c:pt idx="32">
                  <c:v>2.2726999999999999</c:v>
                </c:pt>
                <c:pt idx="33">
                  <c:v>2.2726999999999999</c:v>
                </c:pt>
                <c:pt idx="34">
                  <c:v>2.2726999999999999</c:v>
                </c:pt>
                <c:pt idx="35">
                  <c:v>2.2726999999999999</c:v>
                </c:pt>
                <c:pt idx="36">
                  <c:v>2.2726999999999999</c:v>
                </c:pt>
                <c:pt idx="37">
                  <c:v>2.2726999999999999</c:v>
                </c:pt>
                <c:pt idx="38">
                  <c:v>2.2726999999999999</c:v>
                </c:pt>
                <c:pt idx="39">
                  <c:v>2.2726999999999999</c:v>
                </c:pt>
                <c:pt idx="40">
                  <c:v>2.2726999999999999</c:v>
                </c:pt>
                <c:pt idx="41">
                  <c:v>2.2726999999999999</c:v>
                </c:pt>
                <c:pt idx="42">
                  <c:v>2.2726999999999999</c:v>
                </c:pt>
                <c:pt idx="43">
                  <c:v>2.2726999999999999</c:v>
                </c:pt>
                <c:pt idx="44">
                  <c:v>2.2726999999999999</c:v>
                </c:pt>
                <c:pt idx="45">
                  <c:v>2.2726999999999999</c:v>
                </c:pt>
                <c:pt idx="46">
                  <c:v>2.2726999999999999</c:v>
                </c:pt>
                <c:pt idx="47">
                  <c:v>2.2726999999999999</c:v>
                </c:pt>
                <c:pt idx="48">
                  <c:v>2.2726999999999999</c:v>
                </c:pt>
                <c:pt idx="49">
                  <c:v>2.2726999999999999</c:v>
                </c:pt>
                <c:pt idx="50">
                  <c:v>2.2726999999999999</c:v>
                </c:pt>
                <c:pt idx="51">
                  <c:v>2.2726999999999999</c:v>
                </c:pt>
                <c:pt idx="52">
                  <c:v>2.2726999999999999</c:v>
                </c:pt>
                <c:pt idx="53">
                  <c:v>2.2726999999999999</c:v>
                </c:pt>
                <c:pt idx="54">
                  <c:v>2.2726999999999999</c:v>
                </c:pt>
                <c:pt idx="55">
                  <c:v>2.2726999999999999</c:v>
                </c:pt>
                <c:pt idx="56">
                  <c:v>2.2726999999999999</c:v>
                </c:pt>
                <c:pt idx="57">
                  <c:v>2.2726999999999999</c:v>
                </c:pt>
                <c:pt idx="58">
                  <c:v>2.2726999999999999</c:v>
                </c:pt>
                <c:pt idx="59">
                  <c:v>2.2726999999999999</c:v>
                </c:pt>
                <c:pt idx="60">
                  <c:v>2.2726999999999999</c:v>
                </c:pt>
                <c:pt idx="61">
                  <c:v>2.2726999999999999</c:v>
                </c:pt>
                <c:pt idx="62">
                  <c:v>2.2726999999999999</c:v>
                </c:pt>
                <c:pt idx="63">
                  <c:v>2.2726999999999999</c:v>
                </c:pt>
                <c:pt idx="64">
                  <c:v>2.2726999999999999</c:v>
                </c:pt>
                <c:pt idx="65">
                  <c:v>2.2726999999999999</c:v>
                </c:pt>
                <c:pt idx="66">
                  <c:v>2.2726999999999999</c:v>
                </c:pt>
                <c:pt idx="67">
                  <c:v>2.2726999999999999</c:v>
                </c:pt>
                <c:pt idx="68">
                  <c:v>2.2726999999999999</c:v>
                </c:pt>
                <c:pt idx="69">
                  <c:v>2.2726999999999999</c:v>
                </c:pt>
                <c:pt idx="70">
                  <c:v>2.2726999999999999</c:v>
                </c:pt>
                <c:pt idx="71">
                  <c:v>2.2726999999999999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AE6-44D5-A749-E2F200339E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7539712"/>
        <c:axId val="177549696"/>
      </c:lineChart>
      <c:catAx>
        <c:axId val="1775397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>
            <a:solidFill>
              <a:schemeClr val="tx2">
                <a:lumMod val="75000"/>
              </a:schemeClr>
            </a:solidFill>
          </a:ln>
        </c:spPr>
        <c:txPr>
          <a:bodyPr rot="-5400000" vert="horz"/>
          <a:lstStyle/>
          <a:p>
            <a:pPr>
              <a:defRPr/>
            </a:pPr>
            <a:endParaRPr lang="es-AR"/>
          </a:p>
        </c:txPr>
        <c:crossAx val="177549696"/>
        <c:crosses val="autoZero"/>
        <c:auto val="1"/>
        <c:lblAlgn val="ctr"/>
        <c:lblOffset val="100"/>
        <c:noMultiLvlLbl val="0"/>
      </c:catAx>
      <c:valAx>
        <c:axId val="177549696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chemeClr val="tx2">
                <a:lumMod val="75000"/>
              </a:schemeClr>
            </a:solidFill>
          </a:ln>
        </c:spPr>
        <c:crossAx val="177539712"/>
        <c:crosses val="autoZero"/>
        <c:crossBetween val="between"/>
      </c:valAx>
      <c:spPr>
        <a:noFill/>
        <a:ln w="25400" cap="flat" cmpd="sng" algn="ctr">
          <a:noFill/>
          <a:prstDash val="solid"/>
        </a:ln>
        <a:effectLst/>
      </c:spPr>
    </c:plotArea>
    <c:legend>
      <c:legendPos val="b"/>
      <c:layout>
        <c:manualLayout>
          <c:xMode val="edge"/>
          <c:yMode val="edge"/>
          <c:x val="8.3942372607314474E-3"/>
          <c:y val="0.86937450564545538"/>
          <c:w val="0.99160578611884065"/>
          <c:h val="6.288177807561289E-2"/>
        </c:manualLayout>
      </c:layout>
      <c:overlay val="0"/>
    </c:legend>
    <c:plotVisOnly val="1"/>
    <c:dispBlanksAs val="gap"/>
    <c:showDLblsOverMax val="0"/>
  </c:chart>
  <c:spPr>
    <a:noFill/>
    <a:ln w="25400" cap="flat" cmpd="sng" algn="ctr">
      <a:noFill/>
      <a:prstDash val="solid"/>
    </a:ln>
    <a:effectLst/>
  </c:spPr>
  <c:txPr>
    <a:bodyPr/>
    <a:lstStyle/>
    <a:p>
      <a:pPr>
        <a:defRPr sz="1400">
          <a:solidFill>
            <a:schemeClr val="tx2">
              <a:lumMod val="75000"/>
            </a:schemeClr>
          </a:solidFill>
          <a:latin typeface="Abadi" panose="020B0604020104020204" pitchFamily="34" charset="0"/>
          <a:ea typeface="+mn-ea"/>
          <a:cs typeface="Times New Roman" pitchFamily="18" charset="0"/>
        </a:defRPr>
      </a:pPr>
      <a:endParaRPr lang="es-AR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15581402947035"/>
          <c:y val="4.7295078530519147E-2"/>
          <c:w val="0.85088291349473555"/>
          <c:h val="0.59525244647933351"/>
        </c:manualLayout>
      </c:layout>
      <c:lineChart>
        <c:grouping val="standard"/>
        <c:varyColors val="0"/>
        <c:ser>
          <c:idx val="3"/>
          <c:order val="0"/>
          <c:tx>
            <c:strRef>
              <c:f>'Cap. 6 Gráfico 1'!$E$1</c:f>
              <c:strCache>
                <c:ptCount val="1"/>
                <c:pt idx="0">
                  <c:v>Variación de Reservas</c:v>
                </c:pt>
              </c:strCache>
            </c:strRef>
          </c:tx>
          <c:spPr>
            <a:ln w="38100">
              <a:solidFill>
                <a:schemeClr val="tx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'Cap. 6 Gráfico 1'!$A$6:$A$11</c:f>
              <c:numCache>
                <c:formatCode>General</c:formatCode>
                <c:ptCount val="6"/>
                <c:pt idx="0">
                  <c:v>1929</c:v>
                </c:pt>
                <c:pt idx="1">
                  <c:v>1930</c:v>
                </c:pt>
                <c:pt idx="2">
                  <c:v>1931</c:v>
                </c:pt>
                <c:pt idx="3">
                  <c:v>1932</c:v>
                </c:pt>
                <c:pt idx="4">
                  <c:v>1933</c:v>
                </c:pt>
                <c:pt idx="5">
                  <c:v>1934</c:v>
                </c:pt>
              </c:numCache>
            </c:numRef>
          </c:cat>
          <c:val>
            <c:numRef>
              <c:f>'Cap. 6 Gráfico 1'!$E$6:$E$11</c:f>
              <c:numCache>
                <c:formatCode>#,##0.00\ \ </c:formatCode>
                <c:ptCount val="6"/>
                <c:pt idx="0">
                  <c:v>-294</c:v>
                </c:pt>
                <c:pt idx="1">
                  <c:v>-41.6</c:v>
                </c:pt>
                <c:pt idx="2">
                  <c:v>-279.89999999999998</c:v>
                </c:pt>
                <c:pt idx="3">
                  <c:v>-8.1999999999999993</c:v>
                </c:pt>
                <c:pt idx="4">
                  <c:v>-16.5</c:v>
                </c:pt>
                <c:pt idx="5">
                  <c:v>-1.5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60E-4399-BF05-D72F00B3A7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7561984"/>
        <c:axId val="177563520"/>
      </c:lineChart>
      <c:catAx>
        <c:axId val="1775619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>
            <a:solidFill>
              <a:schemeClr val="tx2">
                <a:lumMod val="75000"/>
              </a:schemeClr>
            </a:solidFill>
          </a:ln>
        </c:spPr>
        <c:txPr>
          <a:bodyPr rot="-5400000" vert="horz"/>
          <a:lstStyle/>
          <a:p>
            <a:pPr>
              <a:defRPr/>
            </a:pPr>
            <a:endParaRPr lang="es-AR"/>
          </a:p>
        </c:txPr>
        <c:crossAx val="177563520"/>
        <c:crosses val="autoZero"/>
        <c:auto val="1"/>
        <c:lblAlgn val="ctr"/>
        <c:lblOffset val="100"/>
        <c:tickLblSkip val="1"/>
        <c:noMultiLvlLbl val="0"/>
      </c:catAx>
      <c:valAx>
        <c:axId val="177563520"/>
        <c:scaling>
          <c:orientation val="minMax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chemeClr val="tx2">
                <a:lumMod val="75000"/>
              </a:schemeClr>
            </a:solidFill>
          </a:ln>
        </c:spPr>
        <c:crossAx val="177561984"/>
        <c:crosses val="autoZero"/>
        <c:crossBetween val="between"/>
      </c:valAx>
      <c:spPr>
        <a:noFill/>
        <a:ln w="25400" cap="flat" cmpd="sng" algn="ctr">
          <a:noFill/>
          <a:prstDash val="solid"/>
        </a:ln>
        <a:effectLst/>
      </c:spPr>
    </c:plotArea>
    <c:legend>
      <c:legendPos val="b"/>
      <c:layout>
        <c:manualLayout>
          <c:xMode val="edge"/>
          <c:yMode val="edge"/>
          <c:x val="0"/>
          <c:y val="0.83735701122466077"/>
          <c:w val="1"/>
          <c:h val="0.16264298877533956"/>
        </c:manualLayout>
      </c:layout>
      <c:overlay val="0"/>
    </c:legend>
    <c:plotVisOnly val="1"/>
    <c:dispBlanksAs val="gap"/>
    <c:showDLblsOverMax val="0"/>
  </c:chart>
  <c:spPr>
    <a:noFill/>
    <a:ln w="25400" cap="flat" cmpd="sng" algn="ctr">
      <a:noFill/>
      <a:prstDash val="solid"/>
    </a:ln>
    <a:effectLst/>
  </c:spPr>
  <c:txPr>
    <a:bodyPr/>
    <a:lstStyle/>
    <a:p>
      <a:pPr>
        <a:defRPr sz="1400">
          <a:solidFill>
            <a:schemeClr val="tx2">
              <a:lumMod val="75000"/>
            </a:schemeClr>
          </a:solidFill>
          <a:latin typeface="Abadi" panose="020B0604020104020204" pitchFamily="34" charset="0"/>
          <a:ea typeface="+mn-ea"/>
          <a:cs typeface="Times New Roman" pitchFamily="18" charset="0"/>
        </a:defRPr>
      </a:pPr>
      <a:endParaRPr lang="es-AR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0"/>
    <c:plotArea>
      <c:layout>
        <c:manualLayout>
          <c:layoutTarget val="inner"/>
          <c:xMode val="edge"/>
          <c:yMode val="edge"/>
          <c:x val="9.8571741032371027E-2"/>
          <c:y val="4.2174826233207327E-2"/>
          <c:w val="0.8854698162729655"/>
          <c:h val="0.47276233327976858"/>
        </c:manualLayout>
      </c:layout>
      <c:lineChart>
        <c:grouping val="standard"/>
        <c:varyColors val="0"/>
        <c:ser>
          <c:idx val="0"/>
          <c:order val="2"/>
          <c:tx>
            <c:strRef>
              <c:f>'Dep Bancos'!$C$1</c:f>
              <c:strCache>
                <c:ptCount val="1"/>
                <c:pt idx="0">
                  <c:v>Bco. de la Nación (BNA)</c:v>
                </c:pt>
              </c:strCache>
            </c:strRef>
          </c:tx>
          <c:spPr>
            <a:ln w="38100">
              <a:solidFill>
                <a:schemeClr val="tx2">
                  <a:lumMod val="60000"/>
                  <a:lumOff val="40000"/>
                </a:schemeClr>
              </a:solidFill>
            </a:ln>
          </c:spPr>
          <c:marker>
            <c:symbol val="none"/>
          </c:marker>
          <c:cat>
            <c:multiLvlStrRef>
              <c:f>'Dep Bancos'!$A$2:$B$73</c:f>
              <c:multiLvlStrCache>
                <c:ptCount val="72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  <c:pt idx="12">
                    <c:v>Ene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Abr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Ago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Dic</c:v>
                  </c:pt>
                  <c:pt idx="24">
                    <c:v>Ene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Abr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Ago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Dic</c:v>
                  </c:pt>
                  <c:pt idx="36">
                    <c:v>Ene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Abr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Ago</c:v>
                  </c:pt>
                  <c:pt idx="44">
                    <c:v>Sep</c:v>
                  </c:pt>
                  <c:pt idx="45">
                    <c:v>Oct</c:v>
                  </c:pt>
                  <c:pt idx="46">
                    <c:v>Nov</c:v>
                  </c:pt>
                  <c:pt idx="47">
                    <c:v>Dic</c:v>
                  </c:pt>
                  <c:pt idx="48">
                    <c:v>Ene</c:v>
                  </c:pt>
                  <c:pt idx="49">
                    <c:v>Feb</c:v>
                  </c:pt>
                  <c:pt idx="50">
                    <c:v>Mar</c:v>
                  </c:pt>
                  <c:pt idx="51">
                    <c:v>Abr</c:v>
                  </c:pt>
                  <c:pt idx="52">
                    <c:v>May</c:v>
                  </c:pt>
                  <c:pt idx="53">
                    <c:v>Jun</c:v>
                  </c:pt>
                  <c:pt idx="54">
                    <c:v>Jul</c:v>
                  </c:pt>
                  <c:pt idx="55">
                    <c:v>Ago</c:v>
                  </c:pt>
                  <c:pt idx="56">
                    <c:v>Sep</c:v>
                  </c:pt>
                  <c:pt idx="57">
                    <c:v>Oct</c:v>
                  </c:pt>
                  <c:pt idx="58">
                    <c:v>Nov</c:v>
                  </c:pt>
                  <c:pt idx="59">
                    <c:v>Dic</c:v>
                  </c:pt>
                  <c:pt idx="60">
                    <c:v>Ene</c:v>
                  </c:pt>
                  <c:pt idx="61">
                    <c:v>Feb</c:v>
                  </c:pt>
                  <c:pt idx="62">
                    <c:v>Mar</c:v>
                  </c:pt>
                  <c:pt idx="63">
                    <c:v>Abr</c:v>
                  </c:pt>
                  <c:pt idx="64">
                    <c:v>May</c:v>
                  </c:pt>
                  <c:pt idx="65">
                    <c:v>Jun</c:v>
                  </c:pt>
                  <c:pt idx="66">
                    <c:v>Jul</c:v>
                  </c:pt>
                  <c:pt idx="67">
                    <c:v>Ago</c:v>
                  </c:pt>
                  <c:pt idx="68">
                    <c:v>Sep</c:v>
                  </c:pt>
                  <c:pt idx="69">
                    <c:v>Oct</c:v>
                  </c:pt>
                  <c:pt idx="70">
                    <c:v>Nov</c:v>
                  </c:pt>
                  <c:pt idx="71">
                    <c:v>Dic</c:v>
                  </c:pt>
                </c:lvl>
                <c:lvl>
                  <c:pt idx="0">
                    <c:v>1929</c:v>
                  </c:pt>
                  <c:pt idx="12">
                    <c:v>1930</c:v>
                  </c:pt>
                  <c:pt idx="24">
                    <c:v>1931</c:v>
                  </c:pt>
                  <c:pt idx="36">
                    <c:v>1932</c:v>
                  </c:pt>
                  <c:pt idx="48">
                    <c:v>1933</c:v>
                  </c:pt>
                  <c:pt idx="60">
                    <c:v>1934</c:v>
                  </c:pt>
                </c:lvl>
              </c:multiLvlStrCache>
            </c:multiLvlStrRef>
          </c:cat>
          <c:val>
            <c:numRef>
              <c:f>'Dep Bancos'!$C$2:$C$73</c:f>
              <c:numCache>
                <c:formatCode>General</c:formatCode>
                <c:ptCount val="72"/>
                <c:pt idx="0">
                  <c:v>282.92</c:v>
                </c:pt>
                <c:pt idx="1">
                  <c:v>283.6832</c:v>
                </c:pt>
                <c:pt idx="2">
                  <c:v>280.82400000000001</c:v>
                </c:pt>
                <c:pt idx="3">
                  <c:v>280.93919999999997</c:v>
                </c:pt>
                <c:pt idx="4">
                  <c:v>274.42857142857139</c:v>
                </c:pt>
                <c:pt idx="5">
                  <c:v>255.98115942028983</c:v>
                </c:pt>
                <c:pt idx="6">
                  <c:v>246.98285714285717</c:v>
                </c:pt>
                <c:pt idx="7">
                  <c:v>247.04999999999998</c:v>
                </c:pt>
                <c:pt idx="8">
                  <c:v>239.96760563380283</c:v>
                </c:pt>
                <c:pt idx="9">
                  <c:v>228.17567567567568</c:v>
                </c:pt>
                <c:pt idx="10">
                  <c:v>216.63612903225808</c:v>
                </c:pt>
                <c:pt idx="11">
                  <c:v>214.85290322580644</c:v>
                </c:pt>
                <c:pt idx="12">
                  <c:v>215.27202072538861</c:v>
                </c:pt>
                <c:pt idx="13">
                  <c:v>232.35694822888283</c:v>
                </c:pt>
                <c:pt idx="14">
                  <c:v>224.94623655913975</c:v>
                </c:pt>
                <c:pt idx="15">
                  <c:v>239.1197691197691</c:v>
                </c:pt>
                <c:pt idx="16">
                  <c:v>242.71555555555554</c:v>
                </c:pt>
                <c:pt idx="17">
                  <c:v>247.00598802395211</c:v>
                </c:pt>
                <c:pt idx="18">
                  <c:v>217.8740157480315</c:v>
                </c:pt>
                <c:pt idx="19">
                  <c:v>250.5287009063444</c:v>
                </c:pt>
                <c:pt idx="20">
                  <c:v>256.11197511664074</c:v>
                </c:pt>
                <c:pt idx="21">
                  <c:v>248.96183206106872</c:v>
                </c:pt>
                <c:pt idx="22">
                  <c:v>251.25757575757575</c:v>
                </c:pt>
                <c:pt idx="23">
                  <c:v>250.24169184290028</c:v>
                </c:pt>
                <c:pt idx="24">
                  <c:v>241.76119402985074</c:v>
                </c:pt>
                <c:pt idx="25">
                  <c:v>240.13473053892216</c:v>
                </c:pt>
                <c:pt idx="26">
                  <c:v>236.61676646706587</c:v>
                </c:pt>
                <c:pt idx="27">
                  <c:v>219.53867028493895</c:v>
                </c:pt>
                <c:pt idx="28">
                  <c:v>201.66454891994917</c:v>
                </c:pt>
                <c:pt idx="29">
                  <c:v>206.91612903225806</c:v>
                </c:pt>
                <c:pt idx="30">
                  <c:v>213.04827586206895</c:v>
                </c:pt>
                <c:pt idx="31">
                  <c:v>207.47586206896551</c:v>
                </c:pt>
                <c:pt idx="32">
                  <c:v>207.72413793103448</c:v>
                </c:pt>
                <c:pt idx="33">
                  <c:v>207.33793103448278</c:v>
                </c:pt>
                <c:pt idx="34">
                  <c:v>204.4</c:v>
                </c:pt>
                <c:pt idx="35">
                  <c:v>200.89655172413794</c:v>
                </c:pt>
                <c:pt idx="36">
                  <c:v>200.35862068965517</c:v>
                </c:pt>
                <c:pt idx="37">
                  <c:v>201.22758620689658</c:v>
                </c:pt>
                <c:pt idx="38">
                  <c:v>203.35172413793103</c:v>
                </c:pt>
                <c:pt idx="39">
                  <c:v>201.94482758620688</c:v>
                </c:pt>
                <c:pt idx="40">
                  <c:v>208.23448275862069</c:v>
                </c:pt>
                <c:pt idx="41">
                  <c:v>223.26896551724138</c:v>
                </c:pt>
                <c:pt idx="42">
                  <c:v>219.95862068965519</c:v>
                </c:pt>
                <c:pt idx="43">
                  <c:v>221.09090909090907</c:v>
                </c:pt>
                <c:pt idx="44">
                  <c:v>228.38427947598254</c:v>
                </c:pt>
                <c:pt idx="45">
                  <c:v>220.59829059829059</c:v>
                </c:pt>
                <c:pt idx="46">
                  <c:v>224.84716157205241</c:v>
                </c:pt>
                <c:pt idx="47">
                  <c:v>224.20658682634732</c:v>
                </c:pt>
                <c:pt idx="48">
                  <c:v>230.93514328808445</c:v>
                </c:pt>
                <c:pt idx="49">
                  <c:v>232.30769230769232</c:v>
                </c:pt>
                <c:pt idx="50">
                  <c:v>251.61764705882354</c:v>
                </c:pt>
                <c:pt idx="51">
                  <c:v>249.59150326797385</c:v>
                </c:pt>
                <c:pt idx="52">
                  <c:v>252.66339869281043</c:v>
                </c:pt>
                <c:pt idx="53">
                  <c:v>255.39215686274508</c:v>
                </c:pt>
                <c:pt idx="54">
                  <c:v>253.56209150326796</c:v>
                </c:pt>
                <c:pt idx="55">
                  <c:v>256.07843137254901</c:v>
                </c:pt>
                <c:pt idx="56">
                  <c:v>263.83561643835617</c:v>
                </c:pt>
                <c:pt idx="57">
                  <c:v>283.21739130434781</c:v>
                </c:pt>
                <c:pt idx="58">
                  <c:v>281.75652173913039</c:v>
                </c:pt>
                <c:pt idx="59">
                  <c:v>274.41739130434786</c:v>
                </c:pt>
                <c:pt idx="60">
                  <c:v>275.21739130434781</c:v>
                </c:pt>
                <c:pt idx="61">
                  <c:v>271.49565217391302</c:v>
                </c:pt>
                <c:pt idx="62">
                  <c:v>284.45454545454544</c:v>
                </c:pt>
                <c:pt idx="63">
                  <c:v>283.96363636363634</c:v>
                </c:pt>
                <c:pt idx="64">
                  <c:v>286.10909090909087</c:v>
                </c:pt>
                <c:pt idx="65">
                  <c:v>289.76363636363635</c:v>
                </c:pt>
                <c:pt idx="66">
                  <c:v>291.30909090909091</c:v>
                </c:pt>
                <c:pt idx="67">
                  <c:v>289.34545454545457</c:v>
                </c:pt>
                <c:pt idx="68">
                  <c:v>285.72727272727275</c:v>
                </c:pt>
                <c:pt idx="69">
                  <c:v>285.54545454545456</c:v>
                </c:pt>
                <c:pt idx="70">
                  <c:v>287.67272727272729</c:v>
                </c:pt>
                <c:pt idx="71">
                  <c:v>284.58181818181816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60E-470A-9277-57C8D415945B}"/>
            </c:ext>
          </c:extLst>
        </c:ser>
        <c:ser>
          <c:idx val="2"/>
          <c:order val="3"/>
          <c:tx>
            <c:strRef>
              <c:f>'Dep Bancos'!$E$1</c:f>
              <c:strCache>
                <c:ptCount val="1"/>
                <c:pt idx="0">
                  <c:v>Tend. BNA</c:v>
                </c:pt>
              </c:strCache>
            </c:strRef>
          </c:tx>
          <c:spPr>
            <a:ln w="19050">
              <a:solidFill>
                <a:schemeClr val="tx2">
                  <a:lumMod val="60000"/>
                  <a:lumOff val="40000"/>
                </a:schemeClr>
              </a:solidFill>
              <a:prstDash val="sysDash"/>
            </a:ln>
          </c:spPr>
          <c:marker>
            <c:symbol val="none"/>
          </c:marker>
          <c:cat>
            <c:multiLvlStrRef>
              <c:f>'Dep Bancos'!$A$2:$B$73</c:f>
              <c:multiLvlStrCache>
                <c:ptCount val="72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  <c:pt idx="12">
                    <c:v>Ene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Abr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Ago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Dic</c:v>
                  </c:pt>
                  <c:pt idx="24">
                    <c:v>Ene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Abr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Ago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Dic</c:v>
                  </c:pt>
                  <c:pt idx="36">
                    <c:v>Ene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Abr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Ago</c:v>
                  </c:pt>
                  <c:pt idx="44">
                    <c:v>Sep</c:v>
                  </c:pt>
                  <c:pt idx="45">
                    <c:v>Oct</c:v>
                  </c:pt>
                  <c:pt idx="46">
                    <c:v>Nov</c:v>
                  </c:pt>
                  <c:pt idx="47">
                    <c:v>Dic</c:v>
                  </c:pt>
                  <c:pt idx="48">
                    <c:v>Ene</c:v>
                  </c:pt>
                  <c:pt idx="49">
                    <c:v>Feb</c:v>
                  </c:pt>
                  <c:pt idx="50">
                    <c:v>Mar</c:v>
                  </c:pt>
                  <c:pt idx="51">
                    <c:v>Abr</c:v>
                  </c:pt>
                  <c:pt idx="52">
                    <c:v>May</c:v>
                  </c:pt>
                  <c:pt idx="53">
                    <c:v>Jun</c:v>
                  </c:pt>
                  <c:pt idx="54">
                    <c:v>Jul</c:v>
                  </c:pt>
                  <c:pt idx="55">
                    <c:v>Ago</c:v>
                  </c:pt>
                  <c:pt idx="56">
                    <c:v>Sep</c:v>
                  </c:pt>
                  <c:pt idx="57">
                    <c:v>Oct</c:v>
                  </c:pt>
                  <c:pt idx="58">
                    <c:v>Nov</c:v>
                  </c:pt>
                  <c:pt idx="59">
                    <c:v>Dic</c:v>
                  </c:pt>
                  <c:pt idx="60">
                    <c:v>Ene</c:v>
                  </c:pt>
                  <c:pt idx="61">
                    <c:v>Feb</c:v>
                  </c:pt>
                  <c:pt idx="62">
                    <c:v>Mar</c:v>
                  </c:pt>
                  <c:pt idx="63">
                    <c:v>Abr</c:v>
                  </c:pt>
                  <c:pt idx="64">
                    <c:v>May</c:v>
                  </c:pt>
                  <c:pt idx="65">
                    <c:v>Jun</c:v>
                  </c:pt>
                  <c:pt idx="66">
                    <c:v>Jul</c:v>
                  </c:pt>
                  <c:pt idx="67">
                    <c:v>Ago</c:v>
                  </c:pt>
                  <c:pt idx="68">
                    <c:v>Sep</c:v>
                  </c:pt>
                  <c:pt idx="69">
                    <c:v>Oct</c:v>
                  </c:pt>
                  <c:pt idx="70">
                    <c:v>Nov</c:v>
                  </c:pt>
                  <c:pt idx="71">
                    <c:v>Dic</c:v>
                  </c:pt>
                </c:lvl>
                <c:lvl>
                  <c:pt idx="0">
                    <c:v>1929</c:v>
                  </c:pt>
                  <c:pt idx="12">
                    <c:v>1930</c:v>
                  </c:pt>
                  <c:pt idx="24">
                    <c:v>1931</c:v>
                  </c:pt>
                  <c:pt idx="36">
                    <c:v>1932</c:v>
                  </c:pt>
                  <c:pt idx="48">
                    <c:v>1933</c:v>
                  </c:pt>
                  <c:pt idx="60">
                    <c:v>1934</c:v>
                  </c:pt>
                </c:lvl>
              </c:multiLvlStrCache>
            </c:multiLvlStrRef>
          </c:cat>
          <c:val>
            <c:numRef>
              <c:f>'Dep Bancos'!$E$2:$E$73</c:f>
              <c:numCache>
                <c:formatCode>General</c:formatCode>
                <c:ptCount val="72"/>
                <c:pt idx="0">
                  <c:v>244.1002780602</c:v>
                </c:pt>
                <c:pt idx="1">
                  <c:v>244.51293863870001</c:v>
                </c:pt>
                <c:pt idx="2">
                  <c:v>244.91612067649999</c:v>
                </c:pt>
                <c:pt idx="3">
                  <c:v>245.30975368290001</c:v>
                </c:pt>
                <c:pt idx="4">
                  <c:v>245.69376716709999</c:v>
                </c:pt>
                <c:pt idx="5">
                  <c:v>246.06809063829999</c:v>
                </c:pt>
                <c:pt idx="6">
                  <c:v>246.43265360570001</c:v>
                </c:pt>
                <c:pt idx="7">
                  <c:v>246.78738557860001</c:v>
                </c:pt>
                <c:pt idx="8">
                  <c:v>247.13221606619999</c:v>
                </c:pt>
                <c:pt idx="9">
                  <c:v>247.4670745777</c:v>
                </c:pt>
                <c:pt idx="10">
                  <c:v>247.79189062250001</c:v>
                </c:pt>
                <c:pt idx="11">
                  <c:v>248.10659370959999</c:v>
                </c:pt>
                <c:pt idx="12">
                  <c:v>248.41111334830001</c:v>
                </c:pt>
                <c:pt idx="13">
                  <c:v>248.70537904790001</c:v>
                </c:pt>
                <c:pt idx="14">
                  <c:v>248.9893203176</c:v>
                </c:pt>
                <c:pt idx="15">
                  <c:v>249.26286666670001</c:v>
                </c:pt>
                <c:pt idx="16">
                  <c:v>249.5259476043</c:v>
                </c:pt>
                <c:pt idx="17">
                  <c:v>249.7784926397</c:v>
                </c:pt>
                <c:pt idx="18">
                  <c:v>250.02043128209999</c:v>
                </c:pt>
                <c:pt idx="19">
                  <c:v>250.25169304069999</c:v>
                </c:pt>
                <c:pt idx="20">
                  <c:v>250.47220742490001</c:v>
                </c:pt>
                <c:pt idx="21">
                  <c:v>250.68190394379999</c:v>
                </c:pt>
                <c:pt idx="22">
                  <c:v>250.88071210659999</c:v>
                </c:pt>
                <c:pt idx="23">
                  <c:v>251.0685614226</c:v>
                </c:pt>
                <c:pt idx="24">
                  <c:v>251.24538140109999</c:v>
                </c:pt>
                <c:pt idx="25">
                  <c:v>251.41110155109999</c:v>
                </c:pt>
                <c:pt idx="26">
                  <c:v>251.56565138209999</c:v>
                </c:pt>
                <c:pt idx="27">
                  <c:v>251.7089604032</c:v>
                </c:pt>
                <c:pt idx="28">
                  <c:v>251.84095812359999</c:v>
                </c:pt>
                <c:pt idx="29">
                  <c:v>251.96157405260001</c:v>
                </c:pt>
                <c:pt idx="30">
                  <c:v>252.07073769940001</c:v>
                </c:pt>
                <c:pt idx="31">
                  <c:v>252.16837857319999</c:v>
                </c:pt>
                <c:pt idx="32">
                  <c:v>252.25442618330001</c:v>
                </c:pt>
                <c:pt idx="33">
                  <c:v>252.3288100389</c:v>
                </c:pt>
                <c:pt idx="34">
                  <c:v>252.39145964919999</c:v>
                </c:pt>
                <c:pt idx="35">
                  <c:v>252.4423045236</c:v>
                </c:pt>
                <c:pt idx="36">
                  <c:v>252.48127417110001</c:v>
                </c:pt>
                <c:pt idx="37">
                  <c:v>252.50829810100001</c:v>
                </c:pt>
                <c:pt idx="38">
                  <c:v>252.52330582260001</c:v>
                </c:pt>
                <c:pt idx="39">
                  <c:v>252.52622684510001</c:v>
                </c:pt>
                <c:pt idx="40">
                  <c:v>252.51699067769999</c:v>
                </c:pt>
                <c:pt idx="41">
                  <c:v>252.4955268297</c:v>
                </c:pt>
                <c:pt idx="42">
                  <c:v>252.46176481020001</c:v>
                </c:pt>
                <c:pt idx="43">
                  <c:v>252.4156341286</c:v>
                </c:pt>
                <c:pt idx="44">
                  <c:v>252.357064294</c:v>
                </c:pt>
                <c:pt idx="45">
                  <c:v>252.28598481579999</c:v>
                </c:pt>
                <c:pt idx="46">
                  <c:v>252.20232520299999</c:v>
                </c:pt>
                <c:pt idx="47">
                  <c:v>252.10601496500001</c:v>
                </c:pt>
                <c:pt idx="48">
                  <c:v>251.9969836109</c:v>
                </c:pt>
                <c:pt idx="49">
                  <c:v>251.87516065010001</c:v>
                </c:pt>
                <c:pt idx="50">
                  <c:v>251.7404755917</c:v>
                </c:pt>
                <c:pt idx="51">
                  <c:v>251.59285794499999</c:v>
                </c:pt>
                <c:pt idx="52">
                  <c:v>251.4322372192</c:v>
                </c:pt>
                <c:pt idx="53">
                  <c:v>251.2585429236</c:v>
                </c:pt>
                <c:pt idx="54">
                  <c:v>251.0717045673</c:v>
                </c:pt>
                <c:pt idx="55">
                  <c:v>250.87165165959999</c:v>
                </c:pt>
                <c:pt idx="56">
                  <c:v>250.65831370980001</c:v>
                </c:pt>
                <c:pt idx="57">
                  <c:v>250.431620227</c:v>
                </c:pt>
                <c:pt idx="58">
                  <c:v>250.19150072049999</c:v>
                </c:pt>
                <c:pt idx="59">
                  <c:v>249.93788469949999</c:v>
                </c:pt>
                <c:pt idx="60">
                  <c:v>249.6707016734</c:v>
                </c:pt>
                <c:pt idx="61">
                  <c:v>249.3898811512</c:v>
                </c:pt>
                <c:pt idx="62">
                  <c:v>249.0953526422</c:v>
                </c:pt>
                <c:pt idx="63">
                  <c:v>248.78704565570001</c:v>
                </c:pt>
                <c:pt idx="64">
                  <c:v>248.46488970089999</c:v>
                </c:pt>
                <c:pt idx="65">
                  <c:v>248.12881428700001</c:v>
                </c:pt>
                <c:pt idx="66">
                  <c:v>247.7787489232</c:v>
                </c:pt>
                <c:pt idx="67">
                  <c:v>247.41462311890001</c:v>
                </c:pt>
                <c:pt idx="68">
                  <c:v>247.03636638309999</c:v>
                </c:pt>
                <c:pt idx="69">
                  <c:v>246.64390822519999</c:v>
                </c:pt>
                <c:pt idx="70">
                  <c:v>246.2371781544</c:v>
                </c:pt>
                <c:pt idx="71">
                  <c:v>245.81610567990001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60E-470A-9277-57C8D415945B}"/>
            </c:ext>
          </c:extLst>
        </c:ser>
        <c:ser>
          <c:idx val="1"/>
          <c:order val="0"/>
          <c:tx>
            <c:strRef>
              <c:f>'Dep Bancos'!$D$1</c:f>
              <c:strCache>
                <c:ptCount val="1"/>
                <c:pt idx="0">
                  <c:v>resto de los Bcos. (RdeB)</c:v>
                </c:pt>
              </c:strCache>
            </c:strRef>
          </c:tx>
          <c:spPr>
            <a:ln w="38100">
              <a:solidFill>
                <a:schemeClr val="tx2">
                  <a:lumMod val="50000"/>
                </a:schemeClr>
              </a:solidFill>
            </a:ln>
          </c:spPr>
          <c:marker>
            <c:symbol val="none"/>
          </c:marker>
          <c:cat>
            <c:multiLvlStrRef>
              <c:f>'Dep Bancos'!$A$2:$B$73</c:f>
              <c:multiLvlStrCache>
                <c:ptCount val="72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  <c:pt idx="12">
                    <c:v>Ene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Abr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Ago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Dic</c:v>
                  </c:pt>
                  <c:pt idx="24">
                    <c:v>Ene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Abr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Ago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Dic</c:v>
                  </c:pt>
                  <c:pt idx="36">
                    <c:v>Ene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Abr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Ago</c:v>
                  </c:pt>
                  <c:pt idx="44">
                    <c:v>Sep</c:v>
                  </c:pt>
                  <c:pt idx="45">
                    <c:v>Oct</c:v>
                  </c:pt>
                  <c:pt idx="46">
                    <c:v>Nov</c:v>
                  </c:pt>
                  <c:pt idx="47">
                    <c:v>Dic</c:v>
                  </c:pt>
                  <c:pt idx="48">
                    <c:v>Ene</c:v>
                  </c:pt>
                  <c:pt idx="49">
                    <c:v>Feb</c:v>
                  </c:pt>
                  <c:pt idx="50">
                    <c:v>Mar</c:v>
                  </c:pt>
                  <c:pt idx="51">
                    <c:v>Abr</c:v>
                  </c:pt>
                  <c:pt idx="52">
                    <c:v>May</c:v>
                  </c:pt>
                  <c:pt idx="53">
                    <c:v>Jun</c:v>
                  </c:pt>
                  <c:pt idx="54">
                    <c:v>Jul</c:v>
                  </c:pt>
                  <c:pt idx="55">
                    <c:v>Ago</c:v>
                  </c:pt>
                  <c:pt idx="56">
                    <c:v>Sep</c:v>
                  </c:pt>
                  <c:pt idx="57">
                    <c:v>Oct</c:v>
                  </c:pt>
                  <c:pt idx="58">
                    <c:v>Nov</c:v>
                  </c:pt>
                  <c:pt idx="59">
                    <c:v>Dic</c:v>
                  </c:pt>
                  <c:pt idx="60">
                    <c:v>Ene</c:v>
                  </c:pt>
                  <c:pt idx="61">
                    <c:v>Feb</c:v>
                  </c:pt>
                  <c:pt idx="62">
                    <c:v>Mar</c:v>
                  </c:pt>
                  <c:pt idx="63">
                    <c:v>Abr</c:v>
                  </c:pt>
                  <c:pt idx="64">
                    <c:v>May</c:v>
                  </c:pt>
                  <c:pt idx="65">
                    <c:v>Jun</c:v>
                  </c:pt>
                  <c:pt idx="66">
                    <c:v>Jul</c:v>
                  </c:pt>
                  <c:pt idx="67">
                    <c:v>Ago</c:v>
                  </c:pt>
                  <c:pt idx="68">
                    <c:v>Sep</c:v>
                  </c:pt>
                  <c:pt idx="69">
                    <c:v>Oct</c:v>
                  </c:pt>
                  <c:pt idx="70">
                    <c:v>Nov</c:v>
                  </c:pt>
                  <c:pt idx="71">
                    <c:v>Dic</c:v>
                  </c:pt>
                </c:lvl>
                <c:lvl>
                  <c:pt idx="0">
                    <c:v>1929</c:v>
                  </c:pt>
                  <c:pt idx="12">
                    <c:v>1930</c:v>
                  </c:pt>
                  <c:pt idx="24">
                    <c:v>1931</c:v>
                  </c:pt>
                  <c:pt idx="36">
                    <c:v>1932</c:v>
                  </c:pt>
                  <c:pt idx="48">
                    <c:v>1933</c:v>
                  </c:pt>
                  <c:pt idx="60">
                    <c:v>1934</c:v>
                  </c:pt>
                </c:lvl>
              </c:multiLvlStrCache>
            </c:multiLvlStrRef>
          </c:cat>
          <c:val>
            <c:numRef>
              <c:f>'Dep Bancos'!$D$2:$D$73</c:f>
              <c:numCache>
                <c:formatCode>General</c:formatCode>
                <c:ptCount val="72"/>
                <c:pt idx="0">
                  <c:v>370.21120000000002</c:v>
                </c:pt>
                <c:pt idx="1">
                  <c:v>367.7296</c:v>
                </c:pt>
                <c:pt idx="2">
                  <c:v>330.12639999999999</c:v>
                </c:pt>
                <c:pt idx="3">
                  <c:v>369.45920000000001</c:v>
                </c:pt>
                <c:pt idx="4">
                  <c:v>360.9026687598116</c:v>
                </c:pt>
                <c:pt idx="5">
                  <c:v>334.26376811594201</c:v>
                </c:pt>
                <c:pt idx="6">
                  <c:v>327.07571428571424</c:v>
                </c:pt>
                <c:pt idx="7">
                  <c:v>328.25857142857143</c:v>
                </c:pt>
                <c:pt idx="8">
                  <c:v>324.84084507042252</c:v>
                </c:pt>
                <c:pt idx="9">
                  <c:v>307.73243243243246</c:v>
                </c:pt>
                <c:pt idx="10">
                  <c:v>290.21419354838707</c:v>
                </c:pt>
                <c:pt idx="11">
                  <c:v>291.67612903225802</c:v>
                </c:pt>
                <c:pt idx="12">
                  <c:v>295.17746113989637</c:v>
                </c:pt>
                <c:pt idx="13">
                  <c:v>310.19618528610357</c:v>
                </c:pt>
                <c:pt idx="14">
                  <c:v>309.15994623655911</c:v>
                </c:pt>
                <c:pt idx="15">
                  <c:v>329.23520923520925</c:v>
                </c:pt>
                <c:pt idx="16">
                  <c:v>337.5911111111111</c:v>
                </c:pt>
                <c:pt idx="17">
                  <c:v>345.23952095808392</c:v>
                </c:pt>
                <c:pt idx="18">
                  <c:v>300.25459317585302</c:v>
                </c:pt>
                <c:pt idx="19">
                  <c:v>352.30211480362533</c:v>
                </c:pt>
                <c:pt idx="20">
                  <c:v>362.78227060653188</c:v>
                </c:pt>
                <c:pt idx="21">
                  <c:v>355.80763358778626</c:v>
                </c:pt>
                <c:pt idx="22">
                  <c:v>355.39696969696968</c:v>
                </c:pt>
                <c:pt idx="23">
                  <c:v>359.63746223564959</c:v>
                </c:pt>
                <c:pt idx="24">
                  <c:v>354.4298507462687</c:v>
                </c:pt>
                <c:pt idx="25">
                  <c:v>354.70658682634735</c:v>
                </c:pt>
                <c:pt idx="26">
                  <c:v>346.98802395209583</c:v>
                </c:pt>
                <c:pt idx="27">
                  <c:v>307.31614654002715</c:v>
                </c:pt>
                <c:pt idx="28">
                  <c:v>285.19695044472678</c:v>
                </c:pt>
                <c:pt idx="29">
                  <c:v>290.38838709677424</c:v>
                </c:pt>
                <c:pt idx="30">
                  <c:v>304.48965517241379</c:v>
                </c:pt>
                <c:pt idx="31">
                  <c:v>304.4441379310345</c:v>
                </c:pt>
                <c:pt idx="32">
                  <c:v>302.94344827586207</c:v>
                </c:pt>
                <c:pt idx="33">
                  <c:v>296.86896551724141</c:v>
                </c:pt>
                <c:pt idx="34">
                  <c:v>294.32275862068968</c:v>
                </c:pt>
                <c:pt idx="35">
                  <c:v>294.26758620689657</c:v>
                </c:pt>
                <c:pt idx="36">
                  <c:v>293.48965517241379</c:v>
                </c:pt>
                <c:pt idx="37">
                  <c:v>292.52413793103449</c:v>
                </c:pt>
                <c:pt idx="38">
                  <c:v>292.54620689655172</c:v>
                </c:pt>
                <c:pt idx="39">
                  <c:v>288.92965517241379</c:v>
                </c:pt>
                <c:pt idx="40">
                  <c:v>286.67034482758623</c:v>
                </c:pt>
                <c:pt idx="41">
                  <c:v>270.38896551724139</c:v>
                </c:pt>
                <c:pt idx="42">
                  <c:v>283.59862068965521</c:v>
                </c:pt>
                <c:pt idx="43">
                  <c:v>288.8</c:v>
                </c:pt>
                <c:pt idx="44">
                  <c:v>299.99417758369725</c:v>
                </c:pt>
                <c:pt idx="45">
                  <c:v>294.10683760683764</c:v>
                </c:pt>
                <c:pt idx="46">
                  <c:v>301.28238719068412</c:v>
                </c:pt>
                <c:pt idx="47">
                  <c:v>312.64371257485033</c:v>
                </c:pt>
                <c:pt idx="48">
                  <c:v>314.63499245852182</c:v>
                </c:pt>
                <c:pt idx="49">
                  <c:v>322.8276923076923</c:v>
                </c:pt>
                <c:pt idx="50">
                  <c:v>339.0849673202614</c:v>
                </c:pt>
                <c:pt idx="51">
                  <c:v>339.61928104575162</c:v>
                </c:pt>
                <c:pt idx="52">
                  <c:v>337.61437908496731</c:v>
                </c:pt>
                <c:pt idx="53">
                  <c:v>339.10130718954252</c:v>
                </c:pt>
                <c:pt idx="54">
                  <c:v>336.05882352941182</c:v>
                </c:pt>
                <c:pt idx="55">
                  <c:v>337.87908496732018</c:v>
                </c:pt>
                <c:pt idx="56">
                  <c:v>354.72602739726028</c:v>
                </c:pt>
                <c:pt idx="57">
                  <c:v>342.26086956521738</c:v>
                </c:pt>
                <c:pt idx="58">
                  <c:v>343.33913043478259</c:v>
                </c:pt>
                <c:pt idx="59">
                  <c:v>348.5130434782609</c:v>
                </c:pt>
                <c:pt idx="60">
                  <c:v>351.20173913043476</c:v>
                </c:pt>
                <c:pt idx="61">
                  <c:v>353.23652173913047</c:v>
                </c:pt>
                <c:pt idx="62">
                  <c:v>365.95090909090908</c:v>
                </c:pt>
                <c:pt idx="63">
                  <c:v>364.08545454545452</c:v>
                </c:pt>
                <c:pt idx="64">
                  <c:v>363.71454545454543</c:v>
                </c:pt>
                <c:pt idx="65">
                  <c:v>364.27636363636361</c:v>
                </c:pt>
                <c:pt idx="66">
                  <c:v>358.98363636363638</c:v>
                </c:pt>
                <c:pt idx="67">
                  <c:v>359.75636363636363</c:v>
                </c:pt>
                <c:pt idx="68">
                  <c:v>357.24727272727273</c:v>
                </c:pt>
                <c:pt idx="69">
                  <c:v>351.91636363636366</c:v>
                </c:pt>
                <c:pt idx="70">
                  <c:v>348.33454545454543</c:v>
                </c:pt>
                <c:pt idx="71">
                  <c:v>353.43454545454546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60E-470A-9277-57C8D415945B}"/>
            </c:ext>
          </c:extLst>
        </c:ser>
        <c:ser>
          <c:idx val="3"/>
          <c:order val="1"/>
          <c:tx>
            <c:strRef>
              <c:f>'Dep Bancos'!$F$1</c:f>
              <c:strCache>
                <c:ptCount val="1"/>
                <c:pt idx="0">
                  <c:v>Tend. RdeB</c:v>
                </c:pt>
              </c:strCache>
            </c:strRef>
          </c:tx>
          <c:spPr>
            <a:ln w="19050" cmpd="sng">
              <a:solidFill>
                <a:schemeClr val="tx2">
                  <a:lumMod val="50000"/>
                </a:schemeClr>
              </a:solidFill>
              <a:prstDash val="sysDash"/>
            </a:ln>
          </c:spPr>
          <c:marker>
            <c:symbol val="none"/>
          </c:marker>
          <c:cat>
            <c:multiLvlStrRef>
              <c:f>'Dep Bancos'!$A$2:$B$73</c:f>
              <c:multiLvlStrCache>
                <c:ptCount val="72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Dic</c:v>
                  </c:pt>
                  <c:pt idx="12">
                    <c:v>Ene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Abr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Ago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Dic</c:v>
                  </c:pt>
                  <c:pt idx="24">
                    <c:v>Ene</c:v>
                  </c:pt>
                  <c:pt idx="25">
                    <c:v>Feb</c:v>
                  </c:pt>
                  <c:pt idx="26">
                    <c:v>Mar</c:v>
                  </c:pt>
                  <c:pt idx="27">
                    <c:v>Abr</c:v>
                  </c:pt>
                  <c:pt idx="28">
                    <c:v>May</c:v>
                  </c:pt>
                  <c:pt idx="29">
                    <c:v>Jun</c:v>
                  </c:pt>
                  <c:pt idx="30">
                    <c:v>Jul</c:v>
                  </c:pt>
                  <c:pt idx="31">
                    <c:v>Ago</c:v>
                  </c:pt>
                  <c:pt idx="32">
                    <c:v>Sep</c:v>
                  </c:pt>
                  <c:pt idx="33">
                    <c:v>Oct</c:v>
                  </c:pt>
                  <c:pt idx="34">
                    <c:v>Nov</c:v>
                  </c:pt>
                  <c:pt idx="35">
                    <c:v>Dic</c:v>
                  </c:pt>
                  <c:pt idx="36">
                    <c:v>Ene</c:v>
                  </c:pt>
                  <c:pt idx="37">
                    <c:v>Feb</c:v>
                  </c:pt>
                  <c:pt idx="38">
                    <c:v>Mar</c:v>
                  </c:pt>
                  <c:pt idx="39">
                    <c:v>Abr</c:v>
                  </c:pt>
                  <c:pt idx="40">
                    <c:v>May</c:v>
                  </c:pt>
                  <c:pt idx="41">
                    <c:v>Jun</c:v>
                  </c:pt>
                  <c:pt idx="42">
                    <c:v>Jul</c:v>
                  </c:pt>
                  <c:pt idx="43">
                    <c:v>Ago</c:v>
                  </c:pt>
                  <c:pt idx="44">
                    <c:v>Sep</c:v>
                  </c:pt>
                  <c:pt idx="45">
                    <c:v>Oct</c:v>
                  </c:pt>
                  <c:pt idx="46">
                    <c:v>Nov</c:v>
                  </c:pt>
                  <c:pt idx="47">
                    <c:v>Dic</c:v>
                  </c:pt>
                  <c:pt idx="48">
                    <c:v>Ene</c:v>
                  </c:pt>
                  <c:pt idx="49">
                    <c:v>Feb</c:v>
                  </c:pt>
                  <c:pt idx="50">
                    <c:v>Mar</c:v>
                  </c:pt>
                  <c:pt idx="51">
                    <c:v>Abr</c:v>
                  </c:pt>
                  <c:pt idx="52">
                    <c:v>May</c:v>
                  </c:pt>
                  <c:pt idx="53">
                    <c:v>Jun</c:v>
                  </c:pt>
                  <c:pt idx="54">
                    <c:v>Jul</c:v>
                  </c:pt>
                  <c:pt idx="55">
                    <c:v>Ago</c:v>
                  </c:pt>
                  <c:pt idx="56">
                    <c:v>Sep</c:v>
                  </c:pt>
                  <c:pt idx="57">
                    <c:v>Oct</c:v>
                  </c:pt>
                  <c:pt idx="58">
                    <c:v>Nov</c:v>
                  </c:pt>
                  <c:pt idx="59">
                    <c:v>Dic</c:v>
                  </c:pt>
                  <c:pt idx="60">
                    <c:v>Ene</c:v>
                  </c:pt>
                  <c:pt idx="61">
                    <c:v>Feb</c:v>
                  </c:pt>
                  <c:pt idx="62">
                    <c:v>Mar</c:v>
                  </c:pt>
                  <c:pt idx="63">
                    <c:v>Abr</c:v>
                  </c:pt>
                  <c:pt idx="64">
                    <c:v>May</c:v>
                  </c:pt>
                  <c:pt idx="65">
                    <c:v>Jun</c:v>
                  </c:pt>
                  <c:pt idx="66">
                    <c:v>Jul</c:v>
                  </c:pt>
                  <c:pt idx="67">
                    <c:v>Ago</c:v>
                  </c:pt>
                  <c:pt idx="68">
                    <c:v>Sep</c:v>
                  </c:pt>
                  <c:pt idx="69">
                    <c:v>Oct</c:v>
                  </c:pt>
                  <c:pt idx="70">
                    <c:v>Nov</c:v>
                  </c:pt>
                  <c:pt idx="71">
                    <c:v>Dic</c:v>
                  </c:pt>
                </c:lvl>
                <c:lvl>
                  <c:pt idx="0">
                    <c:v>1929</c:v>
                  </c:pt>
                  <c:pt idx="12">
                    <c:v>1930</c:v>
                  </c:pt>
                  <c:pt idx="24">
                    <c:v>1931</c:v>
                  </c:pt>
                  <c:pt idx="36">
                    <c:v>1932</c:v>
                  </c:pt>
                  <c:pt idx="48">
                    <c:v>1933</c:v>
                  </c:pt>
                  <c:pt idx="60">
                    <c:v>1934</c:v>
                  </c:pt>
                </c:lvl>
              </c:multiLvlStrCache>
            </c:multiLvlStrRef>
          </c:cat>
          <c:val>
            <c:numRef>
              <c:f>'Dep Bancos'!$F$2:$F$73</c:f>
              <c:numCache>
                <c:formatCode>General</c:formatCode>
                <c:ptCount val="72"/>
                <c:pt idx="0">
                  <c:v>326.86341927529998</c:v>
                </c:pt>
                <c:pt idx="1">
                  <c:v>327.34080897540002</c:v>
                </c:pt>
                <c:pt idx="2">
                  <c:v>327.80417325510001</c:v>
                </c:pt>
                <c:pt idx="3">
                  <c:v>328.2533870954</c:v>
                </c:pt>
                <c:pt idx="4">
                  <c:v>328.68832547779999</c:v>
                </c:pt>
                <c:pt idx="5">
                  <c:v>329.10886338350002</c:v>
                </c:pt>
                <c:pt idx="6">
                  <c:v>329.51487579370001</c:v>
                </c:pt>
                <c:pt idx="7">
                  <c:v>329.90623768969999</c:v>
                </c:pt>
                <c:pt idx="8">
                  <c:v>330.28282405269999</c:v>
                </c:pt>
                <c:pt idx="9">
                  <c:v>330.64450986409997</c:v>
                </c:pt>
                <c:pt idx="10">
                  <c:v>330.99117010499998</c:v>
                </c:pt>
                <c:pt idx="11">
                  <c:v>331.32267975669998</c:v>
                </c:pt>
                <c:pt idx="12">
                  <c:v>331.63891380050001</c:v>
                </c:pt>
                <c:pt idx="13">
                  <c:v>331.93974721770002</c:v>
                </c:pt>
                <c:pt idx="14">
                  <c:v>332.22505498940001</c:v>
                </c:pt>
                <c:pt idx="15">
                  <c:v>332.49471209699999</c:v>
                </c:pt>
                <c:pt idx="16">
                  <c:v>332.74859352160001</c:v>
                </c:pt>
                <c:pt idx="17">
                  <c:v>332.98657424459998</c:v>
                </c:pt>
                <c:pt idx="18">
                  <c:v>333.20852924730002</c:v>
                </c:pt>
                <c:pt idx="19">
                  <c:v>333.41433351080002</c:v>
                </c:pt>
                <c:pt idx="20">
                  <c:v>333.6038620164</c:v>
                </c:pt>
                <c:pt idx="21">
                  <c:v>333.77698974539999</c:v>
                </c:pt>
                <c:pt idx="22">
                  <c:v>333.93359167900002</c:v>
                </c:pt>
                <c:pt idx="23">
                  <c:v>334.07354279859999</c:v>
                </c:pt>
                <c:pt idx="24">
                  <c:v>334.19671808530001</c:v>
                </c:pt>
                <c:pt idx="25">
                  <c:v>334.30299252039998</c:v>
                </c:pt>
                <c:pt idx="26">
                  <c:v>334.39224108510001</c:v>
                </c:pt>
                <c:pt idx="27">
                  <c:v>334.46433876079999</c:v>
                </c:pt>
                <c:pt idx="28">
                  <c:v>334.51916052860003</c:v>
                </c:pt>
                <c:pt idx="29">
                  <c:v>334.55658136990002</c:v>
                </c:pt>
                <c:pt idx="30">
                  <c:v>334.5764762659</c:v>
                </c:pt>
                <c:pt idx="31">
                  <c:v>334.57872019780001</c:v>
                </c:pt>
                <c:pt idx="32">
                  <c:v>334.56318814690002</c:v>
                </c:pt>
                <c:pt idx="33">
                  <c:v>334.52975509449999</c:v>
                </c:pt>
                <c:pt idx="34">
                  <c:v>334.47829602180002</c:v>
                </c:pt>
                <c:pt idx="35">
                  <c:v>334.40868591010002</c:v>
                </c:pt>
                <c:pt idx="36">
                  <c:v>334.32079974060002</c:v>
                </c:pt>
                <c:pt idx="37">
                  <c:v>334.21451249450001</c:v>
                </c:pt>
                <c:pt idx="38">
                  <c:v>334.08969915329999</c:v>
                </c:pt>
                <c:pt idx="39">
                  <c:v>333.94623469800001</c:v>
                </c:pt>
                <c:pt idx="40">
                  <c:v>333.78399410989999</c:v>
                </c:pt>
                <c:pt idx="41">
                  <c:v>333.6028523704</c:v>
                </c:pt>
                <c:pt idx="42">
                  <c:v>333.40268446060003</c:v>
                </c:pt>
                <c:pt idx="43">
                  <c:v>333.18336536189997</c:v>
                </c:pt>
                <c:pt idx="44">
                  <c:v>332.9447700554</c:v>
                </c:pt>
                <c:pt idx="45">
                  <c:v>332.6867735225</c:v>
                </c:pt>
                <c:pt idx="46">
                  <c:v>332.40925074440003</c:v>
                </c:pt>
                <c:pt idx="47">
                  <c:v>332.11207670229999</c:v>
                </c:pt>
                <c:pt idx="48">
                  <c:v>331.79512637750003</c:v>
                </c:pt>
                <c:pt idx="49">
                  <c:v>331.4582747513</c:v>
                </c:pt>
                <c:pt idx="50">
                  <c:v>331.10139680489999</c:v>
                </c:pt>
                <c:pt idx="51">
                  <c:v>330.72436751959998</c:v>
                </c:pt>
                <c:pt idx="52">
                  <c:v>330.3270618766</c:v>
                </c:pt>
                <c:pt idx="53">
                  <c:v>329.90935485710003</c:v>
                </c:pt>
                <c:pt idx="54">
                  <c:v>329.47112144260001</c:v>
                </c:pt>
                <c:pt idx="55">
                  <c:v>329.0122366141</c:v>
                </c:pt>
                <c:pt idx="56">
                  <c:v>328.53257535300003</c:v>
                </c:pt>
                <c:pt idx="57">
                  <c:v>328.0320126405</c:v>
                </c:pt>
                <c:pt idx="58">
                  <c:v>327.51042345780002</c:v>
                </c:pt>
                <c:pt idx="59">
                  <c:v>326.96768278629997</c:v>
                </c:pt>
                <c:pt idx="60">
                  <c:v>326.40366560720003</c:v>
                </c:pt>
                <c:pt idx="61">
                  <c:v>325.81824690169998</c:v>
                </c:pt>
                <c:pt idx="62">
                  <c:v>325.21130165109997</c:v>
                </c:pt>
                <c:pt idx="63">
                  <c:v>324.58270483669997</c:v>
                </c:pt>
                <c:pt idx="64">
                  <c:v>323.93233143959998</c:v>
                </c:pt>
                <c:pt idx="65">
                  <c:v>323.26005644119999</c:v>
                </c:pt>
                <c:pt idx="66">
                  <c:v>322.56575482279999</c:v>
                </c:pt>
                <c:pt idx="67">
                  <c:v>321.84930156550001</c:v>
                </c:pt>
                <c:pt idx="68">
                  <c:v>321.11057165059998</c:v>
                </c:pt>
                <c:pt idx="69">
                  <c:v>320.34944005950001</c:v>
                </c:pt>
                <c:pt idx="70">
                  <c:v>319.5657817732</c:v>
                </c:pt>
                <c:pt idx="71">
                  <c:v>318.7594717732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60E-470A-9277-57C8D41594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0767360"/>
        <c:axId val="180769152"/>
      </c:lineChart>
      <c:catAx>
        <c:axId val="18076736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chemeClr val="tx2">
                <a:lumMod val="75000"/>
              </a:schemeClr>
            </a:solidFill>
          </a:ln>
        </c:spPr>
        <c:crossAx val="180769152"/>
        <c:crosses val="autoZero"/>
        <c:auto val="1"/>
        <c:lblAlgn val="ctr"/>
        <c:lblOffset val="100"/>
        <c:noMultiLvlLbl val="0"/>
      </c:catAx>
      <c:valAx>
        <c:axId val="180769152"/>
        <c:scaling>
          <c:orientation val="minMax"/>
          <c:max val="400"/>
          <c:min val="0"/>
        </c:scaling>
        <c:delete val="0"/>
        <c:axPos val="l"/>
        <c:numFmt formatCode="0" sourceLinked="0"/>
        <c:majorTickMark val="out"/>
        <c:minorTickMark val="none"/>
        <c:tickLblPos val="nextTo"/>
        <c:spPr>
          <a:ln>
            <a:solidFill>
              <a:schemeClr val="tx2">
                <a:lumMod val="75000"/>
              </a:schemeClr>
            </a:solidFill>
          </a:ln>
        </c:spPr>
        <c:crossAx val="18076736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"/>
          <c:y val="0.816461735386525"/>
          <c:w val="1"/>
          <c:h val="0.18353820185688852"/>
        </c:manualLayout>
      </c:layout>
      <c:overlay val="0"/>
      <c:txPr>
        <a:bodyPr/>
        <a:lstStyle/>
        <a:p>
          <a:pPr>
            <a:defRPr sz="1200"/>
          </a:pPr>
          <a:endParaRPr lang="es-AR"/>
        </a:p>
      </c:txPr>
    </c:legend>
    <c:plotVisOnly val="1"/>
    <c:dispBlanksAs val="gap"/>
    <c:showDLblsOverMax val="0"/>
  </c:chart>
  <c:spPr>
    <a:ln>
      <a:noFill/>
    </a:ln>
  </c:spPr>
  <c:txPr>
    <a:bodyPr/>
    <a:lstStyle/>
    <a:p>
      <a:pPr>
        <a:defRPr sz="1400">
          <a:solidFill>
            <a:schemeClr val="tx2">
              <a:lumMod val="75000"/>
            </a:schemeClr>
          </a:solidFill>
          <a:latin typeface="Abadi" panose="020B0604020104020204" pitchFamily="34" charset="0"/>
          <a:cs typeface="Times New Roman" pitchFamily="18" charset="0"/>
        </a:defRPr>
      </a:pPr>
      <a:endParaRPr lang="es-AR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850459482038442"/>
          <c:y val="4.2813629166860413E-2"/>
          <c:w val="0.87500000000000311"/>
          <c:h val="0.6462869919037898"/>
        </c:manualLayout>
      </c:layout>
      <c:lineChart>
        <c:grouping val="standard"/>
        <c:varyColors val="0"/>
        <c:ser>
          <c:idx val="1"/>
          <c:order val="1"/>
          <c:tx>
            <c:strRef>
              <c:f>'Res Dep bcos'!$C$2</c:f>
              <c:strCache>
                <c:ptCount val="1"/>
                <c:pt idx="0">
                  <c:v>Bco. de la Nación</c:v>
                </c:pt>
              </c:strCache>
            </c:strRef>
          </c:tx>
          <c:spPr>
            <a:ln w="38100">
              <a:solidFill>
                <a:schemeClr val="tx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'Res Dep bcos'!$A$3:$A$8</c:f>
              <c:numCache>
                <c:formatCode>General</c:formatCode>
                <c:ptCount val="6"/>
                <c:pt idx="0">
                  <c:v>1929</c:v>
                </c:pt>
                <c:pt idx="1">
                  <c:v>1930</c:v>
                </c:pt>
                <c:pt idx="2">
                  <c:v>1931</c:v>
                </c:pt>
                <c:pt idx="3">
                  <c:v>1932</c:v>
                </c:pt>
                <c:pt idx="4">
                  <c:v>1933</c:v>
                </c:pt>
                <c:pt idx="5">
                  <c:v>1934</c:v>
                </c:pt>
              </c:numCache>
            </c:numRef>
          </c:cat>
          <c:val>
            <c:numRef>
              <c:f>'Res Dep bcos'!$C$3:$C$8</c:f>
              <c:numCache>
                <c:formatCode>0.00</c:formatCode>
                <c:ptCount val="6"/>
                <c:pt idx="0">
                  <c:v>0.15720282744082975</c:v>
                </c:pt>
                <c:pt idx="1">
                  <c:v>0.13751056380538454</c:v>
                </c:pt>
                <c:pt idx="2">
                  <c:v>0.16869207003089598</c:v>
                </c:pt>
                <c:pt idx="3">
                  <c:v>0.17446751685918407</c:v>
                </c:pt>
                <c:pt idx="4">
                  <c:v>0.16217757779326952</c:v>
                </c:pt>
                <c:pt idx="5">
                  <c:v>0.12100690007666752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F31-4162-B026-16986CFCDEB9}"/>
            </c:ext>
          </c:extLst>
        </c:ser>
        <c:ser>
          <c:idx val="0"/>
          <c:order val="0"/>
          <c:tx>
            <c:strRef>
              <c:f>'Res Dep bcos'!$I$2</c:f>
              <c:strCache>
                <c:ptCount val="1"/>
                <c:pt idx="0">
                  <c:v>Resto de los Bcos.</c:v>
                </c:pt>
              </c:strCache>
            </c:strRef>
          </c:tx>
          <c:spPr>
            <a:ln w="38100">
              <a:solidFill>
                <a:schemeClr val="tx2">
                  <a:lumMod val="60000"/>
                  <a:lumOff val="40000"/>
                </a:schemeClr>
              </a:solidFill>
            </a:ln>
          </c:spPr>
          <c:marker>
            <c:symbol val="none"/>
          </c:marker>
          <c:cat>
            <c:numRef>
              <c:f>'Res Dep bcos'!$A$3:$A$8</c:f>
              <c:numCache>
                <c:formatCode>General</c:formatCode>
                <c:ptCount val="6"/>
                <c:pt idx="0">
                  <c:v>1929</c:v>
                </c:pt>
                <c:pt idx="1">
                  <c:v>1930</c:v>
                </c:pt>
                <c:pt idx="2">
                  <c:v>1931</c:v>
                </c:pt>
                <c:pt idx="3">
                  <c:v>1932</c:v>
                </c:pt>
                <c:pt idx="4">
                  <c:v>1933</c:v>
                </c:pt>
                <c:pt idx="5">
                  <c:v>1934</c:v>
                </c:pt>
              </c:numCache>
            </c:numRef>
          </c:cat>
          <c:val>
            <c:numRef>
              <c:f>'Res Dep bcos'!$I$3:$I$8</c:f>
              <c:numCache>
                <c:formatCode>0.00</c:formatCode>
                <c:ptCount val="6"/>
                <c:pt idx="0">
                  <c:v>0.16879968502404347</c:v>
                </c:pt>
                <c:pt idx="1">
                  <c:v>0.20444808467741934</c:v>
                </c:pt>
                <c:pt idx="2">
                  <c:v>0.21907342132893354</c:v>
                </c:pt>
                <c:pt idx="3">
                  <c:v>0.28277295231893357</c:v>
                </c:pt>
                <c:pt idx="4">
                  <c:v>0.26496669078569823</c:v>
                </c:pt>
                <c:pt idx="5">
                  <c:v>0.21599987653622377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F31-4162-B026-16986CFCDEB9}"/>
            </c:ext>
          </c:extLst>
        </c:ser>
        <c:ser>
          <c:idx val="2"/>
          <c:order val="2"/>
          <c:tx>
            <c:strRef>
              <c:f>'Res Dep bcos'!$D$2</c:f>
              <c:strCache>
                <c:ptCount val="1"/>
                <c:pt idx="0">
                  <c:v>prom BNA</c:v>
                </c:pt>
              </c:strCache>
            </c:strRef>
          </c:tx>
          <c:spPr>
            <a:ln>
              <a:solidFill>
                <a:schemeClr val="tx2">
                  <a:lumMod val="50000"/>
                </a:schemeClr>
              </a:solidFill>
              <a:prstDash val="sysDash"/>
            </a:ln>
          </c:spPr>
          <c:marker>
            <c:symbol val="none"/>
          </c:marker>
          <c:cat>
            <c:numRef>
              <c:f>'Res Dep bcos'!$A$3:$A$8</c:f>
              <c:numCache>
                <c:formatCode>General</c:formatCode>
                <c:ptCount val="6"/>
                <c:pt idx="0">
                  <c:v>1929</c:v>
                </c:pt>
                <c:pt idx="1">
                  <c:v>1930</c:v>
                </c:pt>
                <c:pt idx="2">
                  <c:v>1931</c:v>
                </c:pt>
                <c:pt idx="3">
                  <c:v>1932</c:v>
                </c:pt>
                <c:pt idx="4">
                  <c:v>1933</c:v>
                </c:pt>
                <c:pt idx="5">
                  <c:v>1934</c:v>
                </c:pt>
              </c:numCache>
            </c:numRef>
          </c:cat>
          <c:val>
            <c:numRef>
              <c:f>'Res Dep bcos'!$D$3:$D$8</c:f>
              <c:numCache>
                <c:formatCode>0.00</c:formatCode>
                <c:ptCount val="6"/>
                <c:pt idx="0">
                  <c:v>0.15350957600103857</c:v>
                </c:pt>
                <c:pt idx="1">
                  <c:v>0.15350957600103857</c:v>
                </c:pt>
                <c:pt idx="2">
                  <c:v>0.15350957600103857</c:v>
                </c:pt>
                <c:pt idx="3">
                  <c:v>0.15350957600103857</c:v>
                </c:pt>
                <c:pt idx="4">
                  <c:v>0.15350957600103857</c:v>
                </c:pt>
                <c:pt idx="5">
                  <c:v>0.15350957600103857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F31-4162-B026-16986CFCDEB9}"/>
            </c:ext>
          </c:extLst>
        </c:ser>
        <c:ser>
          <c:idx val="3"/>
          <c:order val="3"/>
          <c:tx>
            <c:strRef>
              <c:f>'Res Dep bcos'!$J$2</c:f>
              <c:strCache>
                <c:ptCount val="1"/>
                <c:pt idx="0">
                  <c:v>Prom (RdeB)</c:v>
                </c:pt>
              </c:strCache>
            </c:strRef>
          </c:tx>
          <c:spPr>
            <a:ln>
              <a:solidFill>
                <a:schemeClr val="tx2">
                  <a:lumMod val="60000"/>
                  <a:lumOff val="40000"/>
                </a:schemeClr>
              </a:solidFill>
              <a:prstDash val="sysDash"/>
            </a:ln>
          </c:spPr>
          <c:marker>
            <c:symbol val="none"/>
          </c:marker>
          <c:cat>
            <c:numRef>
              <c:f>'Res Dep bcos'!$A$3:$A$8</c:f>
              <c:numCache>
                <c:formatCode>General</c:formatCode>
                <c:ptCount val="6"/>
                <c:pt idx="0">
                  <c:v>1929</c:v>
                </c:pt>
                <c:pt idx="1">
                  <c:v>1930</c:v>
                </c:pt>
                <c:pt idx="2">
                  <c:v>1931</c:v>
                </c:pt>
                <c:pt idx="3">
                  <c:v>1932</c:v>
                </c:pt>
                <c:pt idx="4">
                  <c:v>1933</c:v>
                </c:pt>
                <c:pt idx="5">
                  <c:v>1934</c:v>
                </c:pt>
              </c:numCache>
            </c:numRef>
          </c:cat>
          <c:val>
            <c:numRef>
              <c:f>'Res Dep bcos'!$J$3:$J$8</c:f>
              <c:numCache>
                <c:formatCode>0.00</c:formatCode>
                <c:ptCount val="6"/>
                <c:pt idx="0">
                  <c:v>0.22601011844520866</c:v>
                </c:pt>
                <c:pt idx="1">
                  <c:v>0.22601011844520866</c:v>
                </c:pt>
                <c:pt idx="2">
                  <c:v>0.22601011844520866</c:v>
                </c:pt>
                <c:pt idx="3">
                  <c:v>0.22601011844520866</c:v>
                </c:pt>
                <c:pt idx="4">
                  <c:v>0.22601011844520866</c:v>
                </c:pt>
                <c:pt idx="5">
                  <c:v>0.22601011844520866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F31-4162-B026-16986CFCDE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0534656"/>
        <c:axId val="180548736"/>
      </c:lineChart>
      <c:catAx>
        <c:axId val="1805346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chemeClr val="tx2">
                <a:lumMod val="75000"/>
              </a:schemeClr>
            </a:solidFill>
          </a:ln>
        </c:spPr>
        <c:crossAx val="180548736"/>
        <c:crosses val="autoZero"/>
        <c:auto val="1"/>
        <c:lblAlgn val="ctr"/>
        <c:lblOffset val="100"/>
        <c:noMultiLvlLbl val="0"/>
      </c:catAx>
      <c:valAx>
        <c:axId val="180548736"/>
        <c:scaling>
          <c:orientation val="minMax"/>
          <c:max val="0.60000000000000042"/>
          <c:min val="0"/>
        </c:scaling>
        <c:delete val="0"/>
        <c:axPos val="l"/>
        <c:numFmt formatCode="0.00" sourceLinked="1"/>
        <c:majorTickMark val="out"/>
        <c:minorTickMark val="none"/>
        <c:tickLblPos val="nextTo"/>
        <c:spPr>
          <a:ln>
            <a:solidFill>
              <a:schemeClr val="tx2">
                <a:lumMod val="75000"/>
              </a:schemeClr>
            </a:solidFill>
          </a:ln>
        </c:spPr>
        <c:crossAx val="180534656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5.2879104397664635E-3"/>
          <c:y val="0.82561866281625551"/>
          <c:w val="0.99174603174603149"/>
          <c:h val="0.17438133718374391"/>
        </c:manualLayout>
      </c:layout>
      <c:overlay val="0"/>
    </c:legend>
    <c:plotVisOnly val="1"/>
    <c:dispBlanksAs val="gap"/>
    <c:showDLblsOverMax val="0"/>
  </c:chart>
  <c:spPr>
    <a:ln>
      <a:noFill/>
    </a:ln>
  </c:spPr>
  <c:txPr>
    <a:bodyPr/>
    <a:lstStyle/>
    <a:p>
      <a:pPr>
        <a:defRPr sz="1400">
          <a:solidFill>
            <a:schemeClr val="tx2">
              <a:lumMod val="75000"/>
            </a:schemeClr>
          </a:solidFill>
          <a:latin typeface="Abadi" panose="020B0604020104020204" pitchFamily="34" charset="0"/>
          <a:cs typeface="Times New Roman" pitchFamily="18" charset="0"/>
        </a:defRPr>
      </a:pPr>
      <a:endParaRPr lang="es-AR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1666666666667562E-2"/>
          <c:y val="4.2553191489361722E-2"/>
          <c:w val="0.87500000000000389"/>
          <c:h val="0.71137532808398962"/>
        </c:manualLayout>
      </c:layout>
      <c:lineChart>
        <c:grouping val="standard"/>
        <c:varyColors val="0"/>
        <c:ser>
          <c:idx val="0"/>
          <c:order val="0"/>
          <c:tx>
            <c:strRef>
              <c:f>Datos!$F$3</c:f>
              <c:strCache>
                <c:ptCount val="1"/>
                <c:pt idx="0">
                  <c:v>Resto de los Bcos.</c:v>
                </c:pt>
              </c:strCache>
            </c:strRef>
          </c:tx>
          <c:spPr>
            <a:ln w="57150">
              <a:solidFill>
                <a:schemeClr val="tx2">
                  <a:lumMod val="60000"/>
                  <a:lumOff val="40000"/>
                </a:schemeClr>
              </a:solidFill>
            </a:ln>
          </c:spPr>
          <c:marker>
            <c:symbol val="none"/>
          </c:marker>
          <c:cat>
            <c:numRef>
              <c:f>Datos!$A$25:$A$30</c:f>
              <c:numCache>
                <c:formatCode>General</c:formatCode>
                <c:ptCount val="6"/>
                <c:pt idx="0">
                  <c:v>1929</c:v>
                </c:pt>
                <c:pt idx="1">
                  <c:v>1930</c:v>
                </c:pt>
                <c:pt idx="2">
                  <c:v>1931</c:v>
                </c:pt>
                <c:pt idx="3">
                  <c:v>1932</c:v>
                </c:pt>
                <c:pt idx="4">
                  <c:v>1933</c:v>
                </c:pt>
                <c:pt idx="5">
                  <c:v>1934</c:v>
                </c:pt>
              </c:numCache>
            </c:numRef>
          </c:cat>
          <c:val>
            <c:numRef>
              <c:f>Datos!$F$25:$F$30</c:f>
              <c:numCache>
                <c:formatCode>0.00</c:formatCode>
                <c:ptCount val="6"/>
                <c:pt idx="0">
                  <c:v>0.16879968502404349</c:v>
                </c:pt>
                <c:pt idx="1">
                  <c:v>0.20444808467742148</c:v>
                </c:pt>
                <c:pt idx="2">
                  <c:v>0.21907342132893354</c:v>
                </c:pt>
                <c:pt idx="3">
                  <c:v>0.28277295231893357</c:v>
                </c:pt>
                <c:pt idx="4">
                  <c:v>0.2649666907856999</c:v>
                </c:pt>
                <c:pt idx="5">
                  <c:v>0.2159998765362256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8D1-4C2F-B75B-08B9CD5674A8}"/>
            </c:ext>
          </c:extLst>
        </c:ser>
        <c:ser>
          <c:idx val="1"/>
          <c:order val="1"/>
          <c:tx>
            <c:strRef>
              <c:f>Datos!$G$3</c:f>
              <c:strCache>
                <c:ptCount val="1"/>
                <c:pt idx="0">
                  <c:v>Bcos. De EEUU</c:v>
                </c:pt>
              </c:strCache>
            </c:strRef>
          </c:tx>
          <c:spPr>
            <a:ln w="57150">
              <a:solidFill>
                <a:schemeClr val="tx1">
                  <a:lumMod val="75000"/>
                  <a:lumOff val="25000"/>
                </a:schemeClr>
              </a:solidFill>
            </a:ln>
          </c:spPr>
          <c:marker>
            <c:symbol val="none"/>
          </c:marker>
          <c:cat>
            <c:numRef>
              <c:f>Datos!$A$25:$A$30</c:f>
              <c:numCache>
                <c:formatCode>General</c:formatCode>
                <c:ptCount val="6"/>
                <c:pt idx="0">
                  <c:v>1929</c:v>
                </c:pt>
                <c:pt idx="1">
                  <c:v>1930</c:v>
                </c:pt>
                <c:pt idx="2">
                  <c:v>1931</c:v>
                </c:pt>
                <c:pt idx="3">
                  <c:v>1932</c:v>
                </c:pt>
                <c:pt idx="4">
                  <c:v>1933</c:v>
                </c:pt>
                <c:pt idx="5">
                  <c:v>1934</c:v>
                </c:pt>
              </c:numCache>
            </c:numRef>
          </c:cat>
          <c:val>
            <c:numRef>
              <c:f>Datos!$G$25:$G$30</c:f>
              <c:numCache>
                <c:formatCode>0.00</c:formatCode>
                <c:ptCount val="6"/>
                <c:pt idx="0">
                  <c:v>0.1823225675812494</c:v>
                </c:pt>
                <c:pt idx="1">
                  <c:v>0.21280745898921341</c:v>
                </c:pt>
                <c:pt idx="2">
                  <c:v>0.21187892632781269</c:v>
                </c:pt>
                <c:pt idx="3">
                  <c:v>0.1954680576588704</c:v>
                </c:pt>
                <c:pt idx="4">
                  <c:v>0.22970445192667421</c:v>
                </c:pt>
                <c:pt idx="5">
                  <c:v>0.26204835642488455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8D1-4C2F-B75B-08B9CD5674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5677952"/>
        <c:axId val="46019712"/>
      </c:lineChart>
      <c:catAx>
        <c:axId val="4567795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lang="es-AR"/>
            </a:pPr>
            <a:endParaRPr lang="es-AR"/>
          </a:p>
        </c:txPr>
        <c:crossAx val="46019712"/>
        <c:crosses val="autoZero"/>
        <c:auto val="1"/>
        <c:lblAlgn val="ctr"/>
        <c:lblOffset val="100"/>
        <c:noMultiLvlLbl val="0"/>
      </c:catAx>
      <c:valAx>
        <c:axId val="46019712"/>
        <c:scaling>
          <c:orientation val="minMax"/>
        </c:scaling>
        <c:delete val="0"/>
        <c:axPos val="l"/>
        <c:majorGridlines/>
        <c:numFmt formatCode="0.00" sourceLinked="1"/>
        <c:majorTickMark val="out"/>
        <c:minorTickMark val="none"/>
        <c:tickLblPos val="nextTo"/>
        <c:txPr>
          <a:bodyPr/>
          <a:lstStyle/>
          <a:p>
            <a:pPr>
              <a:defRPr lang="es-AR"/>
            </a:pPr>
            <a:endParaRPr lang="es-AR"/>
          </a:p>
        </c:txPr>
        <c:crossAx val="45677952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12399978897110313"/>
          <c:y val="0.89727559055118455"/>
          <c:w val="0.75200015827167654"/>
          <c:h val="9.6663803388213718E-2"/>
        </c:manualLayout>
      </c:layout>
      <c:overlay val="0"/>
      <c:txPr>
        <a:bodyPr/>
        <a:lstStyle/>
        <a:p>
          <a:pPr>
            <a:defRPr lang="es-AR"/>
          </a:pPr>
          <a:endParaRPr lang="es-AR"/>
        </a:p>
      </c:txPr>
    </c:legend>
    <c:plotVisOnly val="1"/>
    <c:dispBlanksAs val="gap"/>
    <c:showDLblsOverMax val="0"/>
  </c:chart>
  <c:spPr>
    <a:ln>
      <a:noFill/>
    </a:ln>
  </c:spPr>
  <c:txPr>
    <a:bodyPr/>
    <a:lstStyle/>
    <a:p>
      <a:pPr>
        <a:defRPr sz="1100" b="0">
          <a:latin typeface="Times New Roman" pitchFamily="18" charset="0"/>
          <a:cs typeface="Times New Roman" pitchFamily="18" charset="0"/>
        </a:defRPr>
      </a:pPr>
      <a:endParaRPr lang="es-AR"/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166666666666759E-2"/>
          <c:y val="4.2682926829268893E-2"/>
          <c:w val="0.87500000000000411"/>
          <c:h val="0.71004777369387473"/>
        </c:manualLayout>
      </c:layout>
      <c:lineChart>
        <c:grouping val="standard"/>
        <c:varyColors val="0"/>
        <c:ser>
          <c:idx val="0"/>
          <c:order val="0"/>
          <c:tx>
            <c:strRef>
              <c:f>Datos!$B$3</c:f>
              <c:strCache>
                <c:ptCount val="1"/>
                <c:pt idx="0">
                  <c:v>Bco. de la Nación</c:v>
                </c:pt>
              </c:strCache>
            </c:strRef>
          </c:tx>
          <c:spPr>
            <a:ln w="57150">
              <a:solidFill>
                <a:schemeClr val="tx2">
                  <a:lumMod val="60000"/>
                  <a:lumOff val="40000"/>
                </a:schemeClr>
              </a:solidFill>
            </a:ln>
          </c:spPr>
          <c:marker>
            <c:symbol val="none"/>
          </c:marker>
          <c:cat>
            <c:numRef>
              <c:f>Datos!$A$25:$A$30</c:f>
              <c:numCache>
                <c:formatCode>General</c:formatCode>
                <c:ptCount val="6"/>
                <c:pt idx="0">
                  <c:v>1929</c:v>
                </c:pt>
                <c:pt idx="1">
                  <c:v>1930</c:v>
                </c:pt>
                <c:pt idx="2">
                  <c:v>1931</c:v>
                </c:pt>
                <c:pt idx="3">
                  <c:v>1932</c:v>
                </c:pt>
                <c:pt idx="4">
                  <c:v>1933</c:v>
                </c:pt>
                <c:pt idx="5">
                  <c:v>1934</c:v>
                </c:pt>
              </c:numCache>
            </c:numRef>
          </c:cat>
          <c:val>
            <c:numRef>
              <c:f>Datos!$B$25:$B$30</c:f>
              <c:numCache>
                <c:formatCode>0.00</c:formatCode>
                <c:ptCount val="6"/>
                <c:pt idx="0">
                  <c:v>0.15720282744083044</c:v>
                </c:pt>
                <c:pt idx="1">
                  <c:v>0.13751056380538454</c:v>
                </c:pt>
                <c:pt idx="2">
                  <c:v>0.16869207003089598</c:v>
                </c:pt>
                <c:pt idx="3">
                  <c:v>0.17446751685918421</c:v>
                </c:pt>
                <c:pt idx="4">
                  <c:v>0.16217757779326869</c:v>
                </c:pt>
                <c:pt idx="5">
                  <c:v>0.12100690007666808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F84-4F03-833A-71FEE97680A7}"/>
            </c:ext>
          </c:extLst>
        </c:ser>
        <c:ser>
          <c:idx val="1"/>
          <c:order val="1"/>
          <c:tx>
            <c:strRef>
              <c:f>Datos!$C$3</c:f>
              <c:strCache>
                <c:ptCount val="1"/>
                <c:pt idx="0">
                  <c:v>Bco. de Inglaterra</c:v>
                </c:pt>
              </c:strCache>
            </c:strRef>
          </c:tx>
          <c:spPr>
            <a:ln w="57150">
              <a:solidFill>
                <a:schemeClr val="tx1">
                  <a:lumMod val="75000"/>
                  <a:lumOff val="25000"/>
                </a:schemeClr>
              </a:solidFill>
            </a:ln>
          </c:spPr>
          <c:marker>
            <c:symbol val="none"/>
          </c:marker>
          <c:cat>
            <c:numRef>
              <c:f>Datos!$A$25:$A$30</c:f>
              <c:numCache>
                <c:formatCode>General</c:formatCode>
                <c:ptCount val="6"/>
                <c:pt idx="0">
                  <c:v>1929</c:v>
                </c:pt>
                <c:pt idx="1">
                  <c:v>1930</c:v>
                </c:pt>
                <c:pt idx="2">
                  <c:v>1931</c:v>
                </c:pt>
                <c:pt idx="3">
                  <c:v>1932</c:v>
                </c:pt>
                <c:pt idx="4">
                  <c:v>1933</c:v>
                </c:pt>
                <c:pt idx="5">
                  <c:v>1934</c:v>
                </c:pt>
              </c:numCache>
            </c:numRef>
          </c:cat>
          <c:val>
            <c:numRef>
              <c:f>Datos!$C$25:$C$30</c:f>
              <c:numCache>
                <c:formatCode>0.00</c:formatCode>
                <c:ptCount val="6"/>
                <c:pt idx="0">
                  <c:v>0.38986013986014312</c:v>
                </c:pt>
                <c:pt idx="1">
                  <c:v>0.48748921484037988</c:v>
                </c:pt>
                <c:pt idx="2">
                  <c:v>0.43364327979712591</c:v>
                </c:pt>
                <c:pt idx="3">
                  <c:v>0.34825493171471938</c:v>
                </c:pt>
                <c:pt idx="4">
                  <c:v>0.43789607097592154</c:v>
                </c:pt>
                <c:pt idx="5">
                  <c:v>0.46915167095115684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F84-4F03-833A-71FEE97680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5688704"/>
        <c:axId val="45690240"/>
      </c:lineChart>
      <c:catAx>
        <c:axId val="456887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lang="es-AR"/>
            </a:pPr>
            <a:endParaRPr lang="es-AR"/>
          </a:p>
        </c:txPr>
        <c:crossAx val="45690240"/>
        <c:crosses val="autoZero"/>
        <c:auto val="1"/>
        <c:lblAlgn val="ctr"/>
        <c:lblOffset val="100"/>
        <c:noMultiLvlLbl val="0"/>
      </c:catAx>
      <c:valAx>
        <c:axId val="45690240"/>
        <c:scaling>
          <c:orientation val="minMax"/>
        </c:scaling>
        <c:delete val="0"/>
        <c:axPos val="l"/>
        <c:majorGridlines/>
        <c:numFmt formatCode="0.00" sourceLinked="1"/>
        <c:majorTickMark val="out"/>
        <c:minorTickMark val="none"/>
        <c:tickLblPos val="nextTo"/>
        <c:txPr>
          <a:bodyPr/>
          <a:lstStyle/>
          <a:p>
            <a:pPr>
              <a:defRPr lang="es-AR"/>
            </a:pPr>
            <a:endParaRPr lang="es-AR"/>
          </a:p>
        </c:txPr>
        <c:crossAx val="45688704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12052992125984252"/>
          <c:y val="0.89040658554043872"/>
          <c:w val="0.75894015748032007"/>
          <c:h val="0.10959341445955673"/>
        </c:manualLayout>
      </c:layout>
      <c:overlay val="0"/>
      <c:txPr>
        <a:bodyPr/>
        <a:lstStyle/>
        <a:p>
          <a:pPr>
            <a:defRPr lang="es-AR"/>
          </a:pPr>
          <a:endParaRPr lang="es-AR"/>
        </a:p>
      </c:txPr>
    </c:legend>
    <c:plotVisOnly val="1"/>
    <c:dispBlanksAs val="gap"/>
    <c:showDLblsOverMax val="0"/>
  </c:chart>
  <c:spPr>
    <a:ln>
      <a:noFill/>
    </a:ln>
  </c:spPr>
  <c:txPr>
    <a:bodyPr/>
    <a:lstStyle/>
    <a:p>
      <a:pPr>
        <a:defRPr sz="1100" b="0">
          <a:latin typeface="Times New Roman" pitchFamily="18" charset="0"/>
          <a:cs typeface="Times New Roman" pitchFamily="18" charset="0"/>
        </a:defRPr>
      </a:pPr>
      <a:endParaRPr lang="es-AR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409511856578873"/>
          <c:y val="5.1400554097404488E-2"/>
          <c:w val="0.88590488143421131"/>
          <c:h val="0.67405290191375078"/>
        </c:manualLayout>
      </c:layout>
      <c:lineChart>
        <c:grouping val="standard"/>
        <c:varyColors val="0"/>
        <c:ser>
          <c:idx val="0"/>
          <c:order val="0"/>
          <c:tx>
            <c:strRef>
              <c:f>'Grafico 1'!$B$1:$E$1</c:f>
              <c:strCache>
                <c:ptCount val="1"/>
                <c:pt idx="0">
                  <c:v>Valores Observados</c:v>
                </c:pt>
              </c:strCache>
            </c:strRef>
          </c:tx>
          <c:spPr>
            <a:ln w="38100">
              <a:solidFill>
                <a:schemeClr val="tx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'Grafico 1'!$A$25:$A$30</c:f>
              <c:numCache>
                <c:formatCode>0</c:formatCode>
                <c:ptCount val="6"/>
                <c:pt idx="0">
                  <c:v>1929</c:v>
                </c:pt>
                <c:pt idx="1">
                  <c:v>1930</c:v>
                </c:pt>
                <c:pt idx="2">
                  <c:v>1931</c:v>
                </c:pt>
                <c:pt idx="3">
                  <c:v>1932</c:v>
                </c:pt>
                <c:pt idx="4">
                  <c:v>1933</c:v>
                </c:pt>
                <c:pt idx="5">
                  <c:v>1934</c:v>
                </c:pt>
              </c:numCache>
            </c:numRef>
          </c:cat>
          <c:val>
            <c:numRef>
              <c:f>'Grafico 1'!$E$25:$E$30</c:f>
              <c:numCache>
                <c:formatCode>0%</c:formatCode>
                <c:ptCount val="6"/>
                <c:pt idx="0">
                  <c:v>0.16879968502404349</c:v>
                </c:pt>
                <c:pt idx="1">
                  <c:v>0.20444808467741979</c:v>
                </c:pt>
                <c:pt idx="2">
                  <c:v>0.21907342132893354</c:v>
                </c:pt>
                <c:pt idx="3">
                  <c:v>0.28277295231893357</c:v>
                </c:pt>
                <c:pt idx="4">
                  <c:v>0.26496669078569868</c:v>
                </c:pt>
                <c:pt idx="5">
                  <c:v>0.21599987653622427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B66-41E5-AB6C-B6D7484C8425}"/>
            </c:ext>
          </c:extLst>
        </c:ser>
        <c:ser>
          <c:idx val="2"/>
          <c:order val="1"/>
          <c:tx>
            <c:strRef>
              <c:f>'Grafico 1'!$N$1:$Q$1</c:f>
              <c:strCache>
                <c:ptCount val="1"/>
                <c:pt idx="0">
                  <c:v>Valores Contrafactuales </c:v>
                </c:pt>
              </c:strCache>
            </c:strRef>
          </c:tx>
          <c:spPr>
            <a:ln w="38100">
              <a:solidFill>
                <a:schemeClr val="tx2">
                  <a:lumMod val="60000"/>
                  <a:lumOff val="40000"/>
                </a:schemeClr>
              </a:solidFill>
              <a:prstDash val="sysDash"/>
            </a:ln>
          </c:spPr>
          <c:marker>
            <c:symbol val="none"/>
          </c:marker>
          <c:cat>
            <c:numRef>
              <c:f>'Grafico 1'!$A$25:$A$30</c:f>
              <c:numCache>
                <c:formatCode>0</c:formatCode>
                <c:ptCount val="6"/>
                <c:pt idx="0">
                  <c:v>1929</c:v>
                </c:pt>
                <c:pt idx="1">
                  <c:v>1930</c:v>
                </c:pt>
                <c:pt idx="2">
                  <c:v>1931</c:v>
                </c:pt>
                <c:pt idx="3">
                  <c:v>1932</c:v>
                </c:pt>
                <c:pt idx="4">
                  <c:v>1933</c:v>
                </c:pt>
                <c:pt idx="5">
                  <c:v>1934</c:v>
                </c:pt>
              </c:numCache>
            </c:numRef>
          </c:cat>
          <c:val>
            <c:numRef>
              <c:f>'Grafico 1'!$Q$25:$Q$30</c:f>
              <c:numCache>
                <c:formatCode>0%</c:formatCode>
                <c:ptCount val="6"/>
                <c:pt idx="0">
                  <c:v>9.9699622648187089E-2</c:v>
                </c:pt>
                <c:pt idx="1">
                  <c:v>0.14081401209677424</c:v>
                </c:pt>
                <c:pt idx="2">
                  <c:v>8.5579158542073111E-2</c:v>
                </c:pt>
                <c:pt idx="3">
                  <c:v>0.13151317238539431</c:v>
                </c:pt>
                <c:pt idx="4">
                  <c:v>0.11895506374909554</c:v>
                </c:pt>
                <c:pt idx="5">
                  <c:v>6.4139431757969892E-2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B66-41E5-AB6C-B6D7484C84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0880896"/>
        <c:axId val="180882432"/>
      </c:lineChart>
      <c:catAx>
        <c:axId val="180880896"/>
        <c:scaling>
          <c:orientation val="minMax"/>
        </c:scaling>
        <c:delete val="0"/>
        <c:axPos val="b"/>
        <c:numFmt formatCode="0" sourceLinked="1"/>
        <c:majorTickMark val="out"/>
        <c:minorTickMark val="none"/>
        <c:tickLblPos val="nextTo"/>
        <c:spPr>
          <a:ln>
            <a:solidFill>
              <a:schemeClr val="tx2">
                <a:lumMod val="75000"/>
              </a:schemeClr>
            </a:solidFill>
          </a:ln>
        </c:spPr>
        <c:crossAx val="180882432"/>
        <c:crosses val="autoZero"/>
        <c:auto val="1"/>
        <c:lblAlgn val="ctr"/>
        <c:lblOffset val="100"/>
        <c:noMultiLvlLbl val="0"/>
      </c:catAx>
      <c:valAx>
        <c:axId val="180882432"/>
        <c:scaling>
          <c:orientation val="minMax"/>
          <c:max val="0.45"/>
          <c:min val="0"/>
        </c:scaling>
        <c:delete val="0"/>
        <c:axPos val="l"/>
        <c:numFmt formatCode="0%" sourceLinked="1"/>
        <c:majorTickMark val="out"/>
        <c:minorTickMark val="none"/>
        <c:tickLblPos val="nextTo"/>
        <c:spPr>
          <a:ln>
            <a:solidFill>
              <a:schemeClr val="tx2">
                <a:lumMod val="75000"/>
              </a:schemeClr>
            </a:solidFill>
          </a:ln>
        </c:spPr>
        <c:crossAx val="180880896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"/>
          <c:y val="0.85956810241435055"/>
          <c:w val="1"/>
          <c:h val="0.14043189758564947"/>
        </c:manualLayout>
      </c:layout>
      <c:overlay val="0"/>
    </c:legend>
    <c:plotVisOnly val="1"/>
    <c:dispBlanksAs val="gap"/>
    <c:showDLblsOverMax val="0"/>
  </c:chart>
  <c:spPr>
    <a:ln>
      <a:noFill/>
    </a:ln>
  </c:spPr>
  <c:txPr>
    <a:bodyPr/>
    <a:lstStyle/>
    <a:p>
      <a:pPr>
        <a:defRPr sz="1400">
          <a:solidFill>
            <a:schemeClr val="tx2">
              <a:lumMod val="75000"/>
            </a:schemeClr>
          </a:solidFill>
          <a:latin typeface="Abadi" panose="020B0604020104020204" pitchFamily="34" charset="0"/>
          <a:cs typeface="Times New Roman" pitchFamily="18" charset="0"/>
        </a:defRPr>
      </a:pPr>
      <a:endParaRPr lang="es-AR"/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680553567167742"/>
          <c:y val="6.1680664916885432E-2"/>
          <c:w val="0.8763913147220237"/>
          <c:h val="0.60422474576355678"/>
        </c:manualLayout>
      </c:layout>
      <c:lineChart>
        <c:grouping val="standard"/>
        <c:varyColors val="0"/>
        <c:ser>
          <c:idx val="0"/>
          <c:order val="0"/>
          <c:tx>
            <c:strRef>
              <c:f>'graf 4'!$Q$1</c:f>
              <c:strCache>
                <c:ptCount val="1"/>
                <c:pt idx="0">
                  <c:v>Observado</c:v>
                </c:pt>
              </c:strCache>
            </c:strRef>
          </c:tx>
          <c:spPr>
            <a:ln w="38100">
              <a:solidFill>
                <a:schemeClr val="tx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'graf 4'!$M$31:$M$36</c:f>
              <c:numCache>
                <c:formatCode>General</c:formatCode>
                <c:ptCount val="6"/>
                <c:pt idx="0">
                  <c:v>1929</c:v>
                </c:pt>
                <c:pt idx="1">
                  <c:v>1930</c:v>
                </c:pt>
                <c:pt idx="2">
                  <c:v>1931</c:v>
                </c:pt>
                <c:pt idx="3">
                  <c:v>1932</c:v>
                </c:pt>
                <c:pt idx="4">
                  <c:v>1933</c:v>
                </c:pt>
                <c:pt idx="5">
                  <c:v>1934</c:v>
                </c:pt>
              </c:numCache>
            </c:numRef>
          </c:cat>
          <c:val>
            <c:numRef>
              <c:f>'graf 4'!$Q$31:$Q$36</c:f>
              <c:numCache>
                <c:formatCode>0</c:formatCode>
                <c:ptCount val="6"/>
                <c:pt idx="0">
                  <c:v>-240.60999999999993</c:v>
                </c:pt>
                <c:pt idx="1">
                  <c:v>-428.4759999999996</c:v>
                </c:pt>
                <c:pt idx="2">
                  <c:v>-222.761</c:v>
                </c:pt>
                <c:pt idx="3">
                  <c:v>-107.44800000000012</c:v>
                </c:pt>
                <c:pt idx="4">
                  <c:v>-126.69900000000001</c:v>
                </c:pt>
                <c:pt idx="5">
                  <c:v>-169.74599999999998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7BF-4BBB-B55A-149AAFC06E05}"/>
            </c:ext>
          </c:extLst>
        </c:ser>
        <c:ser>
          <c:idx val="1"/>
          <c:order val="1"/>
          <c:tx>
            <c:strRef>
              <c:f>'graf 4'!$R$1</c:f>
              <c:strCache>
                <c:ptCount val="1"/>
                <c:pt idx="0">
                  <c:v>Contrafactual</c:v>
                </c:pt>
              </c:strCache>
            </c:strRef>
          </c:tx>
          <c:spPr>
            <a:ln w="38100">
              <a:solidFill>
                <a:schemeClr val="tx2">
                  <a:lumMod val="60000"/>
                  <a:lumOff val="40000"/>
                </a:schemeClr>
              </a:solidFill>
              <a:prstDash val="sysDash"/>
            </a:ln>
          </c:spPr>
          <c:marker>
            <c:symbol val="none"/>
          </c:marker>
          <c:cat>
            <c:numRef>
              <c:f>'graf 4'!$M$31:$M$36</c:f>
              <c:numCache>
                <c:formatCode>General</c:formatCode>
                <c:ptCount val="6"/>
                <c:pt idx="0">
                  <c:v>1929</c:v>
                </c:pt>
                <c:pt idx="1">
                  <c:v>1930</c:v>
                </c:pt>
                <c:pt idx="2">
                  <c:v>1931</c:v>
                </c:pt>
                <c:pt idx="3">
                  <c:v>1932</c:v>
                </c:pt>
                <c:pt idx="4">
                  <c:v>1933</c:v>
                </c:pt>
                <c:pt idx="5">
                  <c:v>1934</c:v>
                </c:pt>
              </c:numCache>
            </c:numRef>
          </c:cat>
          <c:val>
            <c:numRef>
              <c:f>'graf 4'!$R$31:$R$36</c:f>
              <c:numCache>
                <c:formatCode>0</c:formatCode>
                <c:ptCount val="6"/>
                <c:pt idx="0">
                  <c:v>-712.37643394100053</c:v>
                </c:pt>
                <c:pt idx="1">
                  <c:v>-974.89154866500007</c:v>
                </c:pt>
                <c:pt idx="2">
                  <c:v>-864.04933441999992</c:v>
                </c:pt>
                <c:pt idx="3">
                  <c:v>-671.78270242000053</c:v>
                </c:pt>
                <c:pt idx="4">
                  <c:v>-950.5993171130001</c:v>
                </c:pt>
                <c:pt idx="5">
                  <c:v>-1016.11982992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7BF-4BBB-B55A-149AAFC06E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0990720"/>
        <c:axId val="180992256"/>
      </c:lineChart>
      <c:catAx>
        <c:axId val="1809907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>
            <a:solidFill>
              <a:schemeClr val="tx2">
                <a:lumMod val="75000"/>
              </a:schemeClr>
            </a:solidFill>
          </a:ln>
        </c:spPr>
        <c:txPr>
          <a:bodyPr rot="-5400000" vert="horz"/>
          <a:lstStyle/>
          <a:p>
            <a:pPr>
              <a:defRPr/>
            </a:pPr>
            <a:endParaRPr lang="es-AR"/>
          </a:p>
        </c:txPr>
        <c:crossAx val="180992256"/>
        <c:crosses val="autoZero"/>
        <c:auto val="1"/>
        <c:lblAlgn val="ctr"/>
        <c:lblOffset val="100"/>
        <c:noMultiLvlLbl val="0"/>
      </c:catAx>
      <c:valAx>
        <c:axId val="180992256"/>
        <c:scaling>
          <c:orientation val="minMax"/>
          <c:max val="100"/>
          <c:min val="-1200"/>
        </c:scaling>
        <c:delete val="0"/>
        <c:axPos val="l"/>
        <c:numFmt formatCode="0" sourceLinked="0"/>
        <c:majorTickMark val="out"/>
        <c:minorTickMark val="none"/>
        <c:tickLblPos val="nextTo"/>
        <c:spPr>
          <a:ln>
            <a:solidFill>
              <a:schemeClr val="tx2">
                <a:lumMod val="75000"/>
              </a:schemeClr>
            </a:solidFill>
          </a:ln>
        </c:spPr>
        <c:crossAx val="18099072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1.0805393797519776E-2"/>
          <c:y val="0.82604754405699288"/>
          <c:w val="0.98919460620248023"/>
          <c:h val="0.17314348206474225"/>
        </c:manualLayout>
      </c:layout>
      <c:overlay val="0"/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400">
          <a:solidFill>
            <a:schemeClr val="tx2">
              <a:lumMod val="75000"/>
            </a:schemeClr>
          </a:solidFill>
          <a:latin typeface="Abadi" panose="020B0604020104020204" pitchFamily="34" charset="0"/>
          <a:cs typeface="Times New Roman" pitchFamily="18" charset="0"/>
        </a:defRPr>
      </a:pPr>
      <a:endParaRPr lang="es-AR"/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461732043219999"/>
          <c:y val="6.2726099915477118E-2"/>
          <c:w val="0.87423076692072543"/>
          <c:h val="0.70181335155901037"/>
        </c:manualLayout>
      </c:layout>
      <c:lineChart>
        <c:grouping val="standard"/>
        <c:varyColors val="0"/>
        <c:ser>
          <c:idx val="0"/>
          <c:order val="0"/>
          <c:tx>
            <c:strRef>
              <c:f>'graf 5 y 6 (utilizado)'!$B$1:$E$1</c:f>
              <c:strCache>
                <c:ptCount val="1"/>
                <c:pt idx="0">
                  <c:v>Valores Observados</c:v>
                </c:pt>
              </c:strCache>
            </c:strRef>
          </c:tx>
          <c:spPr>
            <a:ln w="38100">
              <a:solidFill>
                <a:schemeClr val="tx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'graf 5 y 6'!$A$25:$A$30</c:f>
              <c:numCache>
                <c:formatCode>0</c:formatCode>
                <c:ptCount val="6"/>
                <c:pt idx="0">
                  <c:v>1929</c:v>
                </c:pt>
                <c:pt idx="1">
                  <c:v>1930</c:v>
                </c:pt>
                <c:pt idx="2">
                  <c:v>1931</c:v>
                </c:pt>
                <c:pt idx="3">
                  <c:v>1932</c:v>
                </c:pt>
                <c:pt idx="4">
                  <c:v>1933</c:v>
                </c:pt>
                <c:pt idx="5">
                  <c:v>1934</c:v>
                </c:pt>
              </c:numCache>
            </c:numRef>
          </c:cat>
          <c:val>
            <c:numRef>
              <c:f>'graf 5 y 6 (utilizado)'!$E$25:$E$30</c:f>
              <c:numCache>
                <c:formatCode>0%</c:formatCode>
                <c:ptCount val="6"/>
                <c:pt idx="0">
                  <c:v>0.15720282744082995</c:v>
                </c:pt>
                <c:pt idx="1">
                  <c:v>0.13751056380538454</c:v>
                </c:pt>
                <c:pt idx="2">
                  <c:v>0.16869207003089598</c:v>
                </c:pt>
                <c:pt idx="3">
                  <c:v>0.17446751685918421</c:v>
                </c:pt>
                <c:pt idx="4">
                  <c:v>0.1621775777932693</c:v>
                </c:pt>
                <c:pt idx="5">
                  <c:v>0.12100690007666765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AFD-45D1-A6F5-6118FE27A27E}"/>
            </c:ext>
          </c:extLst>
        </c:ser>
        <c:ser>
          <c:idx val="1"/>
          <c:order val="1"/>
          <c:tx>
            <c:strRef>
              <c:f>'graf 5 y 6 (utilizado)'!$H$1:$K$1</c:f>
              <c:strCache>
                <c:ptCount val="1"/>
                <c:pt idx="0">
                  <c:v>Valores Contrafactuales 1</c:v>
                </c:pt>
              </c:strCache>
            </c:strRef>
          </c:tx>
          <c:spPr>
            <a:ln w="38100">
              <a:solidFill>
                <a:schemeClr val="tx2">
                  <a:lumMod val="75000"/>
                </a:schemeClr>
              </a:solidFill>
              <a:prstDash val="sysDash"/>
            </a:ln>
          </c:spPr>
          <c:marker>
            <c:symbol val="none"/>
          </c:marker>
          <c:cat>
            <c:numRef>
              <c:f>'graf 5 y 6'!$A$25:$A$30</c:f>
              <c:numCache>
                <c:formatCode>0</c:formatCode>
                <c:ptCount val="6"/>
                <c:pt idx="0">
                  <c:v>1929</c:v>
                </c:pt>
                <c:pt idx="1">
                  <c:v>1930</c:v>
                </c:pt>
                <c:pt idx="2">
                  <c:v>1931</c:v>
                </c:pt>
                <c:pt idx="3">
                  <c:v>1932</c:v>
                </c:pt>
                <c:pt idx="4">
                  <c:v>1933</c:v>
                </c:pt>
                <c:pt idx="5">
                  <c:v>1934</c:v>
                </c:pt>
              </c:numCache>
            </c:numRef>
          </c:cat>
          <c:val>
            <c:numRef>
              <c:f>'graf 5 y 6 (utilizado)'!$K$25:$K$30</c:f>
              <c:numCache>
                <c:formatCode>0%</c:formatCode>
                <c:ptCount val="6"/>
                <c:pt idx="0">
                  <c:v>0.25101464768093401</c:v>
                </c:pt>
                <c:pt idx="1">
                  <c:v>0.22896516962453223</c:v>
                </c:pt>
                <c:pt idx="2">
                  <c:v>0.16869207003089598</c:v>
                </c:pt>
                <c:pt idx="3">
                  <c:v>0.18822133938706057</c:v>
                </c:pt>
                <c:pt idx="4">
                  <c:v>0.21913828506242533</c:v>
                </c:pt>
                <c:pt idx="5">
                  <c:v>0.20275210835675953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AFD-45D1-A6F5-6118FE27A27E}"/>
            </c:ext>
          </c:extLst>
        </c:ser>
        <c:ser>
          <c:idx val="2"/>
          <c:order val="2"/>
          <c:tx>
            <c:strRef>
              <c:f>'graf 5 y 6 (utilizado)'!$P$1:$S$1</c:f>
              <c:strCache>
                <c:ptCount val="1"/>
                <c:pt idx="0">
                  <c:v>Valores Contrafactuales 2</c:v>
                </c:pt>
              </c:strCache>
            </c:strRef>
          </c:tx>
          <c:spPr>
            <a:ln w="57150">
              <a:solidFill>
                <a:schemeClr val="tx2">
                  <a:lumMod val="60000"/>
                  <a:lumOff val="40000"/>
                </a:schemeClr>
              </a:solidFill>
              <a:prstDash val="sysDot"/>
            </a:ln>
          </c:spPr>
          <c:marker>
            <c:symbol val="none"/>
          </c:marker>
          <c:cat>
            <c:numRef>
              <c:f>'graf 5 y 6'!$A$25:$A$30</c:f>
              <c:numCache>
                <c:formatCode>0</c:formatCode>
                <c:ptCount val="6"/>
                <c:pt idx="0">
                  <c:v>1929</c:v>
                </c:pt>
                <c:pt idx="1">
                  <c:v>1930</c:v>
                </c:pt>
                <c:pt idx="2">
                  <c:v>1931</c:v>
                </c:pt>
                <c:pt idx="3">
                  <c:v>1932</c:v>
                </c:pt>
                <c:pt idx="4">
                  <c:v>1933</c:v>
                </c:pt>
                <c:pt idx="5">
                  <c:v>1934</c:v>
                </c:pt>
              </c:numCache>
            </c:numRef>
          </c:cat>
          <c:val>
            <c:numRef>
              <c:f>'graf 5 y 6 (utilizado)'!$S$25:$S$30</c:f>
              <c:numCache>
                <c:formatCode>0%</c:formatCode>
                <c:ptCount val="6"/>
                <c:pt idx="0">
                  <c:v>0.44052731287482538</c:v>
                </c:pt>
                <c:pt idx="1">
                  <c:v>0.46735213610105031</c:v>
                </c:pt>
                <c:pt idx="2">
                  <c:v>0.60898615476828011</c:v>
                </c:pt>
                <c:pt idx="3">
                  <c:v>0.55126841318020969</c:v>
                </c:pt>
                <c:pt idx="4">
                  <c:v>0.6843274713942582</c:v>
                </c:pt>
                <c:pt idx="5">
                  <c:v>0.66175174413493565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AFD-45D1-A6F5-6118FE27A2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1130368"/>
        <c:axId val="181131904"/>
      </c:lineChart>
      <c:catAx>
        <c:axId val="181130368"/>
        <c:scaling>
          <c:orientation val="minMax"/>
        </c:scaling>
        <c:delete val="0"/>
        <c:axPos val="b"/>
        <c:numFmt formatCode="0" sourceLinked="1"/>
        <c:majorTickMark val="out"/>
        <c:minorTickMark val="none"/>
        <c:tickLblPos val="nextTo"/>
        <c:spPr>
          <a:ln>
            <a:solidFill>
              <a:schemeClr val="tx2">
                <a:lumMod val="75000"/>
              </a:schemeClr>
            </a:solidFill>
          </a:ln>
        </c:spPr>
        <c:crossAx val="181131904"/>
        <c:crosses val="autoZero"/>
        <c:auto val="1"/>
        <c:lblAlgn val="ctr"/>
        <c:lblOffset val="100"/>
        <c:noMultiLvlLbl val="0"/>
      </c:catAx>
      <c:valAx>
        <c:axId val="181131904"/>
        <c:scaling>
          <c:orientation val="minMax"/>
          <c:max val="0.9"/>
          <c:min val="0"/>
        </c:scaling>
        <c:delete val="0"/>
        <c:axPos val="l"/>
        <c:numFmt formatCode="0%" sourceLinked="1"/>
        <c:majorTickMark val="out"/>
        <c:minorTickMark val="none"/>
        <c:tickLblPos val="nextTo"/>
        <c:spPr>
          <a:ln>
            <a:solidFill>
              <a:schemeClr val="tx2">
                <a:lumMod val="75000"/>
              </a:schemeClr>
            </a:solidFill>
          </a:ln>
        </c:spPr>
        <c:crossAx val="181130368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1.0696021719643763E-2"/>
          <c:y val="0.86394113410797901"/>
          <c:w val="0.9753316953316955"/>
          <c:h val="0.13605886589202101"/>
        </c:manualLayout>
      </c:layout>
      <c:overlay val="0"/>
    </c:legend>
    <c:plotVisOnly val="1"/>
    <c:dispBlanksAs val="gap"/>
    <c:showDLblsOverMax val="0"/>
  </c:chart>
  <c:spPr>
    <a:ln>
      <a:noFill/>
    </a:ln>
  </c:spPr>
  <c:txPr>
    <a:bodyPr/>
    <a:lstStyle/>
    <a:p>
      <a:pPr>
        <a:defRPr sz="1600">
          <a:solidFill>
            <a:schemeClr val="tx2">
              <a:lumMod val="75000"/>
            </a:schemeClr>
          </a:solidFill>
          <a:latin typeface="Abadi" panose="020B0604020104020204" pitchFamily="34" charset="0"/>
          <a:cs typeface="Times New Roman" pitchFamily="18" charset="0"/>
        </a:defRPr>
      </a:pPr>
      <a:endParaRPr lang="es-AR"/>
    </a:p>
  </c:tx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8043963254593266E-2"/>
          <c:y val="5.1400554097404488E-2"/>
          <c:w val="0.90967225659546291"/>
          <c:h val="0.59568460192475936"/>
        </c:manualLayout>
      </c:layout>
      <c:lineChart>
        <c:grouping val="standard"/>
        <c:varyColors val="0"/>
        <c:ser>
          <c:idx val="0"/>
          <c:order val="0"/>
          <c:tx>
            <c:v>Préstamos Oficiales</c:v>
          </c:tx>
          <c:spPr>
            <a:ln w="57150">
              <a:solidFill>
                <a:schemeClr val="tx1">
                  <a:lumMod val="85000"/>
                  <a:lumOff val="15000"/>
                </a:schemeClr>
              </a:solidFill>
            </a:ln>
          </c:spPr>
          <c:marker>
            <c:symbol val="none"/>
          </c:marker>
          <c:cat>
            <c:numRef>
              <c:f>Hoja1!$A$4:$A$24</c:f>
              <c:numCache>
                <c:formatCode>General</c:formatCode>
                <c:ptCount val="21"/>
                <c:pt idx="0">
                  <c:v>1914</c:v>
                </c:pt>
                <c:pt idx="1">
                  <c:v>1915</c:v>
                </c:pt>
                <c:pt idx="2">
                  <c:v>1916</c:v>
                </c:pt>
                <c:pt idx="3">
                  <c:v>1917</c:v>
                </c:pt>
                <c:pt idx="4">
                  <c:v>1918</c:v>
                </c:pt>
                <c:pt idx="5">
                  <c:v>1919</c:v>
                </c:pt>
                <c:pt idx="6">
                  <c:v>1920</c:v>
                </c:pt>
                <c:pt idx="7">
                  <c:v>1921</c:v>
                </c:pt>
                <c:pt idx="8">
                  <c:v>1922</c:v>
                </c:pt>
                <c:pt idx="9">
                  <c:v>1923</c:v>
                </c:pt>
                <c:pt idx="10">
                  <c:v>1924</c:v>
                </c:pt>
                <c:pt idx="11">
                  <c:v>1925</c:v>
                </c:pt>
                <c:pt idx="12">
                  <c:v>1926</c:v>
                </c:pt>
                <c:pt idx="13">
                  <c:v>1927</c:v>
                </c:pt>
                <c:pt idx="14">
                  <c:v>1928</c:v>
                </c:pt>
                <c:pt idx="15">
                  <c:v>1929</c:v>
                </c:pt>
                <c:pt idx="16">
                  <c:v>1930</c:v>
                </c:pt>
                <c:pt idx="17">
                  <c:v>1931</c:v>
                </c:pt>
                <c:pt idx="18">
                  <c:v>1932</c:v>
                </c:pt>
                <c:pt idx="19">
                  <c:v>1933</c:v>
                </c:pt>
                <c:pt idx="20">
                  <c:v>1934</c:v>
                </c:pt>
              </c:numCache>
            </c:numRef>
          </c:cat>
          <c:val>
            <c:numRef>
              <c:f>Hoja1!$B$4:$B$24</c:f>
              <c:numCache>
                <c:formatCode>_ * #,##0.00_ ;_ * \-#,##0.00_ ;_ * "-"??_ ;_ @_ </c:formatCode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71999.7</c:v>
                </c:pt>
                <c:pt idx="4">
                  <c:v>410759.3</c:v>
                </c:pt>
                <c:pt idx="5">
                  <c:v>361494.8</c:v>
                </c:pt>
                <c:pt idx="6">
                  <c:v>338435.4</c:v>
                </c:pt>
                <c:pt idx="7">
                  <c:v>147793.5</c:v>
                </c:pt>
                <c:pt idx="8">
                  <c:v>150873.9</c:v>
                </c:pt>
                <c:pt idx="9">
                  <c:v>152703.20000000001</c:v>
                </c:pt>
                <c:pt idx="10">
                  <c:v>154620.4</c:v>
                </c:pt>
                <c:pt idx="11">
                  <c:v>84625.5</c:v>
                </c:pt>
                <c:pt idx="12">
                  <c:v>86733.7</c:v>
                </c:pt>
                <c:pt idx="13">
                  <c:v>76073</c:v>
                </c:pt>
                <c:pt idx="14">
                  <c:v>70082.8</c:v>
                </c:pt>
                <c:pt idx="15">
                  <c:v>71435.3</c:v>
                </c:pt>
                <c:pt idx="16">
                  <c:v>67362</c:v>
                </c:pt>
                <c:pt idx="17">
                  <c:v>94424.5</c:v>
                </c:pt>
                <c:pt idx="18">
                  <c:v>94914.4</c:v>
                </c:pt>
                <c:pt idx="19">
                  <c:v>336167.2</c:v>
                </c:pt>
                <c:pt idx="20">
                  <c:v>348989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495-4B1C-80B1-3CDD33A8B2E8}"/>
            </c:ext>
          </c:extLst>
        </c:ser>
        <c:ser>
          <c:idx val="1"/>
          <c:order val="1"/>
          <c:tx>
            <c:v>Fondos Públicos</c:v>
          </c:tx>
          <c:spPr>
            <a:ln w="57150">
              <a:solidFill>
                <a:schemeClr val="bg1">
                  <a:lumMod val="65000"/>
                </a:schemeClr>
              </a:solidFill>
            </a:ln>
          </c:spPr>
          <c:marker>
            <c:symbol val="none"/>
          </c:marker>
          <c:cat>
            <c:numRef>
              <c:f>Hoja1!$A$4:$A$24</c:f>
              <c:numCache>
                <c:formatCode>General</c:formatCode>
                <c:ptCount val="21"/>
                <c:pt idx="0">
                  <c:v>1914</c:v>
                </c:pt>
                <c:pt idx="1">
                  <c:v>1915</c:v>
                </c:pt>
                <c:pt idx="2">
                  <c:v>1916</c:v>
                </c:pt>
                <c:pt idx="3">
                  <c:v>1917</c:v>
                </c:pt>
                <c:pt idx="4">
                  <c:v>1918</c:v>
                </c:pt>
                <c:pt idx="5">
                  <c:v>1919</c:v>
                </c:pt>
                <c:pt idx="6">
                  <c:v>1920</c:v>
                </c:pt>
                <c:pt idx="7">
                  <c:v>1921</c:v>
                </c:pt>
                <c:pt idx="8">
                  <c:v>1922</c:v>
                </c:pt>
                <c:pt idx="9">
                  <c:v>1923</c:v>
                </c:pt>
                <c:pt idx="10">
                  <c:v>1924</c:v>
                </c:pt>
                <c:pt idx="11">
                  <c:v>1925</c:v>
                </c:pt>
                <c:pt idx="12">
                  <c:v>1926</c:v>
                </c:pt>
                <c:pt idx="13">
                  <c:v>1927</c:v>
                </c:pt>
                <c:pt idx="14">
                  <c:v>1928</c:v>
                </c:pt>
                <c:pt idx="15">
                  <c:v>1929</c:v>
                </c:pt>
                <c:pt idx="16">
                  <c:v>1930</c:v>
                </c:pt>
                <c:pt idx="17">
                  <c:v>1931</c:v>
                </c:pt>
                <c:pt idx="18">
                  <c:v>1932</c:v>
                </c:pt>
                <c:pt idx="19">
                  <c:v>1933</c:v>
                </c:pt>
                <c:pt idx="20">
                  <c:v>1934</c:v>
                </c:pt>
              </c:numCache>
            </c:numRef>
          </c:cat>
          <c:val>
            <c:numRef>
              <c:f>Hoja1!$C$4:$C$24</c:f>
              <c:numCache>
                <c:formatCode>_ * #,##0.00_ ;_ * \-#,##0.00_ ;_ * "-"??_ ;_ @_ </c:formatCode>
                <c:ptCount val="21"/>
                <c:pt idx="0">
                  <c:v>21281.9075185</c:v>
                </c:pt>
                <c:pt idx="1">
                  <c:v>44046.497979799999</c:v>
                </c:pt>
                <c:pt idx="2">
                  <c:v>42645.483285300012</c:v>
                </c:pt>
                <c:pt idx="3">
                  <c:v>42987.171165999986</c:v>
                </c:pt>
                <c:pt idx="4">
                  <c:v>47749.09146559998</c:v>
                </c:pt>
                <c:pt idx="5">
                  <c:v>48368.023210400002</c:v>
                </c:pt>
                <c:pt idx="6">
                  <c:v>43392.385959800013</c:v>
                </c:pt>
                <c:pt idx="7">
                  <c:v>46525.736210500007</c:v>
                </c:pt>
                <c:pt idx="8">
                  <c:v>41178.314795500009</c:v>
                </c:pt>
                <c:pt idx="9">
                  <c:v>39827.113226400012</c:v>
                </c:pt>
                <c:pt idx="10">
                  <c:v>39174.768349999998</c:v>
                </c:pt>
                <c:pt idx="11">
                  <c:v>38269.592723499998</c:v>
                </c:pt>
                <c:pt idx="12">
                  <c:v>38370.361533000003</c:v>
                </c:pt>
                <c:pt idx="13">
                  <c:v>39026.043020999998</c:v>
                </c:pt>
                <c:pt idx="14">
                  <c:v>43584.457745000007</c:v>
                </c:pt>
                <c:pt idx="15">
                  <c:v>49537.743499999997</c:v>
                </c:pt>
                <c:pt idx="16">
                  <c:v>49284.211499999998</c:v>
                </c:pt>
                <c:pt idx="17">
                  <c:v>60377.026192999998</c:v>
                </c:pt>
                <c:pt idx="18">
                  <c:v>38760.739000000001</c:v>
                </c:pt>
                <c:pt idx="19">
                  <c:v>38760.739000000001</c:v>
                </c:pt>
                <c:pt idx="20">
                  <c:v>38760.739000000001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495-4B1C-80B1-3CDD33A8B2E8}"/>
            </c:ext>
          </c:extLst>
        </c:ser>
        <c:ser>
          <c:idx val="3"/>
          <c:order val="2"/>
          <c:tx>
            <c:v>Redescuentos de Letras de Tesorería</c:v>
          </c:tx>
          <c:spPr>
            <a:ln w="57150">
              <a:solidFill>
                <a:schemeClr val="bg1">
                  <a:lumMod val="50000"/>
                </a:schemeClr>
              </a:solidFill>
              <a:prstDash val="sysDash"/>
            </a:ln>
          </c:spPr>
          <c:marker>
            <c:symbol val="none"/>
          </c:marker>
          <c:cat>
            <c:numRef>
              <c:f>Hoja1!$A$4:$A$24</c:f>
              <c:numCache>
                <c:formatCode>General</c:formatCode>
                <c:ptCount val="21"/>
                <c:pt idx="0">
                  <c:v>1914</c:v>
                </c:pt>
                <c:pt idx="1">
                  <c:v>1915</c:v>
                </c:pt>
                <c:pt idx="2">
                  <c:v>1916</c:v>
                </c:pt>
                <c:pt idx="3">
                  <c:v>1917</c:v>
                </c:pt>
                <c:pt idx="4">
                  <c:v>1918</c:v>
                </c:pt>
                <c:pt idx="5">
                  <c:v>1919</c:v>
                </c:pt>
                <c:pt idx="6">
                  <c:v>1920</c:v>
                </c:pt>
                <c:pt idx="7">
                  <c:v>1921</c:v>
                </c:pt>
                <c:pt idx="8">
                  <c:v>1922</c:v>
                </c:pt>
                <c:pt idx="9">
                  <c:v>1923</c:v>
                </c:pt>
                <c:pt idx="10">
                  <c:v>1924</c:v>
                </c:pt>
                <c:pt idx="11">
                  <c:v>1925</c:v>
                </c:pt>
                <c:pt idx="12">
                  <c:v>1926</c:v>
                </c:pt>
                <c:pt idx="13">
                  <c:v>1927</c:v>
                </c:pt>
                <c:pt idx="14">
                  <c:v>1928</c:v>
                </c:pt>
                <c:pt idx="15">
                  <c:v>1929</c:v>
                </c:pt>
                <c:pt idx="16">
                  <c:v>1930</c:v>
                </c:pt>
                <c:pt idx="17">
                  <c:v>1931</c:v>
                </c:pt>
                <c:pt idx="18">
                  <c:v>1932</c:v>
                </c:pt>
                <c:pt idx="19">
                  <c:v>1933</c:v>
                </c:pt>
                <c:pt idx="20">
                  <c:v>1934</c:v>
                </c:pt>
              </c:numCache>
            </c:numRef>
          </c:cat>
          <c:val>
            <c:numRef>
              <c:f>Hoja1!$E$4:$E$24</c:f>
              <c:numCache>
                <c:formatCode>_ * #,##0_ ;_ * \-#,##0_ ;_ * "-"??_ ;_ @_ </c:formatCode>
                <c:ptCount val="21"/>
                <c:pt idx="1">
                  <c:v>49566</c:v>
                </c:pt>
                <c:pt idx="2">
                  <c:v>59228</c:v>
                </c:pt>
                <c:pt idx="3">
                  <c:v>112524</c:v>
                </c:pt>
                <c:pt idx="4">
                  <c:v>80001</c:v>
                </c:pt>
                <c:pt idx="5">
                  <c:v>160900</c:v>
                </c:pt>
                <c:pt idx="6">
                  <c:v>169779</c:v>
                </c:pt>
                <c:pt idx="7">
                  <c:v>144081</c:v>
                </c:pt>
                <c:pt idx="8">
                  <c:v>211290</c:v>
                </c:pt>
                <c:pt idx="9">
                  <c:v>243998</c:v>
                </c:pt>
                <c:pt idx="10">
                  <c:v>281487</c:v>
                </c:pt>
                <c:pt idx="11">
                  <c:v>269560</c:v>
                </c:pt>
                <c:pt idx="12">
                  <c:v>265921</c:v>
                </c:pt>
                <c:pt idx="13">
                  <c:v>245570</c:v>
                </c:pt>
                <c:pt idx="14">
                  <c:v>268812</c:v>
                </c:pt>
                <c:pt idx="15">
                  <c:v>302696</c:v>
                </c:pt>
                <c:pt idx="16">
                  <c:v>278860</c:v>
                </c:pt>
                <c:pt idx="17">
                  <c:v>303217</c:v>
                </c:pt>
                <c:pt idx="18">
                  <c:v>244027</c:v>
                </c:pt>
                <c:pt idx="19">
                  <c:v>246847</c:v>
                </c:pt>
                <c:pt idx="20">
                  <c:v>273752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495-4B1C-80B1-3CDD33A8B2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6469120"/>
        <c:axId val="46470656"/>
      </c:lineChart>
      <c:catAx>
        <c:axId val="464691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lang="es-ES"/>
            </a:pPr>
            <a:endParaRPr lang="es-AR"/>
          </a:p>
        </c:txPr>
        <c:crossAx val="46470656"/>
        <c:crosses val="autoZero"/>
        <c:auto val="1"/>
        <c:lblAlgn val="ctr"/>
        <c:lblOffset val="100"/>
        <c:noMultiLvlLbl val="0"/>
      </c:catAx>
      <c:valAx>
        <c:axId val="46470656"/>
        <c:scaling>
          <c:orientation val="minMax"/>
        </c:scaling>
        <c:delete val="0"/>
        <c:axPos val="l"/>
        <c:majorGridlines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lang="es-ES"/>
            </a:pPr>
            <a:endParaRPr lang="es-AR"/>
          </a:p>
        </c:txPr>
        <c:crossAx val="46469120"/>
        <c:crosses val="autoZero"/>
        <c:crossBetween val="between"/>
        <c:dispUnits>
          <c:builtInUnit val="thousands"/>
        </c:dispUnits>
      </c:valAx>
    </c:plotArea>
    <c:legend>
      <c:legendPos val="b"/>
      <c:layout>
        <c:manualLayout>
          <c:xMode val="edge"/>
          <c:yMode val="edge"/>
          <c:x val="2.7805463012215721E-2"/>
          <c:y val="0.73568738926461708"/>
          <c:w val="0.96883333333333421"/>
          <c:h val="0.17939231554389048"/>
        </c:manualLayout>
      </c:layout>
      <c:overlay val="0"/>
      <c:txPr>
        <a:bodyPr/>
        <a:lstStyle/>
        <a:p>
          <a:pPr>
            <a:defRPr lang="es-ES"/>
          </a:pPr>
          <a:endParaRPr lang="es-AR"/>
        </a:p>
      </c:txPr>
    </c:legend>
    <c:plotVisOnly val="1"/>
    <c:dispBlanksAs val="gap"/>
    <c:showDLblsOverMax val="0"/>
  </c:chart>
  <c:spPr>
    <a:ln>
      <a:noFill/>
    </a:ln>
  </c:spPr>
  <c:txPr>
    <a:bodyPr/>
    <a:lstStyle/>
    <a:p>
      <a:pPr>
        <a:defRPr sz="1100">
          <a:latin typeface="Times New Roman" pitchFamily="18" charset="0"/>
          <a:cs typeface="Times New Roman" pitchFamily="18" charset="0"/>
        </a:defRPr>
      </a:pPr>
      <a:endParaRPr lang="es-AR"/>
    </a:p>
  </c:tx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spPr>
            <a:ln w="57150">
              <a:solidFill>
                <a:schemeClr val="tx1"/>
              </a:solidFill>
            </a:ln>
          </c:spPr>
          <c:marker>
            <c:symbol val="none"/>
          </c:marker>
          <c:cat>
            <c:numRef>
              <c:f>Hoja1!$A$33:$A$39</c:f>
              <c:numCache>
                <c:formatCode>General</c:formatCode>
                <c:ptCount val="7"/>
                <c:pt idx="0">
                  <c:v>1928</c:v>
                </c:pt>
                <c:pt idx="1">
                  <c:v>1929</c:v>
                </c:pt>
                <c:pt idx="2">
                  <c:v>1930</c:v>
                </c:pt>
                <c:pt idx="3">
                  <c:v>1931</c:v>
                </c:pt>
                <c:pt idx="4">
                  <c:v>1932</c:v>
                </c:pt>
                <c:pt idx="5">
                  <c:v>1933</c:v>
                </c:pt>
                <c:pt idx="6">
                  <c:v>1934</c:v>
                </c:pt>
              </c:numCache>
            </c:numRef>
          </c:cat>
          <c:val>
            <c:numRef>
              <c:f>Hoja1!$G$33:$G$39</c:f>
              <c:numCache>
                <c:formatCode>0%</c:formatCode>
                <c:ptCount val="7"/>
                <c:pt idx="0">
                  <c:v>0.28000000000000008</c:v>
                </c:pt>
                <c:pt idx="1">
                  <c:v>0.36000000000000032</c:v>
                </c:pt>
                <c:pt idx="2">
                  <c:v>0.52</c:v>
                </c:pt>
                <c:pt idx="3">
                  <c:v>0.56000000000000005</c:v>
                </c:pt>
                <c:pt idx="4">
                  <c:v>0.35000000000000031</c:v>
                </c:pt>
                <c:pt idx="5">
                  <c:v>0.29000000000000031</c:v>
                </c:pt>
                <c:pt idx="6">
                  <c:v>0.29000000000000031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D34-4A71-8EA6-27A5EC2B7F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6532864"/>
        <c:axId val="46575616"/>
      </c:lineChart>
      <c:catAx>
        <c:axId val="465328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lang="es-AR"/>
            </a:pPr>
            <a:endParaRPr lang="es-AR"/>
          </a:p>
        </c:txPr>
        <c:crossAx val="46575616"/>
        <c:crosses val="autoZero"/>
        <c:auto val="1"/>
        <c:lblAlgn val="ctr"/>
        <c:lblOffset val="100"/>
        <c:noMultiLvlLbl val="0"/>
      </c:catAx>
      <c:valAx>
        <c:axId val="46575616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txPr>
          <a:bodyPr/>
          <a:lstStyle/>
          <a:p>
            <a:pPr>
              <a:defRPr lang="es-AR"/>
            </a:pPr>
            <a:endParaRPr lang="es-AR"/>
          </a:p>
        </c:txPr>
        <c:crossAx val="46532864"/>
        <c:crosses val="autoZero"/>
        <c:crossBetween val="between"/>
      </c:valAx>
    </c:plotArea>
    <c:plotVisOnly val="1"/>
    <c:dispBlanksAs val="gap"/>
    <c:showDLblsOverMax val="0"/>
  </c:chart>
  <c:spPr>
    <a:ln>
      <a:noFill/>
    </a:ln>
  </c:spPr>
  <c:txPr>
    <a:bodyPr/>
    <a:lstStyle/>
    <a:p>
      <a:pPr>
        <a:defRPr sz="1100" b="0">
          <a:latin typeface="Times New Roman" pitchFamily="18" charset="0"/>
          <a:cs typeface="Times New Roman" pitchFamily="18" charset="0"/>
        </a:defRPr>
      </a:pPr>
      <a:endParaRPr lang="es-AR"/>
    </a:p>
  </c:tx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1"/>
          <c:order val="1"/>
          <c:spPr>
            <a:ln w="57150">
              <a:solidFill>
                <a:schemeClr val="tx1"/>
              </a:solidFill>
            </a:ln>
          </c:spPr>
          <c:invertIfNegative val="0"/>
          <c:cat>
            <c:multiLvlStrRef>
              <c:f>Hoja1!$A$52:$B$87</c:f>
            </c:multiLvlStrRef>
          </c:cat>
          <c:val>
            <c:numRef>
              <c:f>Hoja1!$C$52:$C$87</c:f>
            </c:numRef>
          </c:val>
          <c:extLst>
            <c:ext xmlns:c16="http://schemas.microsoft.com/office/drawing/2014/chart" uri="{C3380CC4-5D6E-409C-BE32-E72D297353CC}">
              <c16:uniqueId val="{00000000-2366-4866-BA39-EADAC671B5C2}"/>
            </c:ext>
          </c:extLst>
        </c:ser>
        <c:ser>
          <c:idx val="0"/>
          <c:order val="0"/>
          <c:spPr>
            <a:solidFill>
              <a:schemeClr val="tx1">
                <a:lumMod val="85000"/>
                <a:lumOff val="15000"/>
              </a:schemeClr>
            </a:solidFill>
          </c:spPr>
          <c:invertIfNegative val="0"/>
          <c:cat>
            <c:multiLvlStrRef>
              <c:f>'[otros graficos ponencia.xlsx]Hoja1'!$G$63:$H$74</c:f>
              <c:multiLvlStrCache>
                <c:ptCount val="12"/>
                <c:lvl>
                  <c:pt idx="0">
                    <c:v>Jun</c:v>
                  </c:pt>
                  <c:pt idx="1">
                    <c:v>Sep</c:v>
                  </c:pt>
                  <c:pt idx="2">
                    <c:v>Dic</c:v>
                  </c:pt>
                  <c:pt idx="3">
                    <c:v>Mar</c:v>
                  </c:pt>
                  <c:pt idx="4">
                    <c:v>Jun</c:v>
                  </c:pt>
                  <c:pt idx="5">
                    <c:v>Sep</c:v>
                  </c:pt>
                  <c:pt idx="6">
                    <c:v>Dic</c:v>
                  </c:pt>
                  <c:pt idx="7">
                    <c:v>Mar</c:v>
                  </c:pt>
                  <c:pt idx="8">
                    <c:v>Jun</c:v>
                  </c:pt>
                  <c:pt idx="9">
                    <c:v>Sep</c:v>
                  </c:pt>
                  <c:pt idx="10">
                    <c:v>Dic</c:v>
                  </c:pt>
                  <c:pt idx="11">
                    <c:v>Mar</c:v>
                  </c:pt>
                </c:lvl>
                <c:lvl>
                  <c:pt idx="0">
                    <c:v>1932</c:v>
                  </c:pt>
                  <c:pt idx="3">
                    <c:v>1933</c:v>
                  </c:pt>
                  <c:pt idx="7">
                    <c:v>1934</c:v>
                  </c:pt>
                  <c:pt idx="11">
                    <c:v>1935</c:v>
                  </c:pt>
                </c:lvl>
              </c:multiLvlStrCache>
            </c:multiLvlStrRef>
          </c:cat>
          <c:val>
            <c:numRef>
              <c:f>'[otros graficos ponencia.xlsx]Hoja1'!$I$65:$I$73</c:f>
              <c:numCache>
                <c:formatCode>_-* #,##0.00\ _€_-;\-* #,##0.00\ _€_-;_-* "-"??\ _€_-;_-@_-</c:formatCode>
                <c:ptCount val="9"/>
                <c:pt idx="0">
                  <c:v>166.5</c:v>
                </c:pt>
                <c:pt idx="1">
                  <c:v>163.01</c:v>
                </c:pt>
                <c:pt idx="2">
                  <c:v>159.51</c:v>
                </c:pt>
                <c:pt idx="3">
                  <c:v>156.02000000000001</c:v>
                </c:pt>
                <c:pt idx="4">
                  <c:v>153.41</c:v>
                </c:pt>
                <c:pt idx="5">
                  <c:v>153.41</c:v>
                </c:pt>
                <c:pt idx="6">
                  <c:v>150.69999999999999</c:v>
                </c:pt>
                <c:pt idx="7">
                  <c:v>148</c:v>
                </c:pt>
                <c:pt idx="8">
                  <c:v>145.29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366-4866-BA39-EADAC671B5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6402944"/>
        <c:axId val="46408832"/>
      </c:barChart>
      <c:catAx>
        <c:axId val="4640294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lang="es-AR"/>
            </a:pPr>
            <a:endParaRPr lang="es-AR"/>
          </a:p>
        </c:txPr>
        <c:crossAx val="46408832"/>
        <c:crosses val="autoZero"/>
        <c:auto val="1"/>
        <c:lblAlgn val="ctr"/>
        <c:lblOffset val="100"/>
        <c:noMultiLvlLbl val="0"/>
      </c:catAx>
      <c:valAx>
        <c:axId val="46408832"/>
        <c:scaling>
          <c:orientation val="minMax"/>
        </c:scaling>
        <c:delete val="0"/>
        <c:axPos val="l"/>
        <c:majorGridlines/>
        <c:numFmt formatCode="_-* #,##0\ _€_-;\-* #,##0\ _€_-;_-* &quot;-&quot;\ _€_-;_-@_-" sourceLinked="0"/>
        <c:majorTickMark val="out"/>
        <c:minorTickMark val="none"/>
        <c:tickLblPos val="nextTo"/>
        <c:txPr>
          <a:bodyPr/>
          <a:lstStyle/>
          <a:p>
            <a:pPr>
              <a:defRPr lang="es-AR"/>
            </a:pPr>
            <a:endParaRPr lang="es-AR"/>
          </a:p>
        </c:txPr>
        <c:crossAx val="46402944"/>
        <c:crosses val="autoZero"/>
        <c:crossBetween val="between"/>
      </c:valAx>
    </c:plotArea>
    <c:plotVisOnly val="1"/>
    <c:dispBlanksAs val="gap"/>
    <c:showDLblsOverMax val="0"/>
  </c:chart>
  <c:spPr>
    <a:ln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22AE25-5E71-4729-B8E5-BD76917F9BDA}" type="datetimeFigureOut">
              <a:rPr lang="es-AR" smtClean="0"/>
              <a:t>27/8/2019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C8D7E0-60A5-48DE-8B21-0007089EEFA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73094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8D7E0-60A5-48DE-8B21-0007089EEFA5}" type="slidenum">
              <a:rPr lang="es-AR" smtClean="0"/>
              <a:t>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86316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8D7E0-60A5-48DE-8B21-0007089EEFA5}" type="slidenum">
              <a:rPr lang="es-AR" smtClean="0"/>
              <a:t>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13933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8D7E0-60A5-48DE-8B21-0007089EEFA5}" type="slidenum">
              <a:rPr lang="es-AR" smtClean="0"/>
              <a:t>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541267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8D7E0-60A5-48DE-8B21-0007089EEFA5}" type="slidenum">
              <a:rPr lang="es-AR" smtClean="0"/>
              <a:t>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569365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8D7E0-60A5-48DE-8B21-0007089EEFA5}" type="slidenum">
              <a:rPr lang="es-AR" smtClean="0"/>
              <a:t>10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333435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8D7E0-60A5-48DE-8B21-0007089EEFA5}" type="slidenum">
              <a:rPr lang="es-AR" smtClean="0"/>
              <a:t>11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198112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Gráficos: ratios de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liq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contrafact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resto de los bancos y resultado financiero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contrafactual del estado (titulo grandes RESTO DE LOS BANCOS y en el otro ESTADO)</a:t>
            </a:r>
          </a:p>
          <a:p>
            <a:endParaRPr lang="es-E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8D7E0-60A5-48DE-8B21-0007089EEFA5}" type="slidenum">
              <a:rPr lang="es-AR" smtClean="0"/>
              <a:t>12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321744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Poner en el cuadrante izquierdo Balanza de Pagos y en el cuadrante derecho cantidades, precios.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8D7E0-60A5-48DE-8B21-0007089EEFA5}" type="slidenum">
              <a:rPr lang="es-AR" smtClean="0"/>
              <a:t>15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182814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Poner en el cuadrante izquierdo Balanza de Pagos y en el cuadrante derecho cantidades, precios.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8D7E0-60A5-48DE-8B21-0007089EEFA5}" type="slidenum">
              <a:rPr lang="es-AR" smtClean="0"/>
              <a:t>22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948623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Poner en el cuadrante izquierdo Balanza de Pagos y en el cuadrante derecho cantidades, precios.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8D7E0-60A5-48DE-8B21-0007089EEFA5}" type="slidenum">
              <a:rPr lang="es-AR" smtClean="0"/>
              <a:t>23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814395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Poner en el cuadrante izquierdo Balanza de Pagos y en el cuadrante derecho cantidades, precios.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8D7E0-60A5-48DE-8B21-0007089EEFA5}" type="slidenum">
              <a:rPr lang="es-AR" smtClean="0"/>
              <a:t>24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020410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Poner en el cuadrante izquierdo Balanza de Pagos y en el cuadrante derecho cantidades, precios.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8D7E0-60A5-48DE-8B21-0007089EEFA5}" type="slidenum">
              <a:rPr lang="es-AR" smtClean="0"/>
              <a:t>25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074694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Poner en el cuadrante izquierdo Balanza de Pagos y en el cuadrante derecho cantidades, precios.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8D7E0-60A5-48DE-8B21-0007089EEFA5}" type="slidenum">
              <a:rPr lang="es-AR" smtClean="0"/>
              <a:t>26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355171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Poner en el cuadrante izquierdo Balanza de Pagos y en el cuadrante derecho cantidades, precios.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8D7E0-60A5-48DE-8B21-0007089EEFA5}" type="slidenum">
              <a:rPr lang="es-AR" smtClean="0"/>
              <a:t>27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747855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Poner en el cuadrante izquierdo Balanza de Pagos y en el cuadrante derecho cantidades, precios.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8D7E0-60A5-48DE-8B21-0007089EEFA5}" type="slidenum">
              <a:rPr lang="es-AR" smtClean="0"/>
              <a:t>28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314534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Poner en el cuadrante izquierdo Balanza de Pagos y en el cuadrante derecho cantidades, precios.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8D7E0-60A5-48DE-8B21-0007089EEFA5}" type="slidenum">
              <a:rPr lang="es-AR" smtClean="0"/>
              <a:t>31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800778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Poner en el cuadrante izquierdo Balanza de Pagos y en el cuadrante derecho cantidades, precios.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8D7E0-60A5-48DE-8B21-0007089EEFA5}" type="slidenum">
              <a:rPr lang="es-AR" smtClean="0"/>
              <a:t>32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047278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Poner en el cuadrante izquierdo Balanza de Pagos y en el cuadrante derecho cantidades, precios.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8D7E0-60A5-48DE-8B21-0007089EEFA5}" type="slidenum">
              <a:rPr lang="es-AR" smtClean="0"/>
              <a:t>33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368567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Poner en el cuadrante izquierdo Balanza de Pagos y en el cuadrante derecho cantidades, precios.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8D7E0-60A5-48DE-8B21-0007089EEFA5}" type="slidenum">
              <a:rPr lang="es-AR" smtClean="0"/>
              <a:t>34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903952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Poner en el cuadrante izquierdo Balanza de Pagos y en el cuadrante derecho cantidades, precios.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8D7E0-60A5-48DE-8B21-0007089EEFA5}" type="slidenum">
              <a:rPr lang="es-AR" smtClean="0"/>
              <a:t>35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206168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Poner en el cuadrante izquierdo Balanza de Pagos y en el cuadrante derecho cantidades, precios.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8D7E0-60A5-48DE-8B21-0007089EEFA5}" type="slidenum">
              <a:rPr lang="es-AR" smtClean="0"/>
              <a:t>36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152322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Poner en el cuadrante izquierdo Balanza de Pagos y en el cuadrante derecho cantidades, precios.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8D7E0-60A5-48DE-8B21-0007089EEFA5}" type="slidenum">
              <a:rPr lang="es-AR" smtClean="0"/>
              <a:t>37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142923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Poner en el cuadrante izquierdo Balanza de Pagos y en el cuadrante derecho cantidades, precios.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8D7E0-60A5-48DE-8B21-0007089EEFA5}" type="slidenum">
              <a:rPr lang="es-AR" smtClean="0"/>
              <a:t>38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720524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Poner en el cuadrante izquierdo Balanza de Pagos y en el cuadrante derecho cantidades, precios.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8D7E0-60A5-48DE-8B21-0007089EEFA5}" type="slidenum">
              <a:rPr lang="es-AR" smtClean="0"/>
              <a:t>39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346459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Poner en el cuadrante izquierdo Balanza de Pagos y en el cuadrante derecho cantidades, precios.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8D7E0-60A5-48DE-8B21-0007089EEFA5}" type="slidenum">
              <a:rPr lang="es-AR" smtClean="0"/>
              <a:t>42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749774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Poner en el cuadrante izquierdo Balanza de Pagos y en el cuadrante derecho cantidades, precios.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8D7E0-60A5-48DE-8B21-0007089EEFA5}" type="slidenum">
              <a:rPr lang="es-AR" smtClean="0"/>
              <a:t>43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936104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Poner en el cuadrante izquierdo Balanza de Pagos y en el cuadrante derecho cantidades, precios.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8D7E0-60A5-48DE-8B21-0007089EEFA5}" type="slidenum">
              <a:rPr lang="es-AR" smtClean="0"/>
              <a:t>46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605692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Poner en el cuadrante izquierdo Balanza de Pagos y en el cuadrante derecho cantidades, precios.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8D7E0-60A5-48DE-8B21-0007089EEFA5}" type="slidenum">
              <a:rPr lang="es-AR" smtClean="0"/>
              <a:t>47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045473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Poner en el cuadrante izquierdo Balanza de Pagos y en el cuadrante derecho cantidades, precios.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8D7E0-60A5-48DE-8B21-0007089EEFA5}" type="slidenum">
              <a:rPr lang="es-AR" smtClean="0"/>
              <a:t>48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102285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Poner en el cuadrante izquierdo Balanza de Pagos y en el cuadrante derecho cantidades, precios.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8D7E0-60A5-48DE-8B21-0007089EEFA5}" type="slidenum">
              <a:rPr lang="es-AR" smtClean="0"/>
              <a:t>49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0400798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Poner en el cuadrante izquierdo Balanza de Pagos y en el cuadrante derecho cantidades, precios.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8D7E0-60A5-48DE-8B21-0007089EEFA5}" type="slidenum">
              <a:rPr lang="es-AR" smtClean="0"/>
              <a:t>50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0749921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Poner en el cuadrante izquierdo Balanza de Pagos y en el cuadrante derecho cantidades, precios.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8D7E0-60A5-48DE-8B21-0007089EEFA5}" type="slidenum">
              <a:rPr lang="es-AR" smtClean="0"/>
              <a:t>51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9295389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Poner en el cuadrante izquierdo Balanza de Pagos y en el cuadrante derecho cantidades, precios.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8D7E0-60A5-48DE-8B21-0007089EEFA5}" type="slidenum">
              <a:rPr lang="es-AR" smtClean="0"/>
              <a:t>52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5310998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Poner en el cuadrante izquierdo Balanza de Pagos y en el cuadrante derecho cantidades, precios.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8D7E0-60A5-48DE-8B21-0007089EEFA5}" type="slidenum">
              <a:rPr lang="es-AR" smtClean="0"/>
              <a:t>53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014624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Poner en el cuadrante izquierdo Balanza de Pagos y en el cuadrante derecho cantidades, precios.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8D7E0-60A5-48DE-8B21-0007089EEFA5}" type="slidenum">
              <a:rPr lang="es-AR" smtClean="0"/>
              <a:t>54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2964969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Poner en el cuadrante izquierdo Balanza de Pagos y en el cuadrante derecho cantidades, precios.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8D7E0-60A5-48DE-8B21-0007089EEFA5}" type="slidenum">
              <a:rPr lang="es-AR" smtClean="0"/>
              <a:t>55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2057481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Poner en el cuadrante izquierdo Balanza de Pagos y en el cuadrante derecho cantidades, precios.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8D7E0-60A5-48DE-8B21-0007089EEFA5}" type="slidenum">
              <a:rPr lang="es-AR" smtClean="0"/>
              <a:t>59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3117220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Poner en el cuadrante izquierdo Balanza de Pagos y en el cuadrante derecho cantidades, precios.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8D7E0-60A5-48DE-8B21-0007089EEFA5}" type="slidenum">
              <a:rPr lang="es-AR" smtClean="0"/>
              <a:t>61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6343433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Poner en el cuadrante izquierdo Balanza de Pagos y en el cuadrante derecho cantidades, precios.</a:t>
            </a:r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C8D7E0-60A5-48DE-8B21-0007089EEFA5}" type="slidenum">
              <a:rPr lang="es-AR" smtClean="0"/>
              <a:t>62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13607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BF1D8F-B39F-45F3-9B3D-5548A62ED7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6C046F-560E-4149-A354-DA953EEC5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A1F951-6DD3-438E-BA5D-371978532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8147-A517-4773-9B4B-66EFA76756A0}" type="datetimeFigureOut">
              <a:rPr lang="es-AR" smtClean="0"/>
              <a:t>27/8/2019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F1F3D3-733D-4459-BB11-0D74B6E13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406F79-5D0E-4069-8952-ABD3D1E3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F30C5-80D6-4941-B1A8-12B4B87514E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82461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29487C-E925-401A-B2DD-B8BEDB572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012FD2-E62A-4B65-B6B6-A4DC2A045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DB2F76-0F0E-4A18-94A0-DCF7142E2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8147-A517-4773-9B4B-66EFA76756A0}" type="datetimeFigureOut">
              <a:rPr lang="es-AR" smtClean="0"/>
              <a:t>27/8/2019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32B196-3733-49C7-9921-7A56782F2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5A7394-D499-4D40-A53F-794ED19D0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F30C5-80D6-4941-B1A8-12B4B87514E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63985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05896E-49DE-4266-AD09-126462ED0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0C38115-A992-45D4-86A9-48B2161F6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CA0AE0-2D7F-498B-BD2F-3CAEE54FD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8147-A517-4773-9B4B-66EFA76756A0}" type="datetimeFigureOut">
              <a:rPr lang="es-AR" smtClean="0"/>
              <a:t>27/8/2019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E6ADF1-5ED1-41FD-9804-7C41FF049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422BEE-CC40-4C60-8197-84BAEF7CC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F30C5-80D6-4941-B1A8-12B4B87514E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18127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A9C223-5719-4702-ADF3-274168185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2A53F4-6DDC-40A8-A5AD-ACBB075FA9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2B486E-3812-4174-866C-9D7A473116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29C2A99-C734-4568-8137-1B964C4EC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8147-A517-4773-9B4B-66EFA76756A0}" type="datetimeFigureOut">
              <a:rPr lang="es-AR" smtClean="0"/>
              <a:t>27/8/2019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EA9EFDE-331C-45C8-8FC6-245FD2683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1EFB3C-4317-4F5E-B3A9-1531CF1D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F30C5-80D6-4941-B1A8-12B4B87514E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46208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82079A-BB45-41D1-BE40-B4BA0F686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60CA92-B10A-4151-91EE-262762353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84887FD-F3B4-4A0C-B210-77B2B06CA8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D0F3137-1265-4B00-9B0E-29F1BA2A95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6EB7344-AB23-4DE6-9144-AC269C9D2F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89C05E8-1D79-4B65-912D-353054C21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8147-A517-4773-9B4B-66EFA76756A0}" type="datetimeFigureOut">
              <a:rPr lang="es-AR" smtClean="0"/>
              <a:t>27/8/2019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B186AE-AEB4-4809-B10E-50B8461AB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3013A2E-30DB-4168-8FC0-5906081FC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F30C5-80D6-4941-B1A8-12B4B87514E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02513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5C8D1C-E446-44B7-85DD-2A84E2BFB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04DBA65-60D9-4F61-B4EA-87DACFA2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8147-A517-4773-9B4B-66EFA76756A0}" type="datetimeFigureOut">
              <a:rPr lang="es-AR" smtClean="0"/>
              <a:t>27/8/2019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A939CBB-4CB2-40F9-A1DA-2CD6EFF45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83C4C76-9C60-442A-A0E0-C9313169F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F30C5-80D6-4941-B1A8-12B4B87514E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08025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5D63F63-14DD-4A1D-BB2A-08C4A460D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8147-A517-4773-9B4B-66EFA76756A0}" type="datetimeFigureOut">
              <a:rPr lang="es-AR" smtClean="0"/>
              <a:t>27/8/2019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D4B49F3-A5C1-4856-AF06-10618020D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BF7B133-07C2-4216-930C-C6DA67A42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F30C5-80D6-4941-B1A8-12B4B87514E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69377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CABAE-47FE-4356-905A-6169CA4E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E8FC55-5B59-4F90-A0F9-53E219340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110EB59-0676-42F6-A1C2-E66E828FA3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01CE14-E7C7-445C-A749-C51549C35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8147-A517-4773-9B4B-66EFA76756A0}" type="datetimeFigureOut">
              <a:rPr lang="es-AR" smtClean="0"/>
              <a:t>27/8/2019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915FAC8-BDA5-4B72-9DCF-BBA9B9D3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989D86A-527E-40EE-A88A-04FB12AED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F30C5-80D6-4941-B1A8-12B4B87514E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48512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16EF08-3176-4345-860B-8211D68F0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7699B88-01DC-4915-8F30-3795A721EF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6BA98AB-1D3C-409B-9C38-633297CD6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61838A7-A6B0-4E1A-BEFB-804BB6231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8147-A517-4773-9B4B-66EFA76756A0}" type="datetimeFigureOut">
              <a:rPr lang="es-AR" smtClean="0"/>
              <a:t>27/8/2019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3D09980-F6D5-4F16-8179-8008379BE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1060480-3EC8-4203-BDBB-DCDCB6145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F30C5-80D6-4941-B1A8-12B4B87514E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05233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8CD032-2EF2-49B6-810D-6AA106388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05A988E-5358-4C7E-AFC3-958229E47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302643-5CC1-49E2-A0FE-5466BBD6D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8147-A517-4773-9B4B-66EFA76756A0}" type="datetimeFigureOut">
              <a:rPr lang="es-AR" smtClean="0"/>
              <a:t>27/8/2019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45719E-7B46-4DAA-8A10-3C22D2776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F33433-AC2B-43EA-8EF7-7A1B009FE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F30C5-80D6-4941-B1A8-12B4B87514E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72412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5ACD0DC-8E25-4927-B41D-31CB1DAF60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617F4A0-FFE2-4622-9186-9B1FF8FD6B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441E5C-B2DE-444E-B0C9-420251CA1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C8147-A517-4773-9B4B-66EFA76756A0}" type="datetimeFigureOut">
              <a:rPr lang="es-AR" smtClean="0"/>
              <a:t>27/8/2019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A9162D-EBC2-4B3C-890A-078C3343B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7DDD7B-9584-4F03-B38B-A35445460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F30C5-80D6-4941-B1A8-12B4B87514E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07388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D05EDC7-D84E-4124-8E38-96F8A332F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F29AFF-7A31-4915-96EA-677342659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515452-915B-4A5B-AD8A-9DC8855BBE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9C8147-A517-4773-9B4B-66EFA76756A0}" type="datetimeFigureOut">
              <a:rPr lang="es-AR" smtClean="0"/>
              <a:t>27/8/2019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9230A1-A6FB-4FCA-BBA8-0AA02801D0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9BC294-E6CA-4043-9AF5-5A21E15B6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2F30C5-80D6-4941-B1A8-12B4B87514E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05936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microsoft.com/office/2007/relationships/hdphoto" Target="../media/hdphoto2.wdp"/><Relationship Id="rId4" Type="http://schemas.openxmlformats.org/officeDocument/2006/relationships/image" Target="../media/image3.svg"/><Relationship Id="rId9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chart" Target="../charts/char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svg"/><Relationship Id="rId18" Type="http://schemas.openxmlformats.org/officeDocument/2006/relationships/image" Target="../media/image28.png"/><Relationship Id="rId3" Type="http://schemas.openxmlformats.org/officeDocument/2006/relationships/image" Target="../media/image13.svg"/><Relationship Id="rId21" Type="http://schemas.openxmlformats.org/officeDocument/2006/relationships/image" Target="../media/image31.svg"/><Relationship Id="rId7" Type="http://schemas.openxmlformats.org/officeDocument/2006/relationships/image" Target="../media/image17.svg"/><Relationship Id="rId12" Type="http://schemas.openxmlformats.org/officeDocument/2006/relationships/image" Target="../media/image22.png"/><Relationship Id="rId17" Type="http://schemas.openxmlformats.org/officeDocument/2006/relationships/image" Target="../media/image27.sv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5" Type="http://schemas.openxmlformats.org/officeDocument/2006/relationships/image" Target="../media/image25.svg"/><Relationship Id="rId10" Type="http://schemas.openxmlformats.org/officeDocument/2006/relationships/image" Target="../media/image20.png"/><Relationship Id="rId19" Type="http://schemas.openxmlformats.org/officeDocument/2006/relationships/image" Target="../media/image29.svg"/><Relationship Id="rId4" Type="http://schemas.openxmlformats.org/officeDocument/2006/relationships/image" Target="../media/image14.png"/><Relationship Id="rId9" Type="http://schemas.openxmlformats.org/officeDocument/2006/relationships/image" Target="../media/image19.svg"/><Relationship Id="rId1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chart" Target="../charts/chart10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13" Type="http://schemas.openxmlformats.org/officeDocument/2006/relationships/image" Target="../media/image4.png"/><Relationship Id="rId3" Type="http://schemas.openxmlformats.org/officeDocument/2006/relationships/image" Target="../media/image38.png"/><Relationship Id="rId7" Type="http://schemas.openxmlformats.org/officeDocument/2006/relationships/image" Target="../media/image41.png"/><Relationship Id="rId12" Type="http://schemas.openxmlformats.org/officeDocument/2006/relationships/image" Target="../media/image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svg"/><Relationship Id="rId11" Type="http://schemas.openxmlformats.org/officeDocument/2006/relationships/image" Target="../media/image2.png"/><Relationship Id="rId5" Type="http://schemas.openxmlformats.org/officeDocument/2006/relationships/image" Target="../media/image40.png"/><Relationship Id="rId15" Type="http://schemas.openxmlformats.org/officeDocument/2006/relationships/image" Target="../media/image45.png"/><Relationship Id="rId10" Type="http://schemas.openxmlformats.org/officeDocument/2006/relationships/image" Target="../media/image44.svg"/><Relationship Id="rId4" Type="http://schemas.openxmlformats.org/officeDocument/2006/relationships/image" Target="../media/image39.svg"/><Relationship Id="rId9" Type="http://schemas.openxmlformats.org/officeDocument/2006/relationships/image" Target="../media/image43.png"/><Relationship Id="rId14" Type="http://schemas.openxmlformats.org/officeDocument/2006/relationships/image" Target="../media/image5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1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10" Type="http://schemas.openxmlformats.org/officeDocument/2006/relationships/image" Target="../media/image52.svg"/><Relationship Id="rId4" Type="http://schemas.openxmlformats.org/officeDocument/2006/relationships/image" Target="../media/image47.svg"/><Relationship Id="rId9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4.svg"/><Relationship Id="rId5" Type="http://schemas.openxmlformats.org/officeDocument/2006/relationships/image" Target="../media/image53.png"/><Relationship Id="rId4" Type="http://schemas.openxmlformats.org/officeDocument/2006/relationships/chart" Target="../charts/chart1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1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5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svg"/><Relationship Id="rId5" Type="http://schemas.openxmlformats.org/officeDocument/2006/relationships/image" Target="../media/image63.png"/><Relationship Id="rId4" Type="http://schemas.openxmlformats.org/officeDocument/2006/relationships/image" Target="../media/image3.sv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64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svg"/><Relationship Id="rId5" Type="http://schemas.openxmlformats.org/officeDocument/2006/relationships/image" Target="../media/image65.png"/><Relationship Id="rId4" Type="http://schemas.openxmlformats.org/officeDocument/2006/relationships/image" Target="../media/image3.svg"/><Relationship Id="rId9" Type="http://schemas.openxmlformats.org/officeDocument/2006/relationships/image" Target="../media/image6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2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2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5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6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2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8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2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5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0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svg"/><Relationship Id="rId4" Type="http://schemas.openxmlformats.org/officeDocument/2006/relationships/image" Target="../media/image6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67.png"/><Relationship Id="rId4" Type="http://schemas.openxmlformats.org/officeDocument/2006/relationships/image" Target="../media/image5.sv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3" Type="http://schemas.openxmlformats.org/officeDocument/2006/relationships/image" Target="../media/image2.png"/><Relationship Id="rId7" Type="http://schemas.openxmlformats.org/officeDocument/2006/relationships/image" Target="../media/image45.png"/><Relationship Id="rId12" Type="http://schemas.openxmlformats.org/officeDocument/2006/relationships/image" Target="../media/image67.png"/><Relationship Id="rId17" Type="http://schemas.openxmlformats.org/officeDocument/2006/relationships/image" Target="../media/image42.sv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svg"/><Relationship Id="rId11" Type="http://schemas.openxmlformats.org/officeDocument/2006/relationships/image" Target="../media/image72.png"/><Relationship Id="rId5" Type="http://schemas.openxmlformats.org/officeDocument/2006/relationships/image" Target="../media/image4.png"/><Relationship Id="rId15" Type="http://schemas.openxmlformats.org/officeDocument/2006/relationships/image" Target="../media/image8.svg"/><Relationship Id="rId10" Type="http://schemas.openxmlformats.org/officeDocument/2006/relationships/image" Target="../media/image71.svg"/><Relationship Id="rId19" Type="http://schemas.openxmlformats.org/officeDocument/2006/relationships/image" Target="../media/image44.svg"/><Relationship Id="rId4" Type="http://schemas.openxmlformats.org/officeDocument/2006/relationships/image" Target="../media/image3.svg"/><Relationship Id="rId9" Type="http://schemas.openxmlformats.org/officeDocument/2006/relationships/image" Target="../media/image70.png"/><Relationship Id="rId14" Type="http://schemas.openxmlformats.org/officeDocument/2006/relationships/image" Target="../media/image4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2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3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5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4.png"/><Relationship Id="rId5" Type="http://schemas.openxmlformats.org/officeDocument/2006/relationships/image" Target="../media/image73.svg"/><Relationship Id="rId4" Type="http://schemas.openxmlformats.org/officeDocument/2006/relationships/image" Target="../media/image71.sv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svg"/><Relationship Id="rId5" Type="http://schemas.openxmlformats.org/officeDocument/2006/relationships/image" Target="../media/image74.png"/><Relationship Id="rId4" Type="http://schemas.openxmlformats.org/officeDocument/2006/relationships/image" Target="../media/image71.sv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4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2.svg"/><Relationship Id="rId4" Type="http://schemas.openxmlformats.org/officeDocument/2006/relationships/image" Target="../media/image5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5.xml"/><Relationship Id="rId7" Type="http://schemas.openxmlformats.org/officeDocument/2006/relationships/chart" Target="../charts/chart37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Relationship Id="rId6" Type="http://schemas.openxmlformats.org/officeDocument/2006/relationships/chart" Target="../charts/chart36.xml"/><Relationship Id="rId5" Type="http://schemas.openxmlformats.org/officeDocument/2006/relationships/image" Target="../media/image75.svg"/><Relationship Id="rId4" Type="http://schemas.openxmlformats.org/officeDocument/2006/relationships/image" Target="../media/image7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8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5.svg"/><Relationship Id="rId5" Type="http://schemas.openxmlformats.org/officeDocument/2006/relationships/image" Target="../media/image76.png"/><Relationship Id="rId4" Type="http://schemas.openxmlformats.org/officeDocument/2006/relationships/chart" Target="../charts/chart39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0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svg"/><Relationship Id="rId4" Type="http://schemas.openxmlformats.org/officeDocument/2006/relationships/image" Target="../media/image65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svg"/><Relationship Id="rId3" Type="http://schemas.openxmlformats.org/officeDocument/2006/relationships/image" Target="../media/image77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svg"/><Relationship Id="rId5" Type="http://schemas.openxmlformats.org/officeDocument/2006/relationships/image" Target="../media/image78.png"/><Relationship Id="rId10" Type="http://schemas.openxmlformats.org/officeDocument/2006/relationships/image" Target="../media/image8.svg"/><Relationship Id="rId4" Type="http://schemas.openxmlformats.org/officeDocument/2006/relationships/image" Target="../media/image3.svg"/><Relationship Id="rId9" Type="http://schemas.openxmlformats.org/officeDocument/2006/relationships/image" Target="../media/image63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39.svg"/><Relationship Id="rId3" Type="http://schemas.openxmlformats.org/officeDocument/2006/relationships/image" Target="../media/image2.png"/><Relationship Id="rId7" Type="http://schemas.openxmlformats.org/officeDocument/2006/relationships/image" Target="../media/image67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svg"/><Relationship Id="rId11" Type="http://schemas.openxmlformats.org/officeDocument/2006/relationships/image" Target="../media/image83.svg"/><Relationship Id="rId5" Type="http://schemas.openxmlformats.org/officeDocument/2006/relationships/image" Target="../media/image79.png"/><Relationship Id="rId15" Type="http://schemas.openxmlformats.org/officeDocument/2006/relationships/image" Target="../media/image85.svg"/><Relationship Id="rId10" Type="http://schemas.openxmlformats.org/officeDocument/2006/relationships/image" Target="../media/image82.png"/><Relationship Id="rId4" Type="http://schemas.openxmlformats.org/officeDocument/2006/relationships/image" Target="../media/image3.svg"/><Relationship Id="rId9" Type="http://schemas.openxmlformats.org/officeDocument/2006/relationships/image" Target="../media/image81.svg"/><Relationship Id="rId14" Type="http://schemas.openxmlformats.org/officeDocument/2006/relationships/image" Target="../media/image84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1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3.xml"/><Relationship Id="rId2" Type="http://schemas.openxmlformats.org/officeDocument/2006/relationships/chart" Target="../charts/chart42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7.sv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svg"/><Relationship Id="rId3" Type="http://schemas.openxmlformats.org/officeDocument/2006/relationships/image" Target="../media/image5.svg"/><Relationship Id="rId7" Type="http://schemas.openxmlformats.org/officeDocument/2006/relationships/image" Target="../media/image86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1.jpeg"/><Relationship Id="rId5" Type="http://schemas.openxmlformats.org/officeDocument/2006/relationships/image" Target="../media/image90.svg"/><Relationship Id="rId4" Type="http://schemas.openxmlformats.org/officeDocument/2006/relationships/image" Target="../media/image89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99A44A32-5CEC-4ED3-A800-15A4EB19614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901" t="9401" r="5901" b="13600"/>
          <a:stretch/>
        </p:blipFill>
        <p:spPr>
          <a:xfrm rot="5400000">
            <a:off x="-1031532" y="1268759"/>
            <a:ext cx="6598551" cy="4320480"/>
          </a:xfrm>
          <a:prstGeom prst="rect">
            <a:avLst/>
          </a:prstGeom>
        </p:spPr>
      </p:pic>
      <p:sp>
        <p:nvSpPr>
          <p:cNvPr id="12" name="Título 6">
            <a:extLst>
              <a:ext uri="{FF2B5EF4-FFF2-40B4-BE49-F238E27FC236}">
                <a16:creationId xmlns:a16="http://schemas.microsoft.com/office/drawing/2014/main" id="{EB95E06E-CF0A-46A9-83CB-F17CF4EF03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9" y="836712"/>
            <a:ext cx="4464159" cy="1944216"/>
          </a:xfrm>
        </p:spPr>
        <p:txBody>
          <a:bodyPr anchor="t">
            <a:noAutofit/>
          </a:bodyPr>
          <a:lstStyle/>
          <a:p>
            <a:pPr algn="ctr"/>
            <a:r>
              <a:rPr lang="es-AR" sz="4000" b="1" dirty="0">
                <a:solidFill>
                  <a:schemeClr val="bg2">
                    <a:lumMod val="2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AVATARES DE UN SISTEMA MONETARIO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A508ACA-4200-414F-AFA8-22B535108CAE}"/>
              </a:ext>
            </a:extLst>
          </p:cNvPr>
          <p:cNvSpPr txBox="1"/>
          <p:nvPr/>
        </p:nvSpPr>
        <p:spPr>
          <a:xfrm>
            <a:off x="4571999" y="3009725"/>
            <a:ext cx="44641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>
                <a:solidFill>
                  <a:schemeClr val="bg2">
                    <a:lumMod val="2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La Primera Caja de Conversión Argentina </a:t>
            </a:r>
          </a:p>
          <a:p>
            <a:pPr algn="ctr"/>
            <a:r>
              <a:rPr lang="es-AR" dirty="0">
                <a:solidFill>
                  <a:schemeClr val="bg2">
                    <a:lumMod val="2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y su transformación final en Banco Central </a:t>
            </a:r>
          </a:p>
          <a:p>
            <a:pPr algn="ctr"/>
            <a:r>
              <a:rPr lang="es-AR" dirty="0">
                <a:solidFill>
                  <a:schemeClr val="bg2">
                    <a:lumMod val="2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(1890-1935)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55E4B2B-8389-4BE2-B447-2CD7D1DC59FE}"/>
              </a:ext>
            </a:extLst>
          </p:cNvPr>
          <p:cNvSpPr txBox="1"/>
          <p:nvPr/>
        </p:nvSpPr>
        <p:spPr>
          <a:xfrm>
            <a:off x="5794026" y="5445224"/>
            <a:ext cx="20201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AR" sz="2000" dirty="0">
                <a:solidFill>
                  <a:schemeClr val="bg2">
                    <a:lumMod val="2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MÓNICA GÓMEZ</a:t>
            </a:r>
          </a:p>
        </p:txBody>
      </p:sp>
    </p:spTree>
    <p:extLst>
      <p:ext uri="{BB962C8B-B14F-4D97-AF65-F5344CB8AC3E}">
        <p14:creationId xmlns:p14="http://schemas.microsoft.com/office/powerpoint/2010/main" val="2199118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B829987F-3746-49CB-9AED-32DAFBD7CAF9}"/>
              </a:ext>
            </a:extLst>
          </p:cNvPr>
          <p:cNvSpPr/>
          <p:nvPr/>
        </p:nvSpPr>
        <p:spPr>
          <a:xfrm>
            <a:off x="0" y="1997839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sz="6000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Fue creada como </a:t>
            </a:r>
          </a:p>
          <a:p>
            <a:pPr algn="ctr"/>
            <a:r>
              <a:rPr lang="es-AR" sz="6000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respuesta a la</a:t>
            </a:r>
          </a:p>
          <a:p>
            <a:pPr algn="ctr"/>
            <a:r>
              <a:rPr lang="es-AR" sz="6000" i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Crisis de </a:t>
            </a:r>
            <a:r>
              <a:rPr lang="es-AR" sz="6000" i="1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Baring</a:t>
            </a:r>
            <a:endParaRPr lang="es-AR" sz="60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7271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363DC76F-D373-4D44-9054-E32098FE4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16" y="24573"/>
            <a:ext cx="7886700" cy="721805"/>
          </a:xfrm>
        </p:spPr>
        <p:txBody>
          <a:bodyPr>
            <a:normAutofit/>
          </a:bodyPr>
          <a:lstStyle/>
          <a:p>
            <a:r>
              <a:rPr lang="es-AR" sz="4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La Crisis de </a:t>
            </a:r>
            <a:r>
              <a:rPr lang="es-AR" sz="4400" i="1" dirty="0" err="1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Baring</a:t>
            </a:r>
            <a:endParaRPr lang="es-AR" sz="4400" i="1" dirty="0"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  <a:cs typeface="Browallia New" panose="020B0604020202020204" pitchFamily="34" charset="-34"/>
            </a:endParaRP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D532B652-072C-4253-B86A-50CA8A99EEB2}"/>
              </a:ext>
            </a:extLst>
          </p:cNvPr>
          <p:cNvSpPr/>
          <p:nvPr/>
        </p:nvSpPr>
        <p:spPr>
          <a:xfrm>
            <a:off x="696176" y="1490212"/>
            <a:ext cx="2291648" cy="347986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AR" sz="2000" b="1" dirty="0">
                <a:solidFill>
                  <a:srgbClr val="D1D9E1"/>
                </a:solidFill>
                <a:latin typeface="Abadi" panose="020B0604020104020204" pitchFamily="34" charset="0"/>
              </a:rPr>
              <a:t>FECHA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8F077B92-C59C-4E38-8FD8-7753C43E8003}"/>
              </a:ext>
            </a:extLst>
          </p:cNvPr>
          <p:cNvSpPr/>
          <p:nvPr/>
        </p:nvSpPr>
        <p:spPr>
          <a:xfrm>
            <a:off x="3105132" y="1491936"/>
            <a:ext cx="5643332" cy="347986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2000" b="1" dirty="0">
                <a:solidFill>
                  <a:srgbClr val="D1D9E1"/>
                </a:solidFill>
                <a:latin typeface="Abadi" panose="020B0604020104020204" pitchFamily="34" charset="0"/>
              </a:rPr>
              <a:t>HECHO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890C216C-908F-4CB4-93BA-EF54FB648DE3}"/>
              </a:ext>
            </a:extLst>
          </p:cNvPr>
          <p:cNvSpPr/>
          <p:nvPr/>
        </p:nvSpPr>
        <p:spPr>
          <a:xfrm>
            <a:off x="691511" y="1898972"/>
            <a:ext cx="2291648" cy="347986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A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MAR 1889-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270878BD-F44C-43A3-96F5-1234217DE618}"/>
              </a:ext>
            </a:extLst>
          </p:cNvPr>
          <p:cNvSpPr/>
          <p:nvPr/>
        </p:nvSpPr>
        <p:spPr>
          <a:xfrm>
            <a:off x="3105132" y="1898616"/>
            <a:ext cx="5643332" cy="347986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dirty="0">
                <a:solidFill>
                  <a:schemeClr val="tx1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Intensa sustitución entre monedas. Flotación sucia.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69096DD3-35FA-466C-9547-9C91B6AF4063}"/>
              </a:ext>
            </a:extLst>
          </p:cNvPr>
          <p:cNvSpPr/>
          <p:nvPr/>
        </p:nvSpPr>
        <p:spPr>
          <a:xfrm>
            <a:off x="691511" y="2296402"/>
            <a:ext cx="2291648" cy="347986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A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DIC 1889-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2A9A6319-6022-40A0-8F6B-BADA1149B157}"/>
              </a:ext>
            </a:extLst>
          </p:cNvPr>
          <p:cNvSpPr/>
          <p:nvPr/>
        </p:nvSpPr>
        <p:spPr>
          <a:xfrm>
            <a:off x="3105132" y="2296402"/>
            <a:ext cx="5643332" cy="347986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dirty="0">
                <a:solidFill>
                  <a:schemeClr val="tx1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Agotamiento de las reservas. Suba del tipo de cambio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08A45916-A9DB-4A65-9D97-C415E4B53020}"/>
              </a:ext>
            </a:extLst>
          </p:cNvPr>
          <p:cNvSpPr/>
          <p:nvPr/>
        </p:nvSpPr>
        <p:spPr>
          <a:xfrm>
            <a:off x="691511" y="2720974"/>
            <a:ext cx="2291648" cy="347986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s-AR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1890 - 1891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DBC8FE51-AADC-4926-9949-B4DA9D31670F}"/>
              </a:ext>
            </a:extLst>
          </p:cNvPr>
          <p:cNvSpPr/>
          <p:nvPr/>
        </p:nvSpPr>
        <p:spPr>
          <a:xfrm>
            <a:off x="3111776" y="2714348"/>
            <a:ext cx="5643332" cy="347986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dirty="0">
                <a:solidFill>
                  <a:schemeClr val="tx1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Corridas bancarias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FA859F88-A3CD-47F4-9EBF-4666657E9414}"/>
              </a:ext>
            </a:extLst>
          </p:cNvPr>
          <p:cNvSpPr/>
          <p:nvPr/>
        </p:nvSpPr>
        <p:spPr>
          <a:xfrm>
            <a:off x="691510" y="3933056"/>
            <a:ext cx="8056953" cy="432048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AR" sz="2000" b="1" dirty="0">
                <a:solidFill>
                  <a:srgbClr val="D1D9E1"/>
                </a:solidFill>
                <a:latin typeface="Abadi" panose="020B0604020104020204" pitchFamily="34" charset="0"/>
              </a:rPr>
              <a:t>CONSECUENCIAS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902FF5FA-25FA-46C3-9F7A-4D3158954612}"/>
              </a:ext>
            </a:extLst>
          </p:cNvPr>
          <p:cNvSpPr/>
          <p:nvPr/>
        </p:nvSpPr>
        <p:spPr>
          <a:xfrm>
            <a:off x="691510" y="4458333"/>
            <a:ext cx="8056952" cy="432048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Suba de la tasa de inflación, del déficit fiscal y del riesgo país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EDC6EEBC-865F-47B6-B531-755194764168}"/>
              </a:ext>
            </a:extLst>
          </p:cNvPr>
          <p:cNvSpPr/>
          <p:nvPr/>
        </p:nvSpPr>
        <p:spPr>
          <a:xfrm>
            <a:off x="691510" y="4954420"/>
            <a:ext cx="8056952" cy="432048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dirty="0">
                <a:solidFill>
                  <a:schemeClr val="tx1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Enorme carga de la deuda pública externa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CD62DC8B-792B-4986-BE52-CD21144A714D}"/>
              </a:ext>
            </a:extLst>
          </p:cNvPr>
          <p:cNvSpPr/>
          <p:nvPr/>
        </p:nvSpPr>
        <p:spPr>
          <a:xfrm>
            <a:off x="691510" y="5445224"/>
            <a:ext cx="8056952" cy="432048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AR" dirty="0">
                <a:solidFill>
                  <a:schemeClr val="tx1">
                    <a:lumMod val="75000"/>
                    <a:lumOff val="25000"/>
                  </a:schemeClr>
                </a:solidFill>
                <a:latin typeface="Abadi" panose="020B0604020104020204" pitchFamily="34" charset="0"/>
              </a:rPr>
              <a:t>Quiebre del Sistema Bancario </a:t>
            </a:r>
          </a:p>
        </p:txBody>
      </p:sp>
    </p:spTree>
    <p:extLst>
      <p:ext uri="{BB962C8B-B14F-4D97-AF65-F5344CB8AC3E}">
        <p14:creationId xmlns:p14="http://schemas.microsoft.com/office/powerpoint/2010/main" val="2223963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26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4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0"/>
                            </p:stCondLst>
                            <p:childTnLst>
                              <p:par>
                                <p:cTn id="63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000"/>
                            </p:stCondLst>
                            <p:childTnLst>
                              <p:par>
                                <p:cTn id="68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000"/>
                            </p:stCondLst>
                            <p:childTnLst>
                              <p:par>
                                <p:cTn id="73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 animBg="1"/>
      <p:bldP spid="6" grpId="0" animBg="1"/>
      <p:bldP spid="7" grpId="0" animBg="1"/>
      <p:bldP spid="9" grpId="0" animBg="1"/>
      <p:bldP spid="10" grpId="0" animBg="1"/>
      <p:bldP spid="12" grpId="0" animBg="1"/>
      <p:bldP spid="14" grpId="0" animBg="1"/>
      <p:bldP spid="15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FC02B5EE-B407-4BD2-9D72-82D2B65C7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957" y="-4997"/>
            <a:ext cx="7886700" cy="75643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AR" sz="4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La Primera Caja de Conversión </a:t>
            </a:r>
          </a:p>
        </p:txBody>
      </p:sp>
      <p:sp>
        <p:nvSpPr>
          <p:cNvPr id="70" name="Rectángulo: esquinas redondeadas 69">
            <a:extLst>
              <a:ext uri="{FF2B5EF4-FFF2-40B4-BE49-F238E27FC236}">
                <a16:creationId xmlns:a16="http://schemas.microsoft.com/office/drawing/2014/main" id="{65E4FD53-6E60-4849-82F1-15CCEAC5CEB6}"/>
              </a:ext>
            </a:extLst>
          </p:cNvPr>
          <p:cNvSpPr/>
          <p:nvPr/>
        </p:nvSpPr>
        <p:spPr>
          <a:xfrm>
            <a:off x="904909" y="1962878"/>
            <a:ext cx="3880655" cy="1584176"/>
          </a:xfrm>
          <a:prstGeom prst="roundRect">
            <a:avLst>
              <a:gd name="adj" fmla="val 13828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AR" sz="16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1890</a:t>
            </a:r>
          </a:p>
          <a:p>
            <a:pPr algn="ctr"/>
            <a:r>
              <a:rPr lang="es-AR" sz="16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Pasivo = billetes en circulación</a:t>
            </a:r>
          </a:p>
          <a:p>
            <a:pPr algn="ctr"/>
            <a:r>
              <a:rPr lang="es-AR" sz="16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Promesa: no emitir hasta la vuelta de la convertibilidad</a:t>
            </a:r>
          </a:p>
        </p:txBody>
      </p:sp>
      <p:sp>
        <p:nvSpPr>
          <p:cNvPr id="71" name="Rectángulo: esquinas redondeadas 70">
            <a:extLst>
              <a:ext uri="{FF2B5EF4-FFF2-40B4-BE49-F238E27FC236}">
                <a16:creationId xmlns:a16="http://schemas.microsoft.com/office/drawing/2014/main" id="{37692E25-21CE-4E19-8D71-D6A65D7362B2}"/>
              </a:ext>
            </a:extLst>
          </p:cNvPr>
          <p:cNvSpPr/>
          <p:nvPr/>
        </p:nvSpPr>
        <p:spPr>
          <a:xfrm>
            <a:off x="904909" y="1962878"/>
            <a:ext cx="3880656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CAJA DE CONVERSIÓN</a:t>
            </a:r>
            <a:endParaRPr lang="es-AR" b="1" dirty="0">
              <a:solidFill>
                <a:schemeClr val="tx2">
                  <a:lumMod val="20000"/>
                  <a:lumOff val="80000"/>
                </a:schemeClr>
              </a:solidFill>
              <a:latin typeface="Abadi" panose="020B0604020104020204" pitchFamily="34" charset="0"/>
              <a:cs typeface="Browallia New" panose="020B0604020202020204" pitchFamily="34" charset="-34"/>
            </a:endParaRPr>
          </a:p>
        </p:txBody>
      </p:sp>
      <p:sp>
        <p:nvSpPr>
          <p:cNvPr id="72" name="Rectángulo: esquinas redondeadas 71">
            <a:extLst>
              <a:ext uri="{FF2B5EF4-FFF2-40B4-BE49-F238E27FC236}">
                <a16:creationId xmlns:a16="http://schemas.microsoft.com/office/drawing/2014/main" id="{1BC3A127-FB6E-4D9E-9666-FDF85CE7DBB1}"/>
              </a:ext>
            </a:extLst>
          </p:cNvPr>
          <p:cNvSpPr/>
          <p:nvPr/>
        </p:nvSpPr>
        <p:spPr>
          <a:xfrm>
            <a:off x="4968293" y="1953928"/>
            <a:ext cx="3398468" cy="1584176"/>
          </a:xfrm>
          <a:prstGeom prst="roundRect">
            <a:avLst>
              <a:gd name="adj" fmla="val 13828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AR" sz="16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1891 - Público</a:t>
            </a:r>
          </a:p>
          <a:p>
            <a:pPr algn="ctr"/>
            <a:r>
              <a:rPr lang="es-AR" sz="16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Banco comercial con funciones “</a:t>
            </a:r>
            <a:r>
              <a:rPr lang="es-AR" sz="1600" b="1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bancocentralistas</a:t>
            </a:r>
            <a:r>
              <a:rPr lang="es-AR" sz="16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”</a:t>
            </a:r>
          </a:p>
        </p:txBody>
      </p:sp>
      <p:sp>
        <p:nvSpPr>
          <p:cNvPr id="73" name="Rectángulo: esquinas redondeadas 72">
            <a:extLst>
              <a:ext uri="{FF2B5EF4-FFF2-40B4-BE49-F238E27FC236}">
                <a16:creationId xmlns:a16="http://schemas.microsoft.com/office/drawing/2014/main" id="{C353B476-1D8F-4075-9863-EF461C14F884}"/>
              </a:ext>
            </a:extLst>
          </p:cNvPr>
          <p:cNvSpPr/>
          <p:nvPr/>
        </p:nvSpPr>
        <p:spPr>
          <a:xfrm>
            <a:off x="4968293" y="1953928"/>
            <a:ext cx="3398468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BANCO DE LA NACIÓN</a:t>
            </a:r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2EC73BC6-6A72-42F2-AE56-3CE16C21519C}"/>
              </a:ext>
            </a:extLst>
          </p:cNvPr>
          <p:cNvSpPr/>
          <p:nvPr/>
        </p:nvSpPr>
        <p:spPr>
          <a:xfrm>
            <a:off x="904907" y="4546216"/>
            <a:ext cx="3880657" cy="1331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RESTO DE LOS BANCOS</a:t>
            </a:r>
          </a:p>
          <a:p>
            <a:pPr algn="ctr"/>
            <a:r>
              <a:rPr lang="es-AR" sz="1400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Bancos Comerciales </a:t>
            </a:r>
          </a:p>
          <a:p>
            <a:pPr algn="ctr"/>
            <a:r>
              <a:rPr lang="es-AR" sz="1400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(Nacionales y Extranjeros)</a:t>
            </a:r>
            <a:endParaRPr lang="es-AR" sz="1600" dirty="0">
              <a:solidFill>
                <a:schemeClr val="tx2">
                  <a:lumMod val="20000"/>
                  <a:lumOff val="80000"/>
                </a:schemeClr>
              </a:solidFill>
              <a:latin typeface="Abadi" panose="020B0604020104020204" pitchFamily="34" charset="0"/>
              <a:cs typeface="Browallia New" panose="020B0604020202020204" pitchFamily="34" charset="-34"/>
            </a:endParaRPr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52CA7EEA-B1A2-4AB0-9B14-A166260037F4}"/>
              </a:ext>
            </a:extLst>
          </p:cNvPr>
          <p:cNvSpPr/>
          <p:nvPr/>
        </p:nvSpPr>
        <p:spPr>
          <a:xfrm>
            <a:off x="5598239" y="4775502"/>
            <a:ext cx="2138575" cy="82366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ESTADO</a:t>
            </a:r>
          </a:p>
        </p:txBody>
      </p:sp>
      <p:cxnSp>
        <p:nvCxnSpPr>
          <p:cNvPr id="52" name="Conector: angular 51">
            <a:extLst>
              <a:ext uri="{FF2B5EF4-FFF2-40B4-BE49-F238E27FC236}">
                <a16:creationId xmlns:a16="http://schemas.microsoft.com/office/drawing/2014/main" id="{5EFC0665-7979-4041-AAE4-222A235018EB}"/>
              </a:ext>
            </a:extLst>
          </p:cNvPr>
          <p:cNvCxnSpPr>
            <a:cxnSpLocks/>
            <a:stCxn id="72" idx="2"/>
            <a:endCxn id="74" idx="0"/>
          </p:cNvCxnSpPr>
          <p:nvPr/>
        </p:nvCxnSpPr>
        <p:spPr>
          <a:xfrm rot="5400000">
            <a:off x="4252326" y="2131015"/>
            <a:ext cx="1008112" cy="3822291"/>
          </a:xfrm>
          <a:prstGeom prst="bentConnector3">
            <a:avLst/>
          </a:prstGeom>
          <a:ln w="76200">
            <a:solidFill>
              <a:schemeClr val="tx2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: angular 77">
            <a:extLst>
              <a:ext uri="{FF2B5EF4-FFF2-40B4-BE49-F238E27FC236}">
                <a16:creationId xmlns:a16="http://schemas.microsoft.com/office/drawing/2014/main" id="{4167AC1A-D294-48B7-800D-9CB5AE0D09CC}"/>
              </a:ext>
            </a:extLst>
          </p:cNvPr>
          <p:cNvCxnSpPr>
            <a:cxnSpLocks/>
            <a:stCxn id="72" idx="2"/>
            <a:endCxn id="75" idx="0"/>
          </p:cNvCxnSpPr>
          <p:nvPr/>
        </p:nvCxnSpPr>
        <p:spPr>
          <a:xfrm rot="5400000">
            <a:off x="6048828" y="4156803"/>
            <a:ext cx="1237398" cy="12700"/>
          </a:xfrm>
          <a:prstGeom prst="bentConnector3">
            <a:avLst>
              <a:gd name="adj1" fmla="val 50000"/>
            </a:avLst>
          </a:prstGeom>
          <a:ln w="76200">
            <a:solidFill>
              <a:schemeClr val="tx2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áfico 10" descr="Centro educativo">
            <a:extLst>
              <a:ext uri="{FF2B5EF4-FFF2-40B4-BE49-F238E27FC236}">
                <a16:creationId xmlns:a16="http://schemas.microsoft.com/office/drawing/2014/main" id="{22DD893E-EF41-4B7B-A98A-4C34076C5F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88035" y="1130057"/>
            <a:ext cx="914400" cy="914400"/>
          </a:xfrm>
          <a:prstGeom prst="rect">
            <a:avLst/>
          </a:prstGeom>
        </p:spPr>
      </p:pic>
      <p:pic>
        <p:nvPicPr>
          <p:cNvPr id="12" name="Gráfico 11" descr="Tribunal">
            <a:extLst>
              <a:ext uri="{FF2B5EF4-FFF2-40B4-BE49-F238E27FC236}">
                <a16:creationId xmlns:a16="http://schemas.microsoft.com/office/drawing/2014/main" id="{F00EC015-8AF6-432E-9F4F-208427ABAE9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92291" y="1225106"/>
            <a:ext cx="737772" cy="737772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B7E9EC95-4011-493A-A544-2D172561E31F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20418" y="4870940"/>
            <a:ext cx="632791" cy="6327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85737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6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750"/>
                            </p:stCondLst>
                            <p:childTnLst>
                              <p:par>
                                <p:cTn id="36" presetID="26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4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5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7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9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1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750"/>
                            </p:stCondLst>
                            <p:childTnLst>
                              <p:par>
                                <p:cTn id="53" presetID="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50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7000"/>
                            </p:stCondLst>
                            <p:childTnLst>
                              <p:par>
                                <p:cTn id="66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750"/>
                            </p:stCondLst>
                            <p:childTnLst>
                              <p:par>
                                <p:cTn id="71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9250"/>
                            </p:stCondLst>
                            <p:childTnLst>
                              <p:par>
                                <p:cTn id="75" presetID="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250"/>
                            </p:stCondLst>
                            <p:childTnLst>
                              <p:par>
                                <p:cTn id="80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459F0D73-0077-492F-BE19-17E52A2EE239}"/>
              </a:ext>
            </a:extLst>
          </p:cNvPr>
          <p:cNvSpPr/>
          <p:nvPr/>
        </p:nvSpPr>
        <p:spPr>
          <a:xfrm>
            <a:off x="0" y="1997839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6000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Pasó más de una década</a:t>
            </a:r>
          </a:p>
          <a:p>
            <a:pPr algn="ctr"/>
            <a:r>
              <a:rPr lang="es-ES" sz="6000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para que entrara en pleno</a:t>
            </a:r>
          </a:p>
          <a:p>
            <a:pPr algn="ctr"/>
            <a:r>
              <a:rPr lang="es-ES" sz="6000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funcionamiento</a:t>
            </a:r>
            <a:endParaRPr lang="es-AR" sz="60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0493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BCEB3B96-E8F7-4CF2-BA5E-CAE6E64CA9B3}"/>
              </a:ext>
            </a:extLst>
          </p:cNvPr>
          <p:cNvSpPr/>
          <p:nvPr/>
        </p:nvSpPr>
        <p:spPr>
          <a:xfrm>
            <a:off x="3686977" y="1130553"/>
            <a:ext cx="2792608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FONDO DE CONVERSIÓN</a:t>
            </a:r>
          </a:p>
        </p:txBody>
      </p:sp>
      <p:cxnSp>
        <p:nvCxnSpPr>
          <p:cNvPr id="20" name="Conector: angular 19">
            <a:extLst>
              <a:ext uri="{FF2B5EF4-FFF2-40B4-BE49-F238E27FC236}">
                <a16:creationId xmlns:a16="http://schemas.microsoft.com/office/drawing/2014/main" id="{D1665774-AC11-4EF5-85C9-B2349AFCBB10}"/>
              </a:ext>
            </a:extLst>
          </p:cNvPr>
          <p:cNvCxnSpPr>
            <a:cxnSpLocks/>
            <a:stCxn id="19" idx="1"/>
            <a:endCxn id="17" idx="0"/>
          </p:cNvCxnSpPr>
          <p:nvPr/>
        </p:nvCxnSpPr>
        <p:spPr>
          <a:xfrm rot="10800000" flipV="1">
            <a:off x="3284313" y="1371635"/>
            <a:ext cx="402664" cy="1105551"/>
          </a:xfrm>
          <a:prstGeom prst="bentConnector2">
            <a:avLst/>
          </a:prstGeom>
          <a:ln w="76200">
            <a:solidFill>
              <a:schemeClr val="tx2">
                <a:lumMod val="7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ángulo 25">
            <a:extLst>
              <a:ext uri="{FF2B5EF4-FFF2-40B4-BE49-F238E27FC236}">
                <a16:creationId xmlns:a16="http://schemas.microsoft.com/office/drawing/2014/main" id="{0AC5C620-EEC5-4EF8-816E-37D914406A9C}"/>
              </a:ext>
            </a:extLst>
          </p:cNvPr>
          <p:cNvSpPr/>
          <p:nvPr/>
        </p:nvSpPr>
        <p:spPr>
          <a:xfrm rot="16200000">
            <a:off x="-466068" y="2280190"/>
            <a:ext cx="2898108" cy="59883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TRILEMA ECONÓMICO</a:t>
            </a:r>
          </a:p>
        </p:txBody>
      </p:sp>
      <p:sp>
        <p:nvSpPr>
          <p:cNvPr id="14" name="Título 4">
            <a:extLst>
              <a:ext uri="{FF2B5EF4-FFF2-40B4-BE49-F238E27FC236}">
                <a16:creationId xmlns:a16="http://schemas.microsoft.com/office/drawing/2014/main" id="{EDD54C44-A9BC-49FA-B1F1-43D6A2A3F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957" y="-4997"/>
            <a:ext cx="7886700" cy="75643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AR" sz="4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Ley 3871. Octubre 1899</a:t>
            </a:r>
          </a:p>
        </p:txBody>
      </p:sp>
      <p:pic>
        <p:nvPicPr>
          <p:cNvPr id="15" name="Gráfico 14" descr="Centro educativo">
            <a:extLst>
              <a:ext uri="{FF2B5EF4-FFF2-40B4-BE49-F238E27FC236}">
                <a16:creationId xmlns:a16="http://schemas.microsoft.com/office/drawing/2014/main" id="{1674227F-0DCF-4BA8-8B78-6BC7CFAC48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09343" y="1616802"/>
            <a:ext cx="914400" cy="914400"/>
          </a:xfrm>
          <a:prstGeom prst="rect">
            <a:avLst/>
          </a:prstGeom>
        </p:spPr>
      </p:pic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51383228-A678-4BCC-8994-0649CE8BD241}"/>
              </a:ext>
            </a:extLst>
          </p:cNvPr>
          <p:cNvSpPr/>
          <p:nvPr/>
        </p:nvSpPr>
        <p:spPr>
          <a:xfrm>
            <a:off x="1485345" y="2477187"/>
            <a:ext cx="3597936" cy="1584176"/>
          </a:xfrm>
          <a:prstGeom prst="roundRect">
            <a:avLst>
              <a:gd name="adj" fmla="val 13828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ES" sz="16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Billetes convertibles al PESO ORO </a:t>
            </a:r>
          </a:p>
          <a:p>
            <a:pPr algn="ctr"/>
            <a:r>
              <a:rPr lang="es-ES" sz="16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Tipo de Cambio Fijo</a:t>
            </a:r>
          </a:p>
          <a:p>
            <a:pPr algn="ctr"/>
            <a:r>
              <a:rPr lang="es-ES" sz="16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Principio </a:t>
            </a:r>
            <a:r>
              <a:rPr lang="es-ES" sz="1600" b="1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Currency</a:t>
            </a:r>
            <a:r>
              <a:rPr lang="es-ES" sz="16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 </a:t>
            </a:r>
            <a:r>
              <a:rPr lang="es-ES" sz="1600" b="1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School</a:t>
            </a:r>
            <a:endParaRPr lang="es-ES" sz="1600" b="1" dirty="0">
              <a:solidFill>
                <a:schemeClr val="tx2">
                  <a:lumMod val="20000"/>
                  <a:lumOff val="80000"/>
                </a:schemeClr>
              </a:solidFill>
              <a:latin typeface="Abadi" panose="020B0604020104020204" pitchFamily="34" charset="0"/>
              <a:cs typeface="Browallia New" panose="020B0604020202020204" pitchFamily="34" charset="-34"/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8ED76ECB-8521-4F12-830B-44B649620F8B}"/>
              </a:ext>
            </a:extLst>
          </p:cNvPr>
          <p:cNvSpPr/>
          <p:nvPr/>
        </p:nvSpPr>
        <p:spPr>
          <a:xfrm>
            <a:off x="1485344" y="2477187"/>
            <a:ext cx="3597937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CAJA DE CONVERSIÓN</a:t>
            </a:r>
            <a:endParaRPr lang="es-AR" b="1" dirty="0">
              <a:solidFill>
                <a:schemeClr val="tx2">
                  <a:lumMod val="20000"/>
                  <a:lumOff val="80000"/>
                </a:schemeClr>
              </a:solidFill>
              <a:latin typeface="Abadi" panose="020B0604020104020204" pitchFamily="34" charset="0"/>
              <a:cs typeface="Browallia New" panose="020B0604020202020204" pitchFamily="34" charset="-34"/>
            </a:endParaRPr>
          </a:p>
        </p:txBody>
      </p:sp>
      <p:pic>
        <p:nvPicPr>
          <p:cNvPr id="21" name="Gráfico 20" descr="Monedas">
            <a:extLst>
              <a:ext uri="{FF2B5EF4-FFF2-40B4-BE49-F238E27FC236}">
                <a16:creationId xmlns:a16="http://schemas.microsoft.com/office/drawing/2014/main" id="{CD3E393F-35F5-4C62-AD19-FD389293F33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8554" y="1001684"/>
            <a:ext cx="739902" cy="739902"/>
          </a:xfrm>
          <a:prstGeom prst="rect">
            <a:avLst/>
          </a:prstGeom>
        </p:spPr>
      </p:pic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C1F7FA94-4593-4AFF-8324-6EA86F2E0D1A}"/>
              </a:ext>
            </a:extLst>
          </p:cNvPr>
          <p:cNvSpPr/>
          <p:nvPr/>
        </p:nvSpPr>
        <p:spPr>
          <a:xfrm>
            <a:off x="5193029" y="2486979"/>
            <a:ext cx="3051367" cy="1584176"/>
          </a:xfrm>
          <a:prstGeom prst="roundRect">
            <a:avLst>
              <a:gd name="adj" fmla="val 13828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AR" sz="16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Banco comercial con funciones “</a:t>
            </a:r>
            <a:r>
              <a:rPr lang="es-AR" sz="1600" b="1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bancocentralistas</a:t>
            </a:r>
            <a:r>
              <a:rPr lang="es-AR" sz="16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”</a:t>
            </a:r>
          </a:p>
          <a:p>
            <a:pPr algn="ctr"/>
            <a:r>
              <a:rPr lang="es-AR" sz="16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1891 - Público</a:t>
            </a: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20FBFA4B-B2B1-43F2-8EBB-E56CF98043B8}"/>
              </a:ext>
            </a:extLst>
          </p:cNvPr>
          <p:cNvSpPr/>
          <p:nvPr/>
        </p:nvSpPr>
        <p:spPr>
          <a:xfrm>
            <a:off x="5193029" y="2486979"/>
            <a:ext cx="3051367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BANCO DE LA NACIÓN</a:t>
            </a:r>
          </a:p>
        </p:txBody>
      </p:sp>
      <p:pic>
        <p:nvPicPr>
          <p:cNvPr id="25" name="Gráfico 24" descr="Tribunal">
            <a:extLst>
              <a:ext uri="{FF2B5EF4-FFF2-40B4-BE49-F238E27FC236}">
                <a16:creationId xmlns:a16="http://schemas.microsoft.com/office/drawing/2014/main" id="{945B2E7D-3628-41D9-8264-3130BA96EDA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18599" y="1706047"/>
            <a:ext cx="737772" cy="737772"/>
          </a:xfrm>
          <a:prstGeom prst="rect">
            <a:avLst/>
          </a:prstGeom>
        </p:spPr>
      </p:pic>
      <p:sp>
        <p:nvSpPr>
          <p:cNvPr id="28" name="Rectángulo 27">
            <a:extLst>
              <a:ext uri="{FF2B5EF4-FFF2-40B4-BE49-F238E27FC236}">
                <a16:creationId xmlns:a16="http://schemas.microsoft.com/office/drawing/2014/main" id="{2A0E7E6F-F2FF-4EFD-9D1D-2501F90D20CB}"/>
              </a:ext>
            </a:extLst>
          </p:cNvPr>
          <p:cNvSpPr/>
          <p:nvPr/>
        </p:nvSpPr>
        <p:spPr>
          <a:xfrm>
            <a:off x="1485344" y="5162868"/>
            <a:ext cx="3597934" cy="1331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RESTO DE LOS BANCOS</a:t>
            </a:r>
          </a:p>
          <a:p>
            <a:pPr algn="ctr"/>
            <a:r>
              <a:rPr lang="es-AR" sz="1400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Bancos Comerciales </a:t>
            </a:r>
          </a:p>
          <a:p>
            <a:pPr algn="ctr"/>
            <a:r>
              <a:rPr lang="es-AR" sz="1400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(Nacionales y Extranjeros)</a:t>
            </a:r>
            <a:endParaRPr lang="es-AR" sz="1600" dirty="0">
              <a:solidFill>
                <a:schemeClr val="tx2">
                  <a:lumMod val="20000"/>
                  <a:lumOff val="80000"/>
                </a:schemeClr>
              </a:solidFill>
              <a:latin typeface="Abadi" panose="020B0604020104020204" pitchFamily="34" charset="0"/>
              <a:cs typeface="Browallia New" panose="020B0604020202020204" pitchFamily="34" charset="-34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79176988-94EB-4A0F-A2C7-6EA3732D3E59}"/>
              </a:ext>
            </a:extLst>
          </p:cNvPr>
          <p:cNvSpPr/>
          <p:nvPr/>
        </p:nvSpPr>
        <p:spPr>
          <a:xfrm>
            <a:off x="5649426" y="5444481"/>
            <a:ext cx="2138575" cy="82366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ESTADO</a:t>
            </a:r>
          </a:p>
        </p:txBody>
      </p:sp>
      <p:cxnSp>
        <p:nvCxnSpPr>
          <p:cNvPr id="30" name="Conector: angular 29">
            <a:extLst>
              <a:ext uri="{FF2B5EF4-FFF2-40B4-BE49-F238E27FC236}">
                <a16:creationId xmlns:a16="http://schemas.microsoft.com/office/drawing/2014/main" id="{5975FF8E-88EA-4CE5-A28B-B542A15AF3C1}"/>
              </a:ext>
            </a:extLst>
          </p:cNvPr>
          <p:cNvCxnSpPr>
            <a:cxnSpLocks/>
            <a:stCxn id="22" idx="2"/>
            <a:endCxn id="28" idx="0"/>
          </p:cNvCxnSpPr>
          <p:nvPr/>
        </p:nvCxnSpPr>
        <p:spPr>
          <a:xfrm rot="5400000">
            <a:off x="4455656" y="2899810"/>
            <a:ext cx="1091713" cy="3434402"/>
          </a:xfrm>
          <a:prstGeom prst="bentConnector3">
            <a:avLst/>
          </a:prstGeom>
          <a:ln w="76200">
            <a:solidFill>
              <a:schemeClr val="tx2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: angular 30">
            <a:extLst>
              <a:ext uri="{FF2B5EF4-FFF2-40B4-BE49-F238E27FC236}">
                <a16:creationId xmlns:a16="http://schemas.microsoft.com/office/drawing/2014/main" id="{5E9BFA64-8395-46AD-8110-C6837404DF4F}"/>
              </a:ext>
            </a:extLst>
          </p:cNvPr>
          <p:cNvCxnSpPr>
            <a:cxnSpLocks/>
            <a:stCxn id="22" idx="2"/>
            <a:endCxn id="29" idx="0"/>
          </p:cNvCxnSpPr>
          <p:nvPr/>
        </p:nvCxnSpPr>
        <p:spPr>
          <a:xfrm rot="16200000" flipH="1">
            <a:off x="6032050" y="4757817"/>
            <a:ext cx="1373326" cy="1"/>
          </a:xfrm>
          <a:prstGeom prst="bentConnector3">
            <a:avLst>
              <a:gd name="adj1" fmla="val 50000"/>
            </a:avLst>
          </a:prstGeom>
          <a:ln w="76200">
            <a:solidFill>
              <a:schemeClr val="tx2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n 31">
            <a:extLst>
              <a:ext uri="{FF2B5EF4-FFF2-40B4-BE49-F238E27FC236}">
                <a16:creationId xmlns:a16="http://schemas.microsoft.com/office/drawing/2014/main" id="{C641CB13-E020-403F-8016-186BDD3A15DF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71605" y="5490296"/>
            <a:ext cx="632791" cy="6327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22069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6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750"/>
                            </p:stCondLst>
                            <p:childTnLst>
                              <p:par>
                                <p:cTn id="36" presetID="26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21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68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49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49" tmFilter="0, 0; 0.125,0.2665; 0.25,0.4; 0.375,0.465; 0.5,0.5;  0.625,0.535; 0.75,0.6; 0.875,0.7335; 1,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25" tmFilter="0, 0; 0.125,0.2665; 0.25,0.4; 0.375,0.465; 0.5,0.5;  0.625,0.535; 0.75,0.6; 0.875,0.7335; 1,1">
                                          <p:stCondLst>
                                            <p:cond delay="49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2" tmFilter="0, 0; 0.125,0.2665; 0.25,0.4; 0.375,0.465; 0.5,0.5;  0.625,0.535; 0.75,0.6; 0.875,0.7335; 1,1">
                                          <p:stCondLst>
                                            <p:cond delay="621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4" dur="10">
                                          <p:stCondLst>
                                            <p:cond delay="24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5" dur="62" decel="50000">
                                          <p:stCondLst>
                                            <p:cond delay="253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10">
                                          <p:stCondLst>
                                            <p:cond delay="49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7" dur="62" decel="50000">
                                          <p:stCondLst>
                                            <p:cond delay="50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10">
                                          <p:stCondLst>
                                            <p:cond delay="61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9" dur="62" decel="50000">
                                          <p:stCondLst>
                                            <p:cond delay="62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10">
                                          <p:stCondLst>
                                            <p:cond delay="67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1" dur="62" decel="50000">
                                          <p:stCondLst>
                                            <p:cond delay="68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250"/>
                            </p:stCondLst>
                            <p:childTnLst>
                              <p:par>
                                <p:cTn id="53" presetID="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750"/>
                            </p:stCondLst>
                            <p:childTnLst>
                              <p:par>
                                <p:cTn id="6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0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1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3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5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7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6750"/>
                            </p:stCondLst>
                            <p:childTnLst>
                              <p:par>
                                <p:cTn id="79" presetID="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7500"/>
                            </p:stCondLst>
                            <p:childTnLst>
                              <p:par>
                                <p:cTn id="88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9000"/>
                            </p:stCondLst>
                            <p:childTnLst>
                              <p:par>
                                <p:cTn id="92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9750"/>
                            </p:stCondLst>
                            <p:childTnLst>
                              <p:par>
                                <p:cTn id="97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1250"/>
                            </p:stCondLst>
                            <p:childTnLst>
                              <p:par>
                                <p:cTn id="101" presetID="2" presetClass="entr" presetSubtype="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2250"/>
                            </p:stCondLst>
                            <p:childTnLst>
                              <p:par>
                                <p:cTn id="106" presetID="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3000"/>
                            </p:stCondLst>
                            <p:childTnLst>
                              <p:par>
                                <p:cTn id="111" presetID="42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6" grpId="0" animBg="1"/>
      <p:bldP spid="14" grpId="0"/>
      <p:bldP spid="16" grpId="0" animBg="1"/>
      <p:bldP spid="17" grpId="0" animBg="1"/>
      <p:bldP spid="22" grpId="0" animBg="1"/>
      <p:bldP spid="23" grpId="0" animBg="1"/>
      <p:bldP spid="28" grpId="0" animBg="1"/>
      <p:bldP spid="2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E0FEE98F-EB65-4BA2-A7E9-7E2A1EA8DCB0}"/>
              </a:ext>
            </a:extLst>
          </p:cNvPr>
          <p:cNvSpPr/>
          <p:nvPr/>
        </p:nvSpPr>
        <p:spPr>
          <a:xfrm>
            <a:off x="430458" y="1988841"/>
            <a:ext cx="8280920" cy="3861250"/>
          </a:xfrm>
          <a:prstGeom prst="roundRect">
            <a:avLst>
              <a:gd name="adj" fmla="val 563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ES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Debía re-estructurarse la deuda externa contraída en los años ochenta.</a:t>
            </a:r>
          </a:p>
          <a:p>
            <a:pPr algn="ctr"/>
            <a:r>
              <a:rPr lang="es-ES" sz="1600" i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Empréstito de Consolidación de 1891 </a:t>
            </a: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  <a:sym typeface="Wingdings" panose="05000000000000000000" pitchFamily="2" charset="2"/>
              </a:rPr>
              <a:t> </a:t>
            </a: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refinanciación a través de tres arreglos </a:t>
            </a:r>
          </a:p>
          <a:p>
            <a:pPr algn="ctr"/>
            <a:r>
              <a:rPr lang="es-ES" sz="1600" i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●Romero</a:t>
            </a: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 a fines de 1893; </a:t>
            </a:r>
          </a:p>
          <a:p>
            <a:pPr algn="ctr"/>
            <a:r>
              <a:rPr lang="es-ES" sz="1600" i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● </a:t>
            </a: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de las </a:t>
            </a:r>
            <a:r>
              <a:rPr lang="es-ES" sz="1600" i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garantías ferroviarias</a:t>
            </a: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 entre agosto de 1896 y mayo de 1898; </a:t>
            </a:r>
          </a:p>
          <a:p>
            <a:pPr algn="ctr"/>
            <a:r>
              <a:rPr lang="es-ES" sz="1600" i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● </a:t>
            </a: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de las </a:t>
            </a:r>
            <a:r>
              <a:rPr lang="es-ES" sz="1600" i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deudas provinciales </a:t>
            </a: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entre septiembre de 1897 y junio de 1900). </a:t>
            </a:r>
          </a:p>
          <a:p>
            <a:pPr algn="ctr"/>
            <a:endParaRPr lang="es-ES" sz="1600" b="1" dirty="0">
              <a:solidFill>
                <a:schemeClr val="tx2">
                  <a:lumMod val="20000"/>
                  <a:lumOff val="80000"/>
                </a:schemeClr>
              </a:solidFill>
              <a:latin typeface="Abadi" panose="020B0604020104020204" pitchFamily="34" charset="0"/>
              <a:cs typeface="Browallia New" panose="020B0604020202020204" pitchFamily="34" charset="-34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535C2415-ED84-49AF-A83B-537F2C225E21}"/>
              </a:ext>
            </a:extLst>
          </p:cNvPr>
          <p:cNvSpPr/>
          <p:nvPr/>
        </p:nvSpPr>
        <p:spPr>
          <a:xfrm>
            <a:off x="430458" y="1666926"/>
            <a:ext cx="8280920" cy="2061052"/>
          </a:xfrm>
          <a:prstGeom prst="roundRect">
            <a:avLst>
              <a:gd name="adj" fmla="val 10435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s-ES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El modelo de crecimiento (agricultura/ganadería) debía dar su fruto: </a:t>
            </a:r>
          </a:p>
          <a:p>
            <a:pPr algn="ctr"/>
            <a:r>
              <a:rPr lang="es-ES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BOOM EXPORTADOR. </a:t>
            </a:r>
          </a:p>
          <a:p>
            <a:pPr algn="ctr"/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difusión del ferrocarril + aumento del factor trabajo </a:t>
            </a: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  <a:sym typeface="Wingdings" panose="05000000000000000000" pitchFamily="2" charset="2"/>
              </a:rPr>
              <a:t> </a:t>
            </a:r>
          </a:p>
          <a:p>
            <a:pPr algn="ctr"/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expansión de la superficie cultivada </a:t>
            </a: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  <a:sym typeface="Wingdings" panose="05000000000000000000" pitchFamily="2" charset="2"/>
              </a:rPr>
              <a:t> e</a:t>
            </a:r>
            <a:r>
              <a:rPr lang="es-ES" sz="1600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xportaciones. </a:t>
            </a:r>
          </a:p>
          <a:p>
            <a:pPr algn="ctr"/>
            <a:r>
              <a:rPr lang="es-ES" sz="16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Los frutos se recogieron recién a fines de los noventa del siglo XIX.</a:t>
            </a:r>
          </a:p>
        </p:txBody>
      </p:sp>
      <p:sp>
        <p:nvSpPr>
          <p:cNvPr id="6" name="Título 4">
            <a:extLst>
              <a:ext uri="{FF2B5EF4-FFF2-40B4-BE49-F238E27FC236}">
                <a16:creationId xmlns:a16="http://schemas.microsoft.com/office/drawing/2014/main" id="{1B6BFA72-B2BB-47FF-9886-BED105773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958" y="-4996"/>
            <a:ext cx="9159957" cy="1012906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ES" sz="32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¿Por qué tardo tanto en ponerse en pleno funcionamiento la Primera Caja de Conversión?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36735DF-76FF-4556-A56B-6CDBE94D1D12}"/>
              </a:ext>
            </a:extLst>
          </p:cNvPr>
          <p:cNvSpPr/>
          <p:nvPr/>
        </p:nvSpPr>
        <p:spPr>
          <a:xfrm>
            <a:off x="430458" y="1666926"/>
            <a:ext cx="8280920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CONDICIONES NECESARIAS</a:t>
            </a:r>
          </a:p>
        </p:txBody>
      </p:sp>
    </p:spTree>
    <p:extLst>
      <p:ext uri="{BB962C8B-B14F-4D97-AF65-F5344CB8AC3E}">
        <p14:creationId xmlns:p14="http://schemas.microsoft.com/office/powerpoint/2010/main" val="3595685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75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4" grpId="0" animBg="1"/>
      <p:bldP spid="6" grpId="0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39987518-2296-4B57-AE88-0549715C4B52}"/>
              </a:ext>
            </a:extLst>
          </p:cNvPr>
          <p:cNvSpPr/>
          <p:nvPr/>
        </p:nvSpPr>
        <p:spPr>
          <a:xfrm>
            <a:off x="0" y="1997839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6000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Fue sólo en el período del </a:t>
            </a:r>
          </a:p>
          <a:p>
            <a:pPr algn="ctr"/>
            <a:r>
              <a:rPr lang="es-ES" sz="6000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Progreso que funcionó </a:t>
            </a:r>
          </a:p>
          <a:p>
            <a:pPr algn="ctr"/>
            <a:r>
              <a:rPr lang="es-ES" sz="6000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como tal</a:t>
            </a:r>
            <a:endParaRPr lang="es-AR" sz="60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1350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Marcador de contenido 7">
            <a:extLst>
              <a:ext uri="{FF2B5EF4-FFF2-40B4-BE49-F238E27FC236}">
                <a16:creationId xmlns:a16="http://schemas.microsoft.com/office/drawing/2014/main" id="{8795F69D-D3A5-429D-AB30-834EA67843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1692635"/>
              </p:ext>
            </p:extLst>
          </p:nvPr>
        </p:nvGraphicFramePr>
        <p:xfrm>
          <a:off x="359532" y="1916832"/>
          <a:ext cx="8424936" cy="47310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3 Marcador de contenido"/>
          <p:cNvSpPr>
            <a:spLocks noGrp="1"/>
          </p:cNvSpPr>
          <p:nvPr>
            <p:ph sz="half" idx="4294967295"/>
          </p:nvPr>
        </p:nvSpPr>
        <p:spPr>
          <a:xfrm>
            <a:off x="0" y="2582863"/>
            <a:ext cx="3703638" cy="3378200"/>
          </a:xfrm>
        </p:spPr>
        <p:txBody>
          <a:bodyPr/>
          <a:lstStyle/>
          <a:p>
            <a:pPr marL="0" indent="0">
              <a:buNone/>
            </a:pPr>
            <a:endParaRPr lang="es-AR" dirty="0"/>
          </a:p>
          <a:p>
            <a:endParaRPr lang="es-AR" dirty="0"/>
          </a:p>
        </p:txBody>
      </p:sp>
      <p:sp>
        <p:nvSpPr>
          <p:cNvPr id="7" name="Título 4">
            <a:extLst>
              <a:ext uri="{FF2B5EF4-FFF2-40B4-BE49-F238E27FC236}">
                <a16:creationId xmlns:a16="http://schemas.microsoft.com/office/drawing/2014/main" id="{1689A184-86D8-4595-8D64-81BB7EF2BCD8}"/>
              </a:ext>
            </a:extLst>
          </p:cNvPr>
          <p:cNvSpPr txBox="1">
            <a:spLocks/>
          </p:cNvSpPr>
          <p:nvPr/>
        </p:nvSpPr>
        <p:spPr>
          <a:xfrm>
            <a:off x="-15957" y="-4997"/>
            <a:ext cx="7886700" cy="75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4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El tipo de cambio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64559C69-789B-46BC-8678-0C5B28DC6742}"/>
              </a:ext>
            </a:extLst>
          </p:cNvPr>
          <p:cNvSpPr/>
          <p:nvPr/>
        </p:nvSpPr>
        <p:spPr>
          <a:xfrm>
            <a:off x="2795891" y="1182149"/>
            <a:ext cx="3597937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m$n</a:t>
            </a:r>
            <a:r>
              <a:rPr lang="es-AR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 por $oro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D6D7819-4CB9-48B8-B101-CF1040F32025}"/>
              </a:ext>
            </a:extLst>
          </p:cNvPr>
          <p:cNvSpPr/>
          <p:nvPr/>
        </p:nvSpPr>
        <p:spPr>
          <a:xfrm>
            <a:off x="3294754" y="2799414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Argentina operó bajo tipo de cambio fijo (2,27 pesos papel por peso oro) a partir de octubre de 1902</a:t>
            </a:r>
          </a:p>
        </p:txBody>
      </p:sp>
    </p:spTree>
    <p:extLst>
      <p:ext uri="{BB962C8B-B14F-4D97-AF65-F5344CB8AC3E}">
        <p14:creationId xmlns:p14="http://schemas.microsoft.com/office/powerpoint/2010/main" val="1844183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"/>
                                        <p:tgtEl>
                                          <p:spTgt spid="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7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"/>
                                        <p:tgtEl>
                                          <p:spTgt spid="8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9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"/>
                                        <p:tgtEl>
                                          <p:spTgt spid="8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31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"/>
                                        <p:tgtEl>
                                          <p:spTgt spid="8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33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"/>
                                        <p:tgtEl>
                                          <p:spTgt spid="8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35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"/>
                                        <p:tgtEl>
                                          <p:spTgt spid="8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37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"/>
                                        <p:tgtEl>
                                          <p:spTgt spid="8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39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"/>
                                        <p:tgtEl>
                                          <p:spTgt spid="8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41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"/>
                                        <p:tgtEl>
                                          <p:spTgt spid="8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43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"/>
                                        <p:tgtEl>
                                          <p:spTgt spid="8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4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"/>
                                        <p:tgtEl>
                                          <p:spTgt spid="8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47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"/>
                                        <p:tgtEl>
                                          <p:spTgt spid="8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49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"/>
                                        <p:tgtEl>
                                          <p:spTgt spid="8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1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"/>
                                        <p:tgtEl>
                                          <p:spTgt spid="8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53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"/>
                                        <p:tgtEl>
                                          <p:spTgt spid="8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5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"/>
                                        <p:tgtEl>
                                          <p:spTgt spid="8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57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0"/>
                                        <p:tgtEl>
                                          <p:spTgt spid="8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59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0"/>
                                        <p:tgtEl>
                                          <p:spTgt spid="8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61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0"/>
                                        <p:tgtEl>
                                          <p:spTgt spid="8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63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0"/>
                                        <p:tgtEl>
                                          <p:spTgt spid="8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65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0"/>
                                        <p:tgtEl>
                                          <p:spTgt spid="8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67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20"/>
                                        <p:tgtEl>
                                          <p:spTgt spid="8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69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20"/>
                                        <p:tgtEl>
                                          <p:spTgt spid="8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710"/>
                            </p:stCondLst>
                            <p:childTnLst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0"/>
                                        <p:tgtEl>
                                          <p:spTgt spid="8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730"/>
                            </p:stCondLst>
                            <p:childTnLst>
                              <p:par>
                                <p:cTn id="1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20"/>
                                        <p:tgtEl>
                                          <p:spTgt spid="8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75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2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20"/>
                                        <p:tgtEl>
                                          <p:spTgt spid="8">
                                            <p:graphicEl>
                                              <a:chart seriesIdx="-4" categoryIdx="2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770"/>
                            </p:stCondLst>
                            <p:childTnLst>
                              <p:par>
                                <p:cTn id="1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2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20"/>
                                        <p:tgtEl>
                                          <p:spTgt spid="8">
                                            <p:graphicEl>
                                              <a:chart seriesIdx="-4" categoryIdx="2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790"/>
                            </p:stCondLst>
                            <p:childTnLst>
                              <p:par>
                                <p:cTn id="1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2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20"/>
                                        <p:tgtEl>
                                          <p:spTgt spid="8">
                                            <p:graphicEl>
                                              <a:chart seriesIdx="-4" categoryIdx="2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810"/>
                            </p:stCondLst>
                            <p:childTnLst>
                              <p:par>
                                <p:cTn id="1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2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20"/>
                                        <p:tgtEl>
                                          <p:spTgt spid="8">
                                            <p:graphicEl>
                                              <a:chart seriesIdx="-4" categoryIdx="2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830"/>
                            </p:stCondLst>
                            <p:childTnLst>
                              <p:par>
                                <p:cTn id="1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2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20"/>
                                        <p:tgtEl>
                                          <p:spTgt spid="8">
                                            <p:graphicEl>
                                              <a:chart seriesIdx="-4" categoryIdx="2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85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2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20"/>
                                        <p:tgtEl>
                                          <p:spTgt spid="8">
                                            <p:graphicEl>
                                              <a:chart seriesIdx="-4" categoryIdx="2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870"/>
                            </p:stCondLst>
                            <p:childTnLst>
                              <p:par>
                                <p:cTn id="1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3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20"/>
                                        <p:tgtEl>
                                          <p:spTgt spid="8">
                                            <p:graphicEl>
                                              <a:chart seriesIdx="-4" categoryIdx="3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890"/>
                            </p:stCondLst>
                            <p:childTnLst>
                              <p:par>
                                <p:cTn id="1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3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20"/>
                                        <p:tgtEl>
                                          <p:spTgt spid="8">
                                            <p:graphicEl>
                                              <a:chart seriesIdx="-4" categoryIdx="3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1910"/>
                            </p:stCondLst>
                            <p:childTnLst>
                              <p:par>
                                <p:cTn id="1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3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20"/>
                                        <p:tgtEl>
                                          <p:spTgt spid="8">
                                            <p:graphicEl>
                                              <a:chart seriesIdx="-4" categoryIdx="3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1930"/>
                            </p:stCondLst>
                            <p:childTnLst>
                              <p:par>
                                <p:cTn id="1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3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20"/>
                                        <p:tgtEl>
                                          <p:spTgt spid="8">
                                            <p:graphicEl>
                                              <a:chart seriesIdx="-4" categoryIdx="3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950"/>
                            </p:stCondLst>
                            <p:childTnLst>
                              <p:par>
                                <p:cTn id="1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3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20"/>
                                        <p:tgtEl>
                                          <p:spTgt spid="8">
                                            <p:graphicEl>
                                              <a:chart seriesIdx="-4" categoryIdx="3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1970"/>
                            </p:stCondLst>
                            <p:childTnLst>
                              <p:par>
                                <p:cTn id="1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3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20"/>
                                        <p:tgtEl>
                                          <p:spTgt spid="8">
                                            <p:graphicEl>
                                              <a:chart seriesIdx="-4" categoryIdx="3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990"/>
                            </p:stCondLst>
                            <p:childTnLst>
                              <p:par>
                                <p:cTn id="1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3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20"/>
                                        <p:tgtEl>
                                          <p:spTgt spid="8">
                                            <p:graphicEl>
                                              <a:chart seriesIdx="-4" categoryIdx="3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2010"/>
                            </p:stCondLst>
                            <p:childTnLst>
                              <p:par>
                                <p:cTn id="1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3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20"/>
                                        <p:tgtEl>
                                          <p:spTgt spid="8">
                                            <p:graphicEl>
                                              <a:chart seriesIdx="-4" categoryIdx="3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2030"/>
                            </p:stCondLst>
                            <p:childTnLst>
                              <p:par>
                                <p:cTn id="1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3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20"/>
                                        <p:tgtEl>
                                          <p:spTgt spid="8">
                                            <p:graphicEl>
                                              <a:chart seriesIdx="-4" categoryIdx="3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2050"/>
                            </p:stCondLst>
                            <p:childTnLst>
                              <p:par>
                                <p:cTn id="1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3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20"/>
                                        <p:tgtEl>
                                          <p:spTgt spid="8">
                                            <p:graphicEl>
                                              <a:chart seriesIdx="-4" categoryIdx="3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2070"/>
                            </p:stCondLst>
                            <p:childTnLst>
                              <p:par>
                                <p:cTn id="1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4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20"/>
                                        <p:tgtEl>
                                          <p:spTgt spid="8">
                                            <p:graphicEl>
                                              <a:chart seriesIdx="-4" categoryIdx="4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2090"/>
                            </p:stCondLst>
                            <p:childTnLst>
                              <p:par>
                                <p:cTn id="1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4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20"/>
                                        <p:tgtEl>
                                          <p:spTgt spid="8">
                                            <p:graphicEl>
                                              <a:chart seriesIdx="-4" categoryIdx="4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2110"/>
                            </p:stCondLst>
                            <p:childTnLst>
                              <p:par>
                                <p:cTn id="1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4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20"/>
                                        <p:tgtEl>
                                          <p:spTgt spid="8">
                                            <p:graphicEl>
                                              <a:chart seriesIdx="-4" categoryIdx="4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2130"/>
                            </p:stCondLst>
                            <p:childTnLst>
                              <p:par>
                                <p:cTn id="1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4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20"/>
                                        <p:tgtEl>
                                          <p:spTgt spid="8">
                                            <p:graphicEl>
                                              <a:chart seriesIdx="-4" categoryIdx="4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2150"/>
                            </p:stCondLst>
                            <p:childTnLst>
                              <p:par>
                                <p:cTn id="1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4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20"/>
                                        <p:tgtEl>
                                          <p:spTgt spid="8">
                                            <p:graphicEl>
                                              <a:chart seriesIdx="-4" categoryIdx="4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2170"/>
                            </p:stCondLst>
                            <p:childTnLst>
                              <p:par>
                                <p:cTn id="1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4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20"/>
                                        <p:tgtEl>
                                          <p:spTgt spid="8">
                                            <p:graphicEl>
                                              <a:chart seriesIdx="-4" categoryIdx="4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2190"/>
                            </p:stCondLst>
                            <p:childTnLst>
                              <p:par>
                                <p:cTn id="2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4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20"/>
                                        <p:tgtEl>
                                          <p:spTgt spid="8">
                                            <p:graphicEl>
                                              <a:chart seriesIdx="-4" categoryIdx="4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2210"/>
                            </p:stCondLst>
                            <p:childTnLst>
                              <p:par>
                                <p:cTn id="2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4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20"/>
                                        <p:tgtEl>
                                          <p:spTgt spid="8">
                                            <p:graphicEl>
                                              <a:chart seriesIdx="-4" categoryIdx="4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2230"/>
                            </p:stCondLst>
                            <p:childTnLst>
                              <p:par>
                                <p:cTn id="2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4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20"/>
                                        <p:tgtEl>
                                          <p:spTgt spid="8">
                                            <p:graphicEl>
                                              <a:chart seriesIdx="-4" categoryIdx="4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2250"/>
                            </p:stCondLst>
                            <p:childTnLst>
                              <p:par>
                                <p:cTn id="2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4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20"/>
                                        <p:tgtEl>
                                          <p:spTgt spid="8">
                                            <p:graphicEl>
                                              <a:chart seriesIdx="-4" categoryIdx="4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2270"/>
                            </p:stCondLst>
                            <p:childTnLst>
                              <p:par>
                                <p:cTn id="2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5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20"/>
                                        <p:tgtEl>
                                          <p:spTgt spid="8">
                                            <p:graphicEl>
                                              <a:chart seriesIdx="-4" categoryIdx="5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2290"/>
                            </p:stCondLst>
                            <p:childTnLst>
                              <p:par>
                                <p:cTn id="2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5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20"/>
                                        <p:tgtEl>
                                          <p:spTgt spid="8">
                                            <p:graphicEl>
                                              <a:chart seriesIdx="-4" categoryIdx="5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2310"/>
                            </p:stCondLst>
                            <p:childTnLst>
                              <p:par>
                                <p:cTn id="2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5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20"/>
                                        <p:tgtEl>
                                          <p:spTgt spid="8">
                                            <p:graphicEl>
                                              <a:chart seriesIdx="-4" categoryIdx="5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2330"/>
                            </p:stCondLst>
                            <p:childTnLst>
                              <p:par>
                                <p:cTn id="2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5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20"/>
                                        <p:tgtEl>
                                          <p:spTgt spid="8">
                                            <p:graphicEl>
                                              <a:chart seriesIdx="-4" categoryIdx="5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2350"/>
                            </p:stCondLst>
                            <p:childTnLst>
                              <p:par>
                                <p:cTn id="2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5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20"/>
                                        <p:tgtEl>
                                          <p:spTgt spid="8">
                                            <p:graphicEl>
                                              <a:chart seriesIdx="-4" categoryIdx="5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2370"/>
                            </p:stCondLst>
                            <p:childTnLst>
                              <p:par>
                                <p:cTn id="2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5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20"/>
                                        <p:tgtEl>
                                          <p:spTgt spid="8">
                                            <p:graphicEl>
                                              <a:chart seriesIdx="-4" categoryIdx="5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2390"/>
                            </p:stCondLst>
                            <p:childTnLst>
                              <p:par>
                                <p:cTn id="2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5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20"/>
                                        <p:tgtEl>
                                          <p:spTgt spid="8">
                                            <p:graphicEl>
                                              <a:chart seriesIdx="-4" categoryIdx="5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6" fill="hold">
                            <p:stCondLst>
                              <p:cond delay="2410"/>
                            </p:stCondLst>
                            <p:childTnLst>
                              <p:par>
                                <p:cTn id="2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5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20"/>
                                        <p:tgtEl>
                                          <p:spTgt spid="8">
                                            <p:graphicEl>
                                              <a:chart seriesIdx="-4" categoryIdx="5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2430"/>
                            </p:stCondLst>
                            <p:childTnLst>
                              <p:par>
                                <p:cTn id="2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5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20"/>
                                        <p:tgtEl>
                                          <p:spTgt spid="8">
                                            <p:graphicEl>
                                              <a:chart seriesIdx="-4" categoryIdx="5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2450"/>
                            </p:stCondLst>
                            <p:childTnLst>
                              <p:par>
                                <p:cTn id="2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5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20"/>
                                        <p:tgtEl>
                                          <p:spTgt spid="8">
                                            <p:graphicEl>
                                              <a:chart seriesIdx="-4" categoryIdx="5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>
                            <p:stCondLst>
                              <p:cond delay="2470"/>
                            </p:stCondLst>
                            <p:childTnLst>
                              <p:par>
                                <p:cTn id="2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6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20"/>
                                        <p:tgtEl>
                                          <p:spTgt spid="8">
                                            <p:graphicEl>
                                              <a:chart seriesIdx="-4" categoryIdx="6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2490"/>
                            </p:stCondLst>
                            <p:childTnLst>
                              <p:par>
                                <p:cTn id="2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6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20"/>
                                        <p:tgtEl>
                                          <p:spTgt spid="8">
                                            <p:graphicEl>
                                              <a:chart seriesIdx="-4" categoryIdx="6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" fill="hold">
                            <p:stCondLst>
                              <p:cond delay="2510"/>
                            </p:stCondLst>
                            <p:childTnLst>
                              <p:par>
                                <p:cTn id="2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6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20"/>
                                        <p:tgtEl>
                                          <p:spTgt spid="8">
                                            <p:graphicEl>
                                              <a:chart seriesIdx="-4" categoryIdx="6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2530"/>
                            </p:stCondLst>
                            <p:childTnLst>
                              <p:par>
                                <p:cTn id="2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6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20"/>
                                        <p:tgtEl>
                                          <p:spTgt spid="8">
                                            <p:graphicEl>
                                              <a:chart seriesIdx="-4" categoryIdx="6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2550"/>
                            </p:stCondLst>
                            <p:childTnLst>
                              <p:par>
                                <p:cTn id="2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6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20"/>
                                        <p:tgtEl>
                                          <p:spTgt spid="8">
                                            <p:graphicEl>
                                              <a:chart seriesIdx="-4" categoryIdx="6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>
                            <p:stCondLst>
                              <p:cond delay="2570"/>
                            </p:stCondLst>
                            <p:childTnLst>
                              <p:par>
                                <p:cTn id="2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6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20"/>
                                        <p:tgtEl>
                                          <p:spTgt spid="8">
                                            <p:graphicEl>
                                              <a:chart seriesIdx="-4" categoryIdx="6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>
                            <p:stCondLst>
                              <p:cond delay="2590"/>
                            </p:stCondLst>
                            <p:childTnLst>
                              <p:par>
                                <p:cTn id="2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6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20"/>
                                        <p:tgtEl>
                                          <p:spTgt spid="8">
                                            <p:graphicEl>
                                              <a:chart seriesIdx="-4" categoryIdx="6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2610"/>
                            </p:stCondLst>
                            <p:childTnLst>
                              <p:par>
                                <p:cTn id="2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6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20"/>
                                        <p:tgtEl>
                                          <p:spTgt spid="8">
                                            <p:graphicEl>
                                              <a:chart seriesIdx="-4" categoryIdx="6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" fill="hold">
                            <p:stCondLst>
                              <p:cond delay="2630"/>
                            </p:stCondLst>
                            <p:childTnLst>
                              <p:par>
                                <p:cTn id="2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6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20"/>
                                        <p:tgtEl>
                                          <p:spTgt spid="8">
                                            <p:graphicEl>
                                              <a:chart seriesIdx="-4" categoryIdx="6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2650"/>
                            </p:stCondLst>
                            <p:childTnLst>
                              <p:par>
                                <p:cTn id="2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6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20"/>
                                        <p:tgtEl>
                                          <p:spTgt spid="8">
                                            <p:graphicEl>
                                              <a:chart seriesIdx="-4" categoryIdx="6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2670"/>
                            </p:stCondLst>
                            <p:childTnLst>
                              <p:par>
                                <p:cTn id="2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7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20"/>
                                        <p:tgtEl>
                                          <p:spTgt spid="8">
                                            <p:graphicEl>
                                              <a:chart seriesIdx="-4" categoryIdx="7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2" fill="hold">
                            <p:stCondLst>
                              <p:cond delay="2690"/>
                            </p:stCondLst>
                            <p:childTnLst>
                              <p:par>
                                <p:cTn id="3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7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20"/>
                                        <p:tgtEl>
                                          <p:spTgt spid="8">
                                            <p:graphicEl>
                                              <a:chart seriesIdx="-4" categoryIdx="7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6" fill="hold">
                            <p:stCondLst>
                              <p:cond delay="2710"/>
                            </p:stCondLst>
                            <p:childTnLst>
                              <p:par>
                                <p:cTn id="3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7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20"/>
                                        <p:tgtEl>
                                          <p:spTgt spid="8">
                                            <p:graphicEl>
                                              <a:chart seriesIdx="-4" categoryIdx="7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2730"/>
                            </p:stCondLst>
                            <p:childTnLst>
                              <p:par>
                                <p:cTn id="3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7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20"/>
                                        <p:tgtEl>
                                          <p:spTgt spid="8">
                                            <p:graphicEl>
                                              <a:chart seriesIdx="-4" categoryIdx="7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4" fill="hold">
                            <p:stCondLst>
                              <p:cond delay="2750"/>
                            </p:stCondLst>
                            <p:childTnLst>
                              <p:par>
                                <p:cTn id="3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7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20"/>
                                        <p:tgtEl>
                                          <p:spTgt spid="8">
                                            <p:graphicEl>
                                              <a:chart seriesIdx="-4" categoryIdx="7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8" fill="hold">
                            <p:stCondLst>
                              <p:cond delay="2770"/>
                            </p:stCondLst>
                            <p:childTnLst>
                              <p:par>
                                <p:cTn id="3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7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20"/>
                                        <p:tgtEl>
                                          <p:spTgt spid="8">
                                            <p:graphicEl>
                                              <a:chart seriesIdx="-4" categoryIdx="7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2790"/>
                            </p:stCondLst>
                            <p:childTnLst>
                              <p:par>
                                <p:cTn id="3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7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20"/>
                                        <p:tgtEl>
                                          <p:spTgt spid="8">
                                            <p:graphicEl>
                                              <a:chart seriesIdx="-4" categoryIdx="7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6" fill="hold">
                            <p:stCondLst>
                              <p:cond delay="2810"/>
                            </p:stCondLst>
                            <p:childTnLst>
                              <p:par>
                                <p:cTn id="3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7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9" dur="20"/>
                                        <p:tgtEl>
                                          <p:spTgt spid="8">
                                            <p:graphicEl>
                                              <a:chart seriesIdx="-4" categoryIdx="7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0" fill="hold">
                            <p:stCondLst>
                              <p:cond delay="2830"/>
                            </p:stCondLst>
                            <p:childTnLst>
                              <p:par>
                                <p:cTn id="3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7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20"/>
                                        <p:tgtEl>
                                          <p:spTgt spid="8">
                                            <p:graphicEl>
                                              <a:chart seriesIdx="-4" categoryIdx="7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2850"/>
                            </p:stCondLst>
                            <p:childTnLst>
                              <p:par>
                                <p:cTn id="3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7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20"/>
                                        <p:tgtEl>
                                          <p:spTgt spid="8">
                                            <p:graphicEl>
                                              <a:chart seriesIdx="-4" categoryIdx="7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8" fill="hold">
                            <p:stCondLst>
                              <p:cond delay="2870"/>
                            </p:stCondLst>
                            <p:childTnLst>
                              <p:par>
                                <p:cTn id="3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8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1" dur="20"/>
                                        <p:tgtEl>
                                          <p:spTgt spid="8">
                                            <p:graphicEl>
                                              <a:chart seriesIdx="-4" categoryIdx="8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2" fill="hold">
                            <p:stCondLst>
                              <p:cond delay="2890"/>
                            </p:stCondLst>
                            <p:childTnLst>
                              <p:par>
                                <p:cTn id="3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8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20"/>
                                        <p:tgtEl>
                                          <p:spTgt spid="8">
                                            <p:graphicEl>
                                              <a:chart seriesIdx="-4" categoryIdx="8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2910"/>
                            </p:stCondLst>
                            <p:childTnLst>
                              <p:par>
                                <p:cTn id="3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8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9" dur="20"/>
                                        <p:tgtEl>
                                          <p:spTgt spid="8">
                                            <p:graphicEl>
                                              <a:chart seriesIdx="-4" categoryIdx="8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0" fill="hold">
                            <p:stCondLst>
                              <p:cond delay="2930"/>
                            </p:stCondLst>
                            <p:childTnLst>
                              <p:par>
                                <p:cTn id="3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8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3" dur="20"/>
                                        <p:tgtEl>
                                          <p:spTgt spid="8">
                                            <p:graphicEl>
                                              <a:chart seriesIdx="-4" categoryIdx="8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4" fill="hold">
                            <p:stCondLst>
                              <p:cond delay="2950"/>
                            </p:stCondLst>
                            <p:childTnLst>
                              <p:par>
                                <p:cTn id="3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8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20"/>
                                        <p:tgtEl>
                                          <p:spTgt spid="8">
                                            <p:graphicEl>
                                              <a:chart seriesIdx="-4" categoryIdx="8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2970"/>
                            </p:stCondLst>
                            <p:childTnLst>
                              <p:par>
                                <p:cTn id="3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8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1" dur="20"/>
                                        <p:tgtEl>
                                          <p:spTgt spid="8">
                                            <p:graphicEl>
                                              <a:chart seriesIdx="-4" categoryIdx="8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2" fill="hold">
                            <p:stCondLst>
                              <p:cond delay="2990"/>
                            </p:stCondLst>
                            <p:childTnLst>
                              <p:par>
                                <p:cTn id="3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8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5" dur="20"/>
                                        <p:tgtEl>
                                          <p:spTgt spid="8">
                                            <p:graphicEl>
                                              <a:chart seriesIdx="-4" categoryIdx="8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6" fill="hold">
                            <p:stCondLst>
                              <p:cond delay="3010"/>
                            </p:stCondLst>
                            <p:childTnLst>
                              <p:par>
                                <p:cTn id="3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8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9" dur="20"/>
                                        <p:tgtEl>
                                          <p:spTgt spid="8">
                                            <p:graphicEl>
                                              <a:chart seriesIdx="-4" categoryIdx="8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0" fill="hold">
                            <p:stCondLst>
                              <p:cond delay="3030"/>
                            </p:stCondLst>
                            <p:childTnLst>
                              <p:par>
                                <p:cTn id="3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8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3" dur="20"/>
                                        <p:tgtEl>
                                          <p:spTgt spid="8">
                                            <p:graphicEl>
                                              <a:chart seriesIdx="-4" categoryIdx="8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4" fill="hold">
                            <p:stCondLst>
                              <p:cond delay="3050"/>
                            </p:stCondLst>
                            <p:childTnLst>
                              <p:par>
                                <p:cTn id="3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8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7" dur="20"/>
                                        <p:tgtEl>
                                          <p:spTgt spid="8">
                                            <p:graphicEl>
                                              <a:chart seriesIdx="-4" categoryIdx="8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8" fill="hold">
                            <p:stCondLst>
                              <p:cond delay="3070"/>
                            </p:stCondLst>
                            <p:childTnLst>
                              <p:par>
                                <p:cTn id="3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9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20"/>
                                        <p:tgtEl>
                                          <p:spTgt spid="8">
                                            <p:graphicEl>
                                              <a:chart seriesIdx="-4" categoryIdx="9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2" fill="hold">
                            <p:stCondLst>
                              <p:cond delay="3090"/>
                            </p:stCondLst>
                            <p:childTnLst>
                              <p:par>
                                <p:cTn id="3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9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5" dur="20"/>
                                        <p:tgtEl>
                                          <p:spTgt spid="8">
                                            <p:graphicEl>
                                              <a:chart seriesIdx="-4" categoryIdx="9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6" fill="hold">
                            <p:stCondLst>
                              <p:cond delay="3110"/>
                            </p:stCondLst>
                            <p:childTnLst>
                              <p:par>
                                <p:cTn id="3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9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9" dur="20"/>
                                        <p:tgtEl>
                                          <p:spTgt spid="8">
                                            <p:graphicEl>
                                              <a:chart seriesIdx="-4" categoryIdx="9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0" fill="hold">
                            <p:stCondLst>
                              <p:cond delay="3130"/>
                            </p:stCondLst>
                            <p:childTnLst>
                              <p:par>
                                <p:cTn id="3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9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3" dur="20"/>
                                        <p:tgtEl>
                                          <p:spTgt spid="8">
                                            <p:graphicEl>
                                              <a:chart seriesIdx="-4" categoryIdx="9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4" fill="hold">
                            <p:stCondLst>
                              <p:cond delay="3150"/>
                            </p:stCondLst>
                            <p:childTnLst>
                              <p:par>
                                <p:cTn id="3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9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7" dur="20"/>
                                        <p:tgtEl>
                                          <p:spTgt spid="8">
                                            <p:graphicEl>
                                              <a:chart seriesIdx="-4" categoryIdx="9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3170"/>
                            </p:stCondLst>
                            <p:childTnLst>
                              <p:par>
                                <p:cTn id="3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9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1" dur="20"/>
                                        <p:tgtEl>
                                          <p:spTgt spid="8">
                                            <p:graphicEl>
                                              <a:chart seriesIdx="-4" categoryIdx="9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2" fill="hold">
                            <p:stCondLst>
                              <p:cond delay="3190"/>
                            </p:stCondLst>
                            <p:childTnLst>
                              <p:par>
                                <p:cTn id="4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9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5" dur="20"/>
                                        <p:tgtEl>
                                          <p:spTgt spid="8">
                                            <p:graphicEl>
                                              <a:chart seriesIdx="-4" categoryIdx="9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6" fill="hold">
                            <p:stCondLst>
                              <p:cond delay="3210"/>
                            </p:stCondLst>
                            <p:childTnLst>
                              <p:par>
                                <p:cTn id="4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9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9" dur="20"/>
                                        <p:tgtEl>
                                          <p:spTgt spid="8">
                                            <p:graphicEl>
                                              <a:chart seriesIdx="-4" categoryIdx="9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0" fill="hold">
                            <p:stCondLst>
                              <p:cond delay="3230"/>
                            </p:stCondLst>
                            <p:childTnLst>
                              <p:par>
                                <p:cTn id="4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9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3" dur="20"/>
                                        <p:tgtEl>
                                          <p:spTgt spid="8">
                                            <p:graphicEl>
                                              <a:chart seriesIdx="-4" categoryIdx="9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4" fill="hold">
                            <p:stCondLst>
                              <p:cond delay="3250"/>
                            </p:stCondLst>
                            <p:childTnLst>
                              <p:par>
                                <p:cTn id="4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9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7" dur="20"/>
                                        <p:tgtEl>
                                          <p:spTgt spid="8">
                                            <p:graphicEl>
                                              <a:chart seriesIdx="-4" categoryIdx="9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8" fill="hold">
                            <p:stCondLst>
                              <p:cond delay="3270"/>
                            </p:stCondLst>
                            <p:childTnLst>
                              <p:par>
                                <p:cTn id="4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0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" dur="20"/>
                                        <p:tgtEl>
                                          <p:spTgt spid="8">
                                            <p:graphicEl>
                                              <a:chart seriesIdx="-4" categoryIdx="10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2" fill="hold">
                            <p:stCondLst>
                              <p:cond delay="3290"/>
                            </p:stCondLst>
                            <p:childTnLst>
                              <p:par>
                                <p:cTn id="4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0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5" dur="20"/>
                                        <p:tgtEl>
                                          <p:spTgt spid="8">
                                            <p:graphicEl>
                                              <a:chart seriesIdx="-4" categoryIdx="10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6" fill="hold">
                            <p:stCondLst>
                              <p:cond delay="3310"/>
                            </p:stCondLst>
                            <p:childTnLst>
                              <p:par>
                                <p:cTn id="4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0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9" dur="20"/>
                                        <p:tgtEl>
                                          <p:spTgt spid="8">
                                            <p:graphicEl>
                                              <a:chart seriesIdx="-4" categoryIdx="10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0" fill="hold">
                            <p:stCondLst>
                              <p:cond delay="3330"/>
                            </p:stCondLst>
                            <p:childTnLst>
                              <p:par>
                                <p:cTn id="4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0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3" dur="20"/>
                                        <p:tgtEl>
                                          <p:spTgt spid="8">
                                            <p:graphicEl>
                                              <a:chart seriesIdx="-4" categoryIdx="10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4" fill="hold">
                            <p:stCondLst>
                              <p:cond delay="3350"/>
                            </p:stCondLst>
                            <p:childTnLst>
                              <p:par>
                                <p:cTn id="4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0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7" dur="20"/>
                                        <p:tgtEl>
                                          <p:spTgt spid="8">
                                            <p:graphicEl>
                                              <a:chart seriesIdx="-4" categoryIdx="10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8" fill="hold">
                            <p:stCondLst>
                              <p:cond delay="3370"/>
                            </p:stCondLst>
                            <p:childTnLst>
                              <p:par>
                                <p:cTn id="4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0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1" dur="20"/>
                                        <p:tgtEl>
                                          <p:spTgt spid="8">
                                            <p:graphicEl>
                                              <a:chart seriesIdx="-4" categoryIdx="10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2" fill="hold">
                            <p:stCondLst>
                              <p:cond delay="3390"/>
                            </p:stCondLst>
                            <p:childTnLst>
                              <p:par>
                                <p:cTn id="4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0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5" dur="20"/>
                                        <p:tgtEl>
                                          <p:spTgt spid="8">
                                            <p:graphicEl>
                                              <a:chart seriesIdx="-4" categoryIdx="10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6" fill="hold">
                            <p:stCondLst>
                              <p:cond delay="3410"/>
                            </p:stCondLst>
                            <p:childTnLst>
                              <p:par>
                                <p:cTn id="4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0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9" dur="20"/>
                                        <p:tgtEl>
                                          <p:spTgt spid="8">
                                            <p:graphicEl>
                                              <a:chart seriesIdx="-4" categoryIdx="10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0" fill="hold">
                            <p:stCondLst>
                              <p:cond delay="3430"/>
                            </p:stCondLst>
                            <p:childTnLst>
                              <p:par>
                                <p:cTn id="4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0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3" dur="20"/>
                                        <p:tgtEl>
                                          <p:spTgt spid="8">
                                            <p:graphicEl>
                                              <a:chart seriesIdx="-4" categoryIdx="10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4" fill="hold">
                            <p:stCondLst>
                              <p:cond delay="3450"/>
                            </p:stCondLst>
                            <p:childTnLst>
                              <p:par>
                                <p:cTn id="4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0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7" dur="20"/>
                                        <p:tgtEl>
                                          <p:spTgt spid="8">
                                            <p:graphicEl>
                                              <a:chart seriesIdx="-4" categoryIdx="10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8" fill="hold">
                            <p:stCondLst>
                              <p:cond delay="3470"/>
                            </p:stCondLst>
                            <p:childTnLst>
                              <p:par>
                                <p:cTn id="4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1" dur="20"/>
                                        <p:tgtEl>
                                          <p:spTgt spid="8">
                                            <p:graphicEl>
                                              <a:chart seriesIdx="-4" categoryIdx="11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2" fill="hold">
                            <p:stCondLst>
                              <p:cond delay="3490"/>
                            </p:stCondLst>
                            <p:childTnLst>
                              <p:par>
                                <p:cTn id="4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5" dur="20"/>
                                        <p:tgtEl>
                                          <p:spTgt spid="8">
                                            <p:graphicEl>
                                              <a:chart seriesIdx="-4" categoryIdx="11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6" fill="hold">
                            <p:stCondLst>
                              <p:cond delay="3510"/>
                            </p:stCondLst>
                            <p:childTnLst>
                              <p:par>
                                <p:cTn id="4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9" dur="20"/>
                                        <p:tgtEl>
                                          <p:spTgt spid="8">
                                            <p:graphicEl>
                                              <a:chart seriesIdx="-4" categoryIdx="11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0" fill="hold">
                            <p:stCondLst>
                              <p:cond delay="3530"/>
                            </p:stCondLst>
                            <p:childTnLst>
                              <p:par>
                                <p:cTn id="4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3" dur="20"/>
                                        <p:tgtEl>
                                          <p:spTgt spid="8">
                                            <p:graphicEl>
                                              <a:chart seriesIdx="-4" categoryIdx="11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4" fill="hold">
                            <p:stCondLst>
                              <p:cond delay="3550"/>
                            </p:stCondLst>
                            <p:childTnLst>
                              <p:par>
                                <p:cTn id="4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1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7" dur="20"/>
                                        <p:tgtEl>
                                          <p:spTgt spid="8">
                                            <p:graphicEl>
                                              <a:chart seriesIdx="-4" categoryIdx="11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8" fill="hold">
                            <p:stCondLst>
                              <p:cond delay="3570"/>
                            </p:stCondLst>
                            <p:childTnLst>
                              <p:par>
                                <p:cTn id="4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1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1" dur="20"/>
                                        <p:tgtEl>
                                          <p:spTgt spid="8">
                                            <p:graphicEl>
                                              <a:chart seriesIdx="-4" categoryIdx="11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2" fill="hold">
                            <p:stCondLst>
                              <p:cond delay="3590"/>
                            </p:stCondLst>
                            <p:childTnLst>
                              <p:par>
                                <p:cTn id="4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1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5" dur="20"/>
                                        <p:tgtEl>
                                          <p:spTgt spid="8">
                                            <p:graphicEl>
                                              <a:chart seriesIdx="-4" categoryIdx="11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6" fill="hold">
                            <p:stCondLst>
                              <p:cond delay="3610"/>
                            </p:stCondLst>
                            <p:childTnLst>
                              <p:par>
                                <p:cTn id="4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1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9" dur="20"/>
                                        <p:tgtEl>
                                          <p:spTgt spid="8">
                                            <p:graphicEl>
                                              <a:chart seriesIdx="-4" categoryIdx="11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0" fill="hold">
                            <p:stCondLst>
                              <p:cond delay="3630"/>
                            </p:stCondLst>
                            <p:childTnLst>
                              <p:par>
                                <p:cTn id="4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1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3" dur="20"/>
                                        <p:tgtEl>
                                          <p:spTgt spid="8">
                                            <p:graphicEl>
                                              <a:chart seriesIdx="-4" categoryIdx="11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4" fill="hold">
                            <p:stCondLst>
                              <p:cond delay="3650"/>
                            </p:stCondLst>
                            <p:childTnLst>
                              <p:par>
                                <p:cTn id="4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1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7" dur="20"/>
                                        <p:tgtEl>
                                          <p:spTgt spid="8">
                                            <p:graphicEl>
                                              <a:chart seriesIdx="-4" categoryIdx="11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8" fill="hold">
                            <p:stCondLst>
                              <p:cond delay="3670"/>
                            </p:stCondLst>
                            <p:childTnLst>
                              <p:par>
                                <p:cTn id="4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2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1" dur="20"/>
                                        <p:tgtEl>
                                          <p:spTgt spid="8">
                                            <p:graphicEl>
                                              <a:chart seriesIdx="-4" categoryIdx="12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2" fill="hold">
                            <p:stCondLst>
                              <p:cond delay="3690"/>
                            </p:stCondLst>
                            <p:childTnLst>
                              <p:par>
                                <p:cTn id="5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2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5" dur="20"/>
                                        <p:tgtEl>
                                          <p:spTgt spid="8">
                                            <p:graphicEl>
                                              <a:chart seriesIdx="-4" categoryIdx="12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6" fill="hold">
                            <p:stCondLst>
                              <p:cond delay="3710"/>
                            </p:stCondLst>
                            <p:childTnLst>
                              <p:par>
                                <p:cTn id="5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2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9" dur="20"/>
                                        <p:tgtEl>
                                          <p:spTgt spid="8">
                                            <p:graphicEl>
                                              <a:chart seriesIdx="-4" categoryIdx="12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0" fill="hold">
                            <p:stCondLst>
                              <p:cond delay="3730"/>
                            </p:stCondLst>
                            <p:childTnLst>
                              <p:par>
                                <p:cTn id="5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2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3" dur="20"/>
                                        <p:tgtEl>
                                          <p:spTgt spid="8">
                                            <p:graphicEl>
                                              <a:chart seriesIdx="-4" categoryIdx="12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4" fill="hold">
                            <p:stCondLst>
                              <p:cond delay="3750"/>
                            </p:stCondLst>
                            <p:childTnLst>
                              <p:par>
                                <p:cTn id="5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2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7" dur="20"/>
                                        <p:tgtEl>
                                          <p:spTgt spid="8">
                                            <p:graphicEl>
                                              <a:chart seriesIdx="-4" categoryIdx="12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8" fill="hold">
                            <p:stCondLst>
                              <p:cond delay="3770"/>
                            </p:stCondLst>
                            <p:childTnLst>
                              <p:par>
                                <p:cTn id="5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2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1" dur="20"/>
                                        <p:tgtEl>
                                          <p:spTgt spid="8">
                                            <p:graphicEl>
                                              <a:chart seriesIdx="-4" categoryIdx="12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2" fill="hold">
                            <p:stCondLst>
                              <p:cond delay="3790"/>
                            </p:stCondLst>
                            <p:childTnLst>
                              <p:par>
                                <p:cTn id="5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2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5" dur="20"/>
                                        <p:tgtEl>
                                          <p:spTgt spid="8">
                                            <p:graphicEl>
                                              <a:chart seriesIdx="-4" categoryIdx="12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6" fill="hold">
                            <p:stCondLst>
                              <p:cond delay="3810"/>
                            </p:stCondLst>
                            <p:childTnLst>
                              <p:par>
                                <p:cTn id="5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2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9" dur="20"/>
                                        <p:tgtEl>
                                          <p:spTgt spid="8">
                                            <p:graphicEl>
                                              <a:chart seriesIdx="-4" categoryIdx="12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0" fill="hold">
                            <p:stCondLst>
                              <p:cond delay="3830"/>
                            </p:stCondLst>
                            <p:childTnLst>
                              <p:par>
                                <p:cTn id="5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2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3" dur="20"/>
                                        <p:tgtEl>
                                          <p:spTgt spid="8">
                                            <p:graphicEl>
                                              <a:chart seriesIdx="-4" categoryIdx="12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4" fill="hold">
                            <p:stCondLst>
                              <p:cond delay="3850"/>
                            </p:stCondLst>
                            <p:childTnLst>
                              <p:par>
                                <p:cTn id="5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2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7" dur="20"/>
                                        <p:tgtEl>
                                          <p:spTgt spid="8">
                                            <p:graphicEl>
                                              <a:chart seriesIdx="-4" categoryIdx="12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8" fill="hold">
                            <p:stCondLst>
                              <p:cond delay="3870"/>
                            </p:stCondLst>
                            <p:childTnLst>
                              <p:par>
                                <p:cTn id="5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3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1" dur="20"/>
                                        <p:tgtEl>
                                          <p:spTgt spid="8">
                                            <p:graphicEl>
                                              <a:chart seriesIdx="-4" categoryIdx="13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2" fill="hold">
                            <p:stCondLst>
                              <p:cond delay="3890"/>
                            </p:stCondLst>
                            <p:childTnLst>
                              <p:par>
                                <p:cTn id="5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3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5" dur="20"/>
                                        <p:tgtEl>
                                          <p:spTgt spid="8">
                                            <p:graphicEl>
                                              <a:chart seriesIdx="-4" categoryIdx="13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6" fill="hold">
                            <p:stCondLst>
                              <p:cond delay="3910"/>
                            </p:stCondLst>
                            <p:childTnLst>
                              <p:par>
                                <p:cTn id="5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3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9" dur="20"/>
                                        <p:tgtEl>
                                          <p:spTgt spid="8">
                                            <p:graphicEl>
                                              <a:chart seriesIdx="-4" categoryIdx="13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0" fill="hold">
                            <p:stCondLst>
                              <p:cond delay="3930"/>
                            </p:stCondLst>
                            <p:childTnLst>
                              <p:par>
                                <p:cTn id="5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3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3" dur="20"/>
                                        <p:tgtEl>
                                          <p:spTgt spid="8">
                                            <p:graphicEl>
                                              <a:chart seriesIdx="-4" categoryIdx="13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4" fill="hold">
                            <p:stCondLst>
                              <p:cond delay="3950"/>
                            </p:stCondLst>
                            <p:childTnLst>
                              <p:par>
                                <p:cTn id="5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3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7" dur="20"/>
                                        <p:tgtEl>
                                          <p:spTgt spid="8">
                                            <p:graphicEl>
                                              <a:chart seriesIdx="-4" categoryIdx="13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8" fill="hold">
                            <p:stCondLst>
                              <p:cond delay="3970"/>
                            </p:stCondLst>
                            <p:childTnLst>
                              <p:par>
                                <p:cTn id="5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3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1" dur="20"/>
                                        <p:tgtEl>
                                          <p:spTgt spid="8">
                                            <p:graphicEl>
                                              <a:chart seriesIdx="-4" categoryIdx="13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2" fill="hold">
                            <p:stCondLst>
                              <p:cond delay="3990"/>
                            </p:stCondLst>
                            <p:childTnLst>
                              <p:par>
                                <p:cTn id="5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3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5" dur="20"/>
                                        <p:tgtEl>
                                          <p:spTgt spid="8">
                                            <p:graphicEl>
                                              <a:chart seriesIdx="-4" categoryIdx="13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6" fill="hold">
                            <p:stCondLst>
                              <p:cond delay="4010"/>
                            </p:stCondLst>
                            <p:childTnLst>
                              <p:par>
                                <p:cTn id="5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3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9" dur="20"/>
                                        <p:tgtEl>
                                          <p:spTgt spid="8">
                                            <p:graphicEl>
                                              <a:chart seriesIdx="-4" categoryIdx="13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0" fill="hold">
                            <p:stCondLst>
                              <p:cond delay="4030"/>
                            </p:stCondLst>
                            <p:childTnLst>
                              <p:par>
                                <p:cTn id="5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3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3" dur="20"/>
                                        <p:tgtEl>
                                          <p:spTgt spid="8">
                                            <p:graphicEl>
                                              <a:chart seriesIdx="-4" categoryIdx="13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4" fill="hold">
                            <p:stCondLst>
                              <p:cond delay="4050"/>
                            </p:stCondLst>
                            <p:childTnLst>
                              <p:par>
                                <p:cTn id="5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3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7" dur="20"/>
                                        <p:tgtEl>
                                          <p:spTgt spid="8">
                                            <p:graphicEl>
                                              <a:chart seriesIdx="-4" categoryIdx="13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8" fill="hold">
                            <p:stCondLst>
                              <p:cond delay="4070"/>
                            </p:stCondLst>
                            <p:childTnLst>
                              <p:par>
                                <p:cTn id="5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4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1" dur="20"/>
                                        <p:tgtEl>
                                          <p:spTgt spid="8">
                                            <p:graphicEl>
                                              <a:chart seriesIdx="-4" categoryIdx="14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2" fill="hold">
                            <p:stCondLst>
                              <p:cond delay="4090"/>
                            </p:stCondLst>
                            <p:childTnLst>
                              <p:par>
                                <p:cTn id="5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4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5" dur="20"/>
                                        <p:tgtEl>
                                          <p:spTgt spid="8">
                                            <p:graphicEl>
                                              <a:chart seriesIdx="-4" categoryIdx="14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6" fill="hold">
                            <p:stCondLst>
                              <p:cond delay="4110"/>
                            </p:stCondLst>
                            <p:childTnLst>
                              <p:par>
                                <p:cTn id="5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4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9" dur="20"/>
                                        <p:tgtEl>
                                          <p:spTgt spid="8">
                                            <p:graphicEl>
                                              <a:chart seriesIdx="-4" categoryIdx="14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0" fill="hold">
                            <p:stCondLst>
                              <p:cond delay="4130"/>
                            </p:stCondLst>
                            <p:childTnLst>
                              <p:par>
                                <p:cTn id="5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4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3" dur="20"/>
                                        <p:tgtEl>
                                          <p:spTgt spid="8">
                                            <p:graphicEl>
                                              <a:chart seriesIdx="-4" categoryIdx="14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4" fill="hold">
                            <p:stCondLst>
                              <p:cond delay="4150"/>
                            </p:stCondLst>
                            <p:childTnLst>
                              <p:par>
                                <p:cTn id="5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4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7" dur="20"/>
                                        <p:tgtEl>
                                          <p:spTgt spid="8">
                                            <p:graphicEl>
                                              <a:chart seriesIdx="-4" categoryIdx="14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8" fill="hold">
                            <p:stCondLst>
                              <p:cond delay="4170"/>
                            </p:stCondLst>
                            <p:childTnLst>
                              <p:par>
                                <p:cTn id="5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4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1" dur="20"/>
                                        <p:tgtEl>
                                          <p:spTgt spid="8">
                                            <p:graphicEl>
                                              <a:chart seriesIdx="-4" categoryIdx="14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2" fill="hold">
                            <p:stCondLst>
                              <p:cond delay="4190"/>
                            </p:stCondLst>
                            <p:childTnLst>
                              <p:par>
                                <p:cTn id="6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4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5" dur="20"/>
                                        <p:tgtEl>
                                          <p:spTgt spid="8">
                                            <p:graphicEl>
                                              <a:chart seriesIdx="-4" categoryIdx="14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6" fill="hold">
                            <p:stCondLst>
                              <p:cond delay="4210"/>
                            </p:stCondLst>
                            <p:childTnLst>
                              <p:par>
                                <p:cTn id="6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4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9" dur="20"/>
                                        <p:tgtEl>
                                          <p:spTgt spid="8">
                                            <p:graphicEl>
                                              <a:chart seriesIdx="-4" categoryIdx="14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0" fill="hold">
                            <p:stCondLst>
                              <p:cond delay="4230"/>
                            </p:stCondLst>
                            <p:childTnLst>
                              <p:par>
                                <p:cTn id="6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4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3" dur="20"/>
                                        <p:tgtEl>
                                          <p:spTgt spid="8">
                                            <p:graphicEl>
                                              <a:chart seriesIdx="-4" categoryIdx="14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4" fill="hold">
                            <p:stCondLst>
                              <p:cond delay="4250"/>
                            </p:stCondLst>
                            <p:childTnLst>
                              <p:par>
                                <p:cTn id="6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4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7" dur="20"/>
                                        <p:tgtEl>
                                          <p:spTgt spid="8">
                                            <p:graphicEl>
                                              <a:chart seriesIdx="-4" categoryIdx="14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8" fill="hold">
                            <p:stCondLst>
                              <p:cond delay="4270"/>
                            </p:stCondLst>
                            <p:childTnLst>
                              <p:par>
                                <p:cTn id="6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5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1" dur="20"/>
                                        <p:tgtEl>
                                          <p:spTgt spid="8">
                                            <p:graphicEl>
                                              <a:chart seriesIdx="-4" categoryIdx="15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2" fill="hold">
                            <p:stCondLst>
                              <p:cond delay="4290"/>
                            </p:stCondLst>
                            <p:childTnLst>
                              <p:par>
                                <p:cTn id="6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5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5" dur="20"/>
                                        <p:tgtEl>
                                          <p:spTgt spid="8">
                                            <p:graphicEl>
                                              <a:chart seriesIdx="-4" categoryIdx="15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6" fill="hold">
                            <p:stCondLst>
                              <p:cond delay="4310"/>
                            </p:stCondLst>
                            <p:childTnLst>
                              <p:par>
                                <p:cTn id="6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5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9" dur="20"/>
                                        <p:tgtEl>
                                          <p:spTgt spid="8">
                                            <p:graphicEl>
                                              <a:chart seriesIdx="-4" categoryIdx="15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0" fill="hold">
                            <p:stCondLst>
                              <p:cond delay="4330"/>
                            </p:stCondLst>
                            <p:childTnLst>
                              <p:par>
                                <p:cTn id="6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5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3" dur="20"/>
                                        <p:tgtEl>
                                          <p:spTgt spid="8">
                                            <p:graphicEl>
                                              <a:chart seriesIdx="-4" categoryIdx="15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4" fill="hold">
                            <p:stCondLst>
                              <p:cond delay="4350"/>
                            </p:stCondLst>
                            <p:childTnLst>
                              <p:par>
                                <p:cTn id="6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5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7" dur="20"/>
                                        <p:tgtEl>
                                          <p:spTgt spid="8">
                                            <p:graphicEl>
                                              <a:chart seriesIdx="-4" categoryIdx="15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8" fill="hold">
                            <p:stCondLst>
                              <p:cond delay="4370"/>
                            </p:stCondLst>
                            <p:childTnLst>
                              <p:par>
                                <p:cTn id="6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5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1" dur="20"/>
                                        <p:tgtEl>
                                          <p:spTgt spid="8">
                                            <p:graphicEl>
                                              <a:chart seriesIdx="-4" categoryIdx="15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Sub>
          <a:bldChart bld="category"/>
        </p:bldSub>
      </p:bldGraphic>
      <p:bldP spid="7" grpId="0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4">
            <a:extLst>
              <a:ext uri="{FF2B5EF4-FFF2-40B4-BE49-F238E27FC236}">
                <a16:creationId xmlns:a16="http://schemas.microsoft.com/office/drawing/2014/main" id="{88A03066-6080-4272-8467-D292B125A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sz="3600" i="1" dirty="0">
                <a:latin typeface="Abadi" panose="020B0604020104020204" pitchFamily="34" charset="0"/>
                <a:cs typeface="Browallia New" panose="020B0604020202020204" pitchFamily="34" charset="-34"/>
              </a:rPr>
              <a:t> </a:t>
            </a:r>
            <a:endParaRPr lang="es-AR" sz="3600" dirty="0">
              <a:latin typeface="Abadi" panose="020B0604020104020204" pitchFamily="34" charset="0"/>
            </a:endParaRPr>
          </a:p>
        </p:txBody>
      </p:sp>
      <p:graphicFrame>
        <p:nvGraphicFramePr>
          <p:cNvPr id="16" name="Marcador de contenido 15">
            <a:extLst>
              <a:ext uri="{FF2B5EF4-FFF2-40B4-BE49-F238E27FC236}">
                <a16:creationId xmlns:a16="http://schemas.microsoft.com/office/drawing/2014/main" id="{821FE715-E1E7-436F-B925-DD7D0C5F32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2346709"/>
              </p:ext>
            </p:extLst>
          </p:nvPr>
        </p:nvGraphicFramePr>
        <p:xfrm>
          <a:off x="405797" y="2286595"/>
          <a:ext cx="6197312" cy="40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3 Marcador de contenido"/>
          <p:cNvSpPr>
            <a:spLocks noGrp="1"/>
          </p:cNvSpPr>
          <p:nvPr>
            <p:ph sz="half" idx="4294967295"/>
          </p:nvPr>
        </p:nvSpPr>
        <p:spPr>
          <a:xfrm>
            <a:off x="0" y="2748062"/>
            <a:ext cx="3703638" cy="3378200"/>
          </a:xfrm>
        </p:spPr>
        <p:txBody>
          <a:bodyPr/>
          <a:lstStyle/>
          <a:p>
            <a:pPr marL="0" indent="0">
              <a:buNone/>
            </a:pPr>
            <a:endParaRPr lang="es-AR" dirty="0"/>
          </a:p>
          <a:p>
            <a:endParaRPr lang="es-AR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2CDAB72-12EA-4D8F-88E6-1FCD49BD3C2C}"/>
              </a:ext>
            </a:extLst>
          </p:cNvPr>
          <p:cNvSpPr/>
          <p:nvPr/>
        </p:nvSpPr>
        <p:spPr>
          <a:xfrm>
            <a:off x="7164287" y="3399682"/>
            <a:ext cx="1567559" cy="179655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FONDO DE CONVERSIÓN</a:t>
            </a:r>
          </a:p>
          <a:p>
            <a:pPr algn="ctr"/>
            <a:r>
              <a:rPr lang="es-AR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30 Millones PESOS ORO</a:t>
            </a:r>
          </a:p>
          <a:p>
            <a:pPr algn="ctr"/>
            <a:endParaRPr lang="es-AR" sz="1600" b="1" dirty="0"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</a:endParaRPr>
          </a:p>
          <a:p>
            <a:pPr algn="ctr"/>
            <a:r>
              <a:rPr lang="es-AR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DIC 1913:</a:t>
            </a:r>
          </a:p>
          <a:p>
            <a:pPr algn="ctr"/>
            <a:r>
              <a:rPr lang="es-AR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Respaldo 73%</a:t>
            </a:r>
          </a:p>
        </p:txBody>
      </p:sp>
      <p:sp>
        <p:nvSpPr>
          <p:cNvPr id="10" name="Título 4">
            <a:extLst>
              <a:ext uri="{FF2B5EF4-FFF2-40B4-BE49-F238E27FC236}">
                <a16:creationId xmlns:a16="http://schemas.microsoft.com/office/drawing/2014/main" id="{726433EF-A0C5-4014-86FA-0FB437AE4F78}"/>
              </a:ext>
            </a:extLst>
          </p:cNvPr>
          <p:cNvSpPr txBox="1">
            <a:spLocks/>
          </p:cNvSpPr>
          <p:nvPr/>
        </p:nvSpPr>
        <p:spPr>
          <a:xfrm>
            <a:off x="-15958" y="-4997"/>
            <a:ext cx="9159957" cy="75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La Caja de Conversión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5C8077E5-52D6-45D2-B4C4-46AC0AD7740C}"/>
              </a:ext>
            </a:extLst>
          </p:cNvPr>
          <p:cNvSpPr/>
          <p:nvPr/>
        </p:nvSpPr>
        <p:spPr>
          <a:xfrm>
            <a:off x="2447351" y="2044142"/>
            <a:ext cx="3597937" cy="482166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Oct 1902 – Dic 1913 </a:t>
            </a:r>
          </a:p>
        </p:txBody>
      </p:sp>
      <p:pic>
        <p:nvPicPr>
          <p:cNvPr id="13" name="Gráfico 12" descr="Monedas">
            <a:extLst>
              <a:ext uri="{FF2B5EF4-FFF2-40B4-BE49-F238E27FC236}">
                <a16:creationId xmlns:a16="http://schemas.microsoft.com/office/drawing/2014/main" id="{CC2D9699-FE14-48E1-A145-071AEED619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78116" y="2562615"/>
            <a:ext cx="739902" cy="739902"/>
          </a:xfrm>
          <a:prstGeom prst="rect">
            <a:avLst/>
          </a:prstGeom>
        </p:spPr>
      </p:pic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647FD4FF-478F-4345-82E4-4A59E8424AD5}"/>
              </a:ext>
            </a:extLst>
          </p:cNvPr>
          <p:cNvSpPr/>
          <p:nvPr/>
        </p:nvSpPr>
        <p:spPr>
          <a:xfrm>
            <a:off x="822960" y="1194730"/>
            <a:ext cx="7498080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COMPORTAMIENTO </a:t>
            </a:r>
            <a:r>
              <a:rPr lang="es-ES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  <a:sym typeface="Wingdings" panose="05000000000000000000" pitchFamily="2" charset="2"/>
              </a:rPr>
              <a:t> REGLA</a:t>
            </a:r>
            <a:endParaRPr lang="es-ES" b="1" dirty="0"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  <a:cs typeface="Browallia New" panose="020B0604020202020204" pitchFamily="34" charset="-34"/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713AD17A-1246-465E-8077-900302EC703C}"/>
              </a:ext>
            </a:extLst>
          </p:cNvPr>
          <p:cNvSpPr/>
          <p:nvPr/>
        </p:nvSpPr>
        <p:spPr>
          <a:xfrm>
            <a:off x="4067944" y="1194730"/>
            <a:ext cx="2961576" cy="482166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  <a:sym typeface="Wingdings" panose="05000000000000000000" pitchFamily="2" charset="2"/>
              </a:rPr>
              <a:t> REGLA</a:t>
            </a:r>
            <a:endParaRPr lang="es-ES" b="1" dirty="0">
              <a:solidFill>
                <a:schemeClr val="tx2">
                  <a:lumMod val="20000"/>
                  <a:lumOff val="80000"/>
                </a:schemeClr>
              </a:solidFill>
              <a:latin typeface="Abadi" panose="020B0604020104020204" pitchFamily="34" charset="0"/>
              <a:cs typeface="Browallia New" panose="020B0604020202020204" pitchFamily="34" charset="-34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EC7FEA3-8095-490E-92F3-1FFBE1F4DE02}"/>
              </a:ext>
            </a:extLst>
          </p:cNvPr>
          <p:cNvSpPr/>
          <p:nvPr/>
        </p:nvSpPr>
        <p:spPr>
          <a:xfrm>
            <a:off x="4804613" y="5709155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Se siguió estrictamente el principio de la </a:t>
            </a:r>
            <a:r>
              <a:rPr lang="es-ES" dirty="0" err="1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Currency</a:t>
            </a:r>
            <a:r>
              <a:rPr lang="es-ES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 </a:t>
            </a:r>
            <a:r>
              <a:rPr lang="es-ES" dirty="0" err="1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School</a:t>
            </a:r>
            <a:r>
              <a:rPr lang="es-ES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. </a:t>
            </a:r>
          </a:p>
          <a:p>
            <a:r>
              <a:rPr lang="es-ES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Por tanto, la política monetaria pasó a ser endógena</a:t>
            </a:r>
          </a:p>
        </p:txBody>
      </p:sp>
    </p:spTree>
    <p:extLst>
      <p:ext uri="{BB962C8B-B14F-4D97-AF65-F5344CB8AC3E}">
        <p14:creationId xmlns:p14="http://schemas.microsoft.com/office/powerpoint/2010/main" val="376395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"/>
                                        <p:tgtEl>
                                          <p:spTgt spid="1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7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"/>
                                        <p:tgtEl>
                                          <p:spTgt spid="1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29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"/>
                                        <p:tgtEl>
                                          <p:spTgt spid="1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31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"/>
                                        <p:tgtEl>
                                          <p:spTgt spid="1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3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"/>
                                        <p:tgtEl>
                                          <p:spTgt spid="16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35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"/>
                                        <p:tgtEl>
                                          <p:spTgt spid="16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37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"/>
                                        <p:tgtEl>
                                          <p:spTgt spid="16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39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"/>
                                        <p:tgtEl>
                                          <p:spTgt spid="16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41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"/>
                                        <p:tgtEl>
                                          <p:spTgt spid="16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43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"/>
                                        <p:tgtEl>
                                          <p:spTgt spid="16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45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"/>
                                        <p:tgtEl>
                                          <p:spTgt spid="16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47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"/>
                                        <p:tgtEl>
                                          <p:spTgt spid="16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49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"/>
                                        <p:tgtEl>
                                          <p:spTgt spid="16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51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"/>
                                        <p:tgtEl>
                                          <p:spTgt spid="16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53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0"/>
                                        <p:tgtEl>
                                          <p:spTgt spid="16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55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0"/>
                                        <p:tgtEl>
                                          <p:spTgt spid="16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57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0"/>
                                        <p:tgtEl>
                                          <p:spTgt spid="16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59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0"/>
                                        <p:tgtEl>
                                          <p:spTgt spid="16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61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0"/>
                                        <p:tgtEl>
                                          <p:spTgt spid="16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630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0"/>
                                        <p:tgtEl>
                                          <p:spTgt spid="16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65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0"/>
                                        <p:tgtEl>
                                          <p:spTgt spid="16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670"/>
                            </p:stCondLst>
                            <p:childTnLst>
                              <p:par>
                                <p:cTn id="1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20"/>
                                        <p:tgtEl>
                                          <p:spTgt spid="16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690"/>
                            </p:stCondLst>
                            <p:childTnLst>
                              <p:par>
                                <p:cTn id="1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20"/>
                                        <p:tgtEl>
                                          <p:spTgt spid="16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2710"/>
                            </p:stCondLst>
                            <p:childTnLst>
                              <p:par>
                                <p:cTn id="1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20"/>
                                        <p:tgtEl>
                                          <p:spTgt spid="16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2730"/>
                            </p:stCondLst>
                            <p:childTnLst>
                              <p:par>
                                <p:cTn id="1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20"/>
                                        <p:tgtEl>
                                          <p:spTgt spid="16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75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2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20"/>
                                        <p:tgtEl>
                                          <p:spTgt spid="16">
                                            <p:graphicEl>
                                              <a:chart seriesIdx="-4" categoryIdx="2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2770"/>
                            </p:stCondLst>
                            <p:childTnLst>
                              <p:par>
                                <p:cTn id="1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2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20"/>
                                        <p:tgtEl>
                                          <p:spTgt spid="16">
                                            <p:graphicEl>
                                              <a:chart seriesIdx="-4" categoryIdx="2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790"/>
                            </p:stCondLst>
                            <p:childTnLst>
                              <p:par>
                                <p:cTn id="1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2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20"/>
                                        <p:tgtEl>
                                          <p:spTgt spid="16">
                                            <p:graphicEl>
                                              <a:chart seriesIdx="-4" categoryIdx="2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810"/>
                            </p:stCondLst>
                            <p:childTnLst>
                              <p:par>
                                <p:cTn id="1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2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20"/>
                                        <p:tgtEl>
                                          <p:spTgt spid="16">
                                            <p:graphicEl>
                                              <a:chart seriesIdx="-4" categoryIdx="2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2830"/>
                            </p:stCondLst>
                            <p:childTnLst>
                              <p:par>
                                <p:cTn id="1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2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20"/>
                                        <p:tgtEl>
                                          <p:spTgt spid="16">
                                            <p:graphicEl>
                                              <a:chart seriesIdx="-4" categoryIdx="2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2850"/>
                            </p:stCondLst>
                            <p:childTnLst>
                              <p:par>
                                <p:cTn id="1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2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20"/>
                                        <p:tgtEl>
                                          <p:spTgt spid="16">
                                            <p:graphicEl>
                                              <a:chart seriesIdx="-4" categoryIdx="2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2870"/>
                            </p:stCondLst>
                            <p:childTnLst>
                              <p:par>
                                <p:cTn id="1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3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20"/>
                                        <p:tgtEl>
                                          <p:spTgt spid="16">
                                            <p:graphicEl>
                                              <a:chart seriesIdx="-4" categoryIdx="3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2890"/>
                            </p:stCondLst>
                            <p:childTnLst>
                              <p:par>
                                <p:cTn id="1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3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20"/>
                                        <p:tgtEl>
                                          <p:spTgt spid="16">
                                            <p:graphicEl>
                                              <a:chart seriesIdx="-4" categoryIdx="3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2910"/>
                            </p:stCondLst>
                            <p:childTnLst>
                              <p:par>
                                <p:cTn id="1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3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20"/>
                                        <p:tgtEl>
                                          <p:spTgt spid="16">
                                            <p:graphicEl>
                                              <a:chart seriesIdx="-4" categoryIdx="3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2930"/>
                            </p:stCondLst>
                            <p:childTnLst>
                              <p:par>
                                <p:cTn id="1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3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20"/>
                                        <p:tgtEl>
                                          <p:spTgt spid="16">
                                            <p:graphicEl>
                                              <a:chart seriesIdx="-4" categoryIdx="3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2950"/>
                            </p:stCondLst>
                            <p:childTnLst>
                              <p:par>
                                <p:cTn id="1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3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20"/>
                                        <p:tgtEl>
                                          <p:spTgt spid="16">
                                            <p:graphicEl>
                                              <a:chart seriesIdx="-4" categoryIdx="3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2970"/>
                            </p:stCondLst>
                            <p:childTnLst>
                              <p:par>
                                <p:cTn id="1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3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20"/>
                                        <p:tgtEl>
                                          <p:spTgt spid="16">
                                            <p:graphicEl>
                                              <a:chart seriesIdx="-4" categoryIdx="3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2990"/>
                            </p:stCondLst>
                            <p:childTnLst>
                              <p:par>
                                <p:cTn id="1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3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20"/>
                                        <p:tgtEl>
                                          <p:spTgt spid="16">
                                            <p:graphicEl>
                                              <a:chart seriesIdx="-4" categoryIdx="3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3010"/>
                            </p:stCondLst>
                            <p:childTnLst>
                              <p:par>
                                <p:cTn id="1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3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20"/>
                                        <p:tgtEl>
                                          <p:spTgt spid="16">
                                            <p:graphicEl>
                                              <a:chart seriesIdx="-4" categoryIdx="3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3030"/>
                            </p:stCondLst>
                            <p:childTnLst>
                              <p:par>
                                <p:cTn id="1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3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20"/>
                                        <p:tgtEl>
                                          <p:spTgt spid="16">
                                            <p:graphicEl>
                                              <a:chart seriesIdx="-4" categoryIdx="3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3050"/>
                            </p:stCondLst>
                            <p:childTnLst>
                              <p:par>
                                <p:cTn id="1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3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20"/>
                                        <p:tgtEl>
                                          <p:spTgt spid="16">
                                            <p:graphicEl>
                                              <a:chart seriesIdx="-4" categoryIdx="3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3070"/>
                            </p:stCondLst>
                            <p:childTnLst>
                              <p:par>
                                <p:cTn id="1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4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20"/>
                                        <p:tgtEl>
                                          <p:spTgt spid="16">
                                            <p:graphicEl>
                                              <a:chart seriesIdx="-4" categoryIdx="4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3090"/>
                            </p:stCondLst>
                            <p:childTnLst>
                              <p:par>
                                <p:cTn id="1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4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20"/>
                                        <p:tgtEl>
                                          <p:spTgt spid="16">
                                            <p:graphicEl>
                                              <a:chart seriesIdx="-4" categoryIdx="4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3110"/>
                            </p:stCondLst>
                            <p:childTnLst>
                              <p:par>
                                <p:cTn id="1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4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20"/>
                                        <p:tgtEl>
                                          <p:spTgt spid="16">
                                            <p:graphicEl>
                                              <a:chart seriesIdx="-4" categoryIdx="4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3130"/>
                            </p:stCondLst>
                            <p:childTnLst>
                              <p:par>
                                <p:cTn id="2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4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20"/>
                                        <p:tgtEl>
                                          <p:spTgt spid="16">
                                            <p:graphicEl>
                                              <a:chart seriesIdx="-4" categoryIdx="4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3150"/>
                            </p:stCondLst>
                            <p:childTnLst>
                              <p:par>
                                <p:cTn id="2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4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20"/>
                                        <p:tgtEl>
                                          <p:spTgt spid="16">
                                            <p:graphicEl>
                                              <a:chart seriesIdx="-4" categoryIdx="4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3170"/>
                            </p:stCondLst>
                            <p:childTnLst>
                              <p:par>
                                <p:cTn id="2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4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20"/>
                                        <p:tgtEl>
                                          <p:spTgt spid="16">
                                            <p:graphicEl>
                                              <a:chart seriesIdx="-4" categoryIdx="4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3190"/>
                            </p:stCondLst>
                            <p:childTnLst>
                              <p:par>
                                <p:cTn id="2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4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20"/>
                                        <p:tgtEl>
                                          <p:spTgt spid="16">
                                            <p:graphicEl>
                                              <a:chart seriesIdx="-4" categoryIdx="4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3210"/>
                            </p:stCondLst>
                            <p:childTnLst>
                              <p:par>
                                <p:cTn id="2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4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20"/>
                                        <p:tgtEl>
                                          <p:spTgt spid="16">
                                            <p:graphicEl>
                                              <a:chart seriesIdx="-4" categoryIdx="4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3230"/>
                            </p:stCondLst>
                            <p:childTnLst>
                              <p:par>
                                <p:cTn id="2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4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20"/>
                                        <p:tgtEl>
                                          <p:spTgt spid="16">
                                            <p:graphicEl>
                                              <a:chart seriesIdx="-4" categoryIdx="4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3250"/>
                            </p:stCondLst>
                            <p:childTnLst>
                              <p:par>
                                <p:cTn id="2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4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20"/>
                                        <p:tgtEl>
                                          <p:spTgt spid="16">
                                            <p:graphicEl>
                                              <a:chart seriesIdx="-4" categoryIdx="4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3270"/>
                            </p:stCondLst>
                            <p:childTnLst>
                              <p:par>
                                <p:cTn id="2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5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20"/>
                                        <p:tgtEl>
                                          <p:spTgt spid="16">
                                            <p:graphicEl>
                                              <a:chart seriesIdx="-4" categoryIdx="5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3290"/>
                            </p:stCondLst>
                            <p:childTnLst>
                              <p:par>
                                <p:cTn id="2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5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20"/>
                                        <p:tgtEl>
                                          <p:spTgt spid="16">
                                            <p:graphicEl>
                                              <a:chart seriesIdx="-4" categoryIdx="5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3310"/>
                            </p:stCondLst>
                            <p:childTnLst>
                              <p:par>
                                <p:cTn id="2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5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20"/>
                                        <p:tgtEl>
                                          <p:spTgt spid="16">
                                            <p:graphicEl>
                                              <a:chart seriesIdx="-4" categoryIdx="5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3330"/>
                            </p:stCondLst>
                            <p:childTnLst>
                              <p:par>
                                <p:cTn id="2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5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20"/>
                                        <p:tgtEl>
                                          <p:spTgt spid="16">
                                            <p:graphicEl>
                                              <a:chart seriesIdx="-4" categoryIdx="5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3350"/>
                            </p:stCondLst>
                            <p:childTnLst>
                              <p:par>
                                <p:cTn id="2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5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20"/>
                                        <p:tgtEl>
                                          <p:spTgt spid="16">
                                            <p:graphicEl>
                                              <a:chart seriesIdx="-4" categoryIdx="5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3370"/>
                            </p:stCondLst>
                            <p:childTnLst>
                              <p:par>
                                <p:cTn id="2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5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20"/>
                                        <p:tgtEl>
                                          <p:spTgt spid="16">
                                            <p:graphicEl>
                                              <a:chart seriesIdx="-4" categoryIdx="5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3390"/>
                            </p:stCondLst>
                            <p:childTnLst>
                              <p:par>
                                <p:cTn id="2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5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20"/>
                                        <p:tgtEl>
                                          <p:spTgt spid="16">
                                            <p:graphicEl>
                                              <a:chart seriesIdx="-4" categoryIdx="5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3410"/>
                            </p:stCondLst>
                            <p:childTnLst>
                              <p:par>
                                <p:cTn id="2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5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20"/>
                                        <p:tgtEl>
                                          <p:spTgt spid="16">
                                            <p:graphicEl>
                                              <a:chart seriesIdx="-4" categoryIdx="5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3430"/>
                            </p:stCondLst>
                            <p:childTnLst>
                              <p:par>
                                <p:cTn id="2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5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20"/>
                                        <p:tgtEl>
                                          <p:spTgt spid="16">
                                            <p:graphicEl>
                                              <a:chart seriesIdx="-4" categoryIdx="5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3450"/>
                            </p:stCondLst>
                            <p:childTnLst>
                              <p:par>
                                <p:cTn id="2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5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20"/>
                                        <p:tgtEl>
                                          <p:spTgt spid="16">
                                            <p:graphicEl>
                                              <a:chart seriesIdx="-4" categoryIdx="5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3470"/>
                            </p:stCondLst>
                            <p:childTnLst>
                              <p:par>
                                <p:cTn id="2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6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20"/>
                                        <p:tgtEl>
                                          <p:spTgt spid="16">
                                            <p:graphicEl>
                                              <a:chart seriesIdx="-4" categoryIdx="6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3490"/>
                            </p:stCondLst>
                            <p:childTnLst>
                              <p:par>
                                <p:cTn id="2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6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20"/>
                                        <p:tgtEl>
                                          <p:spTgt spid="16">
                                            <p:graphicEl>
                                              <a:chart seriesIdx="-4" categoryIdx="6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" fill="hold">
                            <p:stCondLst>
                              <p:cond delay="3510"/>
                            </p:stCondLst>
                            <p:childTnLst>
                              <p:par>
                                <p:cTn id="2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6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20"/>
                                        <p:tgtEl>
                                          <p:spTgt spid="16">
                                            <p:graphicEl>
                                              <a:chart seriesIdx="-4" categoryIdx="6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3530"/>
                            </p:stCondLst>
                            <p:childTnLst>
                              <p:par>
                                <p:cTn id="2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6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20"/>
                                        <p:tgtEl>
                                          <p:spTgt spid="16">
                                            <p:graphicEl>
                                              <a:chart seriesIdx="-4" categoryIdx="6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3550"/>
                            </p:stCondLst>
                            <p:childTnLst>
                              <p:par>
                                <p:cTn id="2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6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20"/>
                                        <p:tgtEl>
                                          <p:spTgt spid="16">
                                            <p:graphicEl>
                                              <a:chart seriesIdx="-4" categoryIdx="6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" fill="hold">
                            <p:stCondLst>
                              <p:cond delay="3570"/>
                            </p:stCondLst>
                            <p:childTnLst>
                              <p:par>
                                <p:cTn id="2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6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20"/>
                                        <p:tgtEl>
                                          <p:spTgt spid="16">
                                            <p:graphicEl>
                                              <a:chart seriesIdx="-4" categoryIdx="6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3590"/>
                            </p:stCondLst>
                            <p:childTnLst>
                              <p:par>
                                <p:cTn id="2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6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20"/>
                                        <p:tgtEl>
                                          <p:spTgt spid="16">
                                            <p:graphicEl>
                                              <a:chart seriesIdx="-4" categoryIdx="6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6" fill="hold">
                            <p:stCondLst>
                              <p:cond delay="3610"/>
                            </p:stCondLst>
                            <p:childTnLst>
                              <p:par>
                                <p:cTn id="2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6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20"/>
                                        <p:tgtEl>
                                          <p:spTgt spid="16">
                                            <p:graphicEl>
                                              <a:chart seriesIdx="-4" categoryIdx="6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0" fill="hold">
                            <p:stCondLst>
                              <p:cond delay="3630"/>
                            </p:stCondLst>
                            <p:childTnLst>
                              <p:par>
                                <p:cTn id="3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6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20"/>
                                        <p:tgtEl>
                                          <p:spTgt spid="16">
                                            <p:graphicEl>
                                              <a:chart seriesIdx="-4" categoryIdx="6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3650"/>
                            </p:stCondLst>
                            <p:childTnLst>
                              <p:par>
                                <p:cTn id="3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6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20"/>
                                        <p:tgtEl>
                                          <p:spTgt spid="16">
                                            <p:graphicEl>
                                              <a:chart seriesIdx="-4" categoryIdx="6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8" fill="hold">
                            <p:stCondLst>
                              <p:cond delay="3670"/>
                            </p:stCondLst>
                            <p:childTnLst>
                              <p:par>
                                <p:cTn id="3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7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20"/>
                                        <p:tgtEl>
                                          <p:spTgt spid="16">
                                            <p:graphicEl>
                                              <a:chart seriesIdx="-4" categoryIdx="7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2" fill="hold">
                            <p:stCondLst>
                              <p:cond delay="3690"/>
                            </p:stCondLst>
                            <p:childTnLst>
                              <p:par>
                                <p:cTn id="3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7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20"/>
                                        <p:tgtEl>
                                          <p:spTgt spid="16">
                                            <p:graphicEl>
                                              <a:chart seriesIdx="-4" categoryIdx="7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6" fill="hold">
                            <p:stCondLst>
                              <p:cond delay="3710"/>
                            </p:stCondLst>
                            <p:childTnLst>
                              <p:par>
                                <p:cTn id="3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7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20"/>
                                        <p:tgtEl>
                                          <p:spTgt spid="16">
                                            <p:graphicEl>
                                              <a:chart seriesIdx="-4" categoryIdx="7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3730"/>
                            </p:stCondLst>
                            <p:childTnLst>
                              <p:par>
                                <p:cTn id="3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7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20"/>
                                        <p:tgtEl>
                                          <p:spTgt spid="16">
                                            <p:graphicEl>
                                              <a:chart seriesIdx="-4" categoryIdx="7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4" fill="hold">
                            <p:stCondLst>
                              <p:cond delay="3750"/>
                            </p:stCondLst>
                            <p:childTnLst>
                              <p:par>
                                <p:cTn id="3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7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20"/>
                                        <p:tgtEl>
                                          <p:spTgt spid="16">
                                            <p:graphicEl>
                                              <a:chart seriesIdx="-4" categoryIdx="7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3770"/>
                            </p:stCondLst>
                            <p:childTnLst>
                              <p:par>
                                <p:cTn id="3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7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20"/>
                                        <p:tgtEl>
                                          <p:spTgt spid="16">
                                            <p:graphicEl>
                                              <a:chart seriesIdx="-4" categoryIdx="7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2" fill="hold">
                            <p:stCondLst>
                              <p:cond delay="3790"/>
                            </p:stCondLst>
                            <p:childTnLst>
                              <p:par>
                                <p:cTn id="3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7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5" dur="20"/>
                                        <p:tgtEl>
                                          <p:spTgt spid="16">
                                            <p:graphicEl>
                                              <a:chart seriesIdx="-4" categoryIdx="7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6" fill="hold">
                            <p:stCondLst>
                              <p:cond delay="3810"/>
                            </p:stCondLst>
                            <p:childTnLst>
                              <p:par>
                                <p:cTn id="3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7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20"/>
                                        <p:tgtEl>
                                          <p:spTgt spid="16">
                                            <p:graphicEl>
                                              <a:chart seriesIdx="-4" categoryIdx="7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3830"/>
                            </p:stCondLst>
                            <p:childTnLst>
                              <p:par>
                                <p:cTn id="3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7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3" dur="20"/>
                                        <p:tgtEl>
                                          <p:spTgt spid="16">
                                            <p:graphicEl>
                                              <a:chart seriesIdx="-4" categoryIdx="7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4" fill="hold">
                            <p:stCondLst>
                              <p:cond delay="3850"/>
                            </p:stCondLst>
                            <p:childTnLst>
                              <p:par>
                                <p:cTn id="3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7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7" dur="20"/>
                                        <p:tgtEl>
                                          <p:spTgt spid="16">
                                            <p:graphicEl>
                                              <a:chart seriesIdx="-4" categoryIdx="7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8" fill="hold">
                            <p:stCondLst>
                              <p:cond delay="3870"/>
                            </p:stCondLst>
                            <p:childTnLst>
                              <p:par>
                                <p:cTn id="3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8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20"/>
                                        <p:tgtEl>
                                          <p:spTgt spid="16">
                                            <p:graphicEl>
                                              <a:chart seriesIdx="-4" categoryIdx="8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2" fill="hold">
                            <p:stCondLst>
                              <p:cond delay="3890"/>
                            </p:stCondLst>
                            <p:childTnLst>
                              <p:par>
                                <p:cTn id="3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8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5" dur="20"/>
                                        <p:tgtEl>
                                          <p:spTgt spid="16">
                                            <p:graphicEl>
                                              <a:chart seriesIdx="-4" categoryIdx="8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6" fill="hold">
                            <p:stCondLst>
                              <p:cond delay="3910"/>
                            </p:stCondLst>
                            <p:childTnLst>
                              <p:par>
                                <p:cTn id="3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8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9" dur="20"/>
                                        <p:tgtEl>
                                          <p:spTgt spid="16">
                                            <p:graphicEl>
                                              <a:chart seriesIdx="-4" categoryIdx="8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0" fill="hold">
                            <p:stCondLst>
                              <p:cond delay="3930"/>
                            </p:stCondLst>
                            <p:childTnLst>
                              <p:par>
                                <p:cTn id="3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8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3" dur="20"/>
                                        <p:tgtEl>
                                          <p:spTgt spid="16">
                                            <p:graphicEl>
                                              <a:chart seriesIdx="-4" categoryIdx="8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4" fill="hold">
                            <p:stCondLst>
                              <p:cond delay="3950"/>
                            </p:stCondLst>
                            <p:childTnLst>
                              <p:par>
                                <p:cTn id="3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8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7" dur="20"/>
                                        <p:tgtEl>
                                          <p:spTgt spid="16">
                                            <p:graphicEl>
                                              <a:chart seriesIdx="-4" categoryIdx="8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8" fill="hold">
                            <p:stCondLst>
                              <p:cond delay="3970"/>
                            </p:stCondLst>
                            <p:childTnLst>
                              <p:par>
                                <p:cTn id="3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8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1" dur="20"/>
                                        <p:tgtEl>
                                          <p:spTgt spid="16">
                                            <p:graphicEl>
                                              <a:chart seriesIdx="-4" categoryIdx="8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3990"/>
                            </p:stCondLst>
                            <p:childTnLst>
                              <p:par>
                                <p:cTn id="3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8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20"/>
                                        <p:tgtEl>
                                          <p:spTgt spid="16">
                                            <p:graphicEl>
                                              <a:chart seriesIdx="-4" categoryIdx="8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6" fill="hold">
                            <p:stCondLst>
                              <p:cond delay="4010"/>
                            </p:stCondLst>
                            <p:childTnLst>
                              <p:par>
                                <p:cTn id="3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8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9" dur="20"/>
                                        <p:tgtEl>
                                          <p:spTgt spid="16">
                                            <p:graphicEl>
                                              <a:chart seriesIdx="-4" categoryIdx="8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0" fill="hold">
                            <p:stCondLst>
                              <p:cond delay="4030"/>
                            </p:stCondLst>
                            <p:childTnLst>
                              <p:par>
                                <p:cTn id="3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8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3" dur="20"/>
                                        <p:tgtEl>
                                          <p:spTgt spid="16">
                                            <p:graphicEl>
                                              <a:chart seriesIdx="-4" categoryIdx="8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4" fill="hold">
                            <p:stCondLst>
                              <p:cond delay="4050"/>
                            </p:stCondLst>
                            <p:childTnLst>
                              <p:par>
                                <p:cTn id="3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8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20"/>
                                        <p:tgtEl>
                                          <p:spTgt spid="16">
                                            <p:graphicEl>
                                              <a:chart seriesIdx="-4" categoryIdx="8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8" fill="hold">
                            <p:stCondLst>
                              <p:cond delay="4070"/>
                            </p:stCondLst>
                            <p:childTnLst>
                              <p:par>
                                <p:cTn id="3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9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1" dur="20"/>
                                        <p:tgtEl>
                                          <p:spTgt spid="16">
                                            <p:graphicEl>
                                              <a:chart seriesIdx="-4" categoryIdx="9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2" fill="hold">
                            <p:stCondLst>
                              <p:cond delay="4090"/>
                            </p:stCondLst>
                            <p:childTnLst>
                              <p:par>
                                <p:cTn id="3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9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5" dur="20"/>
                                        <p:tgtEl>
                                          <p:spTgt spid="16">
                                            <p:graphicEl>
                                              <a:chart seriesIdx="-4" categoryIdx="9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6" fill="hold">
                            <p:stCondLst>
                              <p:cond delay="4110"/>
                            </p:stCondLst>
                            <p:childTnLst>
                              <p:par>
                                <p:cTn id="3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9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9" dur="20"/>
                                        <p:tgtEl>
                                          <p:spTgt spid="16">
                                            <p:graphicEl>
                                              <a:chart seriesIdx="-4" categoryIdx="9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0" fill="hold">
                            <p:stCondLst>
                              <p:cond delay="4130"/>
                            </p:stCondLst>
                            <p:childTnLst>
                              <p:par>
                                <p:cTn id="4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9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3" dur="20"/>
                                        <p:tgtEl>
                                          <p:spTgt spid="16">
                                            <p:graphicEl>
                                              <a:chart seriesIdx="-4" categoryIdx="9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4" fill="hold">
                            <p:stCondLst>
                              <p:cond delay="4150"/>
                            </p:stCondLst>
                            <p:childTnLst>
                              <p:par>
                                <p:cTn id="4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9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7" dur="20"/>
                                        <p:tgtEl>
                                          <p:spTgt spid="16">
                                            <p:graphicEl>
                                              <a:chart seriesIdx="-4" categoryIdx="9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8" fill="hold">
                            <p:stCondLst>
                              <p:cond delay="4170"/>
                            </p:stCondLst>
                            <p:childTnLst>
                              <p:par>
                                <p:cTn id="4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9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1" dur="20"/>
                                        <p:tgtEl>
                                          <p:spTgt spid="16">
                                            <p:graphicEl>
                                              <a:chart seriesIdx="-4" categoryIdx="9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2" fill="hold">
                            <p:stCondLst>
                              <p:cond delay="4190"/>
                            </p:stCondLst>
                            <p:childTnLst>
                              <p:par>
                                <p:cTn id="4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9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5" dur="20"/>
                                        <p:tgtEl>
                                          <p:spTgt spid="16">
                                            <p:graphicEl>
                                              <a:chart seriesIdx="-4" categoryIdx="9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6" fill="hold">
                            <p:stCondLst>
                              <p:cond delay="4210"/>
                            </p:stCondLst>
                            <p:childTnLst>
                              <p:par>
                                <p:cTn id="4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9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9" dur="20"/>
                                        <p:tgtEl>
                                          <p:spTgt spid="16">
                                            <p:graphicEl>
                                              <a:chart seriesIdx="-4" categoryIdx="9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0" fill="hold">
                            <p:stCondLst>
                              <p:cond delay="4230"/>
                            </p:stCondLst>
                            <p:childTnLst>
                              <p:par>
                                <p:cTn id="4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9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3" dur="20"/>
                                        <p:tgtEl>
                                          <p:spTgt spid="16">
                                            <p:graphicEl>
                                              <a:chart seriesIdx="-4" categoryIdx="9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4" fill="hold">
                            <p:stCondLst>
                              <p:cond delay="4250"/>
                            </p:stCondLst>
                            <p:childTnLst>
                              <p:par>
                                <p:cTn id="4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9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7" dur="20"/>
                                        <p:tgtEl>
                                          <p:spTgt spid="16">
                                            <p:graphicEl>
                                              <a:chart seriesIdx="-4" categoryIdx="9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8" fill="hold">
                            <p:stCondLst>
                              <p:cond delay="4270"/>
                            </p:stCondLst>
                            <p:childTnLst>
                              <p:par>
                                <p:cTn id="4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0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1" dur="20"/>
                                        <p:tgtEl>
                                          <p:spTgt spid="16">
                                            <p:graphicEl>
                                              <a:chart seriesIdx="-4" categoryIdx="10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2" fill="hold">
                            <p:stCondLst>
                              <p:cond delay="4290"/>
                            </p:stCondLst>
                            <p:childTnLst>
                              <p:par>
                                <p:cTn id="4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0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5" dur="20"/>
                                        <p:tgtEl>
                                          <p:spTgt spid="16">
                                            <p:graphicEl>
                                              <a:chart seriesIdx="-4" categoryIdx="10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6" fill="hold">
                            <p:stCondLst>
                              <p:cond delay="4310"/>
                            </p:stCondLst>
                            <p:childTnLst>
                              <p:par>
                                <p:cTn id="4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0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9" dur="20"/>
                                        <p:tgtEl>
                                          <p:spTgt spid="16">
                                            <p:graphicEl>
                                              <a:chart seriesIdx="-4" categoryIdx="10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0" fill="hold">
                            <p:stCondLst>
                              <p:cond delay="4330"/>
                            </p:stCondLst>
                            <p:childTnLst>
                              <p:par>
                                <p:cTn id="4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0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3" dur="20"/>
                                        <p:tgtEl>
                                          <p:spTgt spid="16">
                                            <p:graphicEl>
                                              <a:chart seriesIdx="-4" categoryIdx="10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4" fill="hold">
                            <p:stCondLst>
                              <p:cond delay="4350"/>
                            </p:stCondLst>
                            <p:childTnLst>
                              <p:par>
                                <p:cTn id="4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0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7" dur="20"/>
                                        <p:tgtEl>
                                          <p:spTgt spid="16">
                                            <p:graphicEl>
                                              <a:chart seriesIdx="-4" categoryIdx="10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8" fill="hold">
                            <p:stCondLst>
                              <p:cond delay="4370"/>
                            </p:stCondLst>
                            <p:childTnLst>
                              <p:par>
                                <p:cTn id="4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0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1" dur="20"/>
                                        <p:tgtEl>
                                          <p:spTgt spid="16">
                                            <p:graphicEl>
                                              <a:chart seriesIdx="-4" categoryIdx="10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2" fill="hold">
                            <p:stCondLst>
                              <p:cond delay="4390"/>
                            </p:stCondLst>
                            <p:childTnLst>
                              <p:par>
                                <p:cTn id="4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0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5" dur="20"/>
                                        <p:tgtEl>
                                          <p:spTgt spid="16">
                                            <p:graphicEl>
                                              <a:chart seriesIdx="-4" categoryIdx="10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6" fill="hold">
                            <p:stCondLst>
                              <p:cond delay="4410"/>
                            </p:stCondLst>
                            <p:childTnLst>
                              <p:par>
                                <p:cTn id="4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0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9" dur="20"/>
                                        <p:tgtEl>
                                          <p:spTgt spid="16">
                                            <p:graphicEl>
                                              <a:chart seriesIdx="-4" categoryIdx="10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0" fill="hold">
                            <p:stCondLst>
                              <p:cond delay="4430"/>
                            </p:stCondLst>
                            <p:childTnLst>
                              <p:par>
                                <p:cTn id="4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0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3" dur="20"/>
                                        <p:tgtEl>
                                          <p:spTgt spid="16">
                                            <p:graphicEl>
                                              <a:chart seriesIdx="-4" categoryIdx="10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4" fill="hold">
                            <p:stCondLst>
                              <p:cond delay="4450"/>
                            </p:stCondLst>
                            <p:childTnLst>
                              <p:par>
                                <p:cTn id="4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0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7" dur="20"/>
                                        <p:tgtEl>
                                          <p:spTgt spid="16">
                                            <p:graphicEl>
                                              <a:chart seriesIdx="-4" categoryIdx="10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8" fill="hold">
                            <p:stCondLst>
                              <p:cond delay="4470"/>
                            </p:stCondLst>
                            <p:childTnLst>
                              <p:par>
                                <p:cTn id="4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1" dur="20"/>
                                        <p:tgtEl>
                                          <p:spTgt spid="16">
                                            <p:graphicEl>
                                              <a:chart seriesIdx="-4" categoryIdx="11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2" fill="hold">
                            <p:stCondLst>
                              <p:cond delay="4490"/>
                            </p:stCondLst>
                            <p:childTnLst>
                              <p:par>
                                <p:cTn id="4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5" dur="20"/>
                                        <p:tgtEl>
                                          <p:spTgt spid="16">
                                            <p:graphicEl>
                                              <a:chart seriesIdx="-4" categoryIdx="11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6" fill="hold">
                            <p:stCondLst>
                              <p:cond delay="4510"/>
                            </p:stCondLst>
                            <p:childTnLst>
                              <p:par>
                                <p:cTn id="4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9" dur="20"/>
                                        <p:tgtEl>
                                          <p:spTgt spid="16">
                                            <p:graphicEl>
                                              <a:chart seriesIdx="-4" categoryIdx="11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0" fill="hold">
                            <p:stCondLst>
                              <p:cond delay="4530"/>
                            </p:stCondLst>
                            <p:childTnLst>
                              <p:par>
                                <p:cTn id="4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3" dur="20"/>
                                        <p:tgtEl>
                                          <p:spTgt spid="16">
                                            <p:graphicEl>
                                              <a:chart seriesIdx="-4" categoryIdx="11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4" fill="hold">
                            <p:stCondLst>
                              <p:cond delay="4550"/>
                            </p:stCondLst>
                            <p:childTnLst>
                              <p:par>
                                <p:cTn id="4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1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7" dur="20"/>
                                        <p:tgtEl>
                                          <p:spTgt spid="16">
                                            <p:graphicEl>
                                              <a:chart seriesIdx="-4" categoryIdx="11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8" fill="hold">
                            <p:stCondLst>
                              <p:cond delay="4570"/>
                            </p:stCondLst>
                            <p:childTnLst>
                              <p:par>
                                <p:cTn id="4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1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1" dur="20"/>
                                        <p:tgtEl>
                                          <p:spTgt spid="16">
                                            <p:graphicEl>
                                              <a:chart seriesIdx="-4" categoryIdx="11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2" fill="hold">
                            <p:stCondLst>
                              <p:cond delay="4590"/>
                            </p:stCondLst>
                            <p:childTnLst>
                              <p:par>
                                <p:cTn id="4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1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5" dur="20"/>
                                        <p:tgtEl>
                                          <p:spTgt spid="16">
                                            <p:graphicEl>
                                              <a:chart seriesIdx="-4" categoryIdx="11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6" fill="hold">
                            <p:stCondLst>
                              <p:cond delay="4610"/>
                            </p:stCondLst>
                            <p:childTnLst>
                              <p:par>
                                <p:cTn id="4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1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9" dur="20"/>
                                        <p:tgtEl>
                                          <p:spTgt spid="16">
                                            <p:graphicEl>
                                              <a:chart seriesIdx="-4" categoryIdx="11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0" fill="hold">
                            <p:stCondLst>
                              <p:cond delay="4630"/>
                            </p:stCondLst>
                            <p:childTnLst>
                              <p:par>
                                <p:cTn id="5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1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3" dur="20"/>
                                        <p:tgtEl>
                                          <p:spTgt spid="16">
                                            <p:graphicEl>
                                              <a:chart seriesIdx="-4" categoryIdx="11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4" fill="hold">
                            <p:stCondLst>
                              <p:cond delay="4650"/>
                            </p:stCondLst>
                            <p:childTnLst>
                              <p:par>
                                <p:cTn id="5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1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7" dur="20"/>
                                        <p:tgtEl>
                                          <p:spTgt spid="16">
                                            <p:graphicEl>
                                              <a:chart seriesIdx="-4" categoryIdx="11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8" fill="hold">
                            <p:stCondLst>
                              <p:cond delay="4670"/>
                            </p:stCondLst>
                            <p:childTnLst>
                              <p:par>
                                <p:cTn id="5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2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1" dur="20"/>
                                        <p:tgtEl>
                                          <p:spTgt spid="16">
                                            <p:graphicEl>
                                              <a:chart seriesIdx="-4" categoryIdx="12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2" fill="hold">
                            <p:stCondLst>
                              <p:cond delay="4690"/>
                            </p:stCondLst>
                            <p:childTnLst>
                              <p:par>
                                <p:cTn id="5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2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5" dur="20"/>
                                        <p:tgtEl>
                                          <p:spTgt spid="16">
                                            <p:graphicEl>
                                              <a:chart seriesIdx="-4" categoryIdx="12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6" fill="hold">
                            <p:stCondLst>
                              <p:cond delay="4710"/>
                            </p:stCondLst>
                            <p:childTnLst>
                              <p:par>
                                <p:cTn id="5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2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9" dur="20"/>
                                        <p:tgtEl>
                                          <p:spTgt spid="16">
                                            <p:graphicEl>
                                              <a:chart seriesIdx="-4" categoryIdx="12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0" fill="hold">
                            <p:stCondLst>
                              <p:cond delay="4730"/>
                            </p:stCondLst>
                            <p:childTnLst>
                              <p:par>
                                <p:cTn id="5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2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3" dur="20"/>
                                        <p:tgtEl>
                                          <p:spTgt spid="16">
                                            <p:graphicEl>
                                              <a:chart seriesIdx="-4" categoryIdx="12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4" fill="hold">
                            <p:stCondLst>
                              <p:cond delay="4750"/>
                            </p:stCondLst>
                            <p:childTnLst>
                              <p:par>
                                <p:cTn id="5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2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7" dur="20"/>
                                        <p:tgtEl>
                                          <p:spTgt spid="16">
                                            <p:graphicEl>
                                              <a:chart seriesIdx="-4" categoryIdx="12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8" fill="hold">
                            <p:stCondLst>
                              <p:cond delay="4770"/>
                            </p:stCondLst>
                            <p:childTnLst>
                              <p:par>
                                <p:cTn id="5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2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1" dur="20"/>
                                        <p:tgtEl>
                                          <p:spTgt spid="16">
                                            <p:graphicEl>
                                              <a:chart seriesIdx="-4" categoryIdx="12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2" fill="hold">
                            <p:stCondLst>
                              <p:cond delay="4790"/>
                            </p:stCondLst>
                            <p:childTnLst>
                              <p:par>
                                <p:cTn id="5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2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5" dur="20"/>
                                        <p:tgtEl>
                                          <p:spTgt spid="16">
                                            <p:graphicEl>
                                              <a:chart seriesIdx="-4" categoryIdx="12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6" fill="hold">
                            <p:stCondLst>
                              <p:cond delay="4810"/>
                            </p:stCondLst>
                            <p:childTnLst>
                              <p:par>
                                <p:cTn id="5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2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9" dur="20"/>
                                        <p:tgtEl>
                                          <p:spTgt spid="16">
                                            <p:graphicEl>
                                              <a:chart seriesIdx="-4" categoryIdx="12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0" fill="hold">
                            <p:stCondLst>
                              <p:cond delay="4830"/>
                            </p:stCondLst>
                            <p:childTnLst>
                              <p:par>
                                <p:cTn id="5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2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3" dur="20"/>
                                        <p:tgtEl>
                                          <p:spTgt spid="16">
                                            <p:graphicEl>
                                              <a:chart seriesIdx="-4" categoryIdx="12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4" fill="hold">
                            <p:stCondLst>
                              <p:cond delay="4850"/>
                            </p:stCondLst>
                            <p:childTnLst>
                              <p:par>
                                <p:cTn id="5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2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7" dur="20"/>
                                        <p:tgtEl>
                                          <p:spTgt spid="16">
                                            <p:graphicEl>
                                              <a:chart seriesIdx="-4" categoryIdx="12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8" fill="hold">
                            <p:stCondLst>
                              <p:cond delay="4870"/>
                            </p:stCondLst>
                            <p:childTnLst>
                              <p:par>
                                <p:cTn id="5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3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1" dur="20"/>
                                        <p:tgtEl>
                                          <p:spTgt spid="16">
                                            <p:graphicEl>
                                              <a:chart seriesIdx="-4" categoryIdx="13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2" fill="hold">
                            <p:stCondLst>
                              <p:cond delay="4890"/>
                            </p:stCondLst>
                            <p:childTnLst>
                              <p:par>
                                <p:cTn id="5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3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5" dur="20"/>
                                        <p:tgtEl>
                                          <p:spTgt spid="16">
                                            <p:graphicEl>
                                              <a:chart seriesIdx="-4" categoryIdx="13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6" fill="hold">
                            <p:stCondLst>
                              <p:cond delay="4910"/>
                            </p:stCondLst>
                            <p:childTnLst>
                              <p:par>
                                <p:cTn id="5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3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9" dur="20"/>
                                        <p:tgtEl>
                                          <p:spTgt spid="16">
                                            <p:graphicEl>
                                              <a:chart seriesIdx="-4" categoryIdx="13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0" fill="hold">
                            <p:stCondLst>
                              <p:cond delay="4930"/>
                            </p:stCondLst>
                            <p:childTnLst>
                              <p:par>
                                <p:cTn id="5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3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3" dur="20"/>
                                        <p:tgtEl>
                                          <p:spTgt spid="16">
                                            <p:graphicEl>
                                              <a:chart seriesIdx="-4" categoryIdx="13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4" fill="hold">
                            <p:stCondLst>
                              <p:cond delay="4950"/>
                            </p:stCondLst>
                            <p:childTnLst>
                              <p:par>
                                <p:cTn id="5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3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7" dur="20"/>
                                        <p:tgtEl>
                                          <p:spTgt spid="16">
                                            <p:graphicEl>
                                              <a:chart seriesIdx="-4" categoryIdx="13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8" fill="hold">
                            <p:stCondLst>
                              <p:cond delay="4970"/>
                            </p:stCondLst>
                            <p:childTnLst>
                              <p:par>
                                <p:cTn id="5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3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1" dur="20"/>
                                        <p:tgtEl>
                                          <p:spTgt spid="16">
                                            <p:graphicEl>
                                              <a:chart seriesIdx="-4" categoryIdx="13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2" fill="hold">
                            <p:stCondLst>
                              <p:cond delay="4990"/>
                            </p:stCondLst>
                            <p:childTnLst>
                              <p:par>
                                <p:cTn id="5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3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5" dur="20"/>
                                        <p:tgtEl>
                                          <p:spTgt spid="16">
                                            <p:graphicEl>
                                              <a:chart seriesIdx="-4" categoryIdx="13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6" fill="hold">
                            <p:stCondLst>
                              <p:cond delay="5010"/>
                            </p:stCondLst>
                            <p:childTnLst>
                              <p:par>
                                <p:cTn id="5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3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9" dur="20"/>
                                        <p:tgtEl>
                                          <p:spTgt spid="16">
                                            <p:graphicEl>
                                              <a:chart seriesIdx="-4" categoryIdx="13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0" fill="hold">
                            <p:stCondLst>
                              <p:cond delay="5030"/>
                            </p:stCondLst>
                            <p:childTnLst>
                              <p:par>
                                <p:cTn id="5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3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3" dur="20"/>
                                        <p:tgtEl>
                                          <p:spTgt spid="16">
                                            <p:graphicEl>
                                              <a:chart seriesIdx="-4" categoryIdx="13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4" fill="hold">
                            <p:stCondLst>
                              <p:cond delay="5050"/>
                            </p:stCondLst>
                            <p:childTnLst>
                              <p:par>
                                <p:cTn id="585" presetID="26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7" dur="21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8" dur="68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9" dur="249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0" dur="249" tmFilter="0, 0; 0.125,0.2665; 0.25,0.4; 0.375,0.465; 0.5,0.5;  0.625,0.535; 0.75,0.6; 0.875,0.7335; 1,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1" dur="125" tmFilter="0, 0; 0.125,0.2665; 0.25,0.4; 0.375,0.465; 0.5,0.5;  0.625,0.535; 0.75,0.6; 0.875,0.7335; 1,1">
                                          <p:stCondLst>
                                            <p:cond delay="49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2" dur="62" tmFilter="0, 0; 0.125,0.2665; 0.25,0.4; 0.375,0.465; 0.5,0.5;  0.625,0.535; 0.75,0.6; 0.875,0.7335; 1,1">
                                          <p:stCondLst>
                                            <p:cond delay="621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93" dur="10">
                                          <p:stCondLst>
                                            <p:cond delay="24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94" dur="62" decel="50000">
                                          <p:stCondLst>
                                            <p:cond delay="253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5" dur="10">
                                          <p:stCondLst>
                                            <p:cond delay="49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96" dur="62" decel="50000">
                                          <p:stCondLst>
                                            <p:cond delay="50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7" dur="10">
                                          <p:stCondLst>
                                            <p:cond delay="61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8" dur="62" decel="50000">
                                          <p:stCondLst>
                                            <p:cond delay="62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9" dur="10">
                                          <p:stCondLst>
                                            <p:cond delay="67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0" dur="62" decel="50000">
                                          <p:stCondLst>
                                            <p:cond delay="68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1" fill="hold">
                            <p:stCondLst>
                              <p:cond delay="6550"/>
                            </p:stCondLst>
                            <p:childTnLst>
                              <p:par>
                                <p:cTn id="602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6" fill="hold">
                            <p:stCondLst>
                              <p:cond delay="7550"/>
                            </p:stCondLst>
                            <p:childTnLst>
                              <p:par>
                                <p:cTn id="607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1" fill="hold">
                            <p:stCondLst>
                              <p:cond delay="8550"/>
                            </p:stCondLst>
                            <p:childTnLst>
                              <p:par>
                                <p:cTn id="612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5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6" fill="hold">
                            <p:stCondLst>
                              <p:cond delay="9550"/>
                            </p:stCondLst>
                            <p:childTnLst>
                              <p:par>
                                <p:cTn id="617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6" grpId="0">
        <p:bldSub>
          <a:bldChart bld="category"/>
        </p:bldSub>
      </p:bldGraphic>
      <p:bldP spid="5" grpId="0" build="p"/>
      <p:bldP spid="10" grpId="0"/>
      <p:bldP spid="12" grpId="0"/>
      <p:bldP spid="14" grpId="0" animBg="1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Marcador de contenido 10">
            <a:extLst>
              <a:ext uri="{FF2B5EF4-FFF2-40B4-BE49-F238E27FC236}">
                <a16:creationId xmlns:a16="http://schemas.microsoft.com/office/drawing/2014/main" id="{B1C18DEE-BA47-4B49-AFC5-B837E3CA6B7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18287022"/>
              </p:ext>
            </p:extLst>
          </p:nvPr>
        </p:nvGraphicFramePr>
        <p:xfrm>
          <a:off x="107503" y="1700808"/>
          <a:ext cx="4418777" cy="33843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Marcador de contenido 15">
            <a:extLst>
              <a:ext uri="{FF2B5EF4-FFF2-40B4-BE49-F238E27FC236}">
                <a16:creationId xmlns:a16="http://schemas.microsoft.com/office/drawing/2014/main" id="{6EC8AEB4-92B9-4491-B540-88E24EC8A091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760254869"/>
              </p:ext>
            </p:extLst>
          </p:nvPr>
        </p:nvGraphicFramePr>
        <p:xfrm>
          <a:off x="4664075" y="1700808"/>
          <a:ext cx="4228088" cy="33843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Marcador de contenido 12">
            <a:extLst>
              <a:ext uri="{FF2B5EF4-FFF2-40B4-BE49-F238E27FC236}">
                <a16:creationId xmlns:a16="http://schemas.microsoft.com/office/drawing/2014/main" id="{86E9DB8C-AC6D-4D67-A2A8-E45B414596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0037338"/>
              </p:ext>
            </p:extLst>
          </p:nvPr>
        </p:nvGraphicFramePr>
        <p:xfrm>
          <a:off x="179669" y="5268744"/>
          <a:ext cx="4274444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7222">
                  <a:extLst>
                    <a:ext uri="{9D8B030D-6E8A-4147-A177-3AD203B41FA5}">
                      <a16:colId xmlns:a16="http://schemas.microsoft.com/office/drawing/2014/main" val="3181701745"/>
                    </a:ext>
                  </a:extLst>
                </a:gridCol>
                <a:gridCol w="2137222">
                  <a:extLst>
                    <a:ext uri="{9D8B030D-6E8A-4147-A177-3AD203B41FA5}">
                      <a16:colId xmlns:a16="http://schemas.microsoft.com/office/drawing/2014/main" val="136087557"/>
                    </a:ext>
                  </a:extLst>
                </a:gridCol>
              </a:tblGrid>
              <a:tr h="265544">
                <a:tc gridSpan="2"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Tasa de crecimiento promedio anual</a:t>
                      </a:r>
                    </a:p>
                  </a:txBody>
                  <a:tcPr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747716"/>
                  </a:ext>
                </a:extLst>
              </a:tr>
              <a:tr h="312035">
                <a:tc>
                  <a:txBody>
                    <a:bodyPr/>
                    <a:lstStyle/>
                    <a:p>
                      <a:pPr algn="r"/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BNA</a:t>
                      </a:r>
                    </a:p>
                  </a:txBody>
                  <a:tcPr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17%</a:t>
                      </a:r>
                    </a:p>
                  </a:txBody>
                  <a:tcPr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429703"/>
                  </a:ext>
                </a:extLst>
              </a:tr>
              <a:tr h="312035">
                <a:tc>
                  <a:txBody>
                    <a:bodyPr/>
                    <a:lstStyle/>
                    <a:p>
                      <a:pPr algn="r"/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Resto</a:t>
                      </a:r>
                    </a:p>
                  </a:txBody>
                  <a:tcPr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7%</a:t>
                      </a:r>
                    </a:p>
                  </a:txBody>
                  <a:tcPr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9471135"/>
                  </a:ext>
                </a:extLst>
              </a:tr>
            </a:tbl>
          </a:graphicData>
        </a:graphic>
      </p:graphicFrame>
      <p:graphicFrame>
        <p:nvGraphicFramePr>
          <p:cNvPr id="17" name="Marcador de contenido 12">
            <a:extLst>
              <a:ext uri="{FF2B5EF4-FFF2-40B4-BE49-F238E27FC236}">
                <a16:creationId xmlns:a16="http://schemas.microsoft.com/office/drawing/2014/main" id="{C1A5EF99-5E96-4295-8AC9-337962F930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0444931"/>
              </p:ext>
            </p:extLst>
          </p:nvPr>
        </p:nvGraphicFramePr>
        <p:xfrm>
          <a:off x="4617719" y="5268744"/>
          <a:ext cx="4274444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7222">
                  <a:extLst>
                    <a:ext uri="{9D8B030D-6E8A-4147-A177-3AD203B41FA5}">
                      <a16:colId xmlns:a16="http://schemas.microsoft.com/office/drawing/2014/main" val="3181701745"/>
                    </a:ext>
                  </a:extLst>
                </a:gridCol>
                <a:gridCol w="2137222">
                  <a:extLst>
                    <a:ext uri="{9D8B030D-6E8A-4147-A177-3AD203B41FA5}">
                      <a16:colId xmlns:a16="http://schemas.microsoft.com/office/drawing/2014/main" val="136087557"/>
                    </a:ext>
                  </a:extLst>
                </a:gridCol>
              </a:tblGrid>
              <a:tr h="192021">
                <a:tc gridSpan="2"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Ratio promedio</a:t>
                      </a:r>
                    </a:p>
                  </a:txBody>
                  <a:tcPr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747716"/>
                  </a:ext>
                </a:extLst>
              </a:tr>
              <a:tr h="313549">
                <a:tc>
                  <a:txBody>
                    <a:bodyPr/>
                    <a:lstStyle/>
                    <a:p>
                      <a:pPr algn="r"/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BNA</a:t>
                      </a:r>
                    </a:p>
                  </a:txBody>
                  <a:tcPr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48%</a:t>
                      </a:r>
                    </a:p>
                  </a:txBody>
                  <a:tcPr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429703"/>
                  </a:ext>
                </a:extLst>
              </a:tr>
              <a:tr h="192021">
                <a:tc>
                  <a:txBody>
                    <a:bodyPr/>
                    <a:lstStyle/>
                    <a:p>
                      <a:pPr algn="r"/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Resto</a:t>
                      </a:r>
                    </a:p>
                  </a:txBody>
                  <a:tcPr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33%</a:t>
                      </a:r>
                    </a:p>
                  </a:txBody>
                  <a:tcPr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9471135"/>
                  </a:ext>
                </a:extLst>
              </a:tr>
            </a:tbl>
          </a:graphicData>
        </a:graphic>
      </p:graphicFrame>
      <p:sp>
        <p:nvSpPr>
          <p:cNvPr id="12" name="Título 4">
            <a:extLst>
              <a:ext uri="{FF2B5EF4-FFF2-40B4-BE49-F238E27FC236}">
                <a16:creationId xmlns:a16="http://schemas.microsoft.com/office/drawing/2014/main" id="{A33B9B4C-5E0A-42AA-B624-6D7961F225B7}"/>
              </a:ext>
            </a:extLst>
          </p:cNvPr>
          <p:cNvSpPr txBox="1">
            <a:spLocks/>
          </p:cNvSpPr>
          <p:nvPr/>
        </p:nvSpPr>
        <p:spPr>
          <a:xfrm>
            <a:off x="-15957" y="-4997"/>
            <a:ext cx="7886700" cy="75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4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El Sistema Bancario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4A7B48E7-23EC-4474-9C74-6B3E7032D998}"/>
              </a:ext>
            </a:extLst>
          </p:cNvPr>
          <p:cNvSpPr/>
          <p:nvPr/>
        </p:nvSpPr>
        <p:spPr>
          <a:xfrm>
            <a:off x="647475" y="1086336"/>
            <a:ext cx="3597937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DEPÓSITOS REALES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281F3441-5477-4A38-B497-424035E6E6BF}"/>
              </a:ext>
            </a:extLst>
          </p:cNvPr>
          <p:cNvSpPr/>
          <p:nvPr/>
        </p:nvSpPr>
        <p:spPr>
          <a:xfrm>
            <a:off x="4979150" y="1086336"/>
            <a:ext cx="3597937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RATIO LIQUIDEZ</a:t>
            </a:r>
          </a:p>
        </p:txBody>
      </p:sp>
    </p:spTree>
    <p:extLst>
      <p:ext uri="{BB962C8B-B14F-4D97-AF65-F5344CB8AC3E}">
        <p14:creationId xmlns:p14="http://schemas.microsoft.com/office/powerpoint/2010/main" val="2649863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"/>
                                        <p:tgtEl>
                                          <p:spTgt spid="11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2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"/>
                                        <p:tgtEl>
                                          <p:spTgt spid="11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4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"/>
                                        <p:tgtEl>
                                          <p:spTgt spid="11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6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"/>
                                        <p:tgtEl>
                                          <p:spTgt spid="11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8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"/>
                                        <p:tgtEl>
                                          <p:spTgt spid="11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1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"/>
                                        <p:tgtEl>
                                          <p:spTgt spid="11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12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"/>
                                        <p:tgtEl>
                                          <p:spTgt spid="11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14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"/>
                                        <p:tgtEl>
                                          <p:spTgt spid="11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16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"/>
                                        <p:tgtEl>
                                          <p:spTgt spid="11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18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"/>
                                        <p:tgtEl>
                                          <p:spTgt spid="11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2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"/>
                                        <p:tgtEl>
                                          <p:spTgt spid="11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22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"/>
                                        <p:tgtEl>
                                          <p:spTgt spid="11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24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"/>
                                        <p:tgtEl>
                                          <p:spTgt spid="11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26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"/>
                                        <p:tgtEl>
                                          <p:spTgt spid="11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28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"/>
                                        <p:tgtEl>
                                          <p:spTgt spid="11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3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"/>
                                        <p:tgtEl>
                                          <p:spTgt spid="11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32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0"/>
                                        <p:tgtEl>
                                          <p:spTgt spid="11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34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0"/>
                                        <p:tgtEl>
                                          <p:spTgt spid="11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36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0"/>
                                        <p:tgtEl>
                                          <p:spTgt spid="11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38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0"/>
                                        <p:tgtEl>
                                          <p:spTgt spid="11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40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0"/>
                                        <p:tgtEl>
                                          <p:spTgt spid="11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42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20"/>
                                        <p:tgtEl>
                                          <p:spTgt spid="11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44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20"/>
                                        <p:tgtEl>
                                          <p:spTgt spid="11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460"/>
                            </p:stCondLst>
                            <p:childTnLst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0"/>
                                        <p:tgtEl>
                                          <p:spTgt spid="11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2480"/>
                            </p:stCondLst>
                            <p:childTnLst>
                              <p:par>
                                <p:cTn id="1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20"/>
                                        <p:tgtEl>
                                          <p:spTgt spid="11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2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20"/>
                                        <p:tgtEl>
                                          <p:spTgt spid="11">
                                            <p:graphicEl>
                                              <a:chart seriesIdx="-4" categoryIdx="2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2520"/>
                            </p:stCondLst>
                            <p:childTnLst>
                              <p:par>
                                <p:cTn id="1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2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20"/>
                                        <p:tgtEl>
                                          <p:spTgt spid="11">
                                            <p:graphicEl>
                                              <a:chart seriesIdx="-4" categoryIdx="2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540"/>
                            </p:stCondLst>
                            <p:childTnLst>
                              <p:par>
                                <p:cTn id="1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2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20"/>
                                        <p:tgtEl>
                                          <p:spTgt spid="11">
                                            <p:graphicEl>
                                              <a:chart seriesIdx="-4" categoryIdx="2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2560"/>
                            </p:stCondLst>
                            <p:childTnLst>
                              <p:par>
                                <p:cTn id="1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2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20"/>
                                        <p:tgtEl>
                                          <p:spTgt spid="11">
                                            <p:graphicEl>
                                              <a:chart seriesIdx="-4" categoryIdx="2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2580"/>
                            </p:stCondLst>
                            <p:childTnLst>
                              <p:par>
                                <p:cTn id="1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2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20"/>
                                        <p:tgtEl>
                                          <p:spTgt spid="11">
                                            <p:graphicEl>
                                              <a:chart seriesIdx="-4" categoryIdx="2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260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2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20"/>
                                        <p:tgtEl>
                                          <p:spTgt spid="11">
                                            <p:graphicEl>
                                              <a:chart seriesIdx="-4" categoryIdx="2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2620"/>
                            </p:stCondLst>
                            <p:childTnLst>
                              <p:par>
                                <p:cTn id="1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3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20"/>
                                        <p:tgtEl>
                                          <p:spTgt spid="11">
                                            <p:graphicEl>
                                              <a:chart seriesIdx="-4" categoryIdx="3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640"/>
                            </p:stCondLst>
                            <p:childTnLst>
                              <p:par>
                                <p:cTn id="1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3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20"/>
                                        <p:tgtEl>
                                          <p:spTgt spid="11">
                                            <p:graphicEl>
                                              <a:chart seriesIdx="-4" categoryIdx="3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2660"/>
                            </p:stCondLst>
                            <p:childTnLst>
                              <p:par>
                                <p:cTn id="1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3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20"/>
                                        <p:tgtEl>
                                          <p:spTgt spid="11">
                                            <p:graphicEl>
                                              <a:chart seriesIdx="-4" categoryIdx="3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2680"/>
                            </p:stCondLst>
                            <p:childTnLst>
                              <p:par>
                                <p:cTn id="1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3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20"/>
                                        <p:tgtEl>
                                          <p:spTgt spid="11">
                                            <p:graphicEl>
                                              <a:chart seriesIdx="-4" categoryIdx="3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2700"/>
                            </p:stCondLst>
                            <p:childTnLst>
                              <p:par>
                                <p:cTn id="1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3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20"/>
                                        <p:tgtEl>
                                          <p:spTgt spid="11">
                                            <p:graphicEl>
                                              <a:chart seriesIdx="-4" categoryIdx="3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2720"/>
                            </p:stCondLst>
                            <p:childTnLst>
                              <p:par>
                                <p:cTn id="1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3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20"/>
                                        <p:tgtEl>
                                          <p:spTgt spid="11">
                                            <p:graphicEl>
                                              <a:chart seriesIdx="-4" categoryIdx="3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2740"/>
                            </p:stCondLst>
                            <p:childTnLst>
                              <p:par>
                                <p:cTn id="1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3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20"/>
                                        <p:tgtEl>
                                          <p:spTgt spid="11">
                                            <p:graphicEl>
                                              <a:chart seriesIdx="-4" categoryIdx="3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2760"/>
                            </p:stCondLst>
                            <p:childTnLst>
                              <p:par>
                                <p:cTn id="1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3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20"/>
                                        <p:tgtEl>
                                          <p:spTgt spid="11">
                                            <p:graphicEl>
                                              <a:chart seriesIdx="-4" categoryIdx="3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2780"/>
                            </p:stCondLst>
                            <p:childTnLst>
                              <p:par>
                                <p:cTn id="1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3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20"/>
                                        <p:tgtEl>
                                          <p:spTgt spid="11">
                                            <p:graphicEl>
                                              <a:chart seriesIdx="-4" categoryIdx="3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2800"/>
                            </p:stCondLst>
                            <p:childTnLst>
                              <p:par>
                                <p:cTn id="1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3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20"/>
                                        <p:tgtEl>
                                          <p:spTgt spid="11">
                                            <p:graphicEl>
                                              <a:chart seriesIdx="-4" categoryIdx="3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2820"/>
                            </p:stCondLst>
                            <p:childTnLst>
                              <p:par>
                                <p:cTn id="1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4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20"/>
                                        <p:tgtEl>
                                          <p:spTgt spid="11">
                                            <p:graphicEl>
                                              <a:chart seriesIdx="-4" categoryIdx="4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2840"/>
                            </p:stCondLst>
                            <p:childTnLst>
                              <p:par>
                                <p:cTn id="1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4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20"/>
                                        <p:tgtEl>
                                          <p:spTgt spid="11">
                                            <p:graphicEl>
                                              <a:chart seriesIdx="-4" categoryIdx="4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2860"/>
                            </p:stCondLst>
                            <p:childTnLst>
                              <p:par>
                                <p:cTn id="1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4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20"/>
                                        <p:tgtEl>
                                          <p:spTgt spid="11">
                                            <p:graphicEl>
                                              <a:chart seriesIdx="-4" categoryIdx="4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2880"/>
                            </p:stCondLst>
                            <p:childTnLst>
                              <p:par>
                                <p:cTn id="1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4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20"/>
                                        <p:tgtEl>
                                          <p:spTgt spid="11">
                                            <p:graphicEl>
                                              <a:chart seriesIdx="-4" categoryIdx="4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2900"/>
                            </p:stCondLst>
                            <p:childTnLst>
                              <p:par>
                                <p:cTn id="1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4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20"/>
                                        <p:tgtEl>
                                          <p:spTgt spid="11">
                                            <p:graphicEl>
                                              <a:chart seriesIdx="-4" categoryIdx="4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2920"/>
                            </p:stCondLst>
                            <p:childTnLst>
                              <p:par>
                                <p:cTn id="1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4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20"/>
                                        <p:tgtEl>
                                          <p:spTgt spid="11">
                                            <p:graphicEl>
                                              <a:chart seriesIdx="-4" categoryIdx="4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2940"/>
                            </p:stCondLst>
                            <p:childTnLst>
                              <p:par>
                                <p:cTn id="2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4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20"/>
                                        <p:tgtEl>
                                          <p:spTgt spid="11">
                                            <p:graphicEl>
                                              <a:chart seriesIdx="-4" categoryIdx="4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2960"/>
                            </p:stCondLst>
                            <p:childTnLst>
                              <p:par>
                                <p:cTn id="2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4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20"/>
                                        <p:tgtEl>
                                          <p:spTgt spid="11">
                                            <p:graphicEl>
                                              <a:chart seriesIdx="-4" categoryIdx="4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2980"/>
                            </p:stCondLst>
                            <p:childTnLst>
                              <p:par>
                                <p:cTn id="2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4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20"/>
                                        <p:tgtEl>
                                          <p:spTgt spid="11">
                                            <p:graphicEl>
                                              <a:chart seriesIdx="-4" categoryIdx="4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3000"/>
                            </p:stCondLst>
                            <p:childTnLst>
                              <p:par>
                                <p:cTn id="2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4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20"/>
                                        <p:tgtEl>
                                          <p:spTgt spid="11">
                                            <p:graphicEl>
                                              <a:chart seriesIdx="-4" categoryIdx="4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3020"/>
                            </p:stCondLst>
                            <p:childTnLst>
                              <p:par>
                                <p:cTn id="2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5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20"/>
                                        <p:tgtEl>
                                          <p:spTgt spid="11">
                                            <p:graphicEl>
                                              <a:chart seriesIdx="-4" categoryIdx="5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3040"/>
                            </p:stCondLst>
                            <p:childTnLst>
                              <p:par>
                                <p:cTn id="2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5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20"/>
                                        <p:tgtEl>
                                          <p:spTgt spid="11">
                                            <p:graphicEl>
                                              <a:chart seriesIdx="-4" categoryIdx="5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3060"/>
                            </p:stCondLst>
                            <p:childTnLst>
                              <p:par>
                                <p:cTn id="2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5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20"/>
                                        <p:tgtEl>
                                          <p:spTgt spid="11">
                                            <p:graphicEl>
                                              <a:chart seriesIdx="-4" categoryIdx="5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3080"/>
                            </p:stCondLst>
                            <p:childTnLst>
                              <p:par>
                                <p:cTn id="2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5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20"/>
                                        <p:tgtEl>
                                          <p:spTgt spid="11">
                                            <p:graphicEl>
                                              <a:chart seriesIdx="-4" categoryIdx="5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3100"/>
                            </p:stCondLst>
                            <p:childTnLst>
                              <p:par>
                                <p:cTn id="2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5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20"/>
                                        <p:tgtEl>
                                          <p:spTgt spid="11">
                                            <p:graphicEl>
                                              <a:chart seriesIdx="-4" categoryIdx="5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3120"/>
                            </p:stCondLst>
                            <p:childTnLst>
                              <p:par>
                                <p:cTn id="2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5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20"/>
                                        <p:tgtEl>
                                          <p:spTgt spid="11">
                                            <p:graphicEl>
                                              <a:chart seriesIdx="-4" categoryIdx="5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3140"/>
                            </p:stCondLst>
                            <p:childTnLst>
                              <p:par>
                                <p:cTn id="2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5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20"/>
                                        <p:tgtEl>
                                          <p:spTgt spid="11">
                                            <p:graphicEl>
                                              <a:chart seriesIdx="-4" categoryIdx="5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6" fill="hold">
                            <p:stCondLst>
                              <p:cond delay="3160"/>
                            </p:stCondLst>
                            <p:childTnLst>
                              <p:par>
                                <p:cTn id="2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5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20"/>
                                        <p:tgtEl>
                                          <p:spTgt spid="11">
                                            <p:graphicEl>
                                              <a:chart seriesIdx="-4" categoryIdx="5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3180"/>
                            </p:stCondLst>
                            <p:childTnLst>
                              <p:par>
                                <p:cTn id="2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5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20"/>
                                        <p:tgtEl>
                                          <p:spTgt spid="11">
                                            <p:graphicEl>
                                              <a:chart seriesIdx="-4" categoryIdx="5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3200"/>
                            </p:stCondLst>
                            <p:childTnLst>
                              <p:par>
                                <p:cTn id="2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5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20"/>
                                        <p:tgtEl>
                                          <p:spTgt spid="11">
                                            <p:graphicEl>
                                              <a:chart seriesIdx="-4" categoryIdx="5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>
                            <p:stCondLst>
                              <p:cond delay="3220"/>
                            </p:stCondLst>
                            <p:childTnLst>
                              <p:par>
                                <p:cTn id="2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6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20"/>
                                        <p:tgtEl>
                                          <p:spTgt spid="11">
                                            <p:graphicEl>
                                              <a:chart seriesIdx="-4" categoryIdx="6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3240"/>
                            </p:stCondLst>
                            <p:childTnLst>
                              <p:par>
                                <p:cTn id="2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6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20"/>
                                        <p:tgtEl>
                                          <p:spTgt spid="11">
                                            <p:graphicEl>
                                              <a:chart seriesIdx="-4" categoryIdx="6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" fill="hold">
                            <p:stCondLst>
                              <p:cond delay="3260"/>
                            </p:stCondLst>
                            <p:childTnLst>
                              <p:par>
                                <p:cTn id="2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6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20"/>
                                        <p:tgtEl>
                                          <p:spTgt spid="11">
                                            <p:graphicEl>
                                              <a:chart seriesIdx="-4" categoryIdx="6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3280"/>
                            </p:stCondLst>
                            <p:childTnLst>
                              <p:par>
                                <p:cTn id="2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6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20"/>
                                        <p:tgtEl>
                                          <p:spTgt spid="11">
                                            <p:graphicEl>
                                              <a:chart seriesIdx="-4" categoryIdx="6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3300"/>
                            </p:stCondLst>
                            <p:childTnLst>
                              <p:par>
                                <p:cTn id="2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6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20"/>
                                        <p:tgtEl>
                                          <p:spTgt spid="11">
                                            <p:graphicEl>
                                              <a:chart seriesIdx="-4" categoryIdx="6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>
                            <p:stCondLst>
                              <p:cond delay="3320"/>
                            </p:stCondLst>
                            <p:childTnLst>
                              <p:par>
                                <p:cTn id="2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6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20"/>
                                        <p:tgtEl>
                                          <p:spTgt spid="11">
                                            <p:graphicEl>
                                              <a:chart seriesIdx="-4" categoryIdx="6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>
                            <p:stCondLst>
                              <p:cond delay="3340"/>
                            </p:stCondLst>
                            <p:childTnLst>
                              <p:par>
                                <p:cTn id="2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6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20"/>
                                        <p:tgtEl>
                                          <p:spTgt spid="11">
                                            <p:graphicEl>
                                              <a:chart seriesIdx="-4" categoryIdx="6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3360"/>
                            </p:stCondLst>
                            <p:childTnLst>
                              <p:par>
                                <p:cTn id="2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6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20"/>
                                        <p:tgtEl>
                                          <p:spTgt spid="11">
                                            <p:graphicEl>
                                              <a:chart seriesIdx="-4" categoryIdx="6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" fill="hold">
                            <p:stCondLst>
                              <p:cond delay="3380"/>
                            </p:stCondLst>
                            <p:childTnLst>
                              <p:par>
                                <p:cTn id="2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6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20"/>
                                        <p:tgtEl>
                                          <p:spTgt spid="11">
                                            <p:graphicEl>
                                              <a:chart seriesIdx="-4" categoryIdx="6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3400"/>
                            </p:stCondLst>
                            <p:childTnLst>
                              <p:par>
                                <p:cTn id="2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6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20"/>
                                        <p:tgtEl>
                                          <p:spTgt spid="11">
                                            <p:graphicEl>
                                              <a:chart seriesIdx="-4" categoryIdx="6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3420"/>
                            </p:stCondLst>
                            <p:childTnLst>
                              <p:par>
                                <p:cTn id="2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7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20"/>
                                        <p:tgtEl>
                                          <p:spTgt spid="11">
                                            <p:graphicEl>
                                              <a:chart seriesIdx="-4" categoryIdx="7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2" fill="hold">
                            <p:stCondLst>
                              <p:cond delay="3440"/>
                            </p:stCondLst>
                            <p:childTnLst>
                              <p:par>
                                <p:cTn id="3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7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20"/>
                                        <p:tgtEl>
                                          <p:spTgt spid="11">
                                            <p:graphicEl>
                                              <a:chart seriesIdx="-4" categoryIdx="7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6" fill="hold">
                            <p:stCondLst>
                              <p:cond delay="3460"/>
                            </p:stCondLst>
                            <p:childTnLst>
                              <p:par>
                                <p:cTn id="307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2" fill="hold">
                            <p:stCondLst>
                              <p:cond delay="4960"/>
                            </p:stCondLst>
                            <p:childTnLst>
                              <p:par>
                                <p:cTn id="313" presetID="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7" fill="hold">
                            <p:stCondLst>
                              <p:cond delay="6460"/>
                            </p:stCondLst>
                            <p:childTnLst>
                              <p:par>
                                <p:cTn id="3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0" dur="100"/>
                                        <p:tgtEl>
                                          <p:spTgt spid="1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1" fill="hold">
                            <p:stCondLst>
                              <p:cond delay="6560"/>
                            </p:stCondLst>
                            <p:childTnLst>
                              <p:par>
                                <p:cTn id="3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4" dur="100"/>
                                        <p:tgtEl>
                                          <p:spTgt spid="1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5" fill="hold">
                            <p:stCondLst>
                              <p:cond delay="6660"/>
                            </p:stCondLst>
                            <p:childTnLst>
                              <p:par>
                                <p:cTn id="3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8" dur="100"/>
                                        <p:tgtEl>
                                          <p:spTgt spid="1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9" fill="hold">
                            <p:stCondLst>
                              <p:cond delay="6760"/>
                            </p:stCondLst>
                            <p:childTnLst>
                              <p:par>
                                <p:cTn id="3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2" dur="100"/>
                                        <p:tgtEl>
                                          <p:spTgt spid="1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6860"/>
                            </p:stCondLst>
                            <p:childTnLst>
                              <p:par>
                                <p:cTn id="3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6" dur="100"/>
                                        <p:tgtEl>
                                          <p:spTgt spid="16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7" fill="hold">
                            <p:stCondLst>
                              <p:cond delay="6960"/>
                            </p:stCondLst>
                            <p:childTnLst>
                              <p:par>
                                <p:cTn id="3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0" dur="100"/>
                                        <p:tgtEl>
                                          <p:spTgt spid="16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1" fill="hold">
                            <p:stCondLst>
                              <p:cond delay="7060"/>
                            </p:stCondLst>
                            <p:childTnLst>
                              <p:par>
                                <p:cTn id="3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4" dur="100"/>
                                        <p:tgtEl>
                                          <p:spTgt spid="16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5" fill="hold">
                            <p:stCondLst>
                              <p:cond delay="7160"/>
                            </p:stCondLst>
                            <p:childTnLst>
                              <p:par>
                                <p:cTn id="346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>
        <p:bldSub>
          <a:bldChart bld="category"/>
        </p:bldSub>
      </p:bldGraphic>
      <p:bldGraphic spid="16" grpId="0">
        <p:bldSub>
          <a:bldChart bld="category"/>
        </p:bldSub>
      </p:bldGraphic>
      <p:bldP spid="12" grpId="0"/>
      <p:bldP spid="13" grpId="0" animBg="1"/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Marcador de contenido 10">
            <a:extLst>
              <a:ext uri="{FF2B5EF4-FFF2-40B4-BE49-F238E27FC236}">
                <a16:creationId xmlns:a16="http://schemas.microsoft.com/office/drawing/2014/main" id="{D33F59FB-B53D-40C6-BF62-B7021677835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4341188"/>
              </p:ext>
            </p:extLst>
          </p:nvPr>
        </p:nvGraphicFramePr>
        <p:xfrm>
          <a:off x="369565" y="2005397"/>
          <a:ext cx="4202435" cy="30077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Marcador de contenido 11">
            <a:extLst>
              <a:ext uri="{FF2B5EF4-FFF2-40B4-BE49-F238E27FC236}">
                <a16:creationId xmlns:a16="http://schemas.microsoft.com/office/drawing/2014/main" id="{3B5B2584-ABFA-4675-BD34-9D968371A4F8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481583670"/>
              </p:ext>
            </p:extLst>
          </p:nvPr>
        </p:nvGraphicFramePr>
        <p:xfrm>
          <a:off x="4664072" y="1999379"/>
          <a:ext cx="4202435" cy="30077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ítulo 4">
            <a:extLst>
              <a:ext uri="{FF2B5EF4-FFF2-40B4-BE49-F238E27FC236}">
                <a16:creationId xmlns:a16="http://schemas.microsoft.com/office/drawing/2014/main" id="{2B1AF3CD-E5A4-47FC-B9B1-CC2FC4D1D697}"/>
              </a:ext>
            </a:extLst>
          </p:cNvPr>
          <p:cNvSpPr txBox="1">
            <a:spLocks/>
          </p:cNvSpPr>
          <p:nvPr/>
        </p:nvSpPr>
        <p:spPr>
          <a:xfrm>
            <a:off x="-15958" y="-4996"/>
            <a:ext cx="9159957" cy="12737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El Banco de la Nación y la ausencia de funciones “</a:t>
            </a:r>
            <a:r>
              <a:rPr lang="es-ES" sz="3200" i="1" dirty="0" err="1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bancocentralistas</a:t>
            </a:r>
            <a:r>
              <a:rPr lang="es-ES" sz="32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”</a:t>
            </a:r>
            <a:br>
              <a:rPr lang="es-ES" sz="32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</a:br>
            <a:r>
              <a:rPr lang="es-ES" sz="2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(Ejercicio Contrafactual)</a:t>
            </a:r>
            <a:endParaRPr lang="es-ES" sz="3200" i="1" dirty="0"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  <a:cs typeface="Browallia New" panose="020B0604020202020204" pitchFamily="34" charset="-34"/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9B81B24C-CAB3-4ADA-BB71-F0C8B47D76A8}"/>
              </a:ext>
            </a:extLst>
          </p:cNvPr>
          <p:cNvSpPr/>
          <p:nvPr/>
        </p:nvSpPr>
        <p:spPr>
          <a:xfrm>
            <a:off x="625776" y="1484784"/>
            <a:ext cx="3597937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RESTO DE LOS BANCOS (R/D)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21921BC3-C393-492E-92C0-DC05C0AD40E9}"/>
              </a:ext>
            </a:extLst>
          </p:cNvPr>
          <p:cNvSpPr/>
          <p:nvPr/>
        </p:nvSpPr>
        <p:spPr>
          <a:xfrm>
            <a:off x="4966322" y="1484784"/>
            <a:ext cx="3597937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ESTADO (RDO. FIN.)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6A79FBFB-ECD3-488A-ACB7-D70717E37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93655" y="5188646"/>
            <a:ext cx="2540834" cy="1676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70AD6407-60DA-4479-9AAA-2476521104B9}"/>
              </a:ext>
            </a:extLst>
          </p:cNvPr>
          <p:cNvSpPr/>
          <p:nvPr/>
        </p:nvSpPr>
        <p:spPr>
          <a:xfrm>
            <a:off x="688228" y="5517232"/>
            <a:ext cx="2688050" cy="677137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“redescuentos” del Banco de la Nación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D94391F-8C1F-49B2-8F08-1B7750CF5E45}"/>
              </a:ext>
            </a:extLst>
          </p:cNvPr>
          <p:cNvSpPr/>
          <p:nvPr/>
        </p:nvSpPr>
        <p:spPr>
          <a:xfrm>
            <a:off x="6278259" y="5158354"/>
            <a:ext cx="268622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Los «</a:t>
            </a:r>
            <a:r>
              <a:rPr lang="es-ES" dirty="0" err="1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resdescuentos</a:t>
            </a:r>
            <a:r>
              <a:rPr lang="es-ES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» del Banco de la Nación no jugaron un papel importante en la liquidez del sistema</a:t>
            </a:r>
            <a:endParaRPr lang="es-AR" dirty="0"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414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"/>
                                        <p:tgtEl>
                                          <p:spTgt spid="11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"/>
                                        <p:tgtEl>
                                          <p:spTgt spid="11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4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"/>
                                        <p:tgtEl>
                                          <p:spTgt spid="11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"/>
                                        <p:tgtEl>
                                          <p:spTgt spid="11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6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"/>
                                        <p:tgtEl>
                                          <p:spTgt spid="11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75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"/>
                                        <p:tgtEl>
                                          <p:spTgt spid="11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85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"/>
                                        <p:tgtEl>
                                          <p:spTgt spid="11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950"/>
                            </p:stCondLst>
                            <p:childTnLst>
                              <p:par>
                                <p:cTn id="43" presetID="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7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"/>
                                        <p:tgtEl>
                                          <p:spTgt spid="12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8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"/>
                                        <p:tgtEl>
                                          <p:spTgt spid="12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9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"/>
                                        <p:tgtEl>
                                          <p:spTgt spid="12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0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"/>
                                        <p:tgtEl>
                                          <p:spTgt spid="12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1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"/>
                                        <p:tgtEl>
                                          <p:spTgt spid="12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2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"/>
                                        <p:tgtEl>
                                          <p:spTgt spid="12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3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"/>
                                        <p:tgtEl>
                                          <p:spTgt spid="12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4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"/>
                                        <p:tgtEl>
                                          <p:spTgt spid="12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5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"/>
                                        <p:tgtEl>
                                          <p:spTgt spid="12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36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"/>
                                        <p:tgtEl>
                                          <p:spTgt spid="12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37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"/>
                                        <p:tgtEl>
                                          <p:spTgt spid="12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38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"/>
                                        <p:tgtEl>
                                          <p:spTgt spid="12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90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"/>
                                        <p:tgtEl>
                                          <p:spTgt spid="12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400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"/>
                                        <p:tgtEl>
                                          <p:spTgt spid="12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410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"/>
                                        <p:tgtEl>
                                          <p:spTgt spid="12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4200"/>
                            </p:stCondLst>
                            <p:childTnLst>
                              <p:par>
                                <p:cTn id="108" presetID="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>
        <p:bldSub>
          <a:bldChart bld="category"/>
        </p:bldSub>
      </p:bldGraphic>
      <p:bldGraphic spid="12" grpId="0">
        <p:bldSub>
          <a:bldChart bld="category"/>
        </p:bldSub>
      </p:bldGraphic>
      <p:bldP spid="8" grpId="0"/>
      <p:bldP spid="13" grpId="0" animBg="1"/>
      <p:bldP spid="14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1 Título">
            <a:extLst>
              <a:ext uri="{FF2B5EF4-FFF2-40B4-BE49-F238E27FC236}">
                <a16:creationId xmlns:a16="http://schemas.microsoft.com/office/drawing/2014/main" id="{CE20388B-7942-48E2-8692-33C227D6B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15" y="0"/>
            <a:ext cx="7886700" cy="1325563"/>
          </a:xfrm>
          <a:noFill/>
        </p:spPr>
        <p:txBody>
          <a:bodyPr>
            <a:normAutofit/>
          </a:bodyPr>
          <a:lstStyle/>
          <a:p>
            <a:pPr>
              <a:defRPr/>
            </a:pPr>
            <a:r>
              <a:rPr lang="es-AR" sz="32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El Banco de la Nación Argentina y el Sistema Bancario, Enero 1908- Julio 1914</a:t>
            </a:r>
          </a:p>
        </p:txBody>
      </p:sp>
      <p:graphicFrame>
        <p:nvGraphicFramePr>
          <p:cNvPr id="7" name="6 Marcador de contenido">
            <a:extLst>
              <a:ext uri="{FF2B5EF4-FFF2-40B4-BE49-F238E27FC236}">
                <a16:creationId xmlns:a16="http://schemas.microsoft.com/office/drawing/2014/main" id="{9794E49D-FD2A-4806-ADEA-C4F05FE41E2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71551423"/>
              </p:ext>
            </p:extLst>
          </p:nvPr>
        </p:nvGraphicFramePr>
        <p:xfrm>
          <a:off x="510238" y="2279255"/>
          <a:ext cx="4147388" cy="2962974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3214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9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88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21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319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Indicadores</a:t>
                      </a:r>
                    </a:p>
                  </a:txBody>
                  <a:tcPr marL="32847" marR="32847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Banco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Nación</a:t>
                      </a:r>
                      <a:endParaRPr lang="es-AR" sz="16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32847" marR="32847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Bancos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Nacionales</a:t>
                      </a:r>
                      <a:endParaRPr lang="es-AR" sz="16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32847" marR="32847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Bancos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Extranjeros</a:t>
                      </a:r>
                      <a:endParaRPr lang="es-AR" sz="16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32847" marR="32847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9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Tasa de Crec.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Real de </a:t>
                      </a:r>
                      <a:r>
                        <a:rPr lang="es-AR" sz="1600" b="1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Dep</a:t>
                      </a:r>
                      <a:r>
                        <a:rPr lang="es-AR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. </a:t>
                      </a:r>
                      <a:endParaRPr lang="es-AR" sz="16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32847" marR="32847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0,96%</a:t>
                      </a:r>
                      <a:endParaRPr lang="es-AR" sz="1600" b="1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32847" marR="32847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0,16%</a:t>
                      </a:r>
                      <a:endParaRPr lang="es-AR" sz="1600" b="1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32847" marR="32847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0,11%</a:t>
                      </a:r>
                      <a:endParaRPr lang="es-AR" sz="1600" b="1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32847" marR="32847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9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Reservas a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Depósitos</a:t>
                      </a:r>
                      <a:endParaRPr lang="es-AR" sz="16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32847" marR="32847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51%</a:t>
                      </a:r>
                      <a:endParaRPr lang="es-AR" sz="1600" b="1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32847" marR="32847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28%</a:t>
                      </a:r>
                      <a:endParaRPr lang="es-AR" sz="1600" b="1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32847" marR="32847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40%</a:t>
                      </a:r>
                      <a:endParaRPr lang="es-AR" sz="1600" b="1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32847" marR="32847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9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Capital a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Activos</a:t>
                      </a:r>
                      <a:endParaRPr lang="es-AR" sz="16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32847" marR="32847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22%</a:t>
                      </a:r>
                      <a:endParaRPr lang="es-AR" sz="1600" b="1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32847" marR="32847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32%</a:t>
                      </a:r>
                      <a:endParaRPr lang="es-AR" sz="16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32847" marR="32847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11%</a:t>
                      </a:r>
                      <a:endParaRPr lang="es-AR" sz="16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32847" marR="32847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5 Marcador de contenido">
            <a:extLst>
              <a:ext uri="{FF2B5EF4-FFF2-40B4-BE49-F238E27FC236}">
                <a16:creationId xmlns:a16="http://schemas.microsoft.com/office/drawing/2014/main" id="{AC47EA3F-927F-419A-9F90-6B7883573F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221113" y="2505075"/>
            <a:ext cx="3887391" cy="3684588"/>
          </a:xfrm>
        </p:spPr>
        <p:txBody>
          <a:bodyPr>
            <a:normAutofit/>
          </a:bodyPr>
          <a:lstStyle/>
          <a:p>
            <a:pPr marL="0" indent="0" algn="ctr">
              <a:buNone/>
              <a:defRPr/>
            </a:pPr>
            <a:r>
              <a:rPr lang="es-AR" sz="1800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Departamento Comercial del Banco de Inglaterra (1909/14) </a:t>
            </a:r>
          </a:p>
          <a:p>
            <a:pPr algn="ctr">
              <a:defRPr/>
            </a:pPr>
            <a:endParaRPr lang="es-AR" sz="1800" dirty="0"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</a:endParaRPr>
          </a:p>
          <a:p>
            <a:pPr marL="0" indent="0" algn="ctr">
              <a:buFontTx/>
              <a:buNone/>
              <a:defRPr/>
            </a:pPr>
            <a:endParaRPr lang="es-AR" sz="1800" dirty="0"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</a:endParaRPr>
          </a:p>
          <a:p>
            <a:pPr algn="ctr">
              <a:defRPr/>
            </a:pPr>
            <a:endParaRPr lang="es-AR" sz="1800" dirty="0"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</a:endParaRPr>
          </a:p>
          <a:p>
            <a:pPr marL="0" indent="0" algn="ctr">
              <a:buNone/>
              <a:defRPr/>
            </a:pPr>
            <a:r>
              <a:rPr lang="es-AR" sz="1800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Bancos Comerciales de Estados Unidos (1908/1913)</a:t>
            </a:r>
          </a:p>
          <a:p>
            <a:pPr algn="ctr">
              <a:defRPr/>
            </a:pPr>
            <a:endParaRPr lang="es-AR" sz="1800" dirty="0"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</a:endParaRPr>
          </a:p>
        </p:txBody>
      </p:sp>
      <p:graphicFrame>
        <p:nvGraphicFramePr>
          <p:cNvPr id="9" name="8 Tabla">
            <a:extLst>
              <a:ext uri="{FF2B5EF4-FFF2-40B4-BE49-F238E27FC236}">
                <a16:creationId xmlns:a16="http://schemas.microsoft.com/office/drawing/2014/main" id="{7899368A-0EBF-4286-8E41-E16BF483AF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1434817"/>
              </p:ext>
            </p:extLst>
          </p:nvPr>
        </p:nvGraphicFramePr>
        <p:xfrm>
          <a:off x="5760664" y="3081336"/>
          <a:ext cx="2808288" cy="851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95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5860"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1" u="none" strike="noStrike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Reservas a Depósitos</a:t>
                      </a:r>
                      <a:endParaRPr lang="es-AR" sz="1600" b="1" i="0" u="none" strike="noStrike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9525" marR="9525" marT="9536" marB="0" anchor="b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600" b="1" u="none" strike="noStrike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47%</a:t>
                      </a:r>
                      <a:endParaRPr lang="es-AR" sz="1600" b="1" i="0" u="none" strike="noStrike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9525" marR="9525" marT="9536" marB="0" anchor="b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860"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1" u="none" strike="noStrike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Capital a Activos</a:t>
                      </a:r>
                      <a:endParaRPr lang="es-AR" sz="1600" b="1" i="0" u="none" strike="noStrike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9525" marR="9525" marT="9536" marB="0" anchor="b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600" b="1" u="none" strike="noStrike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20%</a:t>
                      </a:r>
                      <a:endParaRPr lang="es-AR" sz="1600" b="1" i="0" u="none" strike="noStrike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9525" marR="9525" marT="9536" marB="0" anchor="b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9 Tabla">
            <a:extLst>
              <a:ext uri="{FF2B5EF4-FFF2-40B4-BE49-F238E27FC236}">
                <a16:creationId xmlns:a16="http://schemas.microsoft.com/office/drawing/2014/main" id="{61CB7227-543B-470A-B21E-6FFEECB761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832962"/>
              </p:ext>
            </p:extLst>
          </p:nvPr>
        </p:nvGraphicFramePr>
        <p:xfrm>
          <a:off x="5760664" y="4737520"/>
          <a:ext cx="2808288" cy="851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8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9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5860"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1" u="none" strike="noStrike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Reservas a Depósitos</a:t>
                      </a:r>
                      <a:endParaRPr lang="es-AR" sz="1600" b="1" i="0" u="none" strike="noStrike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9528" marR="9528" marT="9528" marB="0" anchor="b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600" b="1" u="none" strike="noStrike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30%</a:t>
                      </a:r>
                      <a:endParaRPr lang="es-AR" sz="1600" b="1" i="0" u="none" strike="noStrike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9528" marR="9528" marT="9528" marB="0" anchor="b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860"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1" u="none" strike="noStrike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Capital a Activos</a:t>
                      </a:r>
                      <a:endParaRPr lang="es-AR" sz="1600" b="1" i="0" u="none" strike="noStrike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9528" marR="9528" marT="9528" marB="0" anchor="b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600" b="1" u="none" strike="noStrike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10%</a:t>
                      </a:r>
                      <a:endParaRPr lang="es-AR" sz="1600" b="1" i="0" u="none" strike="noStrike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9528" marR="9528" marT="9528" marB="0" anchor="b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EA7ECFEE-305C-44AE-8628-81F3FC1895B2}"/>
              </a:ext>
            </a:extLst>
          </p:cNvPr>
          <p:cNvSpPr/>
          <p:nvPr/>
        </p:nvSpPr>
        <p:spPr>
          <a:xfrm>
            <a:off x="410880" y="1233696"/>
            <a:ext cx="4306264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Indicadores de la Salud de los bancos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2FC26F7D-F149-49E2-A94C-FBC77733C6DB}"/>
              </a:ext>
            </a:extLst>
          </p:cNvPr>
          <p:cNvSpPr/>
          <p:nvPr/>
        </p:nvSpPr>
        <p:spPr>
          <a:xfrm>
            <a:off x="5221113" y="1861760"/>
            <a:ext cx="3678805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Valores de Referencia</a:t>
            </a:r>
          </a:p>
        </p:txBody>
      </p:sp>
      <p:pic>
        <p:nvPicPr>
          <p:cNvPr id="13" name="Gráfico 12" descr="Advertencia">
            <a:extLst>
              <a:ext uri="{FF2B5EF4-FFF2-40B4-BE49-F238E27FC236}">
                <a16:creationId xmlns:a16="http://schemas.microsoft.com/office/drawing/2014/main" id="{1D94EDF0-E6D1-48B8-9452-19E2CBFAE4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03848" y="3933056"/>
            <a:ext cx="457200" cy="457200"/>
          </a:xfrm>
          <a:prstGeom prst="rect">
            <a:avLst/>
          </a:prstGeom>
        </p:spPr>
      </p:pic>
      <p:pic>
        <p:nvPicPr>
          <p:cNvPr id="17" name="Gráfico 16" descr="Advertencia">
            <a:extLst>
              <a:ext uri="{FF2B5EF4-FFF2-40B4-BE49-F238E27FC236}">
                <a16:creationId xmlns:a16="http://schemas.microsoft.com/office/drawing/2014/main" id="{68019097-E698-4223-A4A0-866F933128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3400" y="4508920"/>
            <a:ext cx="457200" cy="457200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2E909CB5-C1DA-443F-85EE-CDFFB84E3094}"/>
              </a:ext>
            </a:extLst>
          </p:cNvPr>
          <p:cNvSpPr/>
          <p:nvPr/>
        </p:nvSpPr>
        <p:spPr>
          <a:xfrm>
            <a:off x="-35724" y="6044057"/>
            <a:ext cx="91797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El Banco de la Nación Argentina, el banco dominante, gozó de muy buena salud. </a:t>
            </a:r>
          </a:p>
          <a:p>
            <a:r>
              <a:rPr lang="es-ES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Las entidades restantes también mostraron solidez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áfico 5" descr="Calendario giratorio">
            <a:extLst>
              <a:ext uri="{FF2B5EF4-FFF2-40B4-BE49-F238E27FC236}">
                <a16:creationId xmlns:a16="http://schemas.microsoft.com/office/drawing/2014/main" id="{CA48E94C-F014-40A1-8F68-FB5E90B6D9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21318" y="1785403"/>
            <a:ext cx="1739634" cy="1669395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A199120E-18D2-4ED8-B405-3D427B1E877D}"/>
              </a:ext>
            </a:extLst>
          </p:cNvPr>
          <p:cNvSpPr/>
          <p:nvPr/>
        </p:nvSpPr>
        <p:spPr>
          <a:xfrm>
            <a:off x="81000" y="2510838"/>
            <a:ext cx="113685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AR" b="1" dirty="0">
                <a:solidFill>
                  <a:srgbClr val="4B4B50"/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De 1900 </a:t>
            </a:r>
          </a:p>
          <a:p>
            <a:pPr algn="ctr"/>
            <a:r>
              <a:rPr lang="es-AR" b="1" dirty="0">
                <a:solidFill>
                  <a:srgbClr val="4B4B50"/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a 1913</a:t>
            </a:r>
          </a:p>
        </p:txBody>
      </p:sp>
      <p:pic>
        <p:nvPicPr>
          <p:cNvPr id="9" name="Gráfico 8" descr="Tendencia al alza">
            <a:extLst>
              <a:ext uri="{FF2B5EF4-FFF2-40B4-BE49-F238E27FC236}">
                <a16:creationId xmlns:a16="http://schemas.microsoft.com/office/drawing/2014/main" id="{8E097852-F370-4007-A713-5C82B548388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59632" y="1124744"/>
            <a:ext cx="1563266" cy="1458655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14345C22-0DD7-4EAF-BE10-3A9D1D2736BF}"/>
              </a:ext>
            </a:extLst>
          </p:cNvPr>
          <p:cNvSpPr/>
          <p:nvPr/>
        </p:nvSpPr>
        <p:spPr>
          <a:xfrm>
            <a:off x="2558957" y="1243776"/>
            <a:ext cx="2589820" cy="12418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b="1" i="1" dirty="0">
                <a:solidFill>
                  <a:srgbClr val="4B4B50"/>
                </a:solidFill>
                <a:latin typeface="Abadi" panose="020B0604020104020204" pitchFamily="34" charset="0"/>
              </a:rPr>
              <a:t>“…una de las olas expansivas de la economía mundial más profundas de la historia”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15E8C22-B2EE-4548-816D-8EC97FA90556}"/>
              </a:ext>
            </a:extLst>
          </p:cNvPr>
          <p:cNvSpPr/>
          <p:nvPr/>
        </p:nvSpPr>
        <p:spPr>
          <a:xfrm>
            <a:off x="2579673" y="2780928"/>
            <a:ext cx="20449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b="1" i="1" dirty="0">
                <a:solidFill>
                  <a:srgbClr val="4B4B50"/>
                </a:solidFill>
                <a:latin typeface="Abadi" panose="020B0604020104020204" pitchFamily="34" charset="0"/>
              </a:rPr>
              <a:t>“…casi todas las naciones entraron en una espiral ascendente…”</a:t>
            </a:r>
          </a:p>
        </p:txBody>
      </p:sp>
      <p:pic>
        <p:nvPicPr>
          <p:cNvPr id="13" name="Gráfico 12" descr="Globo terrestre, Europa y África">
            <a:extLst>
              <a:ext uri="{FF2B5EF4-FFF2-40B4-BE49-F238E27FC236}">
                <a16:creationId xmlns:a16="http://schemas.microsoft.com/office/drawing/2014/main" id="{A989D86F-DFD1-44C8-9810-4F1A31EF5F5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44901" y="2989116"/>
            <a:ext cx="720811" cy="720811"/>
          </a:xfrm>
          <a:prstGeom prst="rect">
            <a:avLst/>
          </a:prstGeom>
        </p:spPr>
      </p:pic>
      <p:pic>
        <p:nvPicPr>
          <p:cNvPr id="15" name="Gráfico 14" descr="Globo terrestre, América">
            <a:extLst>
              <a:ext uri="{FF2B5EF4-FFF2-40B4-BE49-F238E27FC236}">
                <a16:creationId xmlns:a16="http://schemas.microsoft.com/office/drawing/2014/main" id="{EEFCC10C-859B-45C0-9482-50F90917F4D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62137" y="2733987"/>
            <a:ext cx="720811" cy="720811"/>
          </a:xfrm>
          <a:prstGeom prst="rect">
            <a:avLst/>
          </a:prstGeom>
        </p:spPr>
      </p:pic>
      <p:pic>
        <p:nvPicPr>
          <p:cNvPr id="17" name="Gráfico 16" descr="Globo terrestre, Asia y Australia">
            <a:extLst>
              <a:ext uri="{FF2B5EF4-FFF2-40B4-BE49-F238E27FC236}">
                <a16:creationId xmlns:a16="http://schemas.microsoft.com/office/drawing/2014/main" id="{48744B5A-7DFD-4E49-85D3-CB65D7EB6877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19583" y="3316505"/>
            <a:ext cx="720811" cy="720811"/>
          </a:xfrm>
          <a:prstGeom prst="rect">
            <a:avLst/>
          </a:prstGeom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D64FBA0F-C1F2-43C4-87B8-8EA99BE19CFB}"/>
              </a:ext>
            </a:extLst>
          </p:cNvPr>
          <p:cNvSpPr/>
          <p:nvPr/>
        </p:nvSpPr>
        <p:spPr>
          <a:xfrm>
            <a:off x="6353957" y="1693383"/>
            <a:ext cx="2706930" cy="2030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b="1" i="1" dirty="0">
                <a:solidFill>
                  <a:srgbClr val="4B4B50"/>
                </a:solidFill>
                <a:latin typeface="Abadi" panose="020B0604020104020204" pitchFamily="34" charset="0"/>
              </a:rPr>
              <a:t>“…implicó no sólo un aumento formidable de la producción industrial, agrícola y minera, sino también una fortísima expansión de los servicios y del sector financiero.”</a:t>
            </a:r>
          </a:p>
        </p:txBody>
      </p:sp>
      <p:pic>
        <p:nvPicPr>
          <p:cNvPr id="20" name="Gráfico 19" descr="Fábrica">
            <a:extLst>
              <a:ext uri="{FF2B5EF4-FFF2-40B4-BE49-F238E27FC236}">
                <a16:creationId xmlns:a16="http://schemas.microsoft.com/office/drawing/2014/main" id="{9656D6AC-62D8-4699-ACEA-A485B17D887D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387755" y="1941798"/>
            <a:ext cx="671882" cy="671882"/>
          </a:xfrm>
          <a:prstGeom prst="rect">
            <a:avLst/>
          </a:prstGeom>
        </p:spPr>
      </p:pic>
      <p:pic>
        <p:nvPicPr>
          <p:cNvPr id="22" name="Gráfico 21" descr="Planta">
            <a:extLst>
              <a:ext uri="{FF2B5EF4-FFF2-40B4-BE49-F238E27FC236}">
                <a16:creationId xmlns:a16="http://schemas.microsoft.com/office/drawing/2014/main" id="{2073421E-A41E-4D16-B5C2-CC5F4C8FDC62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769451" y="2367091"/>
            <a:ext cx="671882" cy="671882"/>
          </a:xfrm>
          <a:prstGeom prst="rect">
            <a:avLst/>
          </a:prstGeom>
        </p:spPr>
      </p:pic>
      <p:pic>
        <p:nvPicPr>
          <p:cNvPr id="24" name="Gráfico 23" descr="Tribunal">
            <a:extLst>
              <a:ext uri="{FF2B5EF4-FFF2-40B4-BE49-F238E27FC236}">
                <a16:creationId xmlns:a16="http://schemas.microsoft.com/office/drawing/2014/main" id="{52C3890A-4C56-410B-8581-A1124121DFCF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723696" y="3017275"/>
            <a:ext cx="671882" cy="671882"/>
          </a:xfrm>
          <a:prstGeom prst="rect">
            <a:avLst/>
          </a:prstGeom>
        </p:spPr>
      </p:pic>
      <p:pic>
        <p:nvPicPr>
          <p:cNvPr id="26" name="Gráfico 25" descr="Apretón de manos">
            <a:extLst>
              <a:ext uri="{FF2B5EF4-FFF2-40B4-BE49-F238E27FC236}">
                <a16:creationId xmlns:a16="http://schemas.microsoft.com/office/drawing/2014/main" id="{72A6FF5C-A52B-4934-B7D1-46DB4A4521C1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725028" y="1706059"/>
            <a:ext cx="716305" cy="716305"/>
          </a:xfrm>
          <a:prstGeom prst="rect">
            <a:avLst/>
          </a:prstGeom>
        </p:spPr>
      </p:pic>
      <p:pic>
        <p:nvPicPr>
          <p:cNvPr id="28" name="Gráfico 27" descr="Montañas">
            <a:extLst>
              <a:ext uri="{FF2B5EF4-FFF2-40B4-BE49-F238E27FC236}">
                <a16:creationId xmlns:a16="http://schemas.microsoft.com/office/drawing/2014/main" id="{FC9E7433-6666-4086-AF96-8E56E98C0736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343332" y="2557672"/>
            <a:ext cx="671882" cy="671882"/>
          </a:xfrm>
          <a:prstGeom prst="rect">
            <a:avLst/>
          </a:prstGeom>
        </p:spPr>
      </p:pic>
      <p:sp>
        <p:nvSpPr>
          <p:cNvPr id="29" name="Rectángulo 28">
            <a:extLst>
              <a:ext uri="{FF2B5EF4-FFF2-40B4-BE49-F238E27FC236}">
                <a16:creationId xmlns:a16="http://schemas.microsoft.com/office/drawing/2014/main" id="{4A72E8ED-6D0F-4510-81A4-3A40F7BA6BB8}"/>
              </a:ext>
            </a:extLst>
          </p:cNvPr>
          <p:cNvSpPr/>
          <p:nvPr/>
        </p:nvSpPr>
        <p:spPr>
          <a:xfrm>
            <a:off x="235022" y="5042904"/>
            <a:ext cx="2489974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500" b="1" i="1" dirty="0">
                <a:solidFill>
                  <a:srgbClr val="4B4B50"/>
                </a:solidFill>
                <a:latin typeface="Abadi" panose="020B0604020104020204" pitchFamily="34" charset="0"/>
              </a:rPr>
              <a:t>“…países más avanzados alcanzaron un crecimiento anual del producto per cápita de </a:t>
            </a:r>
            <a:r>
              <a:rPr lang="es-AR" sz="1500" b="1" i="1" u="sng" dirty="0">
                <a:solidFill>
                  <a:srgbClr val="4B4B50"/>
                </a:solidFill>
                <a:latin typeface="Abadi" panose="020B0604020104020204" pitchFamily="34" charset="0"/>
              </a:rPr>
              <a:t>1,6% </a:t>
            </a:r>
            <a:r>
              <a:rPr lang="es-AR" sz="1500" b="1" i="1" dirty="0">
                <a:solidFill>
                  <a:srgbClr val="4B4B50"/>
                </a:solidFill>
                <a:latin typeface="Abadi" panose="020B0604020104020204" pitchFamily="34" charset="0"/>
              </a:rPr>
              <a:t>entre 1900 y 1913…”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FDB74069-3F6D-4036-BDAA-F1E39C79C619}"/>
              </a:ext>
            </a:extLst>
          </p:cNvPr>
          <p:cNvSpPr/>
          <p:nvPr/>
        </p:nvSpPr>
        <p:spPr>
          <a:xfrm>
            <a:off x="2724996" y="5057889"/>
            <a:ext cx="1529609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500" b="1" i="1" dirty="0">
                <a:solidFill>
                  <a:srgbClr val="4B4B50"/>
                </a:solidFill>
                <a:latin typeface="Abadi" panose="020B0604020104020204" pitchFamily="34" charset="0"/>
              </a:rPr>
              <a:t>“…mientras que los de la periferia alcanzaron el 1% anual. “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C00DAE26-3667-4B02-80F4-046F89DD941A}"/>
              </a:ext>
            </a:extLst>
          </p:cNvPr>
          <p:cNvSpPr/>
          <p:nvPr/>
        </p:nvSpPr>
        <p:spPr>
          <a:xfrm>
            <a:off x="4230268" y="5048306"/>
            <a:ext cx="2331106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500" b="1" i="1" dirty="0">
                <a:solidFill>
                  <a:srgbClr val="4B4B50"/>
                </a:solidFill>
                <a:latin typeface="Abadi" panose="020B0604020104020204" pitchFamily="34" charset="0"/>
              </a:rPr>
              <a:t>“…Europa y Estados Unidos, esto representó una pequeña pero sustancial mejora en su desempeño…”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542EFFDB-0A0F-473F-9063-ED55F34ED4AE}"/>
              </a:ext>
            </a:extLst>
          </p:cNvPr>
          <p:cNvSpPr/>
          <p:nvPr/>
        </p:nvSpPr>
        <p:spPr>
          <a:xfrm>
            <a:off x="6561374" y="5057889"/>
            <a:ext cx="233110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500" b="1" i="1" dirty="0">
                <a:solidFill>
                  <a:srgbClr val="4B4B50"/>
                </a:solidFill>
                <a:latin typeface="Abadi" panose="020B0604020104020204" pitchFamily="34" charset="0"/>
              </a:rPr>
              <a:t>“…para una buena parte de Latinoamérica, África y Asia este período marcó un cambio radical…”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92A47E2F-7B38-457D-9D33-0BE7A77BD36D}"/>
              </a:ext>
            </a:extLst>
          </p:cNvPr>
          <p:cNvSpPr/>
          <p:nvPr/>
        </p:nvSpPr>
        <p:spPr>
          <a:xfrm>
            <a:off x="0" y="4711354"/>
            <a:ext cx="91536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b="1" dirty="0">
                <a:solidFill>
                  <a:srgbClr val="4B4B50"/>
                </a:solidFill>
                <a:latin typeface="Abadi" panose="020B0604020104020204" pitchFamily="34" charset="0"/>
              </a:rPr>
              <a:t>Estimaciones de Paul </a:t>
            </a:r>
            <a:r>
              <a:rPr lang="es-AR" b="1" dirty="0" err="1">
                <a:solidFill>
                  <a:srgbClr val="4B4B50"/>
                </a:solidFill>
                <a:latin typeface="Abadi" panose="020B0604020104020204" pitchFamily="34" charset="0"/>
              </a:rPr>
              <a:t>Bairoch</a:t>
            </a:r>
            <a:endParaRPr lang="es-AR" b="1" dirty="0">
              <a:solidFill>
                <a:srgbClr val="4B4B50"/>
              </a:solidFill>
              <a:latin typeface="Abadi" panose="020B0604020104020204" pitchFamily="34" charset="0"/>
            </a:endParaRPr>
          </a:p>
        </p:txBody>
      </p: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912767F3-EF7D-4D36-8A3E-42311302DAD5}"/>
              </a:ext>
            </a:extLst>
          </p:cNvPr>
          <p:cNvCxnSpPr/>
          <p:nvPr/>
        </p:nvCxnSpPr>
        <p:spPr>
          <a:xfrm>
            <a:off x="120369" y="5007399"/>
            <a:ext cx="8844119" cy="0"/>
          </a:xfrm>
          <a:prstGeom prst="line">
            <a:avLst/>
          </a:prstGeom>
          <a:ln>
            <a:solidFill>
              <a:srgbClr val="4B4B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ángulo 35">
            <a:extLst>
              <a:ext uri="{FF2B5EF4-FFF2-40B4-BE49-F238E27FC236}">
                <a16:creationId xmlns:a16="http://schemas.microsoft.com/office/drawing/2014/main" id="{582627B4-0B7F-47C7-A1B9-B36953FE01C5}"/>
              </a:ext>
            </a:extLst>
          </p:cNvPr>
          <p:cNvSpPr/>
          <p:nvPr/>
        </p:nvSpPr>
        <p:spPr>
          <a:xfrm>
            <a:off x="7380312" y="6453336"/>
            <a:ext cx="17588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chemeClr val="tx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(Marichal 2010)</a:t>
            </a:r>
          </a:p>
        </p:txBody>
      </p:sp>
      <p:sp>
        <p:nvSpPr>
          <p:cNvPr id="25" name="Título 4">
            <a:extLst>
              <a:ext uri="{FF2B5EF4-FFF2-40B4-BE49-F238E27FC236}">
                <a16:creationId xmlns:a16="http://schemas.microsoft.com/office/drawing/2014/main" id="{3D32DF31-EEE5-4175-8377-D94C6E916F0A}"/>
              </a:ext>
            </a:extLst>
          </p:cNvPr>
          <p:cNvSpPr txBox="1">
            <a:spLocks/>
          </p:cNvSpPr>
          <p:nvPr/>
        </p:nvSpPr>
        <p:spPr>
          <a:xfrm>
            <a:off x="-15957" y="-4997"/>
            <a:ext cx="7886700" cy="75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4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Economía mundial</a:t>
            </a:r>
          </a:p>
        </p:txBody>
      </p:sp>
    </p:spTree>
    <p:extLst>
      <p:ext uri="{BB962C8B-B14F-4D97-AF65-F5344CB8AC3E}">
        <p14:creationId xmlns:p14="http://schemas.microsoft.com/office/powerpoint/2010/main" val="3137118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75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250"/>
                            </p:stCondLst>
                            <p:childTnLst>
                              <p:par>
                                <p:cTn id="27" presetID="2" presetClass="entr" presetSubtype="1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3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750"/>
                            </p:stCondLst>
                            <p:childTnLst>
                              <p:par>
                                <p:cTn id="40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7250"/>
                            </p:stCondLst>
                            <p:childTnLst>
                              <p:par>
                                <p:cTn id="46" presetID="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8000"/>
                            </p:stCondLst>
                            <p:childTnLst>
                              <p:par>
                                <p:cTn id="51" presetID="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8750"/>
                            </p:stCondLst>
                            <p:childTnLst>
                              <p:par>
                                <p:cTn id="56" presetID="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9500"/>
                            </p:stCondLst>
                            <p:childTnLst>
                              <p:par>
                                <p:cTn id="61" presetID="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250"/>
                            </p:stCondLst>
                            <p:childTnLst>
                              <p:par>
                                <p:cTn id="66" presetID="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00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  <p:bldP spid="18" grpId="0"/>
      <p:bldP spid="29" grpId="0"/>
      <p:bldP spid="30" grpId="0"/>
      <p:bldP spid="31" grpId="0"/>
      <p:bldP spid="32" grpId="0"/>
      <p:bldP spid="33" grpId="0"/>
      <p:bldP spid="36" grpId="0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Marcador de contenido 8">
            <a:extLst>
              <a:ext uri="{FF2B5EF4-FFF2-40B4-BE49-F238E27FC236}">
                <a16:creationId xmlns:a16="http://schemas.microsoft.com/office/drawing/2014/main" id="{0E17FBF5-85E6-444A-9C14-39706467DFB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7032171"/>
              </p:ext>
            </p:extLst>
          </p:nvPr>
        </p:nvGraphicFramePr>
        <p:xfrm>
          <a:off x="4572000" y="1052736"/>
          <a:ext cx="4274443" cy="26642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C085732A-54BF-4A9E-874A-4AF2271357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4092375"/>
              </p:ext>
            </p:extLst>
          </p:nvPr>
        </p:nvGraphicFramePr>
        <p:xfrm>
          <a:off x="297557" y="1052736"/>
          <a:ext cx="4274444" cy="26642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F0B9CA6B-9726-411E-90B8-1CBBCB7FA2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3936500"/>
              </p:ext>
            </p:extLst>
          </p:nvPr>
        </p:nvGraphicFramePr>
        <p:xfrm>
          <a:off x="297556" y="4149080"/>
          <a:ext cx="4274444" cy="26642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Marcador de contenido 8">
            <a:extLst>
              <a:ext uri="{FF2B5EF4-FFF2-40B4-BE49-F238E27FC236}">
                <a16:creationId xmlns:a16="http://schemas.microsoft.com/office/drawing/2014/main" id="{8AA8E7A1-6CCB-41F7-9A07-FB2821360A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2108034"/>
              </p:ext>
            </p:extLst>
          </p:nvPr>
        </p:nvGraphicFramePr>
        <p:xfrm>
          <a:off x="4716016" y="4149080"/>
          <a:ext cx="4274443" cy="26642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7" name="Título 4">
            <a:extLst>
              <a:ext uri="{FF2B5EF4-FFF2-40B4-BE49-F238E27FC236}">
                <a16:creationId xmlns:a16="http://schemas.microsoft.com/office/drawing/2014/main" id="{2EDA3D7A-C867-48A9-9C48-6588E4189F36}"/>
              </a:ext>
            </a:extLst>
          </p:cNvPr>
          <p:cNvSpPr txBox="1">
            <a:spLocks/>
          </p:cNvSpPr>
          <p:nvPr/>
        </p:nvSpPr>
        <p:spPr>
          <a:xfrm>
            <a:off x="-15957" y="-4997"/>
            <a:ext cx="7886700" cy="75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4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Balanza de pagos</a:t>
            </a:r>
          </a:p>
        </p:txBody>
      </p:sp>
    </p:spTree>
    <p:extLst>
      <p:ext uri="{BB962C8B-B14F-4D97-AF65-F5344CB8AC3E}">
        <p14:creationId xmlns:p14="http://schemas.microsoft.com/office/powerpoint/2010/main" val="4106748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"/>
                                        <p:tgtEl>
                                          <p:spTgt spid="10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"/>
                                        <p:tgtEl>
                                          <p:spTgt spid="10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7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"/>
                                        <p:tgtEl>
                                          <p:spTgt spid="10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8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"/>
                                        <p:tgtEl>
                                          <p:spTgt spid="10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"/>
                                        <p:tgtEl>
                                          <p:spTgt spid="10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"/>
                                        <p:tgtEl>
                                          <p:spTgt spid="10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1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"/>
                                        <p:tgtEl>
                                          <p:spTgt spid="10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2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"/>
                                        <p:tgtEl>
                                          <p:spTgt spid="10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3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"/>
                                        <p:tgtEl>
                                          <p:spTgt spid="10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4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"/>
                                        <p:tgtEl>
                                          <p:spTgt spid="10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"/>
                                        <p:tgtEl>
                                          <p:spTgt spid="10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6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"/>
                                        <p:tgtEl>
                                          <p:spTgt spid="10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7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"/>
                                        <p:tgtEl>
                                          <p:spTgt spid="10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8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"/>
                                        <p:tgtEl>
                                          <p:spTgt spid="10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9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"/>
                                        <p:tgtEl>
                                          <p:spTgt spid="10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"/>
                                        <p:tgtEl>
                                          <p:spTgt spid="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1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"/>
                                        <p:tgtEl>
                                          <p:spTgt spid="9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2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"/>
                                        <p:tgtEl>
                                          <p:spTgt spid="9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3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"/>
                                        <p:tgtEl>
                                          <p:spTgt spid="9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4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"/>
                                        <p:tgtEl>
                                          <p:spTgt spid="9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5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"/>
                                        <p:tgtEl>
                                          <p:spTgt spid="9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6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"/>
                                        <p:tgtEl>
                                          <p:spTgt spid="9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7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"/>
                                        <p:tgtEl>
                                          <p:spTgt spid="9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80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"/>
                                        <p:tgtEl>
                                          <p:spTgt spid="9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900"/>
                            </p:stCondLst>
                            <p:childTnLst>
                              <p:par>
                                <p:cTn id="10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"/>
                                        <p:tgtEl>
                                          <p:spTgt spid="9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00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"/>
                                        <p:tgtEl>
                                          <p:spTgt spid="9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310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"/>
                                        <p:tgtEl>
                                          <p:spTgt spid="9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320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"/>
                                        <p:tgtEl>
                                          <p:spTgt spid="9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330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"/>
                                        <p:tgtEl>
                                          <p:spTgt spid="9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3400"/>
                            </p:stCondLst>
                            <p:childTnLst>
                              <p:par>
                                <p:cTn id="1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"/>
                                        <p:tgtEl>
                                          <p:spTgt spid="9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350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"/>
                                        <p:tgtEl>
                                          <p:spTgt spid="11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3600"/>
                            </p:stCondLst>
                            <p:childTnLst>
                              <p:par>
                                <p:cTn id="1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"/>
                                        <p:tgtEl>
                                          <p:spTgt spid="11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3700"/>
                            </p:stCondLst>
                            <p:childTnLst>
                              <p:par>
                                <p:cTn id="1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"/>
                                        <p:tgtEl>
                                          <p:spTgt spid="11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3800"/>
                            </p:stCondLst>
                            <p:childTnLst>
                              <p:par>
                                <p:cTn id="1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"/>
                                        <p:tgtEl>
                                          <p:spTgt spid="11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3900"/>
                            </p:stCondLst>
                            <p:childTnLst>
                              <p:par>
                                <p:cTn id="1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"/>
                                        <p:tgtEl>
                                          <p:spTgt spid="11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4000"/>
                            </p:stCondLst>
                            <p:childTnLst>
                              <p:par>
                                <p:cTn id="1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100"/>
                                        <p:tgtEl>
                                          <p:spTgt spid="11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4100"/>
                            </p:stCondLst>
                            <p:childTnLst>
                              <p:par>
                                <p:cTn id="1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100"/>
                                        <p:tgtEl>
                                          <p:spTgt spid="11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4200"/>
                            </p:stCondLst>
                            <p:childTnLst>
                              <p:par>
                                <p:cTn id="1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100"/>
                                        <p:tgtEl>
                                          <p:spTgt spid="11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4300"/>
                            </p:stCondLst>
                            <p:childTnLst>
                              <p:par>
                                <p:cTn id="1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"/>
                                        <p:tgtEl>
                                          <p:spTgt spid="11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4400"/>
                            </p:stCondLst>
                            <p:childTnLst>
                              <p:par>
                                <p:cTn id="1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"/>
                                        <p:tgtEl>
                                          <p:spTgt spid="11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4500"/>
                            </p:stCondLst>
                            <p:childTnLst>
                              <p:par>
                                <p:cTn id="1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"/>
                                        <p:tgtEl>
                                          <p:spTgt spid="11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4600"/>
                            </p:stCondLst>
                            <p:childTnLst>
                              <p:par>
                                <p:cTn id="1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100"/>
                                        <p:tgtEl>
                                          <p:spTgt spid="11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4700"/>
                            </p:stCondLst>
                            <p:childTnLst>
                              <p:par>
                                <p:cTn id="1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100"/>
                                        <p:tgtEl>
                                          <p:spTgt spid="11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4800"/>
                            </p:stCondLst>
                            <p:childTnLst>
                              <p:par>
                                <p:cTn id="1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100"/>
                                        <p:tgtEl>
                                          <p:spTgt spid="11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4900"/>
                            </p:stCondLst>
                            <p:childTnLst>
                              <p:par>
                                <p:cTn id="1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100"/>
                                        <p:tgtEl>
                                          <p:spTgt spid="11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5000"/>
                            </p:stCondLst>
                            <p:childTnLst>
                              <p:par>
                                <p:cTn id="1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"/>
                                        <p:tgtEl>
                                          <p:spTgt spid="1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5100"/>
                            </p:stCondLst>
                            <p:childTnLst>
                              <p:par>
                                <p:cTn id="1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100"/>
                                        <p:tgtEl>
                                          <p:spTgt spid="13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5200"/>
                            </p:stCondLst>
                            <p:childTnLst>
                              <p:par>
                                <p:cTn id="1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100"/>
                                        <p:tgtEl>
                                          <p:spTgt spid="13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5300"/>
                            </p:stCondLst>
                            <p:childTnLst>
                              <p:par>
                                <p:cTn id="2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100"/>
                                        <p:tgtEl>
                                          <p:spTgt spid="13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5400"/>
                            </p:stCondLst>
                            <p:childTnLst>
                              <p:par>
                                <p:cTn id="20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100"/>
                                        <p:tgtEl>
                                          <p:spTgt spid="13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5500"/>
                            </p:stCondLst>
                            <p:childTnLst>
                              <p:par>
                                <p:cTn id="2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100"/>
                                        <p:tgtEl>
                                          <p:spTgt spid="13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5600"/>
                            </p:stCondLst>
                            <p:childTnLst>
                              <p:par>
                                <p:cTn id="2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100"/>
                                        <p:tgtEl>
                                          <p:spTgt spid="13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5700"/>
                            </p:stCondLst>
                            <p:childTnLst>
                              <p:par>
                                <p:cTn id="2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100"/>
                                        <p:tgtEl>
                                          <p:spTgt spid="13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>
                            <p:stCondLst>
                              <p:cond delay="5800"/>
                            </p:stCondLst>
                            <p:childTnLst>
                              <p:par>
                                <p:cTn id="2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100"/>
                                        <p:tgtEl>
                                          <p:spTgt spid="13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5900"/>
                            </p:stCondLst>
                            <p:childTnLst>
                              <p:par>
                                <p:cTn id="2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100"/>
                                        <p:tgtEl>
                                          <p:spTgt spid="13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6000"/>
                            </p:stCondLst>
                            <p:childTnLst>
                              <p:par>
                                <p:cTn id="2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100"/>
                                        <p:tgtEl>
                                          <p:spTgt spid="13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>
                            <p:stCondLst>
                              <p:cond delay="6100"/>
                            </p:stCondLst>
                            <p:childTnLst>
                              <p:par>
                                <p:cTn id="2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100"/>
                                        <p:tgtEl>
                                          <p:spTgt spid="13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>
                            <p:stCondLst>
                              <p:cond delay="6200"/>
                            </p:stCondLst>
                            <p:childTnLst>
                              <p:par>
                                <p:cTn id="2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100"/>
                                        <p:tgtEl>
                                          <p:spTgt spid="13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6300"/>
                            </p:stCondLst>
                            <p:childTnLst>
                              <p:par>
                                <p:cTn id="2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100"/>
                                        <p:tgtEl>
                                          <p:spTgt spid="13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6400"/>
                            </p:stCondLst>
                            <p:childTnLst>
                              <p:par>
                                <p:cTn id="2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100"/>
                                        <p:tgtEl>
                                          <p:spTgt spid="13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Sub>
          <a:bldChart bld="category"/>
        </p:bldSub>
      </p:bldGraphic>
      <p:bldGraphic spid="10" grpId="0">
        <p:bldSub>
          <a:bldChart bld="category"/>
        </p:bldSub>
      </p:bldGraphic>
      <p:bldGraphic spid="11" grpId="0">
        <p:bldSub>
          <a:bldChart bld="category"/>
        </p:bldSub>
      </p:bldGraphic>
      <p:bldGraphic spid="13" grpId="0">
        <p:bldSub>
          <a:bldChart bld="category"/>
        </p:bldSub>
      </p:bldGraphic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39987518-2296-4B57-AE88-0549715C4B52}"/>
              </a:ext>
            </a:extLst>
          </p:cNvPr>
          <p:cNvSpPr/>
          <p:nvPr/>
        </p:nvSpPr>
        <p:spPr>
          <a:xfrm>
            <a:off x="0" y="1997839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60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La Actuación del Estado Nacional</a:t>
            </a:r>
            <a:endParaRPr lang="es-AR" sz="60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3341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7F0500B2-08D3-4CA4-AE1B-4B8D1AF84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925" y="10277"/>
            <a:ext cx="7772400" cy="1296988"/>
          </a:xfrm>
          <a:noFill/>
          <a:ln>
            <a:noFill/>
          </a:ln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s-AR" sz="4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Arreglos de la deuda externa- Cambio de tendencia de la deuda</a:t>
            </a:r>
          </a:p>
        </p:txBody>
      </p:sp>
      <p:pic>
        <p:nvPicPr>
          <p:cNvPr id="15363" name="Picture 2">
            <a:extLst>
              <a:ext uri="{FF2B5EF4-FFF2-40B4-BE49-F238E27FC236}">
                <a16:creationId xmlns:a16="http://schemas.microsoft.com/office/drawing/2014/main" id="{E560E2C9-02A4-4955-B9A5-D76B5EC1003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0167" y="1772816"/>
            <a:ext cx="4392488" cy="37433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4" name="Picture 3">
            <a:extLst>
              <a:ext uri="{FF2B5EF4-FFF2-40B4-BE49-F238E27FC236}">
                <a16:creationId xmlns:a16="http://schemas.microsoft.com/office/drawing/2014/main" id="{CE9E2C5F-78AF-4987-A947-94662A2DA58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16016" y="1844253"/>
            <a:ext cx="4277817" cy="36004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9B0EF14E-1E9A-4832-961A-98549A28C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361"/>
            <a:ext cx="8550275" cy="1655763"/>
          </a:xfr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AR" sz="32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La búsqueda del equilibrio fiscal</a:t>
            </a:r>
            <a:br>
              <a:rPr lang="es-AR" sz="32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</a:br>
            <a:r>
              <a:rPr lang="es-AR" sz="32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 </a:t>
            </a:r>
            <a:br>
              <a:rPr lang="es-AR" sz="32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</a:br>
            <a:r>
              <a:rPr lang="es-AR" sz="32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Razón ingresos/ gastos fiscales y razón de equilibrio (sin servicio deuda)</a:t>
            </a:r>
          </a:p>
        </p:txBody>
      </p:sp>
      <p:pic>
        <p:nvPicPr>
          <p:cNvPr id="16387" name="Picture 2">
            <a:extLst>
              <a:ext uri="{FF2B5EF4-FFF2-40B4-BE49-F238E27FC236}">
                <a16:creationId xmlns:a16="http://schemas.microsoft.com/office/drawing/2014/main" id="{E31C5EE4-1E51-4141-B992-BB3F57EB418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1520" y="1897063"/>
            <a:ext cx="4176018" cy="340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8" name="Picture 3">
            <a:extLst>
              <a:ext uri="{FF2B5EF4-FFF2-40B4-BE49-F238E27FC236}">
                <a16:creationId xmlns:a16="http://schemas.microsoft.com/office/drawing/2014/main" id="{02EA56B6-BA90-4277-A22A-7B1EB50C392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87900" y="1916113"/>
            <a:ext cx="3888556" cy="33035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11FBF538-D26C-4D36-A6AE-CE694CA37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5888"/>
            <a:ext cx="8964488" cy="2017712"/>
          </a:xfr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AR" sz="32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Endeudamiento acorde a la capacidad de pago                                                         </a:t>
            </a:r>
            <a:br>
              <a:rPr lang="es-AR" sz="32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</a:br>
            <a:br>
              <a:rPr lang="es-AR" sz="32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</a:br>
            <a:r>
              <a:rPr lang="es-AR" sz="32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Deuda Pública Total Consolidada respecto al PBI, 1891-1914</a:t>
            </a:r>
          </a:p>
        </p:txBody>
      </p:sp>
      <p:pic>
        <p:nvPicPr>
          <p:cNvPr id="17411" name="Picture 2">
            <a:extLst>
              <a:ext uri="{FF2B5EF4-FFF2-40B4-BE49-F238E27FC236}">
                <a16:creationId xmlns:a16="http://schemas.microsoft.com/office/drawing/2014/main" id="{6FC7B081-5646-4880-AFCE-7888DAA6BD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5536" y="2276872"/>
            <a:ext cx="8136904" cy="390025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1334AEA3-3E30-42B2-9347-8DC07F4E6C5C}"/>
              </a:ext>
            </a:extLst>
          </p:cNvPr>
          <p:cNvSpPr/>
          <p:nvPr/>
        </p:nvSpPr>
        <p:spPr>
          <a:xfrm>
            <a:off x="0" y="1997839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6000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Fue a partir 1914 </a:t>
            </a:r>
          </a:p>
          <a:p>
            <a:pPr algn="ctr"/>
            <a:r>
              <a:rPr lang="es-ES" sz="6000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cuando enfrentó</a:t>
            </a:r>
          </a:p>
          <a:p>
            <a:pPr algn="ctr"/>
            <a:r>
              <a:rPr lang="es-ES" sz="6000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3 SHOCKS EXTERNOS</a:t>
            </a:r>
            <a:endParaRPr lang="es-AR" sz="60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9460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288860" y="1571612"/>
            <a:ext cx="8531612" cy="47338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0" y="-21127"/>
            <a:ext cx="9144000" cy="1214438"/>
          </a:xfr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AR" sz="32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Balanza de Pagos entre 1914- 1928</a:t>
            </a:r>
          </a:p>
        </p:txBody>
      </p:sp>
      <p:sp>
        <p:nvSpPr>
          <p:cNvPr id="8" name="7 Abrir llave"/>
          <p:cNvSpPr/>
          <p:nvPr/>
        </p:nvSpPr>
        <p:spPr>
          <a:xfrm rot="5400000" flipV="1">
            <a:off x="3669571" y="990654"/>
            <a:ext cx="428628" cy="2233486"/>
          </a:xfrm>
          <a:prstGeom prst="leftBrace">
            <a:avLst/>
          </a:prstGeom>
          <a:ln w="38100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8 Abrir llave"/>
          <p:cNvSpPr/>
          <p:nvPr/>
        </p:nvSpPr>
        <p:spPr>
          <a:xfrm rot="5400000" flipV="1">
            <a:off x="5679289" y="1215557"/>
            <a:ext cx="428628" cy="1785950"/>
          </a:xfrm>
          <a:prstGeom prst="leftBrace">
            <a:avLst/>
          </a:prstGeom>
          <a:ln w="38100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9 Abrir llave"/>
          <p:cNvSpPr/>
          <p:nvPr/>
        </p:nvSpPr>
        <p:spPr>
          <a:xfrm rot="5400000" flipV="1">
            <a:off x="7337183" y="1369202"/>
            <a:ext cx="428628" cy="1529838"/>
          </a:xfrm>
          <a:prstGeom prst="leftBrace">
            <a:avLst/>
          </a:prstGeom>
          <a:ln w="38100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10 Elipse"/>
          <p:cNvSpPr/>
          <p:nvPr/>
        </p:nvSpPr>
        <p:spPr>
          <a:xfrm>
            <a:off x="3633852" y="1366293"/>
            <a:ext cx="500066" cy="500066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25400" cap="flat" cmpd="sng">
            <a:noFill/>
            <a:prstDash val="solid"/>
          </a:ln>
        </p:spPr>
        <p:txBody>
          <a:bodyPr wrap="square" lIns="91440" tIns="45720" rIns="91440" bIns="45720" anchor="ctr"/>
          <a:lstStyle/>
          <a:p>
            <a:pPr algn="ctr">
              <a:lnSpc>
                <a:spcPct val="102000"/>
              </a:lnSpc>
            </a:pPr>
            <a:r>
              <a:rPr lang="es-ES" sz="1600" b="1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1</a:t>
            </a:r>
            <a:endParaRPr lang="es-ES" sz="1600" b="1" dirty="0"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12" name="11 Elipse"/>
          <p:cNvSpPr/>
          <p:nvPr/>
        </p:nvSpPr>
        <p:spPr>
          <a:xfrm>
            <a:off x="5464975" y="1366293"/>
            <a:ext cx="500066" cy="500066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25400" cap="flat" cmpd="sng">
            <a:noFill/>
            <a:prstDash val="solid"/>
          </a:ln>
        </p:spPr>
        <p:txBody>
          <a:bodyPr wrap="square" lIns="91440" tIns="45720" rIns="91440" bIns="45720" anchor="ctr"/>
          <a:lstStyle/>
          <a:p>
            <a:pPr algn="ctr">
              <a:lnSpc>
                <a:spcPct val="102000"/>
              </a:lnSpc>
            </a:pPr>
            <a:r>
              <a:rPr lang="es-ES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2</a:t>
            </a:r>
          </a:p>
        </p:txBody>
      </p:sp>
      <p:sp>
        <p:nvSpPr>
          <p:cNvPr id="13" name="12 Elipse"/>
          <p:cNvSpPr/>
          <p:nvPr/>
        </p:nvSpPr>
        <p:spPr>
          <a:xfrm>
            <a:off x="7296098" y="1317082"/>
            <a:ext cx="500066" cy="500066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25400" cap="flat" cmpd="sng">
            <a:noFill/>
            <a:prstDash val="solid"/>
          </a:ln>
        </p:spPr>
        <p:txBody>
          <a:bodyPr wrap="square" lIns="91440" tIns="45720" rIns="91440" bIns="45720" anchor="ctr"/>
          <a:lstStyle/>
          <a:p>
            <a:pPr algn="ctr">
              <a:lnSpc>
                <a:spcPct val="102000"/>
              </a:lnSpc>
            </a:pPr>
            <a:r>
              <a:rPr lang="es-ES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3</a:t>
            </a:r>
          </a:p>
        </p:txBody>
      </p:sp>
      <p:sp>
        <p:nvSpPr>
          <p:cNvPr id="14" name="Rect 3"/>
          <p:cNvSpPr>
            <a:spLocks noGrp="1" noChangeArrowheads="1"/>
          </p:cNvSpPr>
          <p:nvPr/>
        </p:nvSpPr>
        <p:spPr>
          <a:xfrm>
            <a:off x="1571604" y="1571612"/>
            <a:ext cx="1143000" cy="500380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25400" cap="flat" cmpd="sng">
            <a:noFill/>
            <a:prstDash val="solid"/>
          </a:ln>
        </p:spPr>
        <p:txBody>
          <a:bodyPr wrap="square" lIns="91440" tIns="45720" rIns="91440" bIns="45720" anchor="ctr"/>
          <a:lstStyle/>
          <a:p>
            <a:pPr marL="0" indent="0" algn="ctr" defTabSz="91440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Crisis</a:t>
            </a:r>
            <a:endParaRPr lang="ko-KR" altLang="en-US" sz="1600" b="1" dirty="0"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</a:endParaRPr>
          </a:p>
        </p:txBody>
      </p:sp>
      <p:cxnSp>
        <p:nvCxnSpPr>
          <p:cNvPr id="16" name="15 Conector recto de flecha"/>
          <p:cNvCxnSpPr>
            <a:cxnSpLocks/>
            <a:endCxn id="14" idx="4"/>
          </p:cNvCxnSpPr>
          <p:nvPr/>
        </p:nvCxnSpPr>
        <p:spPr>
          <a:xfrm flipH="1" flipV="1">
            <a:off x="2143104" y="2071992"/>
            <a:ext cx="214319" cy="2077088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16 Rectángulo"/>
          <p:cNvSpPr/>
          <p:nvPr/>
        </p:nvSpPr>
        <p:spPr>
          <a:xfrm>
            <a:off x="0" y="6429396"/>
            <a:ext cx="9144000" cy="42860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1: BP&gt;0;                 2: BP&lt;0;                   3: BP&gt;0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áfico 11" descr="Dinero">
            <a:extLst>
              <a:ext uri="{FF2B5EF4-FFF2-40B4-BE49-F238E27FC236}">
                <a16:creationId xmlns:a16="http://schemas.microsoft.com/office/drawing/2014/main" id="{678A15C3-30D6-4850-84AE-616150ABCF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5356" y="3074044"/>
            <a:ext cx="914400" cy="914400"/>
          </a:xfrm>
          <a:prstGeom prst="rect">
            <a:avLst/>
          </a:prstGeom>
        </p:spPr>
      </p:pic>
      <p:pic>
        <p:nvPicPr>
          <p:cNvPr id="13" name="Gráfico 12" descr="Monedas">
            <a:extLst>
              <a:ext uri="{FF2B5EF4-FFF2-40B4-BE49-F238E27FC236}">
                <a16:creationId xmlns:a16="http://schemas.microsoft.com/office/drawing/2014/main" id="{0D487ACC-2B84-48CF-8DE7-EFD6A16139F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85220" y="3142375"/>
            <a:ext cx="914400" cy="914400"/>
          </a:xfrm>
          <a:prstGeom prst="rect">
            <a:avLst/>
          </a:prstGeom>
        </p:spPr>
      </p:pic>
      <p:pic>
        <p:nvPicPr>
          <p:cNvPr id="15" name="Gráfico 14" descr="Repetir">
            <a:extLst>
              <a:ext uri="{FF2B5EF4-FFF2-40B4-BE49-F238E27FC236}">
                <a16:creationId xmlns:a16="http://schemas.microsoft.com/office/drawing/2014/main" id="{4618679D-B151-4DB8-A40B-037DA2C5535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56012" y="3266640"/>
            <a:ext cx="529208" cy="529208"/>
          </a:xfrm>
          <a:prstGeom prst="rect">
            <a:avLst/>
          </a:prstGeom>
        </p:spPr>
      </p:pic>
      <p:pic>
        <p:nvPicPr>
          <p:cNvPr id="17" name="Gráfico 16" descr="Monedas">
            <a:extLst>
              <a:ext uri="{FF2B5EF4-FFF2-40B4-BE49-F238E27FC236}">
                <a16:creationId xmlns:a16="http://schemas.microsoft.com/office/drawing/2014/main" id="{FC5EBF68-54EF-424E-9794-BBD572AD631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97620" y="3101149"/>
            <a:ext cx="914400" cy="914400"/>
          </a:xfrm>
          <a:prstGeom prst="rect">
            <a:avLst/>
          </a:prstGeom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91C18C1A-6218-4544-877B-6C2229A0CF82}"/>
              </a:ext>
            </a:extLst>
          </p:cNvPr>
          <p:cNvSpPr/>
          <p:nvPr/>
        </p:nvSpPr>
        <p:spPr>
          <a:xfrm>
            <a:off x="5805495" y="4057908"/>
            <a:ext cx="20986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MOVILIZACIÓN DEL </a:t>
            </a:r>
          </a:p>
          <a:p>
            <a:pPr algn="ctr"/>
            <a:r>
              <a:rPr lang="es-ES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FONDO DE CONVERSIÓN</a:t>
            </a:r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2F7264F5-BB5D-43E9-AF86-12ACDCBAAF5A}"/>
              </a:ext>
            </a:extLst>
          </p:cNvPr>
          <p:cNvSpPr/>
          <p:nvPr/>
        </p:nvSpPr>
        <p:spPr>
          <a:xfrm rot="20132034">
            <a:off x="7341157" y="3099216"/>
            <a:ext cx="679496" cy="288032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4A566CF9-C9B6-4350-9E88-F7A2682ACBF8}"/>
              </a:ext>
            </a:extLst>
          </p:cNvPr>
          <p:cNvSpPr/>
          <p:nvPr/>
        </p:nvSpPr>
        <p:spPr>
          <a:xfrm rot="1467966" flipV="1">
            <a:off x="7341158" y="3768657"/>
            <a:ext cx="679496" cy="288032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C5FD78F7-2049-4D11-8662-E1425C087371}"/>
              </a:ext>
            </a:extLst>
          </p:cNvPr>
          <p:cNvSpPr/>
          <p:nvPr/>
        </p:nvSpPr>
        <p:spPr>
          <a:xfrm rot="1467966" flipH="1">
            <a:off x="5624950" y="3099216"/>
            <a:ext cx="679496" cy="288032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98B1CE65-F48B-47D7-8432-E991A16C5786}"/>
              </a:ext>
            </a:extLst>
          </p:cNvPr>
          <p:cNvSpPr/>
          <p:nvPr/>
        </p:nvSpPr>
        <p:spPr>
          <a:xfrm rot="20132034" flipH="1" flipV="1">
            <a:off x="5624951" y="3768657"/>
            <a:ext cx="679496" cy="288032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25" name="Gráfico 24" descr="Cerrar">
            <a:extLst>
              <a:ext uri="{FF2B5EF4-FFF2-40B4-BE49-F238E27FC236}">
                <a16:creationId xmlns:a16="http://schemas.microsoft.com/office/drawing/2014/main" id="{CC11DACF-3C79-4776-9980-79BE43338B6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61442" y="3058911"/>
            <a:ext cx="914400" cy="914400"/>
          </a:xfrm>
          <a:prstGeom prst="rect">
            <a:avLst/>
          </a:prstGeom>
        </p:spPr>
      </p:pic>
      <p:sp>
        <p:nvSpPr>
          <p:cNvPr id="26" name="Rectángulo 25">
            <a:extLst>
              <a:ext uri="{FF2B5EF4-FFF2-40B4-BE49-F238E27FC236}">
                <a16:creationId xmlns:a16="http://schemas.microsoft.com/office/drawing/2014/main" id="{E8F9E951-C889-4CA5-9CDC-462BDED6097E}"/>
              </a:ext>
            </a:extLst>
          </p:cNvPr>
          <p:cNvSpPr/>
          <p:nvPr/>
        </p:nvSpPr>
        <p:spPr>
          <a:xfrm>
            <a:off x="1075642" y="4057908"/>
            <a:ext cx="269598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SUSPENSIÓN DE LA </a:t>
            </a:r>
          </a:p>
          <a:p>
            <a:pPr algn="ctr"/>
            <a:r>
              <a:rPr lang="es-ES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CONVERTIBILIDAD</a:t>
            </a:r>
          </a:p>
        </p:txBody>
      </p:sp>
      <p:pic>
        <p:nvPicPr>
          <p:cNvPr id="28" name="Gráfico 27" descr="Centro educativo">
            <a:extLst>
              <a:ext uri="{FF2B5EF4-FFF2-40B4-BE49-F238E27FC236}">
                <a16:creationId xmlns:a16="http://schemas.microsoft.com/office/drawing/2014/main" id="{96048CDA-AD44-48D7-82CA-F1286AE2AD0E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495743" y="4726124"/>
            <a:ext cx="914400" cy="914400"/>
          </a:xfrm>
          <a:prstGeom prst="rect">
            <a:avLst/>
          </a:prstGeom>
        </p:spPr>
      </p:pic>
      <p:pic>
        <p:nvPicPr>
          <p:cNvPr id="31" name="Gráfico 30" descr="Tribunal">
            <a:extLst>
              <a:ext uri="{FF2B5EF4-FFF2-40B4-BE49-F238E27FC236}">
                <a16:creationId xmlns:a16="http://schemas.microsoft.com/office/drawing/2014/main" id="{4416DA77-A2C0-4524-9D4F-3BF192BD4E1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927617" y="4854194"/>
            <a:ext cx="737772" cy="737772"/>
          </a:xfrm>
          <a:prstGeom prst="rect">
            <a:avLst/>
          </a:prstGeom>
        </p:spPr>
      </p:pic>
      <p:sp>
        <p:nvSpPr>
          <p:cNvPr id="32" name="Flecha: a la derecha 31">
            <a:extLst>
              <a:ext uri="{FF2B5EF4-FFF2-40B4-BE49-F238E27FC236}">
                <a16:creationId xmlns:a16="http://schemas.microsoft.com/office/drawing/2014/main" id="{062A6FF6-1C32-43DF-B4BA-21618B19D32D}"/>
              </a:ext>
            </a:extLst>
          </p:cNvPr>
          <p:cNvSpPr/>
          <p:nvPr/>
        </p:nvSpPr>
        <p:spPr>
          <a:xfrm>
            <a:off x="4349889" y="5183324"/>
            <a:ext cx="679496" cy="288032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33" name="Gráfico 32" descr="Dinero">
            <a:extLst>
              <a:ext uri="{FF2B5EF4-FFF2-40B4-BE49-F238E27FC236}">
                <a16:creationId xmlns:a16="http://schemas.microsoft.com/office/drawing/2014/main" id="{6F95D3F5-E777-4C4E-9A1F-0A39B7959E5F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5236" y="4770422"/>
            <a:ext cx="496956" cy="496956"/>
          </a:xfrm>
          <a:prstGeom prst="rect">
            <a:avLst/>
          </a:prstGeom>
        </p:spPr>
      </p:pic>
      <p:sp>
        <p:nvSpPr>
          <p:cNvPr id="34" name="Rectángulo 33">
            <a:extLst>
              <a:ext uri="{FF2B5EF4-FFF2-40B4-BE49-F238E27FC236}">
                <a16:creationId xmlns:a16="http://schemas.microsoft.com/office/drawing/2014/main" id="{2BBF806B-87EE-49C7-AAC6-56F4F3DD490D}"/>
              </a:ext>
            </a:extLst>
          </p:cNvPr>
          <p:cNvSpPr/>
          <p:nvPr/>
        </p:nvSpPr>
        <p:spPr>
          <a:xfrm>
            <a:off x="3397709" y="5693368"/>
            <a:ext cx="23839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AUTORIZACIÓN A LA CAJA </a:t>
            </a:r>
          </a:p>
          <a:p>
            <a:pPr algn="ctr"/>
            <a:r>
              <a:rPr lang="es-ES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A REALIZAR REDESCUENTOS</a:t>
            </a:r>
          </a:p>
        </p:txBody>
      </p:sp>
      <p:sp>
        <p:nvSpPr>
          <p:cNvPr id="21" name="Título 4">
            <a:extLst>
              <a:ext uri="{FF2B5EF4-FFF2-40B4-BE49-F238E27FC236}">
                <a16:creationId xmlns:a16="http://schemas.microsoft.com/office/drawing/2014/main" id="{7E9B48F0-5F49-4334-9AF7-74462BC87EFC}"/>
              </a:ext>
            </a:extLst>
          </p:cNvPr>
          <p:cNvSpPr txBox="1">
            <a:spLocks/>
          </p:cNvSpPr>
          <p:nvPr/>
        </p:nvSpPr>
        <p:spPr>
          <a:xfrm>
            <a:off x="-15958" y="-4997"/>
            <a:ext cx="9159957" cy="75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sz="5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1er shock externo: </a:t>
            </a:r>
          </a:p>
        </p:txBody>
      </p:sp>
      <p:sp>
        <p:nvSpPr>
          <p:cNvPr id="24" name="Título 4">
            <a:extLst>
              <a:ext uri="{FF2B5EF4-FFF2-40B4-BE49-F238E27FC236}">
                <a16:creationId xmlns:a16="http://schemas.microsoft.com/office/drawing/2014/main" id="{24B26708-96AD-49DB-B03C-B4573F071FD7}"/>
              </a:ext>
            </a:extLst>
          </p:cNvPr>
          <p:cNvSpPr txBox="1">
            <a:spLocks/>
          </p:cNvSpPr>
          <p:nvPr/>
        </p:nvSpPr>
        <p:spPr>
          <a:xfrm>
            <a:off x="-45112" y="786124"/>
            <a:ext cx="9159957" cy="7564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sz="60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La Crisis de 1914</a:t>
            </a: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5CEA42B6-14E6-4B27-87E5-A88109508381}"/>
              </a:ext>
            </a:extLst>
          </p:cNvPr>
          <p:cNvSpPr/>
          <p:nvPr/>
        </p:nvSpPr>
        <p:spPr>
          <a:xfrm>
            <a:off x="822960" y="1938722"/>
            <a:ext cx="7498080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Abandono de las reglas básicas del modelo</a:t>
            </a:r>
          </a:p>
        </p:txBody>
      </p:sp>
    </p:spTree>
    <p:extLst>
      <p:ext uri="{BB962C8B-B14F-4D97-AF65-F5344CB8AC3E}">
        <p14:creationId xmlns:p14="http://schemas.microsoft.com/office/powerpoint/2010/main" val="2708536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45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25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25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65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750"/>
                            </p:stCondLst>
                            <p:childTnLst>
                              <p:par>
                                <p:cTn id="53" presetID="53" presetClass="entr" presetSubtype="16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2" presetClass="entr" presetSubtype="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1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3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9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0"/>
                            </p:stCondLst>
                            <p:childTnLst>
                              <p:par>
                                <p:cTn id="76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1250"/>
                            </p:stCondLst>
                            <p:childTnLst>
                              <p:par>
                                <p:cTn id="82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2500"/>
                            </p:stCondLst>
                            <p:childTnLst>
                              <p:par>
                                <p:cTn id="88" presetID="2" presetClass="entr" presetSubtype="4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3750"/>
                            </p:stCondLst>
                            <p:childTnLst>
                              <p:par>
                                <p:cTn id="93" presetID="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4500"/>
                            </p:stCondLst>
                            <p:childTnLst>
                              <p:par>
                                <p:cTn id="98" presetID="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5250"/>
                            </p:stCondLst>
                            <p:childTnLst>
                              <p:par>
                                <p:cTn id="103" presetID="26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1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2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4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6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7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8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6750"/>
                            </p:stCondLst>
                            <p:childTnLst>
                              <p:par>
                                <p:cTn id="120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  <p:bldP spid="19" grpId="0" animBg="1"/>
      <p:bldP spid="20" grpId="0" animBg="1"/>
      <p:bldP spid="22" grpId="0" animBg="1"/>
      <p:bldP spid="23" grpId="0" animBg="1"/>
      <p:bldP spid="26" grpId="0" build="p"/>
      <p:bldP spid="32" grpId="0" animBg="1"/>
      <p:bldP spid="34" grpId="0"/>
      <p:bldP spid="21" grpId="0"/>
      <p:bldP spid="24" grpId="0"/>
      <p:bldP spid="2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1F706051-48BD-47EB-A7DA-43CE169BD5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6819295"/>
              </p:ext>
            </p:extLst>
          </p:nvPr>
        </p:nvGraphicFramePr>
        <p:xfrm>
          <a:off x="4716016" y="2311789"/>
          <a:ext cx="4248472" cy="34889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Gráfico 13">
            <a:extLst>
              <a:ext uri="{FF2B5EF4-FFF2-40B4-BE49-F238E27FC236}">
                <a16:creationId xmlns:a16="http://schemas.microsoft.com/office/drawing/2014/main" id="{C6B99A72-F91D-46F1-B69A-57A700EDA2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1393835"/>
              </p:ext>
            </p:extLst>
          </p:nvPr>
        </p:nvGraphicFramePr>
        <p:xfrm>
          <a:off x="45722" y="2316320"/>
          <a:ext cx="4382263" cy="34889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ítulo 4">
            <a:extLst>
              <a:ext uri="{FF2B5EF4-FFF2-40B4-BE49-F238E27FC236}">
                <a16:creationId xmlns:a16="http://schemas.microsoft.com/office/drawing/2014/main" id="{960475DD-0732-43E0-9B99-9E2A377AE719}"/>
              </a:ext>
            </a:extLst>
          </p:cNvPr>
          <p:cNvSpPr txBox="1">
            <a:spLocks/>
          </p:cNvSpPr>
          <p:nvPr/>
        </p:nvSpPr>
        <p:spPr>
          <a:xfrm>
            <a:off x="-15957" y="-4997"/>
            <a:ext cx="7886700" cy="75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4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Frente Externo 1914-1918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6D1E8980-6FCD-4A59-A64B-B5738D6D1FD7}"/>
              </a:ext>
            </a:extLst>
          </p:cNvPr>
          <p:cNvSpPr/>
          <p:nvPr/>
        </p:nvSpPr>
        <p:spPr>
          <a:xfrm>
            <a:off x="683568" y="1292412"/>
            <a:ext cx="3597937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BALANZA DE PAGOS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DAE79D6F-4C97-474C-99D6-1673996156F0}"/>
              </a:ext>
            </a:extLst>
          </p:cNvPr>
          <p:cNvSpPr/>
          <p:nvPr/>
        </p:nvSpPr>
        <p:spPr>
          <a:xfrm>
            <a:off x="4981291" y="1287882"/>
            <a:ext cx="3597937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TIPO DE CAMBIO</a:t>
            </a:r>
          </a:p>
        </p:txBody>
      </p:sp>
    </p:spTree>
    <p:extLst>
      <p:ext uri="{BB962C8B-B14F-4D97-AF65-F5344CB8AC3E}">
        <p14:creationId xmlns:p14="http://schemas.microsoft.com/office/powerpoint/2010/main" val="1957307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"/>
                                        <p:tgtEl>
                                          <p:spTgt spid="1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"/>
                                        <p:tgtEl>
                                          <p:spTgt spid="14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4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"/>
                                        <p:tgtEl>
                                          <p:spTgt spid="14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"/>
                                        <p:tgtEl>
                                          <p:spTgt spid="14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6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"/>
                                        <p:tgtEl>
                                          <p:spTgt spid="14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75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"/>
                                        <p:tgtEl>
                                          <p:spTgt spid="14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85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"/>
                                        <p:tgtEl>
                                          <p:spTgt spid="14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950"/>
                            </p:stCondLst>
                            <p:childTnLst>
                              <p:par>
                                <p:cTn id="43" presetID="2" presetClass="entr" presetSubtype="1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2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"/>
                                        <p:tgtEl>
                                          <p:spTgt spid="1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22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"/>
                                        <p:tgtEl>
                                          <p:spTgt spid="13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24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"/>
                                        <p:tgtEl>
                                          <p:spTgt spid="13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26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"/>
                                        <p:tgtEl>
                                          <p:spTgt spid="13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28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"/>
                                        <p:tgtEl>
                                          <p:spTgt spid="13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3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"/>
                                        <p:tgtEl>
                                          <p:spTgt spid="13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32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"/>
                                        <p:tgtEl>
                                          <p:spTgt spid="13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34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"/>
                                        <p:tgtEl>
                                          <p:spTgt spid="13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36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"/>
                                        <p:tgtEl>
                                          <p:spTgt spid="13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338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20"/>
                                        <p:tgtEl>
                                          <p:spTgt spid="13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34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0"/>
                                        <p:tgtEl>
                                          <p:spTgt spid="13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342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0"/>
                                        <p:tgtEl>
                                          <p:spTgt spid="13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44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0"/>
                                        <p:tgtEl>
                                          <p:spTgt spid="13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346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0"/>
                                        <p:tgtEl>
                                          <p:spTgt spid="13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48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0"/>
                                        <p:tgtEl>
                                          <p:spTgt spid="13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350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20"/>
                                        <p:tgtEl>
                                          <p:spTgt spid="13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3520"/>
                            </p:stCondLst>
                            <p:childTnLst>
                              <p:par>
                                <p:cTn id="1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20"/>
                                        <p:tgtEl>
                                          <p:spTgt spid="13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3540"/>
                            </p:stCondLst>
                            <p:childTnLst>
                              <p:par>
                                <p:cTn id="1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0"/>
                                        <p:tgtEl>
                                          <p:spTgt spid="13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356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20"/>
                                        <p:tgtEl>
                                          <p:spTgt spid="13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3580"/>
                            </p:stCondLst>
                            <p:childTnLst>
                              <p:par>
                                <p:cTn id="1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20"/>
                                        <p:tgtEl>
                                          <p:spTgt spid="13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3600"/>
                            </p:stCondLst>
                            <p:childTnLst>
                              <p:par>
                                <p:cTn id="1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20"/>
                                        <p:tgtEl>
                                          <p:spTgt spid="13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3620"/>
                            </p:stCondLst>
                            <p:childTnLst>
                              <p:par>
                                <p:cTn id="1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20"/>
                                        <p:tgtEl>
                                          <p:spTgt spid="13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3640"/>
                            </p:stCondLst>
                            <p:childTnLst>
                              <p:par>
                                <p:cTn id="1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20"/>
                                        <p:tgtEl>
                                          <p:spTgt spid="13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3660"/>
                            </p:stCondLst>
                            <p:childTnLst>
                              <p:par>
                                <p:cTn id="1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20"/>
                                        <p:tgtEl>
                                          <p:spTgt spid="13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3680"/>
                            </p:stCondLst>
                            <p:childTnLst>
                              <p:par>
                                <p:cTn id="1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20"/>
                                        <p:tgtEl>
                                          <p:spTgt spid="13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370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2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20"/>
                                        <p:tgtEl>
                                          <p:spTgt spid="13">
                                            <p:graphicEl>
                                              <a:chart seriesIdx="-4" categoryIdx="2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3720"/>
                            </p:stCondLst>
                            <p:childTnLst>
                              <p:par>
                                <p:cTn id="1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2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20"/>
                                        <p:tgtEl>
                                          <p:spTgt spid="13">
                                            <p:graphicEl>
                                              <a:chart seriesIdx="-4" categoryIdx="2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3740"/>
                            </p:stCondLst>
                            <p:childTnLst>
                              <p:par>
                                <p:cTn id="1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2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20"/>
                                        <p:tgtEl>
                                          <p:spTgt spid="13">
                                            <p:graphicEl>
                                              <a:chart seriesIdx="-4" categoryIdx="2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3760"/>
                            </p:stCondLst>
                            <p:childTnLst>
                              <p:par>
                                <p:cTn id="1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2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20"/>
                                        <p:tgtEl>
                                          <p:spTgt spid="13">
                                            <p:graphicEl>
                                              <a:chart seriesIdx="-4" categoryIdx="2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3780"/>
                            </p:stCondLst>
                            <p:childTnLst>
                              <p:par>
                                <p:cTn id="1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2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20"/>
                                        <p:tgtEl>
                                          <p:spTgt spid="13">
                                            <p:graphicEl>
                                              <a:chart seriesIdx="-4" categoryIdx="2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3800"/>
                            </p:stCondLst>
                            <p:childTnLst>
                              <p:par>
                                <p:cTn id="1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2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20"/>
                                        <p:tgtEl>
                                          <p:spTgt spid="13">
                                            <p:graphicEl>
                                              <a:chart seriesIdx="-4" categoryIdx="2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3820"/>
                            </p:stCondLst>
                            <p:childTnLst>
                              <p:par>
                                <p:cTn id="1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3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20"/>
                                        <p:tgtEl>
                                          <p:spTgt spid="13">
                                            <p:graphicEl>
                                              <a:chart seriesIdx="-4" categoryIdx="3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3840"/>
                            </p:stCondLst>
                            <p:childTnLst>
                              <p:par>
                                <p:cTn id="1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3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20"/>
                                        <p:tgtEl>
                                          <p:spTgt spid="13">
                                            <p:graphicEl>
                                              <a:chart seriesIdx="-4" categoryIdx="3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3860"/>
                            </p:stCondLst>
                            <p:childTnLst>
                              <p:par>
                                <p:cTn id="1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3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20"/>
                                        <p:tgtEl>
                                          <p:spTgt spid="13">
                                            <p:graphicEl>
                                              <a:chart seriesIdx="-4" categoryIdx="3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3880"/>
                            </p:stCondLst>
                            <p:childTnLst>
                              <p:par>
                                <p:cTn id="1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3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20"/>
                                        <p:tgtEl>
                                          <p:spTgt spid="13">
                                            <p:graphicEl>
                                              <a:chart seriesIdx="-4" categoryIdx="3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3900"/>
                            </p:stCondLst>
                            <p:childTnLst>
                              <p:par>
                                <p:cTn id="1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3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20"/>
                                        <p:tgtEl>
                                          <p:spTgt spid="13">
                                            <p:graphicEl>
                                              <a:chart seriesIdx="-4" categoryIdx="3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3920"/>
                            </p:stCondLst>
                            <p:childTnLst>
                              <p:par>
                                <p:cTn id="1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3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20"/>
                                        <p:tgtEl>
                                          <p:spTgt spid="13">
                                            <p:graphicEl>
                                              <a:chart seriesIdx="-4" categoryIdx="3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3940"/>
                            </p:stCondLst>
                            <p:childTnLst>
                              <p:par>
                                <p:cTn id="1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3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20"/>
                                        <p:tgtEl>
                                          <p:spTgt spid="13">
                                            <p:graphicEl>
                                              <a:chart seriesIdx="-4" categoryIdx="3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3960"/>
                            </p:stCondLst>
                            <p:childTnLst>
                              <p:par>
                                <p:cTn id="2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3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20"/>
                                        <p:tgtEl>
                                          <p:spTgt spid="13">
                                            <p:graphicEl>
                                              <a:chart seriesIdx="-4" categoryIdx="3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3980"/>
                            </p:stCondLst>
                            <p:childTnLst>
                              <p:par>
                                <p:cTn id="2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3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20"/>
                                        <p:tgtEl>
                                          <p:spTgt spid="13">
                                            <p:graphicEl>
                                              <a:chart seriesIdx="-4" categoryIdx="3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4000"/>
                            </p:stCondLst>
                            <p:childTnLst>
                              <p:par>
                                <p:cTn id="2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3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20"/>
                                        <p:tgtEl>
                                          <p:spTgt spid="13">
                                            <p:graphicEl>
                                              <a:chart seriesIdx="-4" categoryIdx="3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4020"/>
                            </p:stCondLst>
                            <p:childTnLst>
                              <p:par>
                                <p:cTn id="2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4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20"/>
                                        <p:tgtEl>
                                          <p:spTgt spid="13">
                                            <p:graphicEl>
                                              <a:chart seriesIdx="-4" categoryIdx="4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4040"/>
                            </p:stCondLst>
                            <p:childTnLst>
                              <p:par>
                                <p:cTn id="2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4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20"/>
                                        <p:tgtEl>
                                          <p:spTgt spid="13">
                                            <p:graphicEl>
                                              <a:chart seriesIdx="-4" categoryIdx="4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4060"/>
                            </p:stCondLst>
                            <p:childTnLst>
                              <p:par>
                                <p:cTn id="2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4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20"/>
                                        <p:tgtEl>
                                          <p:spTgt spid="13">
                                            <p:graphicEl>
                                              <a:chart seriesIdx="-4" categoryIdx="4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4080"/>
                            </p:stCondLst>
                            <p:childTnLst>
                              <p:par>
                                <p:cTn id="2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4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20"/>
                                        <p:tgtEl>
                                          <p:spTgt spid="13">
                                            <p:graphicEl>
                                              <a:chart seriesIdx="-4" categoryIdx="4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4100"/>
                            </p:stCondLst>
                            <p:childTnLst>
                              <p:par>
                                <p:cTn id="2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4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20"/>
                                        <p:tgtEl>
                                          <p:spTgt spid="13">
                                            <p:graphicEl>
                                              <a:chart seriesIdx="-4" categoryIdx="4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4120"/>
                            </p:stCondLst>
                            <p:childTnLst>
                              <p:par>
                                <p:cTn id="2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4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20"/>
                                        <p:tgtEl>
                                          <p:spTgt spid="13">
                                            <p:graphicEl>
                                              <a:chart seriesIdx="-4" categoryIdx="4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4140"/>
                            </p:stCondLst>
                            <p:childTnLst>
                              <p:par>
                                <p:cTn id="2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4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20"/>
                                        <p:tgtEl>
                                          <p:spTgt spid="13">
                                            <p:graphicEl>
                                              <a:chart seriesIdx="-4" categoryIdx="4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4160"/>
                            </p:stCondLst>
                            <p:childTnLst>
                              <p:par>
                                <p:cTn id="2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4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20"/>
                                        <p:tgtEl>
                                          <p:spTgt spid="13">
                                            <p:graphicEl>
                                              <a:chart seriesIdx="-4" categoryIdx="4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4180"/>
                            </p:stCondLst>
                            <p:childTnLst>
                              <p:par>
                                <p:cTn id="2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4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20"/>
                                        <p:tgtEl>
                                          <p:spTgt spid="13">
                                            <p:graphicEl>
                                              <a:chart seriesIdx="-4" categoryIdx="4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4200"/>
                            </p:stCondLst>
                            <p:childTnLst>
                              <p:par>
                                <p:cTn id="2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4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20"/>
                                        <p:tgtEl>
                                          <p:spTgt spid="13">
                                            <p:graphicEl>
                                              <a:chart seriesIdx="-4" categoryIdx="4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4220"/>
                            </p:stCondLst>
                            <p:childTnLst>
                              <p:par>
                                <p:cTn id="2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5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20"/>
                                        <p:tgtEl>
                                          <p:spTgt spid="13">
                                            <p:graphicEl>
                                              <a:chart seriesIdx="-4" categoryIdx="5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4240"/>
                            </p:stCondLst>
                            <p:childTnLst>
                              <p:par>
                                <p:cTn id="2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5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20"/>
                                        <p:tgtEl>
                                          <p:spTgt spid="13">
                                            <p:graphicEl>
                                              <a:chart seriesIdx="-4" categoryIdx="5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4260"/>
                            </p:stCondLst>
                            <p:childTnLst>
                              <p:par>
                                <p:cTn id="2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5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20"/>
                                        <p:tgtEl>
                                          <p:spTgt spid="13">
                                            <p:graphicEl>
                                              <a:chart seriesIdx="-4" categoryIdx="5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>
                            <p:stCondLst>
                              <p:cond delay="4280"/>
                            </p:stCondLst>
                            <p:childTnLst>
                              <p:par>
                                <p:cTn id="2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5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20"/>
                                        <p:tgtEl>
                                          <p:spTgt spid="13">
                                            <p:graphicEl>
                                              <a:chart seriesIdx="-4" categoryIdx="5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>
                            <p:stCondLst>
                              <p:cond delay="4300"/>
                            </p:stCondLst>
                            <p:childTnLst>
                              <p:par>
                                <p:cTn id="2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5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20"/>
                                        <p:tgtEl>
                                          <p:spTgt spid="13">
                                            <p:graphicEl>
                                              <a:chart seriesIdx="-4" categoryIdx="5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4320"/>
                            </p:stCondLst>
                            <p:childTnLst>
                              <p:par>
                                <p:cTn id="2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5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20"/>
                                        <p:tgtEl>
                                          <p:spTgt spid="13">
                                            <p:graphicEl>
                                              <a:chart seriesIdx="-4" categoryIdx="5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4340"/>
                            </p:stCondLst>
                            <p:childTnLst>
                              <p:par>
                                <p:cTn id="2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5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20"/>
                                        <p:tgtEl>
                                          <p:spTgt spid="13">
                                            <p:graphicEl>
                                              <a:chart seriesIdx="-4" categoryIdx="5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4360"/>
                            </p:stCondLst>
                            <p:childTnLst>
                              <p:par>
                                <p:cTn id="2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5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20"/>
                                        <p:tgtEl>
                                          <p:spTgt spid="13">
                                            <p:graphicEl>
                                              <a:chart seriesIdx="-4" categoryIdx="5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4380"/>
                            </p:stCondLst>
                            <p:childTnLst>
                              <p:par>
                                <p:cTn id="2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5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20"/>
                                        <p:tgtEl>
                                          <p:spTgt spid="13">
                                            <p:graphicEl>
                                              <a:chart seriesIdx="-4" categoryIdx="5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" fill="hold">
                            <p:stCondLst>
                              <p:cond delay="4400"/>
                            </p:stCondLst>
                            <p:childTnLst>
                              <p:par>
                                <p:cTn id="2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5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20"/>
                                        <p:tgtEl>
                                          <p:spTgt spid="13">
                                            <p:graphicEl>
                                              <a:chart seriesIdx="-4" categoryIdx="5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3" grpId="0">
        <p:bldSub>
          <a:bldChart bld="category"/>
        </p:bldSub>
      </p:bldGraphic>
      <p:bldGraphic spid="14" grpId="0">
        <p:bldSub>
          <a:bldChart bld="category"/>
        </p:bldSub>
      </p:bldGraphic>
      <p:bldP spid="7" grpId="0"/>
      <p:bldP spid="10" grpId="0" animBg="1"/>
      <p:bldP spid="1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áfico 20" descr="Monedas">
            <a:extLst>
              <a:ext uri="{FF2B5EF4-FFF2-40B4-BE49-F238E27FC236}">
                <a16:creationId xmlns:a16="http://schemas.microsoft.com/office/drawing/2014/main" id="{EC62AAC7-45BB-4DBA-8FB0-291C8D0197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89096" y="3933428"/>
            <a:ext cx="653143" cy="653143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9C81F1AE-0913-441C-B878-592ACD73A361}"/>
              </a:ext>
            </a:extLst>
          </p:cNvPr>
          <p:cNvSpPr/>
          <p:nvPr/>
        </p:nvSpPr>
        <p:spPr>
          <a:xfrm>
            <a:off x="7597498" y="4448936"/>
            <a:ext cx="4363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>
                <a:solidFill>
                  <a:srgbClr val="4B4B50"/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FC</a:t>
            </a:r>
          </a:p>
        </p:txBody>
      </p:sp>
      <p:sp>
        <p:nvSpPr>
          <p:cNvPr id="35" name="Flecha: a la derecha 34">
            <a:extLst>
              <a:ext uri="{FF2B5EF4-FFF2-40B4-BE49-F238E27FC236}">
                <a16:creationId xmlns:a16="http://schemas.microsoft.com/office/drawing/2014/main" id="{5242D44A-B725-4B85-A09D-C491D28F37C3}"/>
              </a:ext>
            </a:extLst>
          </p:cNvPr>
          <p:cNvSpPr/>
          <p:nvPr/>
        </p:nvSpPr>
        <p:spPr>
          <a:xfrm rot="16200000" flipH="1" flipV="1">
            <a:off x="6548787" y="4541305"/>
            <a:ext cx="1328570" cy="346232"/>
          </a:xfrm>
          <a:prstGeom prst="rightArrow">
            <a:avLst/>
          </a:prstGeom>
          <a:solidFill>
            <a:srgbClr val="4B4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9E4767CE-602A-4B4B-9BAB-2C5423FDCCEC}"/>
              </a:ext>
            </a:extLst>
          </p:cNvPr>
          <p:cNvSpPr/>
          <p:nvPr/>
        </p:nvSpPr>
        <p:spPr>
          <a:xfrm>
            <a:off x="5359044" y="4441633"/>
            <a:ext cx="16642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2400" b="1" dirty="0">
                <a:solidFill>
                  <a:srgbClr val="4B4B50"/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SALVATAJE</a:t>
            </a:r>
            <a:endParaRPr lang="es-ES" sz="2400" b="1" i="1" dirty="0">
              <a:solidFill>
                <a:srgbClr val="4B4B50"/>
              </a:solidFill>
              <a:latin typeface="Abadi" panose="020B0604020104020204" pitchFamily="34" charset="0"/>
              <a:cs typeface="Browallia New" panose="020B0604020202020204" pitchFamily="34" charset="-34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8EFED4F3-216B-4795-A0EC-880622A07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944994"/>
              </p:ext>
            </p:extLst>
          </p:nvPr>
        </p:nvGraphicFramePr>
        <p:xfrm>
          <a:off x="274516" y="2359759"/>
          <a:ext cx="4606925" cy="14507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38238">
                  <a:extLst>
                    <a:ext uri="{9D8B030D-6E8A-4147-A177-3AD203B41FA5}">
                      <a16:colId xmlns:a16="http://schemas.microsoft.com/office/drawing/2014/main" val="2430792322"/>
                    </a:ext>
                  </a:extLst>
                </a:gridCol>
                <a:gridCol w="727075">
                  <a:extLst>
                    <a:ext uri="{9D8B030D-6E8A-4147-A177-3AD203B41FA5}">
                      <a16:colId xmlns:a16="http://schemas.microsoft.com/office/drawing/2014/main" val="415157626"/>
                    </a:ext>
                  </a:extLst>
                </a:gridCol>
                <a:gridCol w="938212">
                  <a:extLst>
                    <a:ext uri="{9D8B030D-6E8A-4147-A177-3AD203B41FA5}">
                      <a16:colId xmlns:a16="http://schemas.microsoft.com/office/drawing/2014/main" val="778316277"/>
                    </a:ext>
                  </a:extLst>
                </a:gridCol>
                <a:gridCol w="968375">
                  <a:extLst>
                    <a:ext uri="{9D8B030D-6E8A-4147-A177-3AD203B41FA5}">
                      <a16:colId xmlns:a16="http://schemas.microsoft.com/office/drawing/2014/main" val="3683235879"/>
                    </a:ext>
                  </a:extLst>
                </a:gridCol>
                <a:gridCol w="835025">
                  <a:extLst>
                    <a:ext uri="{9D8B030D-6E8A-4147-A177-3AD203B41FA5}">
                      <a16:colId xmlns:a16="http://schemas.microsoft.com/office/drawing/2014/main" val="4151673049"/>
                    </a:ext>
                  </a:extLst>
                </a:gridCol>
              </a:tblGrid>
              <a:tr h="59148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 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Bco.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Nación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Bancos</a:t>
                      </a:r>
                      <a:r>
                        <a:rPr lang="en-US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 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Nacionales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Bancos 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Extranjeros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Total de 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Bancos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614139"/>
                  </a:ext>
                </a:extLst>
              </a:tr>
              <a:tr h="2864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III Trim 1914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-2,0%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-23,5%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-8,9%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-12,0%</a:t>
                      </a:r>
                      <a:endParaRPr lang="es-AR" sz="14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2312789"/>
                  </a:ext>
                </a:extLst>
              </a:tr>
              <a:tr h="2864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IV Trim 1914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8,7%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-15,1%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-3,5%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-2,2%</a:t>
                      </a:r>
                      <a:endParaRPr lang="es-AR" sz="14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2454020"/>
                  </a:ext>
                </a:extLst>
              </a:tr>
              <a:tr h="2864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I </a:t>
                      </a:r>
                      <a:r>
                        <a:rPr lang="es-AR" sz="14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Trim</a:t>
                      </a: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 1915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8,6%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1,8%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2,6%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5,2%</a:t>
                      </a:r>
                      <a:endParaRPr lang="es-AR" sz="14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6364856"/>
                  </a:ext>
                </a:extLst>
              </a:tr>
            </a:tbl>
          </a:graphicData>
        </a:graphic>
      </p:graphicFrame>
      <p:sp>
        <p:nvSpPr>
          <p:cNvPr id="9" name="Rectángulo 8">
            <a:extLst>
              <a:ext uri="{FF2B5EF4-FFF2-40B4-BE49-F238E27FC236}">
                <a16:creationId xmlns:a16="http://schemas.microsoft.com/office/drawing/2014/main" id="{912EE5DC-A593-4550-8829-A7C535D6F00C}"/>
              </a:ext>
            </a:extLst>
          </p:cNvPr>
          <p:cNvSpPr/>
          <p:nvPr/>
        </p:nvSpPr>
        <p:spPr>
          <a:xfrm>
            <a:off x="7406176" y="4714420"/>
            <a:ext cx="148630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i="1" dirty="0">
                <a:solidFill>
                  <a:srgbClr val="4B4B50"/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$ORO 20MM</a:t>
            </a:r>
          </a:p>
          <a:p>
            <a:pPr algn="ctr"/>
            <a:r>
              <a:rPr lang="es-ES" b="1" i="1" dirty="0" err="1">
                <a:solidFill>
                  <a:srgbClr val="4B4B50"/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m$n</a:t>
            </a:r>
            <a:r>
              <a:rPr lang="es-ES" b="1" i="1" dirty="0">
                <a:solidFill>
                  <a:srgbClr val="4B4B50"/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 45,5MM</a:t>
            </a:r>
          </a:p>
        </p:txBody>
      </p:sp>
      <p:pic>
        <p:nvPicPr>
          <p:cNvPr id="10" name="Gráfico 9" descr="Centro educativo">
            <a:extLst>
              <a:ext uri="{FF2B5EF4-FFF2-40B4-BE49-F238E27FC236}">
                <a16:creationId xmlns:a16="http://schemas.microsoft.com/office/drawing/2014/main" id="{31180370-61F3-4189-A3DC-1C5EE9383CA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55872" y="2908125"/>
            <a:ext cx="914400" cy="914400"/>
          </a:xfrm>
          <a:prstGeom prst="rect">
            <a:avLst/>
          </a:prstGeom>
        </p:spPr>
      </p:pic>
      <p:pic>
        <p:nvPicPr>
          <p:cNvPr id="11" name="Gráfico 10" descr="Tribunal">
            <a:extLst>
              <a:ext uri="{FF2B5EF4-FFF2-40B4-BE49-F238E27FC236}">
                <a16:creationId xmlns:a16="http://schemas.microsoft.com/office/drawing/2014/main" id="{9750C32F-7795-4DBD-958A-D878D664751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44186" y="5418798"/>
            <a:ext cx="737772" cy="737772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C0B5AE67-49E4-4738-8562-7C1F3960DE9C}"/>
              </a:ext>
            </a:extLst>
          </p:cNvPr>
          <p:cNvSpPr/>
          <p:nvPr/>
        </p:nvSpPr>
        <p:spPr>
          <a:xfrm>
            <a:off x="6876281" y="3628022"/>
            <a:ext cx="673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>
                <a:solidFill>
                  <a:srgbClr val="4B4B50"/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CAJA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788ADA0-0646-4E06-B6AA-43BCC30CA39A}"/>
              </a:ext>
            </a:extLst>
          </p:cNvPr>
          <p:cNvSpPr/>
          <p:nvPr/>
        </p:nvSpPr>
        <p:spPr>
          <a:xfrm>
            <a:off x="6690332" y="6011996"/>
            <a:ext cx="10214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>
                <a:solidFill>
                  <a:srgbClr val="4B4B50"/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BANCOS</a:t>
            </a:r>
          </a:p>
        </p:txBody>
      </p:sp>
      <p:sp>
        <p:nvSpPr>
          <p:cNvPr id="16" name="Título 4">
            <a:extLst>
              <a:ext uri="{FF2B5EF4-FFF2-40B4-BE49-F238E27FC236}">
                <a16:creationId xmlns:a16="http://schemas.microsoft.com/office/drawing/2014/main" id="{419190CB-2566-4BFF-914C-11A37125B6A2}"/>
              </a:ext>
            </a:extLst>
          </p:cNvPr>
          <p:cNvSpPr txBox="1">
            <a:spLocks/>
          </p:cNvSpPr>
          <p:nvPr/>
        </p:nvSpPr>
        <p:spPr>
          <a:xfrm>
            <a:off x="-15958" y="-4997"/>
            <a:ext cx="9159957" cy="7564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La Caja y las funciones “</a:t>
            </a:r>
            <a:r>
              <a:rPr lang="es-ES" sz="3600" i="1" dirty="0" err="1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bancocentralistas</a:t>
            </a:r>
            <a:r>
              <a:rPr lang="es-ES" sz="36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”</a:t>
            </a:r>
            <a:endParaRPr lang="es-AR" sz="3600" i="1" dirty="0"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  <a:cs typeface="Browallia New" panose="020B0604020202020204" pitchFamily="34" charset="-34"/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08126775-9F8C-40A6-90D6-9154F999CC12}"/>
              </a:ext>
            </a:extLst>
          </p:cNvPr>
          <p:cNvSpPr/>
          <p:nvPr/>
        </p:nvSpPr>
        <p:spPr>
          <a:xfrm>
            <a:off x="233282" y="1412776"/>
            <a:ext cx="4648159" cy="628119"/>
          </a:xfrm>
          <a:prstGeom prst="roundRect">
            <a:avLst>
              <a:gd name="adj" fmla="val 28033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Corrida bancaria</a:t>
            </a:r>
          </a:p>
          <a:p>
            <a:pPr algn="ctr"/>
            <a:r>
              <a:rPr lang="es-ES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(variación de los depósitos)</a:t>
            </a:r>
          </a:p>
        </p:txBody>
      </p:sp>
      <p:pic>
        <p:nvPicPr>
          <p:cNvPr id="18" name="Gráfico 17" descr="Correr">
            <a:extLst>
              <a:ext uri="{FF2B5EF4-FFF2-40B4-BE49-F238E27FC236}">
                <a16:creationId xmlns:a16="http://schemas.microsoft.com/office/drawing/2014/main" id="{2D0DD8C9-0176-4FDC-A6F4-667B7DFB38BD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00095" y="2911504"/>
            <a:ext cx="347266" cy="347266"/>
          </a:xfrm>
          <a:prstGeom prst="rect">
            <a:avLst/>
          </a:prstGeom>
        </p:spPr>
      </p:pic>
      <p:pic>
        <p:nvPicPr>
          <p:cNvPr id="19" name="Gráfico 18" descr="Correr">
            <a:extLst>
              <a:ext uri="{FF2B5EF4-FFF2-40B4-BE49-F238E27FC236}">
                <a16:creationId xmlns:a16="http://schemas.microsoft.com/office/drawing/2014/main" id="{4C41476B-4A5B-4BC1-B42C-3261682DD6E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014760" y="2911504"/>
            <a:ext cx="347266" cy="347266"/>
          </a:xfrm>
          <a:prstGeom prst="rect">
            <a:avLst/>
          </a:prstGeom>
        </p:spPr>
      </p:pic>
      <p:pic>
        <p:nvPicPr>
          <p:cNvPr id="20" name="Gráfico 19" descr="Correr">
            <a:extLst>
              <a:ext uri="{FF2B5EF4-FFF2-40B4-BE49-F238E27FC236}">
                <a16:creationId xmlns:a16="http://schemas.microsoft.com/office/drawing/2014/main" id="{9260ADD4-2451-4BCE-B987-A96A60F27AB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51975" y="2914869"/>
            <a:ext cx="347266" cy="347266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5E344BB2-1367-4624-85F6-53521AD338FA}"/>
              </a:ext>
            </a:extLst>
          </p:cNvPr>
          <p:cNvSpPr/>
          <p:nvPr/>
        </p:nvSpPr>
        <p:spPr>
          <a:xfrm>
            <a:off x="124494" y="4153389"/>
            <a:ext cx="4572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El Banco de la Nación no empleó el ahorro del público (depósitos) ni su capital para auxiliar a los otros bancos, sino parte del Fondo de Conversión (20 millones de pesos oro). </a:t>
            </a:r>
          </a:p>
          <a:p>
            <a:endParaRPr lang="es-ES" dirty="0"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</a:endParaRPr>
          </a:p>
          <a:p>
            <a:r>
              <a:rPr lang="es-ES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Costo del Salvataje: respaldo metálico de la totalidad de la base monetaria pasó de 73% en 1913 a 66% en 1914</a:t>
            </a:r>
          </a:p>
        </p:txBody>
      </p:sp>
    </p:spTree>
    <p:extLst>
      <p:ext uri="{BB962C8B-B14F-4D97-AF65-F5344CB8AC3E}">
        <p14:creationId xmlns:p14="http://schemas.microsoft.com/office/powerpoint/2010/main" val="3940582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25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0"/>
                            </p:stCondLst>
                            <p:childTnLst>
                              <p:par>
                                <p:cTn id="39" presetID="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750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7000"/>
                            </p:stCondLst>
                            <p:childTnLst>
                              <p:par>
                                <p:cTn id="50" presetID="26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6" presetID="26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925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500"/>
                            </p:stCondLst>
                            <p:childTnLst>
                              <p:par>
                                <p:cTn id="89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1250"/>
                            </p:stCondLst>
                            <p:childTnLst>
                              <p:par>
                                <p:cTn id="95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1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5" grpId="0" animBg="1"/>
      <p:bldP spid="36" grpId="0"/>
      <p:bldP spid="9" grpId="0"/>
      <p:bldP spid="14" grpId="0"/>
      <p:bldP spid="15" grpId="0"/>
      <p:bldP spid="16" grpId="0"/>
      <p:bldP spid="1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1F706051-48BD-47EB-A7DA-43CE169BD561}"/>
              </a:ext>
            </a:extLst>
          </p:cNvPr>
          <p:cNvGraphicFramePr/>
          <p:nvPr/>
        </p:nvGraphicFramePr>
        <p:xfrm>
          <a:off x="4716016" y="2311789"/>
          <a:ext cx="4248472" cy="34889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Gráfico 13">
            <a:extLst>
              <a:ext uri="{FF2B5EF4-FFF2-40B4-BE49-F238E27FC236}">
                <a16:creationId xmlns:a16="http://schemas.microsoft.com/office/drawing/2014/main" id="{C6B99A72-F91D-46F1-B69A-57A700EDA2F4}"/>
              </a:ext>
            </a:extLst>
          </p:cNvPr>
          <p:cNvGraphicFramePr/>
          <p:nvPr/>
        </p:nvGraphicFramePr>
        <p:xfrm>
          <a:off x="45722" y="2316320"/>
          <a:ext cx="4382263" cy="34889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ítulo 4">
            <a:extLst>
              <a:ext uri="{FF2B5EF4-FFF2-40B4-BE49-F238E27FC236}">
                <a16:creationId xmlns:a16="http://schemas.microsoft.com/office/drawing/2014/main" id="{960475DD-0732-43E0-9B99-9E2A377AE719}"/>
              </a:ext>
            </a:extLst>
          </p:cNvPr>
          <p:cNvSpPr txBox="1">
            <a:spLocks/>
          </p:cNvSpPr>
          <p:nvPr/>
        </p:nvSpPr>
        <p:spPr>
          <a:xfrm>
            <a:off x="-15957" y="-4997"/>
            <a:ext cx="7886700" cy="75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4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Frente Externo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6D1E8980-6FCD-4A59-A64B-B5738D6D1FD7}"/>
              </a:ext>
            </a:extLst>
          </p:cNvPr>
          <p:cNvSpPr/>
          <p:nvPr/>
        </p:nvSpPr>
        <p:spPr>
          <a:xfrm>
            <a:off x="683568" y="1292412"/>
            <a:ext cx="3597937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BALANZA DE PAGOS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DAE79D6F-4C97-474C-99D6-1673996156F0}"/>
              </a:ext>
            </a:extLst>
          </p:cNvPr>
          <p:cNvSpPr/>
          <p:nvPr/>
        </p:nvSpPr>
        <p:spPr>
          <a:xfrm>
            <a:off x="4981291" y="1287882"/>
            <a:ext cx="3597937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TIPO DE CAMBIO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FB52045C-1D1B-478A-AC05-DEDBEC5649D8}"/>
              </a:ext>
            </a:extLst>
          </p:cNvPr>
          <p:cNvCxnSpPr/>
          <p:nvPr/>
        </p:nvCxnSpPr>
        <p:spPr>
          <a:xfrm flipV="1">
            <a:off x="2195736" y="2311789"/>
            <a:ext cx="0" cy="1909299"/>
          </a:xfrm>
          <a:prstGeom prst="line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E0C59E69-DC7F-4499-99D3-A3E20962C265}"/>
              </a:ext>
            </a:extLst>
          </p:cNvPr>
          <p:cNvCxnSpPr/>
          <p:nvPr/>
        </p:nvCxnSpPr>
        <p:spPr>
          <a:xfrm flipV="1">
            <a:off x="6732240" y="2474350"/>
            <a:ext cx="0" cy="1909299"/>
          </a:xfrm>
          <a:prstGeom prst="line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áfico 3" descr="Ayuda">
            <a:extLst>
              <a:ext uri="{FF2B5EF4-FFF2-40B4-BE49-F238E27FC236}">
                <a16:creationId xmlns:a16="http://schemas.microsoft.com/office/drawing/2014/main" id="{989013BF-5512-4BC9-BBA4-A4A562619A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58816" y="588527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125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"/>
                                        <p:tgtEl>
                                          <p:spTgt spid="1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"/>
                                        <p:tgtEl>
                                          <p:spTgt spid="14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4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"/>
                                        <p:tgtEl>
                                          <p:spTgt spid="14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"/>
                                        <p:tgtEl>
                                          <p:spTgt spid="14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6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"/>
                                        <p:tgtEl>
                                          <p:spTgt spid="14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75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"/>
                                        <p:tgtEl>
                                          <p:spTgt spid="14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85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"/>
                                        <p:tgtEl>
                                          <p:spTgt spid="14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950"/>
                            </p:stCondLst>
                            <p:childTnLst>
                              <p:par>
                                <p:cTn id="43" presetID="2" presetClass="entr" presetSubtype="1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2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"/>
                                        <p:tgtEl>
                                          <p:spTgt spid="1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22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"/>
                                        <p:tgtEl>
                                          <p:spTgt spid="13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24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"/>
                                        <p:tgtEl>
                                          <p:spTgt spid="13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26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"/>
                                        <p:tgtEl>
                                          <p:spTgt spid="13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28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"/>
                                        <p:tgtEl>
                                          <p:spTgt spid="13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3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"/>
                                        <p:tgtEl>
                                          <p:spTgt spid="13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32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"/>
                                        <p:tgtEl>
                                          <p:spTgt spid="13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34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"/>
                                        <p:tgtEl>
                                          <p:spTgt spid="13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36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"/>
                                        <p:tgtEl>
                                          <p:spTgt spid="13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338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20"/>
                                        <p:tgtEl>
                                          <p:spTgt spid="13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34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0"/>
                                        <p:tgtEl>
                                          <p:spTgt spid="13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342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0"/>
                                        <p:tgtEl>
                                          <p:spTgt spid="13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44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0"/>
                                        <p:tgtEl>
                                          <p:spTgt spid="13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346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0"/>
                                        <p:tgtEl>
                                          <p:spTgt spid="13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48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0"/>
                                        <p:tgtEl>
                                          <p:spTgt spid="13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350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20"/>
                                        <p:tgtEl>
                                          <p:spTgt spid="13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3520"/>
                            </p:stCondLst>
                            <p:childTnLst>
                              <p:par>
                                <p:cTn id="1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20"/>
                                        <p:tgtEl>
                                          <p:spTgt spid="13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3540"/>
                            </p:stCondLst>
                            <p:childTnLst>
                              <p:par>
                                <p:cTn id="1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0"/>
                                        <p:tgtEl>
                                          <p:spTgt spid="13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356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20"/>
                                        <p:tgtEl>
                                          <p:spTgt spid="13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3580"/>
                            </p:stCondLst>
                            <p:childTnLst>
                              <p:par>
                                <p:cTn id="1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20"/>
                                        <p:tgtEl>
                                          <p:spTgt spid="13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3600"/>
                            </p:stCondLst>
                            <p:childTnLst>
                              <p:par>
                                <p:cTn id="1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20"/>
                                        <p:tgtEl>
                                          <p:spTgt spid="13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3620"/>
                            </p:stCondLst>
                            <p:childTnLst>
                              <p:par>
                                <p:cTn id="1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20"/>
                                        <p:tgtEl>
                                          <p:spTgt spid="13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3640"/>
                            </p:stCondLst>
                            <p:childTnLst>
                              <p:par>
                                <p:cTn id="1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20"/>
                                        <p:tgtEl>
                                          <p:spTgt spid="13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3660"/>
                            </p:stCondLst>
                            <p:childTnLst>
                              <p:par>
                                <p:cTn id="1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20"/>
                                        <p:tgtEl>
                                          <p:spTgt spid="13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3680"/>
                            </p:stCondLst>
                            <p:childTnLst>
                              <p:par>
                                <p:cTn id="1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20"/>
                                        <p:tgtEl>
                                          <p:spTgt spid="13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370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2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20"/>
                                        <p:tgtEl>
                                          <p:spTgt spid="13">
                                            <p:graphicEl>
                                              <a:chart seriesIdx="-4" categoryIdx="2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3720"/>
                            </p:stCondLst>
                            <p:childTnLst>
                              <p:par>
                                <p:cTn id="1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2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20"/>
                                        <p:tgtEl>
                                          <p:spTgt spid="13">
                                            <p:graphicEl>
                                              <a:chart seriesIdx="-4" categoryIdx="2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3740"/>
                            </p:stCondLst>
                            <p:childTnLst>
                              <p:par>
                                <p:cTn id="1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2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20"/>
                                        <p:tgtEl>
                                          <p:spTgt spid="13">
                                            <p:graphicEl>
                                              <a:chart seriesIdx="-4" categoryIdx="2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3760"/>
                            </p:stCondLst>
                            <p:childTnLst>
                              <p:par>
                                <p:cTn id="1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2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20"/>
                                        <p:tgtEl>
                                          <p:spTgt spid="13">
                                            <p:graphicEl>
                                              <a:chart seriesIdx="-4" categoryIdx="2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3780"/>
                            </p:stCondLst>
                            <p:childTnLst>
                              <p:par>
                                <p:cTn id="1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2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20"/>
                                        <p:tgtEl>
                                          <p:spTgt spid="13">
                                            <p:graphicEl>
                                              <a:chart seriesIdx="-4" categoryIdx="2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3800"/>
                            </p:stCondLst>
                            <p:childTnLst>
                              <p:par>
                                <p:cTn id="1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2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20"/>
                                        <p:tgtEl>
                                          <p:spTgt spid="13">
                                            <p:graphicEl>
                                              <a:chart seriesIdx="-4" categoryIdx="2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3820"/>
                            </p:stCondLst>
                            <p:childTnLst>
                              <p:par>
                                <p:cTn id="1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3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20"/>
                                        <p:tgtEl>
                                          <p:spTgt spid="13">
                                            <p:graphicEl>
                                              <a:chart seriesIdx="-4" categoryIdx="3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3840"/>
                            </p:stCondLst>
                            <p:childTnLst>
                              <p:par>
                                <p:cTn id="1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3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20"/>
                                        <p:tgtEl>
                                          <p:spTgt spid="13">
                                            <p:graphicEl>
                                              <a:chart seriesIdx="-4" categoryIdx="3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3860"/>
                            </p:stCondLst>
                            <p:childTnLst>
                              <p:par>
                                <p:cTn id="1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3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20"/>
                                        <p:tgtEl>
                                          <p:spTgt spid="13">
                                            <p:graphicEl>
                                              <a:chart seriesIdx="-4" categoryIdx="3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3880"/>
                            </p:stCondLst>
                            <p:childTnLst>
                              <p:par>
                                <p:cTn id="1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3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20"/>
                                        <p:tgtEl>
                                          <p:spTgt spid="13">
                                            <p:graphicEl>
                                              <a:chart seriesIdx="-4" categoryIdx="3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3900"/>
                            </p:stCondLst>
                            <p:childTnLst>
                              <p:par>
                                <p:cTn id="1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3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20"/>
                                        <p:tgtEl>
                                          <p:spTgt spid="13">
                                            <p:graphicEl>
                                              <a:chart seriesIdx="-4" categoryIdx="3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3920"/>
                            </p:stCondLst>
                            <p:childTnLst>
                              <p:par>
                                <p:cTn id="1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3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20"/>
                                        <p:tgtEl>
                                          <p:spTgt spid="13">
                                            <p:graphicEl>
                                              <a:chart seriesIdx="-4" categoryIdx="3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3940"/>
                            </p:stCondLst>
                            <p:childTnLst>
                              <p:par>
                                <p:cTn id="1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3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20"/>
                                        <p:tgtEl>
                                          <p:spTgt spid="13">
                                            <p:graphicEl>
                                              <a:chart seriesIdx="-4" categoryIdx="3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3960"/>
                            </p:stCondLst>
                            <p:childTnLst>
                              <p:par>
                                <p:cTn id="2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3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20"/>
                                        <p:tgtEl>
                                          <p:spTgt spid="13">
                                            <p:graphicEl>
                                              <a:chart seriesIdx="-4" categoryIdx="3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3980"/>
                            </p:stCondLst>
                            <p:childTnLst>
                              <p:par>
                                <p:cTn id="2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3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20"/>
                                        <p:tgtEl>
                                          <p:spTgt spid="13">
                                            <p:graphicEl>
                                              <a:chart seriesIdx="-4" categoryIdx="3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4000"/>
                            </p:stCondLst>
                            <p:childTnLst>
                              <p:par>
                                <p:cTn id="2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3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20"/>
                                        <p:tgtEl>
                                          <p:spTgt spid="13">
                                            <p:graphicEl>
                                              <a:chart seriesIdx="-4" categoryIdx="3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4020"/>
                            </p:stCondLst>
                            <p:childTnLst>
                              <p:par>
                                <p:cTn id="2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4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20"/>
                                        <p:tgtEl>
                                          <p:spTgt spid="13">
                                            <p:graphicEl>
                                              <a:chart seriesIdx="-4" categoryIdx="4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4040"/>
                            </p:stCondLst>
                            <p:childTnLst>
                              <p:par>
                                <p:cTn id="2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4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20"/>
                                        <p:tgtEl>
                                          <p:spTgt spid="13">
                                            <p:graphicEl>
                                              <a:chart seriesIdx="-4" categoryIdx="4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4060"/>
                            </p:stCondLst>
                            <p:childTnLst>
                              <p:par>
                                <p:cTn id="2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4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20"/>
                                        <p:tgtEl>
                                          <p:spTgt spid="13">
                                            <p:graphicEl>
                                              <a:chart seriesIdx="-4" categoryIdx="4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4080"/>
                            </p:stCondLst>
                            <p:childTnLst>
                              <p:par>
                                <p:cTn id="2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4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20"/>
                                        <p:tgtEl>
                                          <p:spTgt spid="13">
                                            <p:graphicEl>
                                              <a:chart seriesIdx="-4" categoryIdx="4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4100"/>
                            </p:stCondLst>
                            <p:childTnLst>
                              <p:par>
                                <p:cTn id="2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4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20"/>
                                        <p:tgtEl>
                                          <p:spTgt spid="13">
                                            <p:graphicEl>
                                              <a:chart seriesIdx="-4" categoryIdx="4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4120"/>
                            </p:stCondLst>
                            <p:childTnLst>
                              <p:par>
                                <p:cTn id="2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4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20"/>
                                        <p:tgtEl>
                                          <p:spTgt spid="13">
                                            <p:graphicEl>
                                              <a:chart seriesIdx="-4" categoryIdx="4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4140"/>
                            </p:stCondLst>
                            <p:childTnLst>
                              <p:par>
                                <p:cTn id="2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4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20"/>
                                        <p:tgtEl>
                                          <p:spTgt spid="13">
                                            <p:graphicEl>
                                              <a:chart seriesIdx="-4" categoryIdx="4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4160"/>
                            </p:stCondLst>
                            <p:childTnLst>
                              <p:par>
                                <p:cTn id="2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4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20"/>
                                        <p:tgtEl>
                                          <p:spTgt spid="13">
                                            <p:graphicEl>
                                              <a:chart seriesIdx="-4" categoryIdx="4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4180"/>
                            </p:stCondLst>
                            <p:childTnLst>
                              <p:par>
                                <p:cTn id="2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4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20"/>
                                        <p:tgtEl>
                                          <p:spTgt spid="13">
                                            <p:graphicEl>
                                              <a:chart seriesIdx="-4" categoryIdx="4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4200"/>
                            </p:stCondLst>
                            <p:childTnLst>
                              <p:par>
                                <p:cTn id="2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4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20"/>
                                        <p:tgtEl>
                                          <p:spTgt spid="13">
                                            <p:graphicEl>
                                              <a:chart seriesIdx="-4" categoryIdx="4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4220"/>
                            </p:stCondLst>
                            <p:childTnLst>
                              <p:par>
                                <p:cTn id="2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5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20"/>
                                        <p:tgtEl>
                                          <p:spTgt spid="13">
                                            <p:graphicEl>
                                              <a:chart seriesIdx="-4" categoryIdx="5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4240"/>
                            </p:stCondLst>
                            <p:childTnLst>
                              <p:par>
                                <p:cTn id="2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5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20"/>
                                        <p:tgtEl>
                                          <p:spTgt spid="13">
                                            <p:graphicEl>
                                              <a:chart seriesIdx="-4" categoryIdx="5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4260"/>
                            </p:stCondLst>
                            <p:childTnLst>
                              <p:par>
                                <p:cTn id="2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5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20"/>
                                        <p:tgtEl>
                                          <p:spTgt spid="13">
                                            <p:graphicEl>
                                              <a:chart seriesIdx="-4" categoryIdx="5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>
                            <p:stCondLst>
                              <p:cond delay="4280"/>
                            </p:stCondLst>
                            <p:childTnLst>
                              <p:par>
                                <p:cTn id="2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5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20"/>
                                        <p:tgtEl>
                                          <p:spTgt spid="13">
                                            <p:graphicEl>
                                              <a:chart seriesIdx="-4" categoryIdx="5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>
                            <p:stCondLst>
                              <p:cond delay="4300"/>
                            </p:stCondLst>
                            <p:childTnLst>
                              <p:par>
                                <p:cTn id="2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5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20"/>
                                        <p:tgtEl>
                                          <p:spTgt spid="13">
                                            <p:graphicEl>
                                              <a:chart seriesIdx="-4" categoryIdx="5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4320"/>
                            </p:stCondLst>
                            <p:childTnLst>
                              <p:par>
                                <p:cTn id="2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5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20"/>
                                        <p:tgtEl>
                                          <p:spTgt spid="13">
                                            <p:graphicEl>
                                              <a:chart seriesIdx="-4" categoryIdx="5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4340"/>
                            </p:stCondLst>
                            <p:childTnLst>
                              <p:par>
                                <p:cTn id="2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5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20"/>
                                        <p:tgtEl>
                                          <p:spTgt spid="13">
                                            <p:graphicEl>
                                              <a:chart seriesIdx="-4" categoryIdx="5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4360"/>
                            </p:stCondLst>
                            <p:childTnLst>
                              <p:par>
                                <p:cTn id="2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5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20"/>
                                        <p:tgtEl>
                                          <p:spTgt spid="13">
                                            <p:graphicEl>
                                              <a:chart seriesIdx="-4" categoryIdx="5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4380"/>
                            </p:stCondLst>
                            <p:childTnLst>
                              <p:par>
                                <p:cTn id="2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5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20"/>
                                        <p:tgtEl>
                                          <p:spTgt spid="13">
                                            <p:graphicEl>
                                              <a:chart seriesIdx="-4" categoryIdx="5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" fill="hold">
                            <p:stCondLst>
                              <p:cond delay="4400"/>
                            </p:stCondLst>
                            <p:childTnLst>
                              <p:par>
                                <p:cTn id="2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5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20"/>
                                        <p:tgtEl>
                                          <p:spTgt spid="13">
                                            <p:graphicEl>
                                              <a:chart seriesIdx="-4" categoryIdx="5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1" fill="hold">
                            <p:stCondLst>
                              <p:cond delay="4420"/>
                            </p:stCondLst>
                            <p:childTnLst>
                              <p:par>
                                <p:cTn id="292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4670"/>
                            </p:stCondLst>
                            <p:childTnLst>
                              <p:par>
                                <p:cTn id="295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3" grpId="0">
        <p:bldSub>
          <a:bldChart bld="category"/>
        </p:bldSub>
      </p:bldGraphic>
      <p:bldGraphic spid="14" grpId="0">
        <p:bldSub>
          <a:bldChart bld="category"/>
        </p:bldSub>
      </p:bldGraphic>
      <p:bldP spid="7" grpId="0"/>
      <p:bldP spid="10" grpId="0" animBg="1"/>
      <p:bldP spid="1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92E8377E-0428-4E70-BCCA-D6DFB5D0A1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760062"/>
              </p:ext>
            </p:extLst>
          </p:nvPr>
        </p:nvGraphicFramePr>
        <p:xfrm>
          <a:off x="251520" y="2442885"/>
          <a:ext cx="4648404" cy="35650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7162AE94-BE6C-4B1E-98E2-E628E36AB0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303291"/>
              </p:ext>
            </p:extLst>
          </p:nvPr>
        </p:nvGraphicFramePr>
        <p:xfrm>
          <a:off x="5063547" y="2103281"/>
          <a:ext cx="3984953" cy="16263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36946">
                  <a:extLst>
                    <a:ext uri="{9D8B030D-6E8A-4147-A177-3AD203B41FA5}">
                      <a16:colId xmlns:a16="http://schemas.microsoft.com/office/drawing/2014/main" val="1500594842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632069453"/>
                    </a:ext>
                  </a:extLst>
                </a:gridCol>
                <a:gridCol w="617538">
                  <a:extLst>
                    <a:ext uri="{9D8B030D-6E8A-4147-A177-3AD203B41FA5}">
                      <a16:colId xmlns:a16="http://schemas.microsoft.com/office/drawing/2014/main" val="1086644075"/>
                    </a:ext>
                  </a:extLst>
                </a:gridCol>
                <a:gridCol w="642771">
                  <a:extLst>
                    <a:ext uri="{9D8B030D-6E8A-4147-A177-3AD203B41FA5}">
                      <a16:colId xmlns:a16="http://schemas.microsoft.com/office/drawing/2014/main" val="3771276647"/>
                    </a:ext>
                  </a:extLst>
                </a:gridCol>
                <a:gridCol w="642771">
                  <a:extLst>
                    <a:ext uri="{9D8B030D-6E8A-4147-A177-3AD203B41FA5}">
                      <a16:colId xmlns:a16="http://schemas.microsoft.com/office/drawing/2014/main" val="1576488739"/>
                    </a:ext>
                  </a:extLst>
                </a:gridCol>
                <a:gridCol w="563902">
                  <a:extLst>
                    <a:ext uri="{9D8B030D-6E8A-4147-A177-3AD203B41FA5}">
                      <a16:colId xmlns:a16="http://schemas.microsoft.com/office/drawing/2014/main" val="3264474241"/>
                    </a:ext>
                  </a:extLst>
                </a:gridCol>
              </a:tblGrid>
              <a:tr h="190500">
                <a:tc rowSpan="2"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Variación de la 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Base Monetaria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Total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155793"/>
                  </a:ext>
                </a:extLst>
              </a:tr>
              <a:tr h="38100">
                <a:tc gridSpan="2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∆M&lt;0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∆M=0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∆M&gt;0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endParaRPr lang="es-AR" sz="1400" dirty="0">
                        <a:effectLst/>
                        <a:latin typeface="Abadi" panose="020B06040201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383842679"/>
                  </a:ext>
                </a:extLst>
              </a:tr>
              <a:tr h="44450">
                <a:tc row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Variación</a:t>
                      </a:r>
                      <a:br>
                        <a:rPr lang="es-ES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</a:br>
                      <a:r>
                        <a:rPr lang="es-ES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del Oro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∆R&lt;0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s-AR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16</a:t>
                      </a:r>
                      <a:endParaRPr lang="es-AR" sz="14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2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18</a:t>
                      </a:r>
                      <a:endParaRPr lang="es-AR" sz="14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948322"/>
                  </a:ext>
                </a:extLst>
              </a:tr>
              <a:tr h="44450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∆R=0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s-AR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0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</a:t>
                      </a:r>
                      <a:endParaRPr lang="es-AR" sz="14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3351213"/>
                  </a:ext>
                </a:extLst>
              </a:tr>
              <a:tr h="44450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∆R&gt;0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s-AR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20</a:t>
                      </a:r>
                      <a:endParaRPr lang="es-AR" sz="14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14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34</a:t>
                      </a:r>
                      <a:endParaRPr lang="es-AR" sz="14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167573"/>
                  </a:ext>
                </a:extLst>
              </a:tr>
              <a:tr h="38100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Total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s-AR" sz="16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37</a:t>
                      </a:r>
                      <a:endParaRPr lang="es-AR" sz="14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16</a:t>
                      </a:r>
                      <a:endParaRPr lang="es-AR" sz="14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53</a:t>
                      </a:r>
                      <a:endParaRPr lang="es-AR" sz="14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4253326"/>
                  </a:ext>
                </a:extLst>
              </a:tr>
            </a:tbl>
          </a:graphicData>
        </a:graphic>
      </p:graphicFrame>
      <p:sp>
        <p:nvSpPr>
          <p:cNvPr id="6" name="Título 4">
            <a:extLst>
              <a:ext uri="{FF2B5EF4-FFF2-40B4-BE49-F238E27FC236}">
                <a16:creationId xmlns:a16="http://schemas.microsoft.com/office/drawing/2014/main" id="{D7307393-4819-45F2-8B47-5F01733714AC}"/>
              </a:ext>
            </a:extLst>
          </p:cNvPr>
          <p:cNvSpPr txBox="1">
            <a:spLocks/>
          </p:cNvSpPr>
          <p:nvPr/>
        </p:nvSpPr>
        <p:spPr>
          <a:xfrm>
            <a:off x="-15957" y="-4997"/>
            <a:ext cx="7886700" cy="75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4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La Caja Conversión 1914-1918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F7DB1A9B-473F-42D1-BD79-8EA77D1FAFEC}"/>
              </a:ext>
            </a:extLst>
          </p:cNvPr>
          <p:cNvSpPr/>
          <p:nvPr/>
        </p:nvSpPr>
        <p:spPr>
          <a:xfrm>
            <a:off x="822960" y="1194730"/>
            <a:ext cx="7498080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COMPORTAMIENTO </a:t>
            </a:r>
            <a:r>
              <a:rPr lang="es-ES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  <a:sym typeface="Wingdings" panose="05000000000000000000" pitchFamily="2" charset="2"/>
              </a:rPr>
              <a:t> AUTORREGULACIÓN</a:t>
            </a:r>
            <a:endParaRPr lang="es-ES" b="1" dirty="0"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  <a:cs typeface="Browallia New" panose="020B0604020202020204" pitchFamily="34" charset="-34"/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52FE5935-AE60-4B50-92EE-39574481C52A}"/>
              </a:ext>
            </a:extLst>
          </p:cNvPr>
          <p:cNvSpPr/>
          <p:nvPr/>
        </p:nvSpPr>
        <p:spPr>
          <a:xfrm>
            <a:off x="4094448" y="1194730"/>
            <a:ext cx="2961576" cy="482166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  <a:sym typeface="Wingdings" panose="05000000000000000000" pitchFamily="2" charset="2"/>
              </a:rPr>
              <a:t> AUTO-REGULACIÓN</a:t>
            </a:r>
            <a:endParaRPr lang="es-ES" b="1" dirty="0">
              <a:solidFill>
                <a:schemeClr val="tx2">
                  <a:lumMod val="20000"/>
                  <a:lumOff val="80000"/>
                </a:schemeClr>
              </a:solidFill>
              <a:latin typeface="Abadi" panose="020B0604020104020204" pitchFamily="34" charset="0"/>
              <a:cs typeface="Browallia New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84876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"/>
                                        <p:tgtEl>
                                          <p:spTgt spid="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7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"/>
                                        <p:tgtEl>
                                          <p:spTgt spid="7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9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"/>
                                        <p:tgtEl>
                                          <p:spTgt spid="7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31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"/>
                                        <p:tgtEl>
                                          <p:spTgt spid="7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33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"/>
                                        <p:tgtEl>
                                          <p:spTgt spid="7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"/>
                                        <p:tgtEl>
                                          <p:spTgt spid="7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37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"/>
                                        <p:tgtEl>
                                          <p:spTgt spid="7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39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"/>
                                        <p:tgtEl>
                                          <p:spTgt spid="7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41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"/>
                                        <p:tgtEl>
                                          <p:spTgt spid="7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43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"/>
                                        <p:tgtEl>
                                          <p:spTgt spid="7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45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"/>
                                        <p:tgtEl>
                                          <p:spTgt spid="7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47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"/>
                                        <p:tgtEl>
                                          <p:spTgt spid="7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49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"/>
                                        <p:tgtEl>
                                          <p:spTgt spid="7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51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"/>
                                        <p:tgtEl>
                                          <p:spTgt spid="7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53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"/>
                                        <p:tgtEl>
                                          <p:spTgt spid="7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55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0"/>
                                        <p:tgtEl>
                                          <p:spTgt spid="7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57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0"/>
                                        <p:tgtEl>
                                          <p:spTgt spid="7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59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0"/>
                                        <p:tgtEl>
                                          <p:spTgt spid="7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61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0"/>
                                        <p:tgtEl>
                                          <p:spTgt spid="7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63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0"/>
                                        <p:tgtEl>
                                          <p:spTgt spid="7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650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0"/>
                                        <p:tgtEl>
                                          <p:spTgt spid="7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67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0"/>
                                        <p:tgtEl>
                                          <p:spTgt spid="7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690"/>
                            </p:stCondLst>
                            <p:childTnLst>
                              <p:par>
                                <p:cTn id="1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20"/>
                                        <p:tgtEl>
                                          <p:spTgt spid="7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710"/>
                            </p:stCondLst>
                            <p:childTnLst>
                              <p:par>
                                <p:cTn id="1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20"/>
                                        <p:tgtEl>
                                          <p:spTgt spid="7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2730"/>
                            </p:stCondLst>
                            <p:childTnLst>
                              <p:par>
                                <p:cTn id="1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20"/>
                                        <p:tgtEl>
                                          <p:spTgt spid="7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2750"/>
                            </p:stCondLst>
                            <p:childTnLst>
                              <p:par>
                                <p:cTn id="1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2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20"/>
                                        <p:tgtEl>
                                          <p:spTgt spid="7">
                                            <p:graphicEl>
                                              <a:chart seriesIdx="-4" categoryIdx="2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77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2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20"/>
                                        <p:tgtEl>
                                          <p:spTgt spid="7">
                                            <p:graphicEl>
                                              <a:chart seriesIdx="-4" categoryIdx="2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2790"/>
                            </p:stCondLst>
                            <p:childTnLst>
                              <p:par>
                                <p:cTn id="1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2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20"/>
                                        <p:tgtEl>
                                          <p:spTgt spid="7">
                                            <p:graphicEl>
                                              <a:chart seriesIdx="-4" categoryIdx="2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810"/>
                            </p:stCondLst>
                            <p:childTnLst>
                              <p:par>
                                <p:cTn id="1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2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20"/>
                                        <p:tgtEl>
                                          <p:spTgt spid="7">
                                            <p:graphicEl>
                                              <a:chart seriesIdx="-4" categoryIdx="2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2830"/>
                            </p:stCondLst>
                            <p:childTnLst>
                              <p:par>
                                <p:cTn id="1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2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20"/>
                                        <p:tgtEl>
                                          <p:spTgt spid="7">
                                            <p:graphicEl>
                                              <a:chart seriesIdx="-4" categoryIdx="2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2850"/>
                            </p:stCondLst>
                            <p:childTnLst>
                              <p:par>
                                <p:cTn id="1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2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20"/>
                                        <p:tgtEl>
                                          <p:spTgt spid="7">
                                            <p:graphicEl>
                                              <a:chart seriesIdx="-4" categoryIdx="2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2870"/>
                            </p:stCondLst>
                            <p:childTnLst>
                              <p:par>
                                <p:cTn id="1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3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20"/>
                                        <p:tgtEl>
                                          <p:spTgt spid="7">
                                            <p:graphicEl>
                                              <a:chart seriesIdx="-4" categoryIdx="3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2890"/>
                            </p:stCondLst>
                            <p:childTnLst>
                              <p:par>
                                <p:cTn id="1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3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20"/>
                                        <p:tgtEl>
                                          <p:spTgt spid="7">
                                            <p:graphicEl>
                                              <a:chart seriesIdx="-4" categoryIdx="3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2910"/>
                            </p:stCondLst>
                            <p:childTnLst>
                              <p:par>
                                <p:cTn id="1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3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20"/>
                                        <p:tgtEl>
                                          <p:spTgt spid="7">
                                            <p:graphicEl>
                                              <a:chart seriesIdx="-4" categoryIdx="3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2930"/>
                            </p:stCondLst>
                            <p:childTnLst>
                              <p:par>
                                <p:cTn id="1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3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20"/>
                                        <p:tgtEl>
                                          <p:spTgt spid="7">
                                            <p:graphicEl>
                                              <a:chart seriesIdx="-4" categoryIdx="3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2950"/>
                            </p:stCondLst>
                            <p:childTnLst>
                              <p:par>
                                <p:cTn id="1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3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20"/>
                                        <p:tgtEl>
                                          <p:spTgt spid="7">
                                            <p:graphicEl>
                                              <a:chart seriesIdx="-4" categoryIdx="3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2970"/>
                            </p:stCondLst>
                            <p:childTnLst>
                              <p:par>
                                <p:cTn id="1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3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20"/>
                                        <p:tgtEl>
                                          <p:spTgt spid="7">
                                            <p:graphicEl>
                                              <a:chart seriesIdx="-4" categoryIdx="3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2990"/>
                            </p:stCondLst>
                            <p:childTnLst>
                              <p:par>
                                <p:cTn id="1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3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20"/>
                                        <p:tgtEl>
                                          <p:spTgt spid="7">
                                            <p:graphicEl>
                                              <a:chart seriesIdx="-4" categoryIdx="3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3010"/>
                            </p:stCondLst>
                            <p:childTnLst>
                              <p:par>
                                <p:cTn id="1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3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20"/>
                                        <p:tgtEl>
                                          <p:spTgt spid="7">
                                            <p:graphicEl>
                                              <a:chart seriesIdx="-4" categoryIdx="3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3030"/>
                            </p:stCondLst>
                            <p:childTnLst>
                              <p:par>
                                <p:cTn id="1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3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20"/>
                                        <p:tgtEl>
                                          <p:spTgt spid="7">
                                            <p:graphicEl>
                                              <a:chart seriesIdx="-4" categoryIdx="3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3050"/>
                            </p:stCondLst>
                            <p:childTnLst>
                              <p:par>
                                <p:cTn id="1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3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20"/>
                                        <p:tgtEl>
                                          <p:spTgt spid="7">
                                            <p:graphicEl>
                                              <a:chart seriesIdx="-4" categoryIdx="3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3070"/>
                            </p:stCondLst>
                            <p:childTnLst>
                              <p:par>
                                <p:cTn id="1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4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20"/>
                                        <p:tgtEl>
                                          <p:spTgt spid="7">
                                            <p:graphicEl>
                                              <a:chart seriesIdx="-4" categoryIdx="4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3090"/>
                            </p:stCondLst>
                            <p:childTnLst>
                              <p:par>
                                <p:cTn id="1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4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20"/>
                                        <p:tgtEl>
                                          <p:spTgt spid="7">
                                            <p:graphicEl>
                                              <a:chart seriesIdx="-4" categoryIdx="4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3110"/>
                            </p:stCondLst>
                            <p:childTnLst>
                              <p:par>
                                <p:cTn id="1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4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20"/>
                                        <p:tgtEl>
                                          <p:spTgt spid="7">
                                            <p:graphicEl>
                                              <a:chart seriesIdx="-4" categoryIdx="4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3130"/>
                            </p:stCondLst>
                            <p:childTnLst>
                              <p:par>
                                <p:cTn id="1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4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20"/>
                                        <p:tgtEl>
                                          <p:spTgt spid="7">
                                            <p:graphicEl>
                                              <a:chart seriesIdx="-4" categoryIdx="4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3150"/>
                            </p:stCondLst>
                            <p:childTnLst>
                              <p:par>
                                <p:cTn id="2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4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20"/>
                                        <p:tgtEl>
                                          <p:spTgt spid="7">
                                            <p:graphicEl>
                                              <a:chart seriesIdx="-4" categoryIdx="4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3170"/>
                            </p:stCondLst>
                            <p:childTnLst>
                              <p:par>
                                <p:cTn id="2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4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20"/>
                                        <p:tgtEl>
                                          <p:spTgt spid="7">
                                            <p:graphicEl>
                                              <a:chart seriesIdx="-4" categoryIdx="4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3190"/>
                            </p:stCondLst>
                            <p:childTnLst>
                              <p:par>
                                <p:cTn id="2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4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20"/>
                                        <p:tgtEl>
                                          <p:spTgt spid="7">
                                            <p:graphicEl>
                                              <a:chart seriesIdx="-4" categoryIdx="4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3210"/>
                            </p:stCondLst>
                            <p:childTnLst>
                              <p:par>
                                <p:cTn id="2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4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20"/>
                                        <p:tgtEl>
                                          <p:spTgt spid="7">
                                            <p:graphicEl>
                                              <a:chart seriesIdx="-4" categoryIdx="4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3230"/>
                            </p:stCondLst>
                            <p:childTnLst>
                              <p:par>
                                <p:cTn id="2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4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20"/>
                                        <p:tgtEl>
                                          <p:spTgt spid="7">
                                            <p:graphicEl>
                                              <a:chart seriesIdx="-4" categoryIdx="4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3250"/>
                            </p:stCondLst>
                            <p:childTnLst>
                              <p:par>
                                <p:cTn id="2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4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20"/>
                                        <p:tgtEl>
                                          <p:spTgt spid="7">
                                            <p:graphicEl>
                                              <a:chart seriesIdx="-4" categoryIdx="4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3270"/>
                            </p:stCondLst>
                            <p:childTnLst>
                              <p:par>
                                <p:cTn id="2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5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20"/>
                                        <p:tgtEl>
                                          <p:spTgt spid="7">
                                            <p:graphicEl>
                                              <a:chart seriesIdx="-4" categoryIdx="5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3290"/>
                            </p:stCondLst>
                            <p:childTnLst>
                              <p:par>
                                <p:cTn id="2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5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20"/>
                                        <p:tgtEl>
                                          <p:spTgt spid="7">
                                            <p:graphicEl>
                                              <a:chart seriesIdx="-4" categoryIdx="5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3310"/>
                            </p:stCondLst>
                            <p:childTnLst>
                              <p:par>
                                <p:cTn id="2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5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20"/>
                                        <p:tgtEl>
                                          <p:spTgt spid="7">
                                            <p:graphicEl>
                                              <a:chart seriesIdx="-4" categoryIdx="5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3330"/>
                            </p:stCondLst>
                            <p:childTnLst>
                              <p:par>
                                <p:cTn id="237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Chart bld="category"/>
        </p:bldSub>
      </p:bldGraphic>
      <p:bldP spid="6" grpId="0"/>
      <p:bldP spid="9" grpId="0" animBg="1"/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70146C9C-EFC7-4D0B-9225-F57E1C8EE0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2557865"/>
              </p:ext>
            </p:extLst>
          </p:nvPr>
        </p:nvGraphicFramePr>
        <p:xfrm>
          <a:off x="104497" y="1771680"/>
          <a:ext cx="4313989" cy="33843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Marcador de contenido 12">
            <a:extLst>
              <a:ext uri="{FF2B5EF4-FFF2-40B4-BE49-F238E27FC236}">
                <a16:creationId xmlns:a16="http://schemas.microsoft.com/office/drawing/2014/main" id="{F9491057-4A63-4D58-A637-031E116381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0745441"/>
              </p:ext>
            </p:extLst>
          </p:nvPr>
        </p:nvGraphicFramePr>
        <p:xfrm>
          <a:off x="191401" y="5445224"/>
          <a:ext cx="4274444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7222">
                  <a:extLst>
                    <a:ext uri="{9D8B030D-6E8A-4147-A177-3AD203B41FA5}">
                      <a16:colId xmlns:a16="http://schemas.microsoft.com/office/drawing/2014/main" val="3181701745"/>
                    </a:ext>
                  </a:extLst>
                </a:gridCol>
                <a:gridCol w="2137222">
                  <a:extLst>
                    <a:ext uri="{9D8B030D-6E8A-4147-A177-3AD203B41FA5}">
                      <a16:colId xmlns:a16="http://schemas.microsoft.com/office/drawing/2014/main" val="136087557"/>
                    </a:ext>
                  </a:extLst>
                </a:gridCol>
              </a:tblGrid>
              <a:tr h="192021">
                <a:tc gridSpan="2"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Tasa de crecimiento promedio anual</a:t>
                      </a:r>
                    </a:p>
                  </a:txBody>
                  <a:tcPr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747716"/>
                  </a:ext>
                </a:extLst>
              </a:tr>
              <a:tr h="192021">
                <a:tc>
                  <a:txBody>
                    <a:bodyPr/>
                    <a:lstStyle/>
                    <a:p>
                      <a:pPr algn="r"/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BNA</a:t>
                      </a:r>
                    </a:p>
                  </a:txBody>
                  <a:tcPr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25%</a:t>
                      </a:r>
                    </a:p>
                  </a:txBody>
                  <a:tcPr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429703"/>
                  </a:ext>
                </a:extLst>
              </a:tr>
              <a:tr h="192021">
                <a:tc>
                  <a:txBody>
                    <a:bodyPr/>
                    <a:lstStyle/>
                    <a:p>
                      <a:pPr algn="r"/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Resto</a:t>
                      </a:r>
                    </a:p>
                  </a:txBody>
                  <a:tcPr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18%</a:t>
                      </a:r>
                    </a:p>
                  </a:txBody>
                  <a:tcPr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9471135"/>
                  </a:ext>
                </a:extLst>
              </a:tr>
            </a:tbl>
          </a:graphicData>
        </a:graphic>
      </p:graphicFrame>
      <p:graphicFrame>
        <p:nvGraphicFramePr>
          <p:cNvPr id="12" name="1 Gráfico">
            <a:extLst>
              <a:ext uri="{FF2B5EF4-FFF2-40B4-BE49-F238E27FC236}">
                <a16:creationId xmlns:a16="http://schemas.microsoft.com/office/drawing/2014/main" id="{BA4FF56B-CC3A-43DC-9FCC-079590E36B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0346453"/>
              </p:ext>
            </p:extLst>
          </p:nvPr>
        </p:nvGraphicFramePr>
        <p:xfrm>
          <a:off x="4677800" y="1771680"/>
          <a:ext cx="4214680" cy="33843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3" name="Marcador de contenido 12">
            <a:extLst>
              <a:ext uri="{FF2B5EF4-FFF2-40B4-BE49-F238E27FC236}">
                <a16:creationId xmlns:a16="http://schemas.microsoft.com/office/drawing/2014/main" id="{3C8B9612-EB26-4D1B-BA1D-C357C1402B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2924141"/>
              </p:ext>
            </p:extLst>
          </p:nvPr>
        </p:nvGraphicFramePr>
        <p:xfrm>
          <a:off x="4618036" y="5445224"/>
          <a:ext cx="4274444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7222">
                  <a:extLst>
                    <a:ext uri="{9D8B030D-6E8A-4147-A177-3AD203B41FA5}">
                      <a16:colId xmlns:a16="http://schemas.microsoft.com/office/drawing/2014/main" val="3181701745"/>
                    </a:ext>
                  </a:extLst>
                </a:gridCol>
                <a:gridCol w="2137222">
                  <a:extLst>
                    <a:ext uri="{9D8B030D-6E8A-4147-A177-3AD203B41FA5}">
                      <a16:colId xmlns:a16="http://schemas.microsoft.com/office/drawing/2014/main" val="136087557"/>
                    </a:ext>
                  </a:extLst>
                </a:gridCol>
              </a:tblGrid>
              <a:tr h="192021">
                <a:tc gridSpan="2"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Ratio promedio</a:t>
                      </a:r>
                    </a:p>
                  </a:txBody>
                  <a:tcPr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747716"/>
                  </a:ext>
                </a:extLst>
              </a:tr>
              <a:tr h="313549">
                <a:tc>
                  <a:txBody>
                    <a:bodyPr/>
                    <a:lstStyle/>
                    <a:p>
                      <a:pPr algn="r"/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BNA</a:t>
                      </a:r>
                    </a:p>
                  </a:txBody>
                  <a:tcPr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46%</a:t>
                      </a:r>
                    </a:p>
                  </a:txBody>
                  <a:tcPr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429703"/>
                  </a:ext>
                </a:extLst>
              </a:tr>
              <a:tr h="192021">
                <a:tc>
                  <a:txBody>
                    <a:bodyPr/>
                    <a:lstStyle/>
                    <a:p>
                      <a:pPr algn="r"/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Resto</a:t>
                      </a:r>
                    </a:p>
                  </a:txBody>
                  <a:tcPr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36%</a:t>
                      </a:r>
                    </a:p>
                  </a:txBody>
                  <a:tcPr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9471135"/>
                  </a:ext>
                </a:extLst>
              </a:tr>
            </a:tbl>
          </a:graphicData>
        </a:graphic>
      </p:graphicFrame>
      <p:sp>
        <p:nvSpPr>
          <p:cNvPr id="11" name="Título 4">
            <a:extLst>
              <a:ext uri="{FF2B5EF4-FFF2-40B4-BE49-F238E27FC236}">
                <a16:creationId xmlns:a16="http://schemas.microsoft.com/office/drawing/2014/main" id="{DC0585B4-ECAA-4A4F-A7A3-0D40352FBBF8}"/>
              </a:ext>
            </a:extLst>
          </p:cNvPr>
          <p:cNvSpPr txBox="1">
            <a:spLocks/>
          </p:cNvSpPr>
          <p:nvPr/>
        </p:nvSpPr>
        <p:spPr>
          <a:xfrm>
            <a:off x="-15957" y="-4997"/>
            <a:ext cx="7886700" cy="75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4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El Sistema Bancario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2E5EA47E-8F9B-4DA2-8751-F353CACF11B0}"/>
              </a:ext>
            </a:extLst>
          </p:cNvPr>
          <p:cNvSpPr/>
          <p:nvPr/>
        </p:nvSpPr>
        <p:spPr>
          <a:xfrm>
            <a:off x="695300" y="1147260"/>
            <a:ext cx="3597937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DEPÓSITOS REALES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0CD6FB41-611B-4583-BEB0-639D175994D3}"/>
              </a:ext>
            </a:extLst>
          </p:cNvPr>
          <p:cNvSpPr/>
          <p:nvPr/>
        </p:nvSpPr>
        <p:spPr>
          <a:xfrm>
            <a:off x="4817587" y="1147260"/>
            <a:ext cx="3597937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RATIO R/D</a:t>
            </a:r>
          </a:p>
        </p:txBody>
      </p:sp>
    </p:spTree>
    <p:extLst>
      <p:ext uri="{BB962C8B-B14F-4D97-AF65-F5344CB8AC3E}">
        <p14:creationId xmlns:p14="http://schemas.microsoft.com/office/powerpoint/2010/main" val="2096367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"/>
                                        <p:tgtEl>
                                          <p:spTgt spid="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2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"/>
                                        <p:tgtEl>
                                          <p:spTgt spid="9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4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"/>
                                        <p:tgtEl>
                                          <p:spTgt spid="9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6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"/>
                                        <p:tgtEl>
                                          <p:spTgt spid="9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8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"/>
                                        <p:tgtEl>
                                          <p:spTgt spid="9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1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"/>
                                        <p:tgtEl>
                                          <p:spTgt spid="9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12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"/>
                                        <p:tgtEl>
                                          <p:spTgt spid="9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14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"/>
                                        <p:tgtEl>
                                          <p:spTgt spid="9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16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"/>
                                        <p:tgtEl>
                                          <p:spTgt spid="9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18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"/>
                                        <p:tgtEl>
                                          <p:spTgt spid="9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2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"/>
                                        <p:tgtEl>
                                          <p:spTgt spid="9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22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"/>
                                        <p:tgtEl>
                                          <p:spTgt spid="9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24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"/>
                                        <p:tgtEl>
                                          <p:spTgt spid="9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26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"/>
                                        <p:tgtEl>
                                          <p:spTgt spid="9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28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"/>
                                        <p:tgtEl>
                                          <p:spTgt spid="9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3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"/>
                                        <p:tgtEl>
                                          <p:spTgt spid="9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32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0"/>
                                        <p:tgtEl>
                                          <p:spTgt spid="9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34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0"/>
                                        <p:tgtEl>
                                          <p:spTgt spid="9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36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0"/>
                                        <p:tgtEl>
                                          <p:spTgt spid="9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38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0"/>
                                        <p:tgtEl>
                                          <p:spTgt spid="9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40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0"/>
                                        <p:tgtEl>
                                          <p:spTgt spid="9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42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20"/>
                                        <p:tgtEl>
                                          <p:spTgt spid="9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44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20"/>
                                        <p:tgtEl>
                                          <p:spTgt spid="9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460"/>
                            </p:stCondLst>
                            <p:childTnLst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0"/>
                                        <p:tgtEl>
                                          <p:spTgt spid="9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2480"/>
                            </p:stCondLst>
                            <p:childTnLst>
                              <p:par>
                                <p:cTn id="1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20"/>
                                        <p:tgtEl>
                                          <p:spTgt spid="9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2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20"/>
                                        <p:tgtEl>
                                          <p:spTgt spid="9">
                                            <p:graphicEl>
                                              <a:chart seriesIdx="-4" categoryIdx="2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2520"/>
                            </p:stCondLst>
                            <p:childTnLst>
                              <p:par>
                                <p:cTn id="1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2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20"/>
                                        <p:tgtEl>
                                          <p:spTgt spid="9">
                                            <p:graphicEl>
                                              <a:chart seriesIdx="-4" categoryIdx="2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540"/>
                            </p:stCondLst>
                            <p:childTnLst>
                              <p:par>
                                <p:cTn id="1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2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20"/>
                                        <p:tgtEl>
                                          <p:spTgt spid="9">
                                            <p:graphicEl>
                                              <a:chart seriesIdx="-4" categoryIdx="2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2560"/>
                            </p:stCondLst>
                            <p:childTnLst>
                              <p:par>
                                <p:cTn id="1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2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20"/>
                                        <p:tgtEl>
                                          <p:spTgt spid="9">
                                            <p:graphicEl>
                                              <a:chart seriesIdx="-4" categoryIdx="2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2580"/>
                            </p:stCondLst>
                            <p:childTnLst>
                              <p:par>
                                <p:cTn id="1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2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20"/>
                                        <p:tgtEl>
                                          <p:spTgt spid="9">
                                            <p:graphicEl>
                                              <a:chart seriesIdx="-4" categoryIdx="2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260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2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20"/>
                                        <p:tgtEl>
                                          <p:spTgt spid="9">
                                            <p:graphicEl>
                                              <a:chart seriesIdx="-4" categoryIdx="2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2620"/>
                            </p:stCondLst>
                            <p:childTnLst>
                              <p:par>
                                <p:cTn id="1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3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20"/>
                                        <p:tgtEl>
                                          <p:spTgt spid="9">
                                            <p:graphicEl>
                                              <a:chart seriesIdx="-4" categoryIdx="3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640"/>
                            </p:stCondLst>
                            <p:childTnLst>
                              <p:par>
                                <p:cTn id="1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3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20"/>
                                        <p:tgtEl>
                                          <p:spTgt spid="9">
                                            <p:graphicEl>
                                              <a:chart seriesIdx="-4" categoryIdx="3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2660"/>
                            </p:stCondLst>
                            <p:childTnLst>
                              <p:par>
                                <p:cTn id="1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3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20"/>
                                        <p:tgtEl>
                                          <p:spTgt spid="9">
                                            <p:graphicEl>
                                              <a:chart seriesIdx="-4" categoryIdx="3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2680"/>
                            </p:stCondLst>
                            <p:childTnLst>
                              <p:par>
                                <p:cTn id="1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3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20"/>
                                        <p:tgtEl>
                                          <p:spTgt spid="9">
                                            <p:graphicEl>
                                              <a:chart seriesIdx="-4" categoryIdx="3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2700"/>
                            </p:stCondLst>
                            <p:childTnLst>
                              <p:par>
                                <p:cTn id="1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3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20"/>
                                        <p:tgtEl>
                                          <p:spTgt spid="9">
                                            <p:graphicEl>
                                              <a:chart seriesIdx="-4" categoryIdx="3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2720"/>
                            </p:stCondLst>
                            <p:childTnLst>
                              <p:par>
                                <p:cTn id="1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3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20"/>
                                        <p:tgtEl>
                                          <p:spTgt spid="9">
                                            <p:graphicEl>
                                              <a:chart seriesIdx="-4" categoryIdx="3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2740"/>
                            </p:stCondLst>
                            <p:childTnLst>
                              <p:par>
                                <p:cTn id="1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3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20"/>
                                        <p:tgtEl>
                                          <p:spTgt spid="9">
                                            <p:graphicEl>
                                              <a:chart seriesIdx="-4" categoryIdx="3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2760"/>
                            </p:stCondLst>
                            <p:childTnLst>
                              <p:par>
                                <p:cTn id="1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3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20"/>
                                        <p:tgtEl>
                                          <p:spTgt spid="9">
                                            <p:graphicEl>
                                              <a:chart seriesIdx="-4" categoryIdx="3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2780"/>
                            </p:stCondLst>
                            <p:childTnLst>
                              <p:par>
                                <p:cTn id="1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3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20"/>
                                        <p:tgtEl>
                                          <p:spTgt spid="9">
                                            <p:graphicEl>
                                              <a:chart seriesIdx="-4" categoryIdx="3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2800"/>
                            </p:stCondLst>
                            <p:childTnLst>
                              <p:par>
                                <p:cTn id="1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3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20"/>
                                        <p:tgtEl>
                                          <p:spTgt spid="9">
                                            <p:graphicEl>
                                              <a:chart seriesIdx="-4" categoryIdx="3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2820"/>
                            </p:stCondLst>
                            <p:childTnLst>
                              <p:par>
                                <p:cTn id="1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4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20"/>
                                        <p:tgtEl>
                                          <p:spTgt spid="9">
                                            <p:graphicEl>
                                              <a:chart seriesIdx="-4" categoryIdx="4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2840"/>
                            </p:stCondLst>
                            <p:childTnLst>
                              <p:par>
                                <p:cTn id="1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4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20"/>
                                        <p:tgtEl>
                                          <p:spTgt spid="9">
                                            <p:graphicEl>
                                              <a:chart seriesIdx="-4" categoryIdx="4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2860"/>
                            </p:stCondLst>
                            <p:childTnLst>
                              <p:par>
                                <p:cTn id="1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4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20"/>
                                        <p:tgtEl>
                                          <p:spTgt spid="9">
                                            <p:graphicEl>
                                              <a:chart seriesIdx="-4" categoryIdx="4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2880"/>
                            </p:stCondLst>
                            <p:childTnLst>
                              <p:par>
                                <p:cTn id="1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4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20"/>
                                        <p:tgtEl>
                                          <p:spTgt spid="9">
                                            <p:graphicEl>
                                              <a:chart seriesIdx="-4" categoryIdx="4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2900"/>
                            </p:stCondLst>
                            <p:childTnLst>
                              <p:par>
                                <p:cTn id="1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4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20"/>
                                        <p:tgtEl>
                                          <p:spTgt spid="9">
                                            <p:graphicEl>
                                              <a:chart seriesIdx="-4" categoryIdx="4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2920"/>
                            </p:stCondLst>
                            <p:childTnLst>
                              <p:par>
                                <p:cTn id="1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4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20"/>
                                        <p:tgtEl>
                                          <p:spTgt spid="9">
                                            <p:graphicEl>
                                              <a:chart seriesIdx="-4" categoryIdx="4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2940"/>
                            </p:stCondLst>
                            <p:childTnLst>
                              <p:par>
                                <p:cTn id="2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4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20"/>
                                        <p:tgtEl>
                                          <p:spTgt spid="9">
                                            <p:graphicEl>
                                              <a:chart seriesIdx="-4" categoryIdx="4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2960"/>
                            </p:stCondLst>
                            <p:childTnLst>
                              <p:par>
                                <p:cTn id="2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4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20"/>
                                        <p:tgtEl>
                                          <p:spTgt spid="9">
                                            <p:graphicEl>
                                              <a:chart seriesIdx="-4" categoryIdx="4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2980"/>
                            </p:stCondLst>
                            <p:childTnLst>
                              <p:par>
                                <p:cTn id="2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4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20"/>
                                        <p:tgtEl>
                                          <p:spTgt spid="9">
                                            <p:graphicEl>
                                              <a:chart seriesIdx="-4" categoryIdx="4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3000"/>
                            </p:stCondLst>
                            <p:childTnLst>
                              <p:par>
                                <p:cTn id="2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4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20"/>
                                        <p:tgtEl>
                                          <p:spTgt spid="9">
                                            <p:graphicEl>
                                              <a:chart seriesIdx="-4" categoryIdx="4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3020"/>
                            </p:stCondLst>
                            <p:childTnLst>
                              <p:par>
                                <p:cTn id="2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5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20"/>
                                        <p:tgtEl>
                                          <p:spTgt spid="9">
                                            <p:graphicEl>
                                              <a:chart seriesIdx="-4" categoryIdx="5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3040"/>
                            </p:stCondLst>
                            <p:childTnLst>
                              <p:par>
                                <p:cTn id="2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5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20"/>
                                        <p:tgtEl>
                                          <p:spTgt spid="9">
                                            <p:graphicEl>
                                              <a:chart seriesIdx="-4" categoryIdx="5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3060"/>
                            </p:stCondLst>
                            <p:childTnLst>
                              <p:par>
                                <p:cTn id="2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5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20"/>
                                        <p:tgtEl>
                                          <p:spTgt spid="9">
                                            <p:graphicEl>
                                              <a:chart seriesIdx="-4" categoryIdx="5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3080"/>
                            </p:stCondLst>
                            <p:childTnLst>
                              <p:par>
                                <p:cTn id="2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5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20"/>
                                        <p:tgtEl>
                                          <p:spTgt spid="9">
                                            <p:graphicEl>
                                              <a:chart seriesIdx="-4" categoryIdx="5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3100"/>
                            </p:stCondLst>
                            <p:childTnLst>
                              <p:par>
                                <p:cTn id="2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5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20"/>
                                        <p:tgtEl>
                                          <p:spTgt spid="9">
                                            <p:graphicEl>
                                              <a:chart seriesIdx="-4" categoryIdx="5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3120"/>
                            </p:stCondLst>
                            <p:childTnLst>
                              <p:par>
                                <p:cTn id="2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5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20"/>
                                        <p:tgtEl>
                                          <p:spTgt spid="9">
                                            <p:graphicEl>
                                              <a:chart seriesIdx="-4" categoryIdx="5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3140"/>
                            </p:stCondLst>
                            <p:childTnLst>
                              <p:par>
                                <p:cTn id="2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5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20"/>
                                        <p:tgtEl>
                                          <p:spTgt spid="9">
                                            <p:graphicEl>
                                              <a:chart seriesIdx="-4" categoryIdx="5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6" fill="hold">
                            <p:stCondLst>
                              <p:cond delay="3160"/>
                            </p:stCondLst>
                            <p:childTnLst>
                              <p:par>
                                <p:cTn id="2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5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20"/>
                                        <p:tgtEl>
                                          <p:spTgt spid="9">
                                            <p:graphicEl>
                                              <a:chart seriesIdx="-4" categoryIdx="5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3180"/>
                            </p:stCondLst>
                            <p:childTnLst>
                              <p:par>
                                <p:cTn id="2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5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20"/>
                                        <p:tgtEl>
                                          <p:spTgt spid="9">
                                            <p:graphicEl>
                                              <a:chart seriesIdx="-4" categoryIdx="5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3200"/>
                            </p:stCondLst>
                            <p:childTnLst>
                              <p:par>
                                <p:cTn id="2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5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20"/>
                                        <p:tgtEl>
                                          <p:spTgt spid="9">
                                            <p:graphicEl>
                                              <a:chart seriesIdx="-4" categoryIdx="5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>
                            <p:stCondLst>
                              <p:cond delay="3220"/>
                            </p:stCondLst>
                            <p:childTnLst>
                              <p:par>
                                <p:cTn id="259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4720"/>
                            </p:stCondLst>
                            <p:childTnLst>
                              <p:par>
                                <p:cTn id="26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5220"/>
                            </p:stCondLst>
                            <p:childTnLst>
                              <p:par>
                                <p:cTn id="2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100"/>
                                        <p:tgtEl>
                                          <p:spTgt spid="12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3" fill="hold">
                            <p:stCondLst>
                              <p:cond delay="5320"/>
                            </p:stCondLst>
                            <p:childTnLst>
                              <p:par>
                                <p:cTn id="2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100"/>
                                        <p:tgtEl>
                                          <p:spTgt spid="12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5420"/>
                            </p:stCondLst>
                            <p:childTnLst>
                              <p:par>
                                <p:cTn id="2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100"/>
                                        <p:tgtEl>
                                          <p:spTgt spid="12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5520"/>
                            </p:stCondLst>
                            <p:childTnLst>
                              <p:par>
                                <p:cTn id="2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100"/>
                                        <p:tgtEl>
                                          <p:spTgt spid="12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5" fill="hold">
                            <p:stCondLst>
                              <p:cond delay="5620"/>
                            </p:stCondLst>
                            <p:childTnLst>
                              <p:par>
                                <p:cTn id="2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100"/>
                                        <p:tgtEl>
                                          <p:spTgt spid="12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5720"/>
                            </p:stCondLst>
                            <p:childTnLst>
                              <p:par>
                                <p:cTn id="2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100"/>
                                        <p:tgtEl>
                                          <p:spTgt spid="12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>
                            <p:stCondLst>
                              <p:cond delay="5820"/>
                            </p:stCondLst>
                            <p:childTnLst>
                              <p:par>
                                <p:cTn id="29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Sub>
          <a:bldChart bld="category"/>
        </p:bldSub>
      </p:bldGraphic>
      <p:bldGraphic spid="12" grpId="0">
        <p:bldSub>
          <a:bldChart bld="category"/>
        </p:bldSub>
      </p:bldGraphic>
      <p:bldP spid="11" grpId="0"/>
      <p:bldP spid="14" grpId="0" animBg="1"/>
      <p:bldP spid="1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Gráfico 14">
            <a:extLst>
              <a:ext uri="{FF2B5EF4-FFF2-40B4-BE49-F238E27FC236}">
                <a16:creationId xmlns:a16="http://schemas.microsoft.com/office/drawing/2014/main" id="{BABB11C8-B662-4D6C-AE88-5838247A08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7248487"/>
              </p:ext>
            </p:extLst>
          </p:nvPr>
        </p:nvGraphicFramePr>
        <p:xfrm>
          <a:off x="251520" y="2411796"/>
          <a:ext cx="4274760" cy="29614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Gráfico 15">
            <a:extLst>
              <a:ext uri="{FF2B5EF4-FFF2-40B4-BE49-F238E27FC236}">
                <a16:creationId xmlns:a16="http://schemas.microsoft.com/office/drawing/2014/main" id="{F00181BE-34B6-46DD-BAAD-C500FFBF88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7261585"/>
              </p:ext>
            </p:extLst>
          </p:nvPr>
        </p:nvGraphicFramePr>
        <p:xfrm>
          <a:off x="4617720" y="2411797"/>
          <a:ext cx="4274760" cy="23133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C0171D0F-A3FB-4E7D-AEFB-F97D49C4DC90}"/>
              </a:ext>
            </a:extLst>
          </p:cNvPr>
          <p:cNvSpPr/>
          <p:nvPr/>
        </p:nvSpPr>
        <p:spPr>
          <a:xfrm>
            <a:off x="4966321" y="5057763"/>
            <a:ext cx="3926159" cy="1762125"/>
          </a:xfrm>
          <a:prstGeom prst="roundRect">
            <a:avLst>
              <a:gd name="adj" fmla="val 563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Formas de financiamiento</a:t>
            </a:r>
          </a:p>
          <a:p>
            <a:pPr marL="285750" indent="-285750" algn="ctr">
              <a:buFontTx/>
              <a:buChar char="-"/>
            </a:pPr>
            <a:r>
              <a:rPr lang="es-ES" sz="1600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Descubiertos en cuenta de la Tesorería General</a:t>
            </a:r>
          </a:p>
          <a:p>
            <a:pPr marL="285750" indent="-285750" algn="ctr">
              <a:buFontTx/>
              <a:buChar char="-"/>
            </a:pPr>
            <a:r>
              <a:rPr lang="es-ES" sz="1600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Fondos Públicos Nacionales</a:t>
            </a:r>
          </a:p>
          <a:p>
            <a:pPr marL="285750" indent="-285750" algn="ctr">
              <a:buFontTx/>
              <a:buChar char="-"/>
            </a:pPr>
            <a:r>
              <a:rPr lang="es-ES" sz="1600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Redescuentos de Letras de Tesorería</a:t>
            </a:r>
          </a:p>
          <a:p>
            <a:pPr marL="285750" indent="-285750" algn="ctr">
              <a:buFontTx/>
              <a:buChar char="-"/>
            </a:pPr>
            <a:r>
              <a:rPr lang="es-ES" sz="1600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Préstamos Oficiales</a:t>
            </a:r>
          </a:p>
        </p:txBody>
      </p:sp>
      <p:sp>
        <p:nvSpPr>
          <p:cNvPr id="10" name="Título 4">
            <a:extLst>
              <a:ext uri="{FF2B5EF4-FFF2-40B4-BE49-F238E27FC236}">
                <a16:creationId xmlns:a16="http://schemas.microsoft.com/office/drawing/2014/main" id="{B811010B-8190-4A62-A03F-24BE0BBE9488}"/>
              </a:ext>
            </a:extLst>
          </p:cNvPr>
          <p:cNvSpPr txBox="1">
            <a:spLocks/>
          </p:cNvSpPr>
          <p:nvPr/>
        </p:nvSpPr>
        <p:spPr>
          <a:xfrm>
            <a:off x="-15958" y="-4996"/>
            <a:ext cx="9159957" cy="12737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El Banco de la Nación y las funciones “</a:t>
            </a:r>
            <a:r>
              <a:rPr lang="es-ES" sz="3200" i="1" dirty="0" err="1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bancocentralistas</a:t>
            </a:r>
            <a:r>
              <a:rPr lang="es-ES" sz="32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”</a:t>
            </a:r>
            <a:br>
              <a:rPr lang="es-ES" sz="32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</a:br>
            <a:r>
              <a:rPr lang="es-ES" sz="2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(Ejercicio Contrafactual)</a:t>
            </a:r>
            <a:endParaRPr lang="es-ES" sz="3200" i="1" dirty="0"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  <a:cs typeface="Browallia New" panose="020B0604020202020204" pitchFamily="34" charset="-34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9CEAEDAF-A743-4B17-AA74-313995AE3AB1}"/>
              </a:ext>
            </a:extLst>
          </p:cNvPr>
          <p:cNvSpPr/>
          <p:nvPr/>
        </p:nvSpPr>
        <p:spPr>
          <a:xfrm>
            <a:off x="625776" y="1484784"/>
            <a:ext cx="3597937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RESTO DE LOS BANCOS (R/D)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5DDD0715-A5BD-4C1B-A9BD-F83DD2A7A9B5}"/>
              </a:ext>
            </a:extLst>
          </p:cNvPr>
          <p:cNvSpPr/>
          <p:nvPr/>
        </p:nvSpPr>
        <p:spPr>
          <a:xfrm>
            <a:off x="4966322" y="1484784"/>
            <a:ext cx="3597937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ESTADO (RDO. FIN.)</a:t>
            </a:r>
          </a:p>
        </p:txBody>
      </p:sp>
    </p:spTree>
    <p:extLst>
      <p:ext uri="{BB962C8B-B14F-4D97-AF65-F5344CB8AC3E}">
        <p14:creationId xmlns:p14="http://schemas.microsoft.com/office/powerpoint/2010/main" val="2190555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"/>
                                        <p:tgtEl>
                                          <p:spTgt spid="15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"/>
                                        <p:tgtEl>
                                          <p:spTgt spid="15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4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"/>
                                        <p:tgtEl>
                                          <p:spTgt spid="15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"/>
                                        <p:tgtEl>
                                          <p:spTgt spid="15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6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"/>
                                        <p:tgtEl>
                                          <p:spTgt spid="15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75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"/>
                                        <p:tgtEl>
                                          <p:spTgt spid="15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850"/>
                            </p:stCondLst>
                            <p:childTnLst>
                              <p:par>
                                <p:cTn id="39" presetID="2" presetClass="entr" presetSubtype="1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1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"/>
                                        <p:tgtEl>
                                          <p:spTgt spid="1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2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"/>
                                        <p:tgtEl>
                                          <p:spTgt spid="1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3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"/>
                                        <p:tgtEl>
                                          <p:spTgt spid="1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4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"/>
                                        <p:tgtEl>
                                          <p:spTgt spid="1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"/>
                                        <p:tgtEl>
                                          <p:spTgt spid="16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6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"/>
                                        <p:tgtEl>
                                          <p:spTgt spid="16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7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"/>
                                        <p:tgtEl>
                                          <p:spTgt spid="16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800"/>
                            </p:stCondLst>
                            <p:childTnLst>
                              <p:par>
                                <p:cTn id="72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75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750" fill="hold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750" fill="hold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800"/>
                            </p:stCondLst>
                            <p:childTnLst>
                              <p:par>
                                <p:cTn id="78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75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75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800"/>
                            </p:stCondLst>
                            <p:childTnLst>
                              <p:par>
                                <p:cTn id="84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5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75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75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6800"/>
                            </p:stCondLst>
                            <p:childTnLst>
                              <p:par>
                                <p:cTn id="90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5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5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5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7800"/>
                            </p:stCondLst>
                            <p:childTnLst>
                              <p:par>
                                <p:cTn id="96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5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75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75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8800"/>
                            </p:stCondLst>
                            <p:childTnLst>
                              <p:par>
                                <p:cTn id="102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75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75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75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5" grpId="0">
        <p:bldSub>
          <a:bldChart bld="category"/>
        </p:bldSub>
      </p:bldGraphic>
      <p:bldGraphic spid="16" grpId="0">
        <p:bldSub>
          <a:bldChart bld="category"/>
        </p:bldSub>
      </p:bldGraphic>
      <p:bldP spid="17" grpId="0" build="p" animBg="1"/>
      <p:bldP spid="10" grpId="0"/>
      <p:bldP spid="12" grpId="0" animBg="1"/>
      <p:bldP spid="1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1285852" y="81892"/>
            <a:ext cx="6815141" cy="6463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lang="es-AR" sz="32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ea typeface="+mj-ea"/>
                <a:cs typeface="Browallia New" panose="020B0604020202020204" pitchFamily="34" charset="-34"/>
              </a:rPr>
              <a:t>Performance del </a:t>
            </a:r>
            <a:r>
              <a:rPr lang="es-AR" sz="3200" i="1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ea typeface="+mj-ea"/>
                <a:cs typeface="Browallia New" panose="020B0604020202020204" pitchFamily="34" charset="-34"/>
              </a:rPr>
              <a:t>Banco Nación</a:t>
            </a:r>
            <a:endParaRPr lang="es-ES" sz="3200" i="1" dirty="0"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  <a:ea typeface="+mj-ea"/>
              <a:cs typeface="Browallia New" panose="020B0604020202020204" pitchFamily="34" charset="-34"/>
            </a:endParaRPr>
          </a:p>
        </p:txBody>
      </p:sp>
      <p:pic>
        <p:nvPicPr>
          <p:cNvPr id="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3071810"/>
            <a:ext cx="3168351" cy="1666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7 CuadroTexto"/>
          <p:cNvSpPr txBox="1"/>
          <p:nvPr/>
        </p:nvSpPr>
        <p:spPr>
          <a:xfrm>
            <a:off x="0" y="2734622"/>
            <a:ext cx="5643570" cy="40011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b="1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/>
              <a:t>Liquidez: Ratio Reservas /Depósitos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5975651" y="1871533"/>
            <a:ext cx="2857520" cy="120027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b="1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/>
              <a:t>Valores Referencia</a:t>
            </a:r>
          </a:p>
          <a:p>
            <a:r>
              <a:rPr lang="es-AR" dirty="0"/>
              <a:t>Dpto. </a:t>
            </a:r>
            <a:r>
              <a:rPr lang="es-AR" dirty="0" err="1"/>
              <a:t>Ccial</a:t>
            </a:r>
            <a:r>
              <a:rPr lang="es-AR" dirty="0"/>
              <a:t>. Banco de Inglaterra</a:t>
            </a: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1128526"/>
            <a:ext cx="3384376" cy="1599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10 CuadroTexto"/>
          <p:cNvSpPr txBox="1"/>
          <p:nvPr/>
        </p:nvSpPr>
        <p:spPr>
          <a:xfrm>
            <a:off x="0" y="785794"/>
            <a:ext cx="5643570" cy="40011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b="1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/>
              <a:t>Tasa de crec. real de los depósitos (</a:t>
            </a:r>
            <a:r>
              <a:rPr lang="es-AR" dirty="0" err="1"/>
              <a:t>prom.mensual</a:t>
            </a:r>
            <a:r>
              <a:rPr lang="es-AR" dirty="0"/>
              <a:t>)</a:t>
            </a:r>
          </a:p>
        </p:txBody>
      </p:sp>
      <p:pic>
        <p:nvPicPr>
          <p:cNvPr id="12" name="Picture 6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5201022"/>
            <a:ext cx="3168352" cy="1684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12 CuadroTexto"/>
          <p:cNvSpPr txBox="1"/>
          <p:nvPr/>
        </p:nvSpPr>
        <p:spPr>
          <a:xfrm>
            <a:off x="0" y="4816802"/>
            <a:ext cx="5643570" cy="40011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b="1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/>
              <a:t>Solvencia: Ratio Capital/Activo</a:t>
            </a:r>
          </a:p>
        </p:txBody>
      </p:sp>
      <p:graphicFrame>
        <p:nvGraphicFramePr>
          <p:cNvPr id="18" name="17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1049632"/>
              </p:ext>
            </p:extLst>
          </p:nvPr>
        </p:nvGraphicFramePr>
        <p:xfrm>
          <a:off x="5975651" y="3103954"/>
          <a:ext cx="2840037" cy="1877187"/>
        </p:xfrm>
        <a:graphic>
          <a:graphicData uri="http://schemas.openxmlformats.org/drawingml/2006/table">
            <a:tbl>
              <a:tblPr/>
              <a:tblGrid>
                <a:gridCol w="113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Sub-períodos</a:t>
                      </a:r>
                      <a:endParaRPr lang="es-ES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Reservas/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Depósitos</a:t>
                      </a:r>
                      <a:endParaRPr lang="es-ES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Capital/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Activo</a:t>
                      </a:r>
                      <a:endParaRPr lang="es-ES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1909-1913</a:t>
                      </a:r>
                      <a:endParaRPr lang="es-ES" sz="160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47%</a:t>
                      </a:r>
                      <a:endParaRPr lang="es-ES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20%</a:t>
                      </a:r>
                      <a:endParaRPr lang="es-ES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1914-1919</a:t>
                      </a:r>
                      <a:endParaRPr lang="es-ES" sz="160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22%</a:t>
                      </a:r>
                      <a:endParaRPr lang="es-ES" sz="160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9%</a:t>
                      </a:r>
                      <a:endParaRPr lang="es-ES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1920-1926</a:t>
                      </a:r>
                      <a:endParaRPr lang="es-ES" sz="160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17%</a:t>
                      </a:r>
                      <a:endParaRPr lang="es-ES" sz="160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10%</a:t>
                      </a:r>
                      <a:endParaRPr lang="es-ES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1927-1928</a:t>
                      </a:r>
                      <a:endParaRPr lang="es-ES" sz="160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34%</a:t>
                      </a:r>
                      <a:endParaRPr lang="es-ES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11%</a:t>
                      </a:r>
                      <a:endParaRPr lang="es-ES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4" name="Gráfico 13" descr="Advertencia">
            <a:extLst>
              <a:ext uri="{FF2B5EF4-FFF2-40B4-BE49-F238E27FC236}">
                <a16:creationId xmlns:a16="http://schemas.microsoft.com/office/drawing/2014/main" id="{923996E7-FE77-44CF-9F8E-A8304CEEF8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27144" y="6263508"/>
            <a:ext cx="457200" cy="457200"/>
          </a:xfrm>
          <a:prstGeom prst="rect">
            <a:avLst/>
          </a:prstGeom>
        </p:spPr>
      </p:pic>
      <p:sp>
        <p:nvSpPr>
          <p:cNvPr id="2" name="Flecha: hacia la izquierda 1">
            <a:extLst>
              <a:ext uri="{FF2B5EF4-FFF2-40B4-BE49-F238E27FC236}">
                <a16:creationId xmlns:a16="http://schemas.microsoft.com/office/drawing/2014/main" id="{6BFFA4A4-2A0D-42F9-B42A-E638176E1570}"/>
              </a:ext>
            </a:extLst>
          </p:cNvPr>
          <p:cNvSpPr/>
          <p:nvPr/>
        </p:nvSpPr>
        <p:spPr>
          <a:xfrm>
            <a:off x="3204324" y="2060848"/>
            <a:ext cx="360040" cy="191471"/>
          </a:xfrm>
          <a:prstGeom prst="left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Flecha: hacia la izquierda 18">
            <a:extLst>
              <a:ext uri="{FF2B5EF4-FFF2-40B4-BE49-F238E27FC236}">
                <a16:creationId xmlns:a16="http://schemas.microsoft.com/office/drawing/2014/main" id="{26AA4723-0EE6-4BBA-A59C-2D3FC84EACB5}"/>
              </a:ext>
            </a:extLst>
          </p:cNvPr>
          <p:cNvSpPr/>
          <p:nvPr/>
        </p:nvSpPr>
        <p:spPr>
          <a:xfrm>
            <a:off x="2988330" y="4042547"/>
            <a:ext cx="360040" cy="191471"/>
          </a:xfrm>
          <a:prstGeom prst="left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Flecha: hacia la izquierda 19">
            <a:extLst>
              <a:ext uri="{FF2B5EF4-FFF2-40B4-BE49-F238E27FC236}">
                <a16:creationId xmlns:a16="http://schemas.microsoft.com/office/drawing/2014/main" id="{B8AD3FB6-65C9-4106-A188-5E82B405E03B}"/>
              </a:ext>
            </a:extLst>
          </p:cNvPr>
          <p:cNvSpPr/>
          <p:nvPr/>
        </p:nvSpPr>
        <p:spPr>
          <a:xfrm>
            <a:off x="3001111" y="6152884"/>
            <a:ext cx="360040" cy="191471"/>
          </a:xfrm>
          <a:prstGeom prst="left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-32" y="3071810"/>
            <a:ext cx="4929222" cy="1656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-32" y="5218323"/>
            <a:ext cx="4968552" cy="1680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-32" y="1000108"/>
            <a:ext cx="2278472" cy="1676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304224" y="1000108"/>
            <a:ext cx="2016224" cy="1680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857224" y="81892"/>
            <a:ext cx="7572428" cy="6463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lang="es-AR" sz="3200" i="1" dirty="0" err="1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ea typeface="+mj-ea"/>
                <a:cs typeface="Browallia New" panose="020B0604020202020204" pitchFamily="34" charset="-34"/>
              </a:rPr>
              <a:t>Perform</a:t>
            </a:r>
            <a:r>
              <a:rPr lang="es-AR" sz="32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ea typeface="+mj-ea"/>
                <a:cs typeface="Browallia New" panose="020B0604020202020204" pitchFamily="34" charset="-34"/>
              </a:rPr>
              <a:t>. del resto del </a:t>
            </a:r>
            <a:r>
              <a:rPr lang="es-AR" sz="3200" i="1" dirty="0" err="1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ea typeface="+mj-ea"/>
                <a:cs typeface="Browallia New" panose="020B0604020202020204" pitchFamily="34" charset="-34"/>
              </a:rPr>
              <a:t>Sis</a:t>
            </a:r>
            <a:r>
              <a:rPr lang="es-AR" sz="3200" i="1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ea typeface="+mj-ea"/>
                <a:cs typeface="Browallia New" panose="020B0604020202020204" pitchFamily="34" charset="-34"/>
              </a:rPr>
              <a:t>. Bancario</a:t>
            </a:r>
            <a:endParaRPr lang="es-ES" sz="3200" i="1" dirty="0"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  <a:ea typeface="+mj-ea"/>
              <a:cs typeface="Browallia New" panose="020B0604020202020204" pitchFamily="34" charset="-34"/>
            </a:endParaRPr>
          </a:p>
        </p:txBody>
      </p:sp>
      <p:sp>
        <p:nvSpPr>
          <p:cNvPr id="19" name="18 CuadroTexto"/>
          <p:cNvSpPr txBox="1"/>
          <p:nvPr/>
        </p:nvSpPr>
        <p:spPr>
          <a:xfrm>
            <a:off x="0" y="785794"/>
            <a:ext cx="5643570" cy="40011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b="1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/>
              <a:t>Tasa de crec. real de los depósitos (</a:t>
            </a:r>
            <a:r>
              <a:rPr lang="es-AR" dirty="0" err="1"/>
              <a:t>prom.mensual</a:t>
            </a:r>
            <a:r>
              <a:rPr lang="es-AR" dirty="0"/>
              <a:t>)</a:t>
            </a:r>
          </a:p>
        </p:txBody>
      </p:sp>
      <p:graphicFrame>
        <p:nvGraphicFramePr>
          <p:cNvPr id="20" name="19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44599"/>
              </p:ext>
            </p:extLst>
          </p:nvPr>
        </p:nvGraphicFramePr>
        <p:xfrm>
          <a:off x="5941884" y="3657952"/>
          <a:ext cx="2995613" cy="1596771"/>
        </p:xfrm>
        <a:graphic>
          <a:graphicData uri="http://schemas.openxmlformats.org/drawingml/2006/table">
            <a:tbl>
              <a:tblPr/>
              <a:tblGrid>
                <a:gridCol w="113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Sub-períodos</a:t>
                      </a:r>
                      <a:endParaRPr lang="es-ES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Reservas/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 Depósitos</a:t>
                      </a:r>
                      <a:endParaRPr lang="es-ES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Capital/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Activo</a:t>
                      </a:r>
                      <a:endParaRPr lang="es-ES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1908-1913</a:t>
                      </a:r>
                      <a:endParaRPr lang="es-ES" sz="160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30%</a:t>
                      </a:r>
                      <a:endParaRPr lang="es-ES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10%</a:t>
                      </a:r>
                      <a:endParaRPr lang="es-ES" sz="160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1914-1919</a:t>
                      </a:r>
                      <a:endParaRPr lang="es-ES" sz="160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26%</a:t>
                      </a:r>
                      <a:endParaRPr lang="es-ES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8%</a:t>
                      </a:r>
                      <a:endParaRPr lang="es-ES" sz="160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1920-1926</a:t>
                      </a:r>
                      <a:endParaRPr lang="es-ES" sz="160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21%</a:t>
                      </a:r>
                      <a:endParaRPr lang="es-ES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6%</a:t>
                      </a:r>
                      <a:endParaRPr lang="es-ES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1927-1928</a:t>
                      </a:r>
                      <a:endParaRPr lang="es-ES" sz="160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19%</a:t>
                      </a:r>
                      <a:endParaRPr lang="es-ES" sz="160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6%</a:t>
                      </a:r>
                      <a:endParaRPr lang="es-ES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20 CuadroTexto"/>
          <p:cNvSpPr txBox="1"/>
          <p:nvPr/>
        </p:nvSpPr>
        <p:spPr>
          <a:xfrm>
            <a:off x="6084168" y="2734622"/>
            <a:ext cx="2857520" cy="92333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b="1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/>
              <a:t>Valores Referencia</a:t>
            </a:r>
          </a:p>
          <a:p>
            <a:r>
              <a:rPr lang="es-AR" dirty="0"/>
              <a:t>Bancos Comerciales de EEUU</a:t>
            </a:r>
          </a:p>
        </p:txBody>
      </p:sp>
      <p:sp>
        <p:nvSpPr>
          <p:cNvPr id="22" name="21 CuadroTexto"/>
          <p:cNvSpPr txBox="1"/>
          <p:nvPr/>
        </p:nvSpPr>
        <p:spPr>
          <a:xfrm>
            <a:off x="0" y="2734622"/>
            <a:ext cx="5643570" cy="40011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b="1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/>
              <a:t>Liquidez: Ratio Reservas /Depósitos</a:t>
            </a:r>
          </a:p>
        </p:txBody>
      </p:sp>
      <p:sp>
        <p:nvSpPr>
          <p:cNvPr id="23" name="22 CuadroTexto"/>
          <p:cNvSpPr txBox="1"/>
          <p:nvPr/>
        </p:nvSpPr>
        <p:spPr>
          <a:xfrm>
            <a:off x="0" y="4816802"/>
            <a:ext cx="5643570" cy="40011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b="1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/>
              <a:t>Solvencia: Ratio Capital/Activo</a:t>
            </a:r>
          </a:p>
        </p:txBody>
      </p:sp>
      <p:sp>
        <p:nvSpPr>
          <p:cNvPr id="14" name="Flecha: hacia la izquierda 13">
            <a:extLst>
              <a:ext uri="{FF2B5EF4-FFF2-40B4-BE49-F238E27FC236}">
                <a16:creationId xmlns:a16="http://schemas.microsoft.com/office/drawing/2014/main" id="{79C2DC05-146A-4A31-90D2-8798514D8316}"/>
              </a:ext>
            </a:extLst>
          </p:cNvPr>
          <p:cNvSpPr/>
          <p:nvPr/>
        </p:nvSpPr>
        <p:spPr>
          <a:xfrm>
            <a:off x="4166212" y="1928180"/>
            <a:ext cx="360040" cy="191471"/>
          </a:xfrm>
          <a:prstGeom prst="left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Flecha: hacia la izquierda 16">
            <a:extLst>
              <a:ext uri="{FF2B5EF4-FFF2-40B4-BE49-F238E27FC236}">
                <a16:creationId xmlns:a16="http://schemas.microsoft.com/office/drawing/2014/main" id="{96BBBE2A-6C8F-4A70-8159-E03C5E3101AC}"/>
              </a:ext>
            </a:extLst>
          </p:cNvPr>
          <p:cNvSpPr/>
          <p:nvPr/>
        </p:nvSpPr>
        <p:spPr>
          <a:xfrm>
            <a:off x="4788500" y="4077072"/>
            <a:ext cx="360040" cy="191471"/>
          </a:xfrm>
          <a:prstGeom prst="left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4" name="Flecha: hacia la izquierda 23">
            <a:extLst>
              <a:ext uri="{FF2B5EF4-FFF2-40B4-BE49-F238E27FC236}">
                <a16:creationId xmlns:a16="http://schemas.microsoft.com/office/drawing/2014/main" id="{B73C2C3E-F233-469A-AA8E-53BBE161B2CF}"/>
              </a:ext>
            </a:extLst>
          </p:cNvPr>
          <p:cNvSpPr/>
          <p:nvPr/>
        </p:nvSpPr>
        <p:spPr>
          <a:xfrm>
            <a:off x="4802563" y="6189857"/>
            <a:ext cx="360040" cy="191471"/>
          </a:xfrm>
          <a:prstGeom prst="left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  <p:bldP spid="22" grpId="0" animBg="1"/>
      <p:bldP spid="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BDF2E99A-BD68-491A-8BAC-4DD836835200}"/>
              </a:ext>
            </a:extLst>
          </p:cNvPr>
          <p:cNvSpPr/>
          <p:nvPr/>
        </p:nvSpPr>
        <p:spPr>
          <a:xfrm>
            <a:off x="2051720" y="4658067"/>
            <a:ext cx="5184576" cy="948649"/>
          </a:xfrm>
          <a:prstGeom prst="roundRect">
            <a:avLst>
              <a:gd name="adj" fmla="val 12615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 dirty="0">
              <a:solidFill>
                <a:srgbClr val="4B4B50"/>
              </a:solidFill>
              <a:latin typeface="Abadi" panose="020B0604020104020204" pitchFamily="34" charset="0"/>
              <a:cs typeface="Browallia New" panose="020B0604020202020204" pitchFamily="34" charset="-34"/>
            </a:endParaRPr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CF2340B0-46BB-4F02-B506-CD8EF30D0545}"/>
              </a:ext>
            </a:extLst>
          </p:cNvPr>
          <p:cNvSpPr/>
          <p:nvPr/>
        </p:nvSpPr>
        <p:spPr>
          <a:xfrm>
            <a:off x="2051720" y="3202245"/>
            <a:ext cx="5184576" cy="948649"/>
          </a:xfrm>
          <a:prstGeom prst="roundRect">
            <a:avLst>
              <a:gd name="adj" fmla="val 12615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 dirty="0">
              <a:solidFill>
                <a:srgbClr val="4B4B50"/>
              </a:solidFill>
              <a:latin typeface="Abadi" panose="020B0604020104020204" pitchFamily="34" charset="0"/>
              <a:cs typeface="Browallia New" panose="020B0604020202020204" pitchFamily="34" charset="-34"/>
            </a:endParaRPr>
          </a:p>
        </p:txBody>
      </p:sp>
      <p:pic>
        <p:nvPicPr>
          <p:cNvPr id="8" name="Gráfico 7" descr="Centro educativo">
            <a:extLst>
              <a:ext uri="{FF2B5EF4-FFF2-40B4-BE49-F238E27FC236}">
                <a16:creationId xmlns:a16="http://schemas.microsoft.com/office/drawing/2014/main" id="{C168682F-6ADD-47D5-9547-72866AF613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43977" y="4555186"/>
            <a:ext cx="1106062" cy="1106062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D148E04D-1582-4868-ADBB-9991DA6449DB}"/>
              </a:ext>
            </a:extLst>
          </p:cNvPr>
          <p:cNvSpPr/>
          <p:nvPr/>
        </p:nvSpPr>
        <p:spPr>
          <a:xfrm>
            <a:off x="3650040" y="4717609"/>
            <a:ext cx="339018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DISCRECIONALIDAD</a:t>
            </a:r>
          </a:p>
          <a:p>
            <a:pPr algn="ctr"/>
            <a:r>
              <a:rPr lang="es-ES" sz="2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AUTO-REGULACIÓN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3E7B1BAA-25D9-42F8-9043-90EE0A0BA532}"/>
              </a:ext>
            </a:extLst>
          </p:cNvPr>
          <p:cNvSpPr/>
          <p:nvPr/>
        </p:nvSpPr>
        <p:spPr>
          <a:xfrm>
            <a:off x="3923928" y="3383067"/>
            <a:ext cx="30243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32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TC FLOTANTE</a:t>
            </a:r>
          </a:p>
        </p:txBody>
      </p:sp>
      <p:sp>
        <p:nvSpPr>
          <p:cNvPr id="9" name="Título 4">
            <a:extLst>
              <a:ext uri="{FF2B5EF4-FFF2-40B4-BE49-F238E27FC236}">
                <a16:creationId xmlns:a16="http://schemas.microsoft.com/office/drawing/2014/main" id="{D05AE1E4-1ABF-4D6D-B137-47585FFC7CA8}"/>
              </a:ext>
            </a:extLst>
          </p:cNvPr>
          <p:cNvSpPr txBox="1">
            <a:spLocks/>
          </p:cNvSpPr>
          <p:nvPr/>
        </p:nvSpPr>
        <p:spPr>
          <a:xfrm>
            <a:off x="-15958" y="-4996"/>
            <a:ext cx="9159957" cy="24766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5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Transformación de la Primera Caja de Conversión </a:t>
            </a:r>
          </a:p>
          <a:p>
            <a:pPr algn="ctr"/>
            <a:r>
              <a:rPr lang="es-ES" sz="5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1914- 1918</a:t>
            </a:r>
          </a:p>
        </p:txBody>
      </p:sp>
      <p:pic>
        <p:nvPicPr>
          <p:cNvPr id="12" name="Gráfico 11" descr="Monedas">
            <a:extLst>
              <a:ext uri="{FF2B5EF4-FFF2-40B4-BE49-F238E27FC236}">
                <a16:creationId xmlns:a16="http://schemas.microsoft.com/office/drawing/2014/main" id="{4C5643EB-713C-4CC7-A8E3-AEF8FEE8015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61419" y="3104374"/>
            <a:ext cx="1106062" cy="1106062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8A557189-E616-42D7-A870-012E8810C68C}"/>
              </a:ext>
            </a:extLst>
          </p:cNvPr>
          <p:cNvSpPr txBox="1"/>
          <p:nvPr/>
        </p:nvSpPr>
        <p:spPr>
          <a:xfrm>
            <a:off x="2425830" y="3321512"/>
            <a:ext cx="6711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0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$</a:t>
            </a:r>
          </a:p>
        </p:txBody>
      </p:sp>
    </p:spTree>
    <p:extLst>
      <p:ext uri="{BB962C8B-B14F-4D97-AF65-F5344CB8AC3E}">
        <p14:creationId xmlns:p14="http://schemas.microsoft.com/office/powerpoint/2010/main" val="2878518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6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26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4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367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98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498" tmFilter="0, 0; 0.125,0.2665; 0.25,0.4; 0.375,0.465; 0.5,0.5;  0.625,0.535; 0.75,0.6; 0.875,0.7335; 1,1">
                                          <p:stCondLst>
                                            <p:cond delay="49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49" tmFilter="0, 0; 0.125,0.2665; 0.25,0.4; 0.375,0.465; 0.5,0.5;  0.625,0.535; 0.75,0.6; 0.875,0.7335; 1,1">
                                          <p:stCondLst>
                                            <p:cond delay="993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23" tmFilter="0, 0; 0.125,0.2665; 0.25,0.4; 0.375,0.465; 0.5,0.5;  0.625,0.535; 0.75,0.6; 0.875,0.7335; 1,1">
                                          <p:stCondLst>
                                            <p:cond delay="12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0">
                                          <p:stCondLst>
                                            <p:cond delay="487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24" decel="50000">
                                          <p:stCondLst>
                                            <p:cond delay="507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0">
                                          <p:stCondLst>
                                            <p:cond delay="98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24" decel="50000">
                                          <p:stCondLst>
                                            <p:cond delay="100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0">
                                          <p:stCondLst>
                                            <p:cond delay="1231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24" decel="50000">
                                          <p:stCondLst>
                                            <p:cond delay="1251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0">
                                          <p:stCondLst>
                                            <p:cond delay="13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24" decel="50000">
                                          <p:stCondLst>
                                            <p:cond delay="13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750"/>
                            </p:stCondLst>
                            <p:childTnLst>
                              <p:par>
                                <p:cTn id="46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75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250"/>
                            </p:stCondLst>
                            <p:childTnLst>
                              <p:par>
                                <p:cTn id="55" presetID="26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3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6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8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0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750"/>
                            </p:stCondLst>
                            <p:childTnLst>
                              <p:par>
                                <p:cTn id="72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7" grpId="0" animBg="1"/>
      <p:bldP spid="16" grpId="0"/>
      <p:bldP spid="31" grpId="0"/>
      <p:bldP spid="9" grpId="0"/>
      <p:bldP spid="1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B3521392-1E76-4243-95F6-90BC5D5F9110}"/>
              </a:ext>
            </a:extLst>
          </p:cNvPr>
          <p:cNvSpPr/>
          <p:nvPr/>
        </p:nvSpPr>
        <p:spPr>
          <a:xfrm>
            <a:off x="2915816" y="2420391"/>
            <a:ext cx="3723502" cy="3960937"/>
          </a:xfrm>
          <a:prstGeom prst="roundRect">
            <a:avLst>
              <a:gd name="adj" fmla="val 563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 dirty="0">
              <a:solidFill>
                <a:srgbClr val="4B4B50"/>
              </a:solidFill>
              <a:latin typeface="Abadi" panose="020B0604020104020204" pitchFamily="34" charset="0"/>
              <a:cs typeface="Browallia New" panose="020B0604020202020204" pitchFamily="34" charset="-34"/>
            </a:endParaRPr>
          </a:p>
        </p:txBody>
      </p:sp>
      <p:pic>
        <p:nvPicPr>
          <p:cNvPr id="48" name="Gráfico 47" descr="Centro educativo">
            <a:extLst>
              <a:ext uri="{FF2B5EF4-FFF2-40B4-BE49-F238E27FC236}">
                <a16:creationId xmlns:a16="http://schemas.microsoft.com/office/drawing/2014/main" id="{258E6321-972C-49EE-A458-FA81303D59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18410" y="3514132"/>
            <a:ext cx="1095844" cy="1095844"/>
          </a:xfrm>
          <a:prstGeom prst="rect">
            <a:avLst/>
          </a:prstGeom>
        </p:spPr>
      </p:pic>
      <p:sp>
        <p:nvSpPr>
          <p:cNvPr id="49" name="Rectángulo 48">
            <a:extLst>
              <a:ext uri="{FF2B5EF4-FFF2-40B4-BE49-F238E27FC236}">
                <a16:creationId xmlns:a16="http://schemas.microsoft.com/office/drawing/2014/main" id="{BA5FD065-7CE4-4D0C-8D61-6EE4135F7801}"/>
              </a:ext>
            </a:extLst>
          </p:cNvPr>
          <p:cNvSpPr/>
          <p:nvPr/>
        </p:nvSpPr>
        <p:spPr>
          <a:xfrm>
            <a:off x="3377635" y="4386590"/>
            <a:ext cx="11816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CAJA</a:t>
            </a:r>
          </a:p>
        </p:txBody>
      </p:sp>
      <p:pic>
        <p:nvPicPr>
          <p:cNvPr id="50" name="Gráfico 49" descr="Tribunal">
            <a:extLst>
              <a:ext uri="{FF2B5EF4-FFF2-40B4-BE49-F238E27FC236}">
                <a16:creationId xmlns:a16="http://schemas.microsoft.com/office/drawing/2014/main" id="{40B5F2DE-8F8F-406C-9DC8-BB5AD1A4F3C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24248" y="5013176"/>
            <a:ext cx="884168" cy="884168"/>
          </a:xfrm>
          <a:prstGeom prst="rect">
            <a:avLst/>
          </a:prstGeom>
        </p:spPr>
      </p:pic>
      <p:sp>
        <p:nvSpPr>
          <p:cNvPr id="51" name="Rectángulo 50">
            <a:extLst>
              <a:ext uri="{FF2B5EF4-FFF2-40B4-BE49-F238E27FC236}">
                <a16:creationId xmlns:a16="http://schemas.microsoft.com/office/drawing/2014/main" id="{8596AE3E-A4A6-42C0-AC95-21F89E8CDA53}"/>
              </a:ext>
            </a:extLst>
          </p:cNvPr>
          <p:cNvSpPr/>
          <p:nvPr/>
        </p:nvSpPr>
        <p:spPr>
          <a:xfrm>
            <a:off x="3377635" y="5761232"/>
            <a:ext cx="11816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BNA</a:t>
            </a:r>
          </a:p>
        </p:txBody>
      </p:sp>
      <p:pic>
        <p:nvPicPr>
          <p:cNvPr id="27" name="Gráfico 26" descr="Monedas">
            <a:extLst>
              <a:ext uri="{FF2B5EF4-FFF2-40B4-BE49-F238E27FC236}">
                <a16:creationId xmlns:a16="http://schemas.microsoft.com/office/drawing/2014/main" id="{FAC45329-16C8-4F15-88FD-30BA1D8473F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57112" y="3533844"/>
            <a:ext cx="511106" cy="511106"/>
          </a:xfrm>
          <a:prstGeom prst="rect">
            <a:avLst/>
          </a:prstGeom>
        </p:spPr>
      </p:pic>
      <p:sp>
        <p:nvSpPr>
          <p:cNvPr id="32" name="Rectángulo 31">
            <a:extLst>
              <a:ext uri="{FF2B5EF4-FFF2-40B4-BE49-F238E27FC236}">
                <a16:creationId xmlns:a16="http://schemas.microsoft.com/office/drawing/2014/main" id="{41EDD51E-BC2C-47D6-82FB-C6113119C1FA}"/>
              </a:ext>
            </a:extLst>
          </p:cNvPr>
          <p:cNvSpPr/>
          <p:nvPr/>
        </p:nvSpPr>
        <p:spPr>
          <a:xfrm>
            <a:off x="4391814" y="3987806"/>
            <a:ext cx="86420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FC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1F715D97-8B58-4C7C-BB0B-F298DA87DFDC}"/>
              </a:ext>
            </a:extLst>
          </p:cNvPr>
          <p:cNvSpPr/>
          <p:nvPr/>
        </p:nvSpPr>
        <p:spPr>
          <a:xfrm>
            <a:off x="5018157" y="5761232"/>
            <a:ext cx="11816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ESTADO</a:t>
            </a: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258AFE9F-C71C-4932-9814-529E9B5F32EC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269233" y="5110035"/>
            <a:ext cx="679497" cy="679497"/>
          </a:xfrm>
          <a:prstGeom prst="rect">
            <a:avLst/>
          </a:prstGeom>
        </p:spPr>
      </p:pic>
      <p:pic>
        <p:nvPicPr>
          <p:cNvPr id="36" name="Gráfico 35" descr="Tribunal">
            <a:extLst>
              <a:ext uri="{FF2B5EF4-FFF2-40B4-BE49-F238E27FC236}">
                <a16:creationId xmlns:a16="http://schemas.microsoft.com/office/drawing/2014/main" id="{498319D6-649B-455E-A5F0-E210542AD05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55935" y="3619970"/>
            <a:ext cx="884168" cy="884168"/>
          </a:xfrm>
          <a:prstGeom prst="rect">
            <a:avLst/>
          </a:prstGeom>
        </p:spPr>
      </p:pic>
      <p:sp>
        <p:nvSpPr>
          <p:cNvPr id="38" name="Rectángulo 37">
            <a:extLst>
              <a:ext uri="{FF2B5EF4-FFF2-40B4-BE49-F238E27FC236}">
                <a16:creationId xmlns:a16="http://schemas.microsoft.com/office/drawing/2014/main" id="{E2C8A8B6-AEDB-46AE-9354-5BA0E737B36F}"/>
              </a:ext>
            </a:extLst>
          </p:cNvPr>
          <p:cNvSpPr/>
          <p:nvPr/>
        </p:nvSpPr>
        <p:spPr>
          <a:xfrm>
            <a:off x="4923496" y="4384454"/>
            <a:ext cx="13604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BANCOS</a:t>
            </a:r>
          </a:p>
        </p:txBody>
      </p:sp>
      <p:sp>
        <p:nvSpPr>
          <p:cNvPr id="4" name="Flecha: a la derecha 3">
            <a:extLst>
              <a:ext uri="{FF2B5EF4-FFF2-40B4-BE49-F238E27FC236}">
                <a16:creationId xmlns:a16="http://schemas.microsoft.com/office/drawing/2014/main" id="{5701EA49-DF04-43CD-93A4-EE62B69A8362}"/>
              </a:ext>
            </a:extLst>
          </p:cNvPr>
          <p:cNvSpPr/>
          <p:nvPr/>
        </p:nvSpPr>
        <p:spPr>
          <a:xfrm>
            <a:off x="4584719" y="4192500"/>
            <a:ext cx="544247" cy="294935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0" name="Flecha: a la derecha 39">
            <a:extLst>
              <a:ext uri="{FF2B5EF4-FFF2-40B4-BE49-F238E27FC236}">
                <a16:creationId xmlns:a16="http://schemas.microsoft.com/office/drawing/2014/main" id="{F5EF0E43-C053-4943-8F33-5D7558239818}"/>
              </a:ext>
            </a:extLst>
          </p:cNvPr>
          <p:cNvSpPr/>
          <p:nvPr/>
        </p:nvSpPr>
        <p:spPr>
          <a:xfrm>
            <a:off x="4578645" y="5474667"/>
            <a:ext cx="544246" cy="307777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Título 4">
            <a:extLst>
              <a:ext uri="{FF2B5EF4-FFF2-40B4-BE49-F238E27FC236}">
                <a16:creationId xmlns:a16="http://schemas.microsoft.com/office/drawing/2014/main" id="{210B5F26-D500-4908-9F6E-277BAA709373}"/>
              </a:ext>
            </a:extLst>
          </p:cNvPr>
          <p:cNvSpPr txBox="1">
            <a:spLocks/>
          </p:cNvSpPr>
          <p:nvPr/>
        </p:nvSpPr>
        <p:spPr>
          <a:xfrm>
            <a:off x="-15958" y="-4996"/>
            <a:ext cx="9159957" cy="24766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5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Transformación de la Primera Caja de Conversión </a:t>
            </a:r>
          </a:p>
          <a:p>
            <a:pPr algn="ctr"/>
            <a:r>
              <a:rPr lang="es-ES" sz="5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1914- 1918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57624246-D0D9-4964-8726-DF29D9B36A64}"/>
              </a:ext>
            </a:extLst>
          </p:cNvPr>
          <p:cNvSpPr/>
          <p:nvPr/>
        </p:nvSpPr>
        <p:spPr>
          <a:xfrm>
            <a:off x="2915816" y="2414774"/>
            <a:ext cx="3723502" cy="785407"/>
          </a:xfrm>
          <a:prstGeom prst="roundRect">
            <a:avLst>
              <a:gd name="adj" fmla="val 33652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FUNCIONES “BANCO-CENTRALISTAS”</a:t>
            </a:r>
          </a:p>
        </p:txBody>
      </p:sp>
    </p:spTree>
    <p:extLst>
      <p:ext uri="{BB962C8B-B14F-4D97-AF65-F5344CB8AC3E}">
        <p14:creationId xmlns:p14="http://schemas.microsoft.com/office/powerpoint/2010/main" val="2047418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250"/>
                            </p:stCondLst>
                            <p:childTnLst>
                              <p:par>
                                <p:cTn id="36" presetID="26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4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5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7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9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1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26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0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1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3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5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7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750"/>
                            </p:stCondLst>
                            <p:childTnLst>
                              <p:par>
                                <p:cTn id="69" presetID="2" presetClass="entr" presetSubtype="4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6000"/>
                            </p:stCondLst>
                            <p:childTnLst>
                              <p:par>
                                <p:cTn id="78" presetID="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6750"/>
                            </p:stCondLst>
                            <p:childTnLst>
                              <p:par>
                                <p:cTn id="87" presetID="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9" grpId="0"/>
      <p:bldP spid="51" grpId="0"/>
      <p:bldP spid="32" grpId="0"/>
      <p:bldP spid="33" grpId="0"/>
      <p:bldP spid="38" grpId="0"/>
      <p:bldP spid="4" grpId="0" animBg="1"/>
      <p:bldP spid="40" grpId="0" animBg="1"/>
      <p:bldP spid="2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4">
            <a:extLst>
              <a:ext uri="{FF2B5EF4-FFF2-40B4-BE49-F238E27FC236}">
                <a16:creationId xmlns:a16="http://schemas.microsoft.com/office/drawing/2014/main" id="{913C4E7D-2252-4FC6-8910-00D1CF6E98E8}"/>
              </a:ext>
            </a:extLst>
          </p:cNvPr>
          <p:cNvSpPr txBox="1">
            <a:spLocks/>
          </p:cNvSpPr>
          <p:nvPr/>
        </p:nvSpPr>
        <p:spPr>
          <a:xfrm>
            <a:off x="-15958" y="-4997"/>
            <a:ext cx="9159957" cy="7564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sz="50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2do shock externo:</a:t>
            </a:r>
          </a:p>
        </p:txBody>
      </p:sp>
      <p:sp>
        <p:nvSpPr>
          <p:cNvPr id="4" name="Título 4">
            <a:extLst>
              <a:ext uri="{FF2B5EF4-FFF2-40B4-BE49-F238E27FC236}">
                <a16:creationId xmlns:a16="http://schemas.microsoft.com/office/drawing/2014/main" id="{36D55AEB-E11A-4662-9D32-732E30727271}"/>
              </a:ext>
            </a:extLst>
          </p:cNvPr>
          <p:cNvSpPr txBox="1">
            <a:spLocks/>
          </p:cNvSpPr>
          <p:nvPr/>
        </p:nvSpPr>
        <p:spPr>
          <a:xfrm>
            <a:off x="-15958" y="1291634"/>
            <a:ext cx="9159957" cy="4369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60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Crisis de 1921, acompañada de caída de precios de exportaciones 1921-1924</a:t>
            </a:r>
            <a:endParaRPr lang="es-AR" sz="6000" i="1" dirty="0"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  <a:cs typeface="Browallia New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13360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DCF446C5-5F15-4132-B34D-EC1D28A8EB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2201042"/>
              </p:ext>
            </p:extLst>
          </p:nvPr>
        </p:nvGraphicFramePr>
        <p:xfrm>
          <a:off x="35714" y="2304744"/>
          <a:ext cx="4536286" cy="36792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B4083928-A5B7-45BE-BF92-0140735199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212731"/>
              </p:ext>
            </p:extLst>
          </p:nvPr>
        </p:nvGraphicFramePr>
        <p:xfrm>
          <a:off x="4687927" y="2304744"/>
          <a:ext cx="4414274" cy="36792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ítulo 4">
            <a:extLst>
              <a:ext uri="{FF2B5EF4-FFF2-40B4-BE49-F238E27FC236}">
                <a16:creationId xmlns:a16="http://schemas.microsoft.com/office/drawing/2014/main" id="{FEA209F9-E074-4CB3-A496-0AE2B942F187}"/>
              </a:ext>
            </a:extLst>
          </p:cNvPr>
          <p:cNvSpPr txBox="1">
            <a:spLocks/>
          </p:cNvSpPr>
          <p:nvPr/>
        </p:nvSpPr>
        <p:spPr>
          <a:xfrm>
            <a:off x="-15957" y="-4997"/>
            <a:ext cx="7886700" cy="75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4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Frente Externo 1919-1928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113F216D-F45D-4288-B278-C9895E878037}"/>
              </a:ext>
            </a:extLst>
          </p:cNvPr>
          <p:cNvSpPr/>
          <p:nvPr/>
        </p:nvSpPr>
        <p:spPr>
          <a:xfrm>
            <a:off x="683568" y="1292412"/>
            <a:ext cx="3597937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BALANZA DE PAGOS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F795B31E-5C64-4ABB-BE37-27A92B3CDE99}"/>
              </a:ext>
            </a:extLst>
          </p:cNvPr>
          <p:cNvSpPr/>
          <p:nvPr/>
        </p:nvSpPr>
        <p:spPr>
          <a:xfrm>
            <a:off x="4981291" y="1287882"/>
            <a:ext cx="3597937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TIPO DE CAMBIO</a:t>
            </a:r>
          </a:p>
        </p:txBody>
      </p:sp>
    </p:spTree>
    <p:extLst>
      <p:ext uri="{BB962C8B-B14F-4D97-AF65-F5344CB8AC3E}">
        <p14:creationId xmlns:p14="http://schemas.microsoft.com/office/powerpoint/2010/main" val="2898841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"/>
                                        <p:tgtEl>
                                          <p:spTgt spid="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"/>
                                        <p:tgtEl>
                                          <p:spTgt spid="7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4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"/>
                                        <p:tgtEl>
                                          <p:spTgt spid="7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"/>
                                        <p:tgtEl>
                                          <p:spTgt spid="7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6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"/>
                                        <p:tgtEl>
                                          <p:spTgt spid="7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75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"/>
                                        <p:tgtEl>
                                          <p:spTgt spid="7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85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"/>
                                        <p:tgtEl>
                                          <p:spTgt spid="7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95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"/>
                                        <p:tgtEl>
                                          <p:spTgt spid="7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5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"/>
                                        <p:tgtEl>
                                          <p:spTgt spid="7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15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"/>
                                        <p:tgtEl>
                                          <p:spTgt spid="7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2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"/>
                                        <p:tgtEl>
                                          <p:spTgt spid="7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350"/>
                            </p:stCondLst>
                            <p:childTnLst>
                              <p:par>
                                <p:cTn id="59" presetID="2" presetClass="entr" presetSubtype="1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6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"/>
                                        <p:tgtEl>
                                          <p:spTgt spid="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62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"/>
                                        <p:tgtEl>
                                          <p:spTgt spid="8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64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"/>
                                        <p:tgtEl>
                                          <p:spTgt spid="8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66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"/>
                                        <p:tgtEl>
                                          <p:spTgt spid="8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68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"/>
                                        <p:tgtEl>
                                          <p:spTgt spid="8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37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20"/>
                                        <p:tgtEl>
                                          <p:spTgt spid="8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372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0"/>
                                        <p:tgtEl>
                                          <p:spTgt spid="8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374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0"/>
                                        <p:tgtEl>
                                          <p:spTgt spid="8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76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0"/>
                                        <p:tgtEl>
                                          <p:spTgt spid="8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378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0"/>
                                        <p:tgtEl>
                                          <p:spTgt spid="8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80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0"/>
                                        <p:tgtEl>
                                          <p:spTgt spid="8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382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20"/>
                                        <p:tgtEl>
                                          <p:spTgt spid="8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3840"/>
                            </p:stCondLst>
                            <p:childTnLst>
                              <p:par>
                                <p:cTn id="1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20"/>
                                        <p:tgtEl>
                                          <p:spTgt spid="8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3860"/>
                            </p:stCondLst>
                            <p:childTnLst>
                              <p:par>
                                <p:cTn id="1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0"/>
                                        <p:tgtEl>
                                          <p:spTgt spid="8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388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20"/>
                                        <p:tgtEl>
                                          <p:spTgt spid="8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3900"/>
                            </p:stCondLst>
                            <p:childTnLst>
                              <p:par>
                                <p:cTn id="1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20"/>
                                        <p:tgtEl>
                                          <p:spTgt spid="8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3920"/>
                            </p:stCondLst>
                            <p:childTnLst>
                              <p:par>
                                <p:cTn id="1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20"/>
                                        <p:tgtEl>
                                          <p:spTgt spid="8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3940"/>
                            </p:stCondLst>
                            <p:childTnLst>
                              <p:par>
                                <p:cTn id="1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20"/>
                                        <p:tgtEl>
                                          <p:spTgt spid="8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3960"/>
                            </p:stCondLst>
                            <p:childTnLst>
                              <p:par>
                                <p:cTn id="1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20"/>
                                        <p:tgtEl>
                                          <p:spTgt spid="8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3980"/>
                            </p:stCondLst>
                            <p:childTnLst>
                              <p:par>
                                <p:cTn id="1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20"/>
                                        <p:tgtEl>
                                          <p:spTgt spid="8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4000"/>
                            </p:stCondLst>
                            <p:childTnLst>
                              <p:par>
                                <p:cTn id="1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20"/>
                                        <p:tgtEl>
                                          <p:spTgt spid="8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402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20"/>
                                        <p:tgtEl>
                                          <p:spTgt spid="8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4040"/>
                            </p:stCondLst>
                            <p:childTnLst>
                              <p:par>
                                <p:cTn id="1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20"/>
                                        <p:tgtEl>
                                          <p:spTgt spid="8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4060"/>
                            </p:stCondLst>
                            <p:childTnLst>
                              <p:par>
                                <p:cTn id="1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20"/>
                                        <p:tgtEl>
                                          <p:spTgt spid="8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4080"/>
                            </p:stCondLst>
                            <p:childTnLst>
                              <p:par>
                                <p:cTn id="1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20"/>
                                        <p:tgtEl>
                                          <p:spTgt spid="8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4100"/>
                            </p:stCondLst>
                            <p:childTnLst>
                              <p:par>
                                <p:cTn id="1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2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20"/>
                                        <p:tgtEl>
                                          <p:spTgt spid="8">
                                            <p:graphicEl>
                                              <a:chart seriesIdx="-4" categoryIdx="2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4120"/>
                            </p:stCondLst>
                            <p:childTnLst>
                              <p:par>
                                <p:cTn id="1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2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20"/>
                                        <p:tgtEl>
                                          <p:spTgt spid="8">
                                            <p:graphicEl>
                                              <a:chart seriesIdx="-4" categoryIdx="2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4140"/>
                            </p:stCondLst>
                            <p:childTnLst>
                              <p:par>
                                <p:cTn id="1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2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20"/>
                                        <p:tgtEl>
                                          <p:spTgt spid="8">
                                            <p:graphicEl>
                                              <a:chart seriesIdx="-4" categoryIdx="2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4160"/>
                            </p:stCondLst>
                            <p:childTnLst>
                              <p:par>
                                <p:cTn id="1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2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20"/>
                                        <p:tgtEl>
                                          <p:spTgt spid="8">
                                            <p:graphicEl>
                                              <a:chart seriesIdx="-4" categoryIdx="2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4180"/>
                            </p:stCondLst>
                            <p:childTnLst>
                              <p:par>
                                <p:cTn id="1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2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20"/>
                                        <p:tgtEl>
                                          <p:spTgt spid="8">
                                            <p:graphicEl>
                                              <a:chart seriesIdx="-4" categoryIdx="2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4200"/>
                            </p:stCondLst>
                            <p:childTnLst>
                              <p:par>
                                <p:cTn id="1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2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20"/>
                                        <p:tgtEl>
                                          <p:spTgt spid="8">
                                            <p:graphicEl>
                                              <a:chart seriesIdx="-4" categoryIdx="2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4220"/>
                            </p:stCondLst>
                            <p:childTnLst>
                              <p:par>
                                <p:cTn id="1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3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20"/>
                                        <p:tgtEl>
                                          <p:spTgt spid="8">
                                            <p:graphicEl>
                                              <a:chart seriesIdx="-4" categoryIdx="3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4240"/>
                            </p:stCondLst>
                            <p:childTnLst>
                              <p:par>
                                <p:cTn id="1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3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20"/>
                                        <p:tgtEl>
                                          <p:spTgt spid="8">
                                            <p:graphicEl>
                                              <a:chart seriesIdx="-4" categoryIdx="3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4260"/>
                            </p:stCondLst>
                            <p:childTnLst>
                              <p:par>
                                <p:cTn id="1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3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20"/>
                                        <p:tgtEl>
                                          <p:spTgt spid="8">
                                            <p:graphicEl>
                                              <a:chart seriesIdx="-4" categoryIdx="3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4280"/>
                            </p:stCondLst>
                            <p:childTnLst>
                              <p:par>
                                <p:cTn id="2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3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20"/>
                                        <p:tgtEl>
                                          <p:spTgt spid="8">
                                            <p:graphicEl>
                                              <a:chart seriesIdx="-4" categoryIdx="3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4300"/>
                            </p:stCondLst>
                            <p:childTnLst>
                              <p:par>
                                <p:cTn id="2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3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20"/>
                                        <p:tgtEl>
                                          <p:spTgt spid="8">
                                            <p:graphicEl>
                                              <a:chart seriesIdx="-4" categoryIdx="3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4320"/>
                            </p:stCondLst>
                            <p:childTnLst>
                              <p:par>
                                <p:cTn id="2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3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20"/>
                                        <p:tgtEl>
                                          <p:spTgt spid="8">
                                            <p:graphicEl>
                                              <a:chart seriesIdx="-4" categoryIdx="3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4340"/>
                            </p:stCondLst>
                            <p:childTnLst>
                              <p:par>
                                <p:cTn id="2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3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20"/>
                                        <p:tgtEl>
                                          <p:spTgt spid="8">
                                            <p:graphicEl>
                                              <a:chart seriesIdx="-4" categoryIdx="3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4360"/>
                            </p:stCondLst>
                            <p:childTnLst>
                              <p:par>
                                <p:cTn id="2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3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20"/>
                                        <p:tgtEl>
                                          <p:spTgt spid="8">
                                            <p:graphicEl>
                                              <a:chart seriesIdx="-4" categoryIdx="3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4380"/>
                            </p:stCondLst>
                            <p:childTnLst>
                              <p:par>
                                <p:cTn id="2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3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20"/>
                                        <p:tgtEl>
                                          <p:spTgt spid="8">
                                            <p:graphicEl>
                                              <a:chart seriesIdx="-4" categoryIdx="3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4400"/>
                            </p:stCondLst>
                            <p:childTnLst>
                              <p:par>
                                <p:cTn id="2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3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20"/>
                                        <p:tgtEl>
                                          <p:spTgt spid="8">
                                            <p:graphicEl>
                                              <a:chart seriesIdx="-4" categoryIdx="3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4420"/>
                            </p:stCondLst>
                            <p:childTnLst>
                              <p:par>
                                <p:cTn id="2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4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20"/>
                                        <p:tgtEl>
                                          <p:spTgt spid="8">
                                            <p:graphicEl>
                                              <a:chart seriesIdx="-4" categoryIdx="4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4440"/>
                            </p:stCondLst>
                            <p:childTnLst>
                              <p:par>
                                <p:cTn id="2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4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20"/>
                                        <p:tgtEl>
                                          <p:spTgt spid="8">
                                            <p:graphicEl>
                                              <a:chart seriesIdx="-4" categoryIdx="4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4460"/>
                            </p:stCondLst>
                            <p:childTnLst>
                              <p:par>
                                <p:cTn id="2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4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20"/>
                                        <p:tgtEl>
                                          <p:spTgt spid="8">
                                            <p:graphicEl>
                                              <a:chart seriesIdx="-4" categoryIdx="4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4480"/>
                            </p:stCondLst>
                            <p:childTnLst>
                              <p:par>
                                <p:cTn id="2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4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20"/>
                                        <p:tgtEl>
                                          <p:spTgt spid="8">
                                            <p:graphicEl>
                                              <a:chart seriesIdx="-4" categoryIdx="4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4500"/>
                            </p:stCondLst>
                            <p:childTnLst>
                              <p:par>
                                <p:cTn id="2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4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20"/>
                                        <p:tgtEl>
                                          <p:spTgt spid="8">
                                            <p:graphicEl>
                                              <a:chart seriesIdx="-4" categoryIdx="4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4520"/>
                            </p:stCondLst>
                            <p:childTnLst>
                              <p:par>
                                <p:cTn id="2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4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20"/>
                                        <p:tgtEl>
                                          <p:spTgt spid="8">
                                            <p:graphicEl>
                                              <a:chart seriesIdx="-4" categoryIdx="4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4540"/>
                            </p:stCondLst>
                            <p:childTnLst>
                              <p:par>
                                <p:cTn id="2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4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20"/>
                                        <p:tgtEl>
                                          <p:spTgt spid="8">
                                            <p:graphicEl>
                                              <a:chart seriesIdx="-4" categoryIdx="4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4560"/>
                            </p:stCondLst>
                            <p:childTnLst>
                              <p:par>
                                <p:cTn id="2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4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20"/>
                                        <p:tgtEl>
                                          <p:spTgt spid="8">
                                            <p:graphicEl>
                                              <a:chart seriesIdx="-4" categoryIdx="4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4580"/>
                            </p:stCondLst>
                            <p:childTnLst>
                              <p:par>
                                <p:cTn id="2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4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20"/>
                                        <p:tgtEl>
                                          <p:spTgt spid="8">
                                            <p:graphicEl>
                                              <a:chart seriesIdx="-4" categoryIdx="4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>
                            <p:stCondLst>
                              <p:cond delay="4600"/>
                            </p:stCondLst>
                            <p:childTnLst>
                              <p:par>
                                <p:cTn id="2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4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20"/>
                                        <p:tgtEl>
                                          <p:spTgt spid="8">
                                            <p:graphicEl>
                                              <a:chart seriesIdx="-4" categoryIdx="4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>
                            <p:stCondLst>
                              <p:cond delay="4620"/>
                            </p:stCondLst>
                            <p:childTnLst>
                              <p:par>
                                <p:cTn id="2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5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20"/>
                                        <p:tgtEl>
                                          <p:spTgt spid="8">
                                            <p:graphicEl>
                                              <a:chart seriesIdx="-4" categoryIdx="5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4640"/>
                            </p:stCondLst>
                            <p:childTnLst>
                              <p:par>
                                <p:cTn id="2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5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20"/>
                                        <p:tgtEl>
                                          <p:spTgt spid="8">
                                            <p:graphicEl>
                                              <a:chart seriesIdx="-4" categoryIdx="5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4660"/>
                            </p:stCondLst>
                            <p:childTnLst>
                              <p:par>
                                <p:cTn id="2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5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20"/>
                                        <p:tgtEl>
                                          <p:spTgt spid="8">
                                            <p:graphicEl>
                                              <a:chart seriesIdx="-4" categoryIdx="5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4680"/>
                            </p:stCondLst>
                            <p:childTnLst>
                              <p:par>
                                <p:cTn id="2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5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20"/>
                                        <p:tgtEl>
                                          <p:spTgt spid="8">
                                            <p:graphicEl>
                                              <a:chart seriesIdx="-4" categoryIdx="5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4700"/>
                            </p:stCondLst>
                            <p:childTnLst>
                              <p:par>
                                <p:cTn id="2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5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20"/>
                                        <p:tgtEl>
                                          <p:spTgt spid="8">
                                            <p:graphicEl>
                                              <a:chart seriesIdx="-4" categoryIdx="5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" fill="hold">
                            <p:stCondLst>
                              <p:cond delay="4720"/>
                            </p:stCondLst>
                            <p:childTnLst>
                              <p:par>
                                <p:cTn id="2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5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20"/>
                                        <p:tgtEl>
                                          <p:spTgt spid="8">
                                            <p:graphicEl>
                                              <a:chart seriesIdx="-4" categoryIdx="5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1" fill="hold">
                            <p:stCondLst>
                              <p:cond delay="4740"/>
                            </p:stCondLst>
                            <p:childTnLst>
                              <p:par>
                                <p:cTn id="2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5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20"/>
                                        <p:tgtEl>
                                          <p:spTgt spid="8">
                                            <p:graphicEl>
                                              <a:chart seriesIdx="-4" categoryIdx="5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4760"/>
                            </p:stCondLst>
                            <p:childTnLst>
                              <p:par>
                                <p:cTn id="2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5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20"/>
                                        <p:tgtEl>
                                          <p:spTgt spid="8">
                                            <p:graphicEl>
                                              <a:chart seriesIdx="-4" categoryIdx="5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4780"/>
                            </p:stCondLst>
                            <p:childTnLst>
                              <p:par>
                                <p:cTn id="3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5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20"/>
                                        <p:tgtEl>
                                          <p:spTgt spid="8">
                                            <p:graphicEl>
                                              <a:chart seriesIdx="-4" categoryIdx="5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3" fill="hold">
                            <p:stCondLst>
                              <p:cond delay="4800"/>
                            </p:stCondLst>
                            <p:childTnLst>
                              <p:par>
                                <p:cTn id="3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5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20"/>
                                        <p:tgtEl>
                                          <p:spTgt spid="8">
                                            <p:graphicEl>
                                              <a:chart seriesIdx="-4" categoryIdx="5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4820"/>
                            </p:stCondLst>
                            <p:childTnLst>
                              <p:par>
                                <p:cTn id="3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6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20"/>
                                        <p:tgtEl>
                                          <p:spTgt spid="8">
                                            <p:graphicEl>
                                              <a:chart seriesIdx="-4" categoryIdx="6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" fill="hold">
                            <p:stCondLst>
                              <p:cond delay="4840"/>
                            </p:stCondLst>
                            <p:childTnLst>
                              <p:par>
                                <p:cTn id="3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6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20"/>
                                        <p:tgtEl>
                                          <p:spTgt spid="8">
                                            <p:graphicEl>
                                              <a:chart seriesIdx="-4" categoryIdx="6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4860"/>
                            </p:stCondLst>
                            <p:childTnLst>
                              <p:par>
                                <p:cTn id="3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6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20"/>
                                        <p:tgtEl>
                                          <p:spTgt spid="8">
                                            <p:graphicEl>
                                              <a:chart seriesIdx="-4" categoryIdx="6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4880"/>
                            </p:stCondLst>
                            <p:childTnLst>
                              <p:par>
                                <p:cTn id="3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6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20"/>
                                        <p:tgtEl>
                                          <p:spTgt spid="8">
                                            <p:graphicEl>
                                              <a:chart seriesIdx="-4" categoryIdx="6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3" fill="hold">
                            <p:stCondLst>
                              <p:cond delay="4900"/>
                            </p:stCondLst>
                            <p:childTnLst>
                              <p:par>
                                <p:cTn id="3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6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20"/>
                                        <p:tgtEl>
                                          <p:spTgt spid="8">
                                            <p:graphicEl>
                                              <a:chart seriesIdx="-4" categoryIdx="6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7" fill="hold">
                            <p:stCondLst>
                              <p:cond delay="4920"/>
                            </p:stCondLst>
                            <p:childTnLst>
                              <p:par>
                                <p:cTn id="3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6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20"/>
                                        <p:tgtEl>
                                          <p:spTgt spid="8">
                                            <p:graphicEl>
                                              <a:chart seriesIdx="-4" categoryIdx="6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4940"/>
                            </p:stCondLst>
                            <p:childTnLst>
                              <p:par>
                                <p:cTn id="3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6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20"/>
                                        <p:tgtEl>
                                          <p:spTgt spid="8">
                                            <p:graphicEl>
                                              <a:chart seriesIdx="-4" categoryIdx="6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" fill="hold">
                            <p:stCondLst>
                              <p:cond delay="4960"/>
                            </p:stCondLst>
                            <p:childTnLst>
                              <p:par>
                                <p:cTn id="3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6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8" dur="20"/>
                                        <p:tgtEl>
                                          <p:spTgt spid="8">
                                            <p:graphicEl>
                                              <a:chart seriesIdx="-4" categoryIdx="6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9" fill="hold">
                            <p:stCondLst>
                              <p:cond delay="4980"/>
                            </p:stCondLst>
                            <p:childTnLst>
                              <p:par>
                                <p:cTn id="3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6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2" dur="20"/>
                                        <p:tgtEl>
                                          <p:spTgt spid="8">
                                            <p:graphicEl>
                                              <a:chart seriesIdx="-4" categoryIdx="6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5000"/>
                            </p:stCondLst>
                            <p:childTnLst>
                              <p:par>
                                <p:cTn id="3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6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20"/>
                                        <p:tgtEl>
                                          <p:spTgt spid="8">
                                            <p:graphicEl>
                                              <a:chart seriesIdx="-4" categoryIdx="6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7" fill="hold">
                            <p:stCondLst>
                              <p:cond delay="5020"/>
                            </p:stCondLst>
                            <p:childTnLst>
                              <p:par>
                                <p:cTn id="3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7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0" dur="20"/>
                                        <p:tgtEl>
                                          <p:spTgt spid="8">
                                            <p:graphicEl>
                                              <a:chart seriesIdx="-4" categoryIdx="7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1" fill="hold">
                            <p:stCondLst>
                              <p:cond delay="5040"/>
                            </p:stCondLst>
                            <p:childTnLst>
                              <p:par>
                                <p:cTn id="3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7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20"/>
                                        <p:tgtEl>
                                          <p:spTgt spid="8">
                                            <p:graphicEl>
                                              <a:chart seriesIdx="-4" categoryIdx="7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5060"/>
                            </p:stCondLst>
                            <p:childTnLst>
                              <p:par>
                                <p:cTn id="3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7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20"/>
                                        <p:tgtEl>
                                          <p:spTgt spid="8">
                                            <p:graphicEl>
                                              <a:chart seriesIdx="-4" categoryIdx="7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5080"/>
                            </p:stCondLst>
                            <p:childTnLst>
                              <p:par>
                                <p:cTn id="3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7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2" dur="20"/>
                                        <p:tgtEl>
                                          <p:spTgt spid="8">
                                            <p:graphicEl>
                                              <a:chart seriesIdx="-4" categoryIdx="7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3" fill="hold">
                            <p:stCondLst>
                              <p:cond delay="5100"/>
                            </p:stCondLst>
                            <p:childTnLst>
                              <p:par>
                                <p:cTn id="3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7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6" dur="20"/>
                                        <p:tgtEl>
                                          <p:spTgt spid="8">
                                            <p:graphicEl>
                                              <a:chart seriesIdx="-4" categoryIdx="7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7" fill="hold">
                            <p:stCondLst>
                              <p:cond delay="5120"/>
                            </p:stCondLst>
                            <p:childTnLst>
                              <p:par>
                                <p:cTn id="3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7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0" dur="20"/>
                                        <p:tgtEl>
                                          <p:spTgt spid="8">
                                            <p:graphicEl>
                                              <a:chart seriesIdx="-4" categoryIdx="7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1" fill="hold">
                            <p:stCondLst>
                              <p:cond delay="5140"/>
                            </p:stCondLst>
                            <p:childTnLst>
                              <p:par>
                                <p:cTn id="3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7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4" dur="20"/>
                                        <p:tgtEl>
                                          <p:spTgt spid="8">
                                            <p:graphicEl>
                                              <a:chart seriesIdx="-4" categoryIdx="7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5" fill="hold">
                            <p:stCondLst>
                              <p:cond delay="5160"/>
                            </p:stCondLst>
                            <p:childTnLst>
                              <p:par>
                                <p:cTn id="3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7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8" dur="20"/>
                                        <p:tgtEl>
                                          <p:spTgt spid="8">
                                            <p:graphicEl>
                                              <a:chart seriesIdx="-4" categoryIdx="7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9" fill="hold">
                            <p:stCondLst>
                              <p:cond delay="5180"/>
                            </p:stCondLst>
                            <p:childTnLst>
                              <p:par>
                                <p:cTn id="3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7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2" dur="20"/>
                                        <p:tgtEl>
                                          <p:spTgt spid="8">
                                            <p:graphicEl>
                                              <a:chart seriesIdx="-4" categoryIdx="7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3" fill="hold">
                            <p:stCondLst>
                              <p:cond delay="5200"/>
                            </p:stCondLst>
                            <p:childTnLst>
                              <p:par>
                                <p:cTn id="3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7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6" dur="20"/>
                                        <p:tgtEl>
                                          <p:spTgt spid="8">
                                            <p:graphicEl>
                                              <a:chart seriesIdx="-4" categoryIdx="7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7" fill="hold">
                            <p:stCondLst>
                              <p:cond delay="5220"/>
                            </p:stCondLst>
                            <p:childTnLst>
                              <p:par>
                                <p:cTn id="3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8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0" dur="20"/>
                                        <p:tgtEl>
                                          <p:spTgt spid="8">
                                            <p:graphicEl>
                                              <a:chart seriesIdx="-4" categoryIdx="8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1" fill="hold">
                            <p:stCondLst>
                              <p:cond delay="5240"/>
                            </p:stCondLst>
                            <p:childTnLst>
                              <p:par>
                                <p:cTn id="3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8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4" dur="20"/>
                                        <p:tgtEl>
                                          <p:spTgt spid="8">
                                            <p:graphicEl>
                                              <a:chart seriesIdx="-4" categoryIdx="8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5" fill="hold">
                            <p:stCondLst>
                              <p:cond delay="5260"/>
                            </p:stCondLst>
                            <p:childTnLst>
                              <p:par>
                                <p:cTn id="3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8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8" dur="20"/>
                                        <p:tgtEl>
                                          <p:spTgt spid="8">
                                            <p:graphicEl>
                                              <a:chart seriesIdx="-4" categoryIdx="8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9" fill="hold">
                            <p:stCondLst>
                              <p:cond delay="5280"/>
                            </p:stCondLst>
                            <p:childTnLst>
                              <p:par>
                                <p:cTn id="4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8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2" dur="20"/>
                                        <p:tgtEl>
                                          <p:spTgt spid="8">
                                            <p:graphicEl>
                                              <a:chart seriesIdx="-4" categoryIdx="8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3" fill="hold">
                            <p:stCondLst>
                              <p:cond delay="5300"/>
                            </p:stCondLst>
                            <p:childTnLst>
                              <p:par>
                                <p:cTn id="4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8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6" dur="20"/>
                                        <p:tgtEl>
                                          <p:spTgt spid="8">
                                            <p:graphicEl>
                                              <a:chart seriesIdx="-4" categoryIdx="8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7" fill="hold">
                            <p:stCondLst>
                              <p:cond delay="5320"/>
                            </p:stCondLst>
                            <p:childTnLst>
                              <p:par>
                                <p:cTn id="4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8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0" dur="20"/>
                                        <p:tgtEl>
                                          <p:spTgt spid="8">
                                            <p:graphicEl>
                                              <a:chart seriesIdx="-4" categoryIdx="8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>
                            <p:stCondLst>
                              <p:cond delay="5340"/>
                            </p:stCondLst>
                            <p:childTnLst>
                              <p:par>
                                <p:cTn id="4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8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4" dur="20"/>
                                        <p:tgtEl>
                                          <p:spTgt spid="8">
                                            <p:graphicEl>
                                              <a:chart seriesIdx="-4" categoryIdx="8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5" fill="hold">
                            <p:stCondLst>
                              <p:cond delay="5360"/>
                            </p:stCondLst>
                            <p:childTnLst>
                              <p:par>
                                <p:cTn id="4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8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8" dur="20"/>
                                        <p:tgtEl>
                                          <p:spTgt spid="8">
                                            <p:graphicEl>
                                              <a:chart seriesIdx="-4" categoryIdx="8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9" fill="hold">
                            <p:stCondLst>
                              <p:cond delay="5380"/>
                            </p:stCondLst>
                            <p:childTnLst>
                              <p:par>
                                <p:cTn id="4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8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2" dur="20"/>
                                        <p:tgtEl>
                                          <p:spTgt spid="8">
                                            <p:graphicEl>
                                              <a:chart seriesIdx="-4" categoryIdx="8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3" fill="hold">
                            <p:stCondLst>
                              <p:cond delay="5400"/>
                            </p:stCondLst>
                            <p:childTnLst>
                              <p:par>
                                <p:cTn id="4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8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6" dur="20"/>
                                        <p:tgtEl>
                                          <p:spTgt spid="8">
                                            <p:graphicEl>
                                              <a:chart seriesIdx="-4" categoryIdx="8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7" fill="hold">
                            <p:stCondLst>
                              <p:cond delay="5420"/>
                            </p:stCondLst>
                            <p:childTnLst>
                              <p:par>
                                <p:cTn id="4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9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0" dur="20"/>
                                        <p:tgtEl>
                                          <p:spTgt spid="8">
                                            <p:graphicEl>
                                              <a:chart seriesIdx="-4" categoryIdx="9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1" fill="hold">
                            <p:stCondLst>
                              <p:cond delay="5440"/>
                            </p:stCondLst>
                            <p:childTnLst>
                              <p:par>
                                <p:cTn id="4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9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4" dur="20"/>
                                        <p:tgtEl>
                                          <p:spTgt spid="8">
                                            <p:graphicEl>
                                              <a:chart seriesIdx="-4" categoryIdx="9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5" fill="hold">
                            <p:stCondLst>
                              <p:cond delay="5460"/>
                            </p:stCondLst>
                            <p:childTnLst>
                              <p:par>
                                <p:cTn id="4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9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8" dur="20"/>
                                        <p:tgtEl>
                                          <p:spTgt spid="8">
                                            <p:graphicEl>
                                              <a:chart seriesIdx="-4" categoryIdx="9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9" fill="hold">
                            <p:stCondLst>
                              <p:cond delay="5480"/>
                            </p:stCondLst>
                            <p:childTnLst>
                              <p:par>
                                <p:cTn id="4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9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2" dur="20"/>
                                        <p:tgtEl>
                                          <p:spTgt spid="8">
                                            <p:graphicEl>
                                              <a:chart seriesIdx="-4" categoryIdx="9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3" fill="hold">
                            <p:stCondLst>
                              <p:cond delay="5500"/>
                            </p:stCondLst>
                            <p:childTnLst>
                              <p:par>
                                <p:cTn id="4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9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6" dur="20"/>
                                        <p:tgtEl>
                                          <p:spTgt spid="8">
                                            <p:graphicEl>
                                              <a:chart seriesIdx="-4" categoryIdx="9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7" fill="hold">
                            <p:stCondLst>
                              <p:cond delay="5520"/>
                            </p:stCondLst>
                            <p:childTnLst>
                              <p:par>
                                <p:cTn id="4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9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0" dur="20"/>
                                        <p:tgtEl>
                                          <p:spTgt spid="8">
                                            <p:graphicEl>
                                              <a:chart seriesIdx="-4" categoryIdx="9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1" fill="hold">
                            <p:stCondLst>
                              <p:cond delay="5540"/>
                            </p:stCondLst>
                            <p:childTnLst>
                              <p:par>
                                <p:cTn id="4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9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4" dur="20"/>
                                        <p:tgtEl>
                                          <p:spTgt spid="8">
                                            <p:graphicEl>
                                              <a:chart seriesIdx="-4" categoryIdx="9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5" fill="hold">
                            <p:stCondLst>
                              <p:cond delay="5560"/>
                            </p:stCondLst>
                            <p:childTnLst>
                              <p:par>
                                <p:cTn id="4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9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8" dur="20"/>
                                        <p:tgtEl>
                                          <p:spTgt spid="8">
                                            <p:graphicEl>
                                              <a:chart seriesIdx="-4" categoryIdx="9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9" fill="hold">
                            <p:stCondLst>
                              <p:cond delay="5580"/>
                            </p:stCondLst>
                            <p:childTnLst>
                              <p:par>
                                <p:cTn id="4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9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2" dur="20"/>
                                        <p:tgtEl>
                                          <p:spTgt spid="8">
                                            <p:graphicEl>
                                              <a:chart seriesIdx="-4" categoryIdx="9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3" fill="hold">
                            <p:stCondLst>
                              <p:cond delay="5600"/>
                            </p:stCondLst>
                            <p:childTnLst>
                              <p:par>
                                <p:cTn id="4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9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6" dur="20"/>
                                        <p:tgtEl>
                                          <p:spTgt spid="8">
                                            <p:graphicEl>
                                              <a:chart seriesIdx="-4" categoryIdx="9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7" fill="hold">
                            <p:stCondLst>
                              <p:cond delay="5620"/>
                            </p:stCondLst>
                            <p:childTnLst>
                              <p:par>
                                <p:cTn id="4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0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0" dur="20"/>
                                        <p:tgtEl>
                                          <p:spTgt spid="8">
                                            <p:graphicEl>
                                              <a:chart seriesIdx="-4" categoryIdx="10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1" fill="hold">
                            <p:stCondLst>
                              <p:cond delay="5640"/>
                            </p:stCondLst>
                            <p:childTnLst>
                              <p:par>
                                <p:cTn id="4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0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4" dur="20"/>
                                        <p:tgtEl>
                                          <p:spTgt spid="8">
                                            <p:graphicEl>
                                              <a:chart seriesIdx="-4" categoryIdx="10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5" fill="hold">
                            <p:stCondLst>
                              <p:cond delay="5660"/>
                            </p:stCondLst>
                            <p:childTnLst>
                              <p:par>
                                <p:cTn id="4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0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8" dur="20"/>
                                        <p:tgtEl>
                                          <p:spTgt spid="8">
                                            <p:graphicEl>
                                              <a:chart seriesIdx="-4" categoryIdx="10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9" fill="hold">
                            <p:stCondLst>
                              <p:cond delay="5680"/>
                            </p:stCondLst>
                            <p:childTnLst>
                              <p:par>
                                <p:cTn id="4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0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2" dur="20"/>
                                        <p:tgtEl>
                                          <p:spTgt spid="8">
                                            <p:graphicEl>
                                              <a:chart seriesIdx="-4" categoryIdx="10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3" fill="hold">
                            <p:stCondLst>
                              <p:cond delay="5700"/>
                            </p:stCondLst>
                            <p:childTnLst>
                              <p:par>
                                <p:cTn id="4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0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6" dur="20"/>
                                        <p:tgtEl>
                                          <p:spTgt spid="8">
                                            <p:graphicEl>
                                              <a:chart seriesIdx="-4" categoryIdx="10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7" fill="hold">
                            <p:stCondLst>
                              <p:cond delay="5720"/>
                            </p:stCondLst>
                            <p:childTnLst>
                              <p:par>
                                <p:cTn id="4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0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0" dur="20"/>
                                        <p:tgtEl>
                                          <p:spTgt spid="8">
                                            <p:graphicEl>
                                              <a:chart seriesIdx="-4" categoryIdx="10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1" fill="hold">
                            <p:stCondLst>
                              <p:cond delay="5740"/>
                            </p:stCondLst>
                            <p:childTnLst>
                              <p:par>
                                <p:cTn id="4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0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4" dur="20"/>
                                        <p:tgtEl>
                                          <p:spTgt spid="8">
                                            <p:graphicEl>
                                              <a:chart seriesIdx="-4" categoryIdx="10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5" fill="hold">
                            <p:stCondLst>
                              <p:cond delay="5760"/>
                            </p:stCondLst>
                            <p:childTnLst>
                              <p:par>
                                <p:cTn id="4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0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8" dur="20"/>
                                        <p:tgtEl>
                                          <p:spTgt spid="8">
                                            <p:graphicEl>
                                              <a:chart seriesIdx="-4" categoryIdx="10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9" fill="hold">
                            <p:stCondLst>
                              <p:cond delay="5780"/>
                            </p:stCondLst>
                            <p:childTnLst>
                              <p:par>
                                <p:cTn id="5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0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2" dur="20"/>
                                        <p:tgtEl>
                                          <p:spTgt spid="8">
                                            <p:graphicEl>
                                              <a:chart seriesIdx="-4" categoryIdx="10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3" fill="hold">
                            <p:stCondLst>
                              <p:cond delay="5800"/>
                            </p:stCondLst>
                            <p:childTnLst>
                              <p:par>
                                <p:cTn id="5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0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6" dur="20"/>
                                        <p:tgtEl>
                                          <p:spTgt spid="8">
                                            <p:graphicEl>
                                              <a:chart seriesIdx="-4" categoryIdx="10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7" fill="hold">
                            <p:stCondLst>
                              <p:cond delay="5820"/>
                            </p:stCondLst>
                            <p:childTnLst>
                              <p:par>
                                <p:cTn id="5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0" dur="20"/>
                                        <p:tgtEl>
                                          <p:spTgt spid="8">
                                            <p:graphicEl>
                                              <a:chart seriesIdx="-4" categoryIdx="11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1" fill="hold">
                            <p:stCondLst>
                              <p:cond delay="5840"/>
                            </p:stCondLst>
                            <p:childTnLst>
                              <p:par>
                                <p:cTn id="5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4" dur="20"/>
                                        <p:tgtEl>
                                          <p:spTgt spid="8">
                                            <p:graphicEl>
                                              <a:chart seriesIdx="-4" categoryIdx="11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5" fill="hold">
                            <p:stCondLst>
                              <p:cond delay="5860"/>
                            </p:stCondLst>
                            <p:childTnLst>
                              <p:par>
                                <p:cTn id="5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8" dur="20"/>
                                        <p:tgtEl>
                                          <p:spTgt spid="8">
                                            <p:graphicEl>
                                              <a:chart seriesIdx="-4" categoryIdx="11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9" fill="hold">
                            <p:stCondLst>
                              <p:cond delay="5880"/>
                            </p:stCondLst>
                            <p:childTnLst>
                              <p:par>
                                <p:cTn id="5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2" dur="20"/>
                                        <p:tgtEl>
                                          <p:spTgt spid="8">
                                            <p:graphicEl>
                                              <a:chart seriesIdx="-4" categoryIdx="11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3" fill="hold">
                            <p:stCondLst>
                              <p:cond delay="5900"/>
                            </p:stCondLst>
                            <p:childTnLst>
                              <p:par>
                                <p:cTn id="5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1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6" dur="20"/>
                                        <p:tgtEl>
                                          <p:spTgt spid="8">
                                            <p:graphicEl>
                                              <a:chart seriesIdx="-4" categoryIdx="11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7" fill="hold">
                            <p:stCondLst>
                              <p:cond delay="5920"/>
                            </p:stCondLst>
                            <p:childTnLst>
                              <p:par>
                                <p:cTn id="5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1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0" dur="20"/>
                                        <p:tgtEl>
                                          <p:spTgt spid="8">
                                            <p:graphicEl>
                                              <a:chart seriesIdx="-4" categoryIdx="11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1" fill="hold">
                            <p:stCondLst>
                              <p:cond delay="5940"/>
                            </p:stCondLst>
                            <p:childTnLst>
                              <p:par>
                                <p:cTn id="5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1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4" dur="20"/>
                                        <p:tgtEl>
                                          <p:spTgt spid="8">
                                            <p:graphicEl>
                                              <a:chart seriesIdx="-4" categoryIdx="11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5" fill="hold">
                            <p:stCondLst>
                              <p:cond delay="5960"/>
                            </p:stCondLst>
                            <p:childTnLst>
                              <p:par>
                                <p:cTn id="5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1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8" dur="20"/>
                                        <p:tgtEl>
                                          <p:spTgt spid="8">
                                            <p:graphicEl>
                                              <a:chart seriesIdx="-4" categoryIdx="11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9" fill="hold">
                            <p:stCondLst>
                              <p:cond delay="5980"/>
                            </p:stCondLst>
                            <p:childTnLst>
                              <p:par>
                                <p:cTn id="5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1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2" dur="20"/>
                                        <p:tgtEl>
                                          <p:spTgt spid="8">
                                            <p:graphicEl>
                                              <a:chart seriesIdx="-4" categoryIdx="11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3" fill="hold">
                            <p:stCondLst>
                              <p:cond delay="6000"/>
                            </p:stCondLst>
                            <p:childTnLst>
                              <p:par>
                                <p:cTn id="5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1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6" dur="20"/>
                                        <p:tgtEl>
                                          <p:spTgt spid="8">
                                            <p:graphicEl>
                                              <a:chart seriesIdx="-4" categoryIdx="11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Chart bld="category"/>
        </p:bldSub>
      </p:bldGraphic>
      <p:bldGraphic spid="8" grpId="0">
        <p:bldSub>
          <a:bldChart bld="category"/>
        </p:bldSub>
      </p:bldGraphic>
      <p:bldP spid="9" grpId="0"/>
      <p:bldP spid="10" grpId="0" animBg="1"/>
      <p:bldP spid="1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00000000-0008-0000-0500-0000020000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7966797"/>
              </p:ext>
            </p:extLst>
          </p:nvPr>
        </p:nvGraphicFramePr>
        <p:xfrm>
          <a:off x="212102" y="2381832"/>
          <a:ext cx="4935962" cy="34234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8A14941D-1125-4549-962C-48D1E864EB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6418697"/>
              </p:ext>
            </p:extLst>
          </p:nvPr>
        </p:nvGraphicFramePr>
        <p:xfrm>
          <a:off x="5089111" y="2447826"/>
          <a:ext cx="3933825" cy="16263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28675">
                  <a:extLst>
                    <a:ext uri="{9D8B030D-6E8A-4147-A177-3AD203B41FA5}">
                      <a16:colId xmlns:a16="http://schemas.microsoft.com/office/drawing/2014/main" val="1173434109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1373589753"/>
                    </a:ext>
                  </a:extLst>
                </a:gridCol>
                <a:gridCol w="671512">
                  <a:extLst>
                    <a:ext uri="{9D8B030D-6E8A-4147-A177-3AD203B41FA5}">
                      <a16:colId xmlns:a16="http://schemas.microsoft.com/office/drawing/2014/main" val="2706680785"/>
                    </a:ext>
                  </a:extLst>
                </a:gridCol>
                <a:gridCol w="617538">
                  <a:extLst>
                    <a:ext uri="{9D8B030D-6E8A-4147-A177-3AD203B41FA5}">
                      <a16:colId xmlns:a16="http://schemas.microsoft.com/office/drawing/2014/main" val="2951153829"/>
                    </a:ext>
                  </a:extLst>
                </a:gridCol>
                <a:gridCol w="671512">
                  <a:extLst>
                    <a:ext uri="{9D8B030D-6E8A-4147-A177-3AD203B41FA5}">
                      <a16:colId xmlns:a16="http://schemas.microsoft.com/office/drawing/2014/main" val="3063739361"/>
                    </a:ext>
                  </a:extLst>
                </a:gridCol>
                <a:gridCol w="509588">
                  <a:extLst>
                    <a:ext uri="{9D8B030D-6E8A-4147-A177-3AD203B41FA5}">
                      <a16:colId xmlns:a16="http://schemas.microsoft.com/office/drawing/2014/main" val="60095007"/>
                    </a:ext>
                  </a:extLst>
                </a:gridCol>
              </a:tblGrid>
              <a:tr h="200025">
                <a:tc rowSpan="2"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Variación de la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Base Monetaria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19050" cap="flat" cmpd="sng" algn="ctr">
                      <a:solidFill>
                        <a:srgbClr val="4B4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Total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834170"/>
                  </a:ext>
                </a:extLst>
              </a:tr>
              <a:tr h="173086">
                <a:tc gridSpan="2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∆M&lt; 0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∆M=0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∆M&gt; 0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s-AR" sz="1400" dirty="0">
                        <a:solidFill>
                          <a:srgbClr val="4B4B50"/>
                        </a:solidFill>
                        <a:effectLst/>
                        <a:latin typeface="Abadi" panose="020B06040201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rgbClr val="4B4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4B4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4B4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4B4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627503"/>
                  </a:ext>
                </a:extLst>
              </a:tr>
              <a:tr h="44450">
                <a:tc rowSpan="3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Variación</a:t>
                      </a:r>
                      <a:b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</a:b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del Oro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∆R&lt; 0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6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37</a:t>
                      </a:r>
                      <a:endParaRPr lang="es-AR" sz="1800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2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45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025307"/>
                  </a:ext>
                </a:extLst>
              </a:tr>
              <a:tr h="44450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∆R= 0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0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2</a:t>
                      </a:r>
                      <a:endParaRPr lang="es-AR" sz="1800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0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2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031437"/>
                  </a:ext>
                </a:extLst>
              </a:tr>
              <a:tr h="44450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∆R&gt; 0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5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40</a:t>
                      </a:r>
                      <a:endParaRPr lang="es-AR" sz="1800" b="1" dirty="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11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56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9685334"/>
                  </a:ext>
                </a:extLst>
              </a:tr>
              <a:tr h="44450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Total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11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79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13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103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1335958"/>
                  </a:ext>
                </a:extLst>
              </a:tr>
            </a:tbl>
          </a:graphicData>
        </a:graphic>
      </p:graphicFrame>
      <p:sp>
        <p:nvSpPr>
          <p:cNvPr id="8" name="Rectángulo 7">
            <a:extLst>
              <a:ext uri="{FF2B5EF4-FFF2-40B4-BE49-F238E27FC236}">
                <a16:creationId xmlns:a16="http://schemas.microsoft.com/office/drawing/2014/main" id="{E02300E0-9096-4B05-B9CF-C4B612AD98FC}"/>
              </a:ext>
            </a:extLst>
          </p:cNvPr>
          <p:cNvSpPr/>
          <p:nvPr/>
        </p:nvSpPr>
        <p:spPr>
          <a:xfrm>
            <a:off x="2266461" y="2051367"/>
            <a:ext cx="148630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20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1919-1927</a:t>
            </a:r>
          </a:p>
        </p:txBody>
      </p:sp>
      <p:sp>
        <p:nvSpPr>
          <p:cNvPr id="9" name="Título 4">
            <a:extLst>
              <a:ext uri="{FF2B5EF4-FFF2-40B4-BE49-F238E27FC236}">
                <a16:creationId xmlns:a16="http://schemas.microsoft.com/office/drawing/2014/main" id="{284DCFF9-D0CD-493F-82B9-0E2BE15D7E14}"/>
              </a:ext>
            </a:extLst>
          </p:cNvPr>
          <p:cNvSpPr txBox="1">
            <a:spLocks/>
          </p:cNvSpPr>
          <p:nvPr/>
        </p:nvSpPr>
        <p:spPr>
          <a:xfrm>
            <a:off x="-15957" y="-4997"/>
            <a:ext cx="7886700" cy="75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4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La Caja Conversión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714BDB7E-F532-4217-A6EF-5892D387EA3F}"/>
              </a:ext>
            </a:extLst>
          </p:cNvPr>
          <p:cNvSpPr/>
          <p:nvPr/>
        </p:nvSpPr>
        <p:spPr>
          <a:xfrm>
            <a:off x="822960" y="1194730"/>
            <a:ext cx="7498080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COMPORTAMIENTO </a:t>
            </a:r>
            <a:r>
              <a:rPr lang="es-ES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  <a:sym typeface="Wingdings" panose="05000000000000000000" pitchFamily="2" charset="2"/>
              </a:rPr>
              <a:t> AUTORREGULACIÓN</a:t>
            </a:r>
            <a:endParaRPr lang="es-ES" b="1" dirty="0"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  <a:cs typeface="Browallia New" panose="020B0604020202020204" pitchFamily="34" charset="-34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E1736771-53BE-4B67-9827-3AF8B67FAFA5}"/>
              </a:ext>
            </a:extLst>
          </p:cNvPr>
          <p:cNvSpPr/>
          <p:nvPr/>
        </p:nvSpPr>
        <p:spPr>
          <a:xfrm>
            <a:off x="4094448" y="1194730"/>
            <a:ext cx="2961576" cy="482166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  <a:sym typeface="Wingdings" panose="05000000000000000000" pitchFamily="2" charset="2"/>
              </a:rPr>
              <a:t> AUTO-REGULACIÓN</a:t>
            </a:r>
            <a:endParaRPr lang="es-ES" b="1" dirty="0">
              <a:solidFill>
                <a:schemeClr val="tx2">
                  <a:lumMod val="20000"/>
                  <a:lumOff val="80000"/>
                </a:schemeClr>
              </a:solidFill>
              <a:latin typeface="Abadi" panose="020B0604020104020204" pitchFamily="34" charset="0"/>
              <a:cs typeface="Browallia New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321939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"/>
                                        <p:tgtEl>
                                          <p:spTgt spid="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2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"/>
                                        <p:tgtEl>
                                          <p:spTgt spid="6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4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"/>
                                        <p:tgtEl>
                                          <p:spTgt spid="6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6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"/>
                                        <p:tgtEl>
                                          <p:spTgt spid="6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8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"/>
                                        <p:tgtEl>
                                          <p:spTgt spid="6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1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"/>
                                        <p:tgtEl>
                                          <p:spTgt spid="6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1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"/>
                                        <p:tgtEl>
                                          <p:spTgt spid="6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14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"/>
                                        <p:tgtEl>
                                          <p:spTgt spid="6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16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"/>
                                        <p:tgtEl>
                                          <p:spTgt spid="6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18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"/>
                                        <p:tgtEl>
                                          <p:spTgt spid="6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2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"/>
                                        <p:tgtEl>
                                          <p:spTgt spid="6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22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"/>
                                        <p:tgtEl>
                                          <p:spTgt spid="6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24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"/>
                                        <p:tgtEl>
                                          <p:spTgt spid="6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26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"/>
                                        <p:tgtEl>
                                          <p:spTgt spid="6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28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0"/>
                                        <p:tgtEl>
                                          <p:spTgt spid="6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3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0"/>
                                        <p:tgtEl>
                                          <p:spTgt spid="6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32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0"/>
                                        <p:tgtEl>
                                          <p:spTgt spid="6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334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0"/>
                                        <p:tgtEl>
                                          <p:spTgt spid="6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36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0"/>
                                        <p:tgtEl>
                                          <p:spTgt spid="6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3380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0"/>
                                        <p:tgtEl>
                                          <p:spTgt spid="6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340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0"/>
                                        <p:tgtEl>
                                          <p:spTgt spid="6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3420"/>
                            </p:stCondLst>
                            <p:childTnLst>
                              <p:par>
                                <p:cTn id="1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20"/>
                                        <p:tgtEl>
                                          <p:spTgt spid="6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3440"/>
                            </p:stCondLst>
                            <p:childTnLst>
                              <p:par>
                                <p:cTn id="1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20"/>
                                        <p:tgtEl>
                                          <p:spTgt spid="6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3460"/>
                            </p:stCondLst>
                            <p:childTnLst>
                              <p:par>
                                <p:cTn id="1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20"/>
                                        <p:tgtEl>
                                          <p:spTgt spid="6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3480"/>
                            </p:stCondLst>
                            <p:childTnLst>
                              <p:par>
                                <p:cTn id="1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20"/>
                                        <p:tgtEl>
                                          <p:spTgt spid="6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350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2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20"/>
                                        <p:tgtEl>
                                          <p:spTgt spid="6">
                                            <p:graphicEl>
                                              <a:chart seriesIdx="-4" categoryIdx="2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3520"/>
                            </p:stCondLst>
                            <p:childTnLst>
                              <p:par>
                                <p:cTn id="1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2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20"/>
                                        <p:tgtEl>
                                          <p:spTgt spid="6">
                                            <p:graphicEl>
                                              <a:chart seriesIdx="-4" categoryIdx="2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3540"/>
                            </p:stCondLst>
                            <p:childTnLst>
                              <p:par>
                                <p:cTn id="1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2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20"/>
                                        <p:tgtEl>
                                          <p:spTgt spid="6">
                                            <p:graphicEl>
                                              <a:chart seriesIdx="-4" categoryIdx="2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3560"/>
                            </p:stCondLst>
                            <p:childTnLst>
                              <p:par>
                                <p:cTn id="1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2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20"/>
                                        <p:tgtEl>
                                          <p:spTgt spid="6">
                                            <p:graphicEl>
                                              <a:chart seriesIdx="-4" categoryIdx="2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3580"/>
                            </p:stCondLst>
                            <p:childTnLst>
                              <p:par>
                                <p:cTn id="1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2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20"/>
                                        <p:tgtEl>
                                          <p:spTgt spid="6">
                                            <p:graphicEl>
                                              <a:chart seriesIdx="-4" categoryIdx="2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3600"/>
                            </p:stCondLst>
                            <p:childTnLst>
                              <p:par>
                                <p:cTn id="1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2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20"/>
                                        <p:tgtEl>
                                          <p:spTgt spid="6">
                                            <p:graphicEl>
                                              <a:chart seriesIdx="-4" categoryIdx="2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3620"/>
                            </p:stCondLst>
                            <p:childTnLst>
                              <p:par>
                                <p:cTn id="1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3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20"/>
                                        <p:tgtEl>
                                          <p:spTgt spid="6">
                                            <p:graphicEl>
                                              <a:chart seriesIdx="-4" categoryIdx="3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3640"/>
                            </p:stCondLst>
                            <p:childTnLst>
                              <p:par>
                                <p:cTn id="1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3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20"/>
                                        <p:tgtEl>
                                          <p:spTgt spid="6">
                                            <p:graphicEl>
                                              <a:chart seriesIdx="-4" categoryIdx="3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3660"/>
                            </p:stCondLst>
                            <p:childTnLst>
                              <p:par>
                                <p:cTn id="1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3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20"/>
                                        <p:tgtEl>
                                          <p:spTgt spid="6">
                                            <p:graphicEl>
                                              <a:chart seriesIdx="-4" categoryIdx="3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3680"/>
                            </p:stCondLst>
                            <p:childTnLst>
                              <p:par>
                                <p:cTn id="1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3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20"/>
                                        <p:tgtEl>
                                          <p:spTgt spid="6">
                                            <p:graphicEl>
                                              <a:chart seriesIdx="-4" categoryIdx="3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3700"/>
                            </p:stCondLst>
                            <p:childTnLst>
                              <p:par>
                                <p:cTn id="1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3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20"/>
                                        <p:tgtEl>
                                          <p:spTgt spid="6">
                                            <p:graphicEl>
                                              <a:chart seriesIdx="-4" categoryIdx="3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3720"/>
                            </p:stCondLst>
                            <p:childTnLst>
                              <p:par>
                                <p:cTn id="1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3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20"/>
                                        <p:tgtEl>
                                          <p:spTgt spid="6">
                                            <p:graphicEl>
                                              <a:chart seriesIdx="-4" categoryIdx="3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3740"/>
                            </p:stCondLst>
                            <p:childTnLst>
                              <p:par>
                                <p:cTn id="1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3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20"/>
                                        <p:tgtEl>
                                          <p:spTgt spid="6">
                                            <p:graphicEl>
                                              <a:chart seriesIdx="-4" categoryIdx="3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3760"/>
                            </p:stCondLst>
                            <p:childTnLst>
                              <p:par>
                                <p:cTn id="1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3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20"/>
                                        <p:tgtEl>
                                          <p:spTgt spid="6">
                                            <p:graphicEl>
                                              <a:chart seriesIdx="-4" categoryIdx="3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3780"/>
                            </p:stCondLst>
                            <p:childTnLst>
                              <p:par>
                                <p:cTn id="1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3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20"/>
                                        <p:tgtEl>
                                          <p:spTgt spid="6">
                                            <p:graphicEl>
                                              <a:chart seriesIdx="-4" categoryIdx="3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3800"/>
                            </p:stCondLst>
                            <p:childTnLst>
                              <p:par>
                                <p:cTn id="1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3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20"/>
                                        <p:tgtEl>
                                          <p:spTgt spid="6">
                                            <p:graphicEl>
                                              <a:chart seriesIdx="-4" categoryIdx="3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3820"/>
                            </p:stCondLst>
                            <p:childTnLst>
                              <p:par>
                                <p:cTn id="1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4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20"/>
                                        <p:tgtEl>
                                          <p:spTgt spid="6">
                                            <p:graphicEl>
                                              <a:chart seriesIdx="-4" categoryIdx="4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3840"/>
                            </p:stCondLst>
                            <p:childTnLst>
                              <p:par>
                                <p:cTn id="1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4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20"/>
                                        <p:tgtEl>
                                          <p:spTgt spid="6">
                                            <p:graphicEl>
                                              <a:chart seriesIdx="-4" categoryIdx="4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3860"/>
                            </p:stCondLst>
                            <p:childTnLst>
                              <p:par>
                                <p:cTn id="1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4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20"/>
                                        <p:tgtEl>
                                          <p:spTgt spid="6">
                                            <p:graphicEl>
                                              <a:chart seriesIdx="-4" categoryIdx="4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3880"/>
                            </p:stCondLst>
                            <p:childTnLst>
                              <p:par>
                                <p:cTn id="2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4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20"/>
                                        <p:tgtEl>
                                          <p:spTgt spid="6">
                                            <p:graphicEl>
                                              <a:chart seriesIdx="-4" categoryIdx="4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3900"/>
                            </p:stCondLst>
                            <p:childTnLst>
                              <p:par>
                                <p:cTn id="2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4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20"/>
                                        <p:tgtEl>
                                          <p:spTgt spid="6">
                                            <p:graphicEl>
                                              <a:chart seriesIdx="-4" categoryIdx="4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3920"/>
                            </p:stCondLst>
                            <p:childTnLst>
                              <p:par>
                                <p:cTn id="2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4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20"/>
                                        <p:tgtEl>
                                          <p:spTgt spid="6">
                                            <p:graphicEl>
                                              <a:chart seriesIdx="-4" categoryIdx="4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3940"/>
                            </p:stCondLst>
                            <p:childTnLst>
                              <p:par>
                                <p:cTn id="2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4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20"/>
                                        <p:tgtEl>
                                          <p:spTgt spid="6">
                                            <p:graphicEl>
                                              <a:chart seriesIdx="-4" categoryIdx="4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3960"/>
                            </p:stCondLst>
                            <p:childTnLst>
                              <p:par>
                                <p:cTn id="2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4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20"/>
                                        <p:tgtEl>
                                          <p:spTgt spid="6">
                                            <p:graphicEl>
                                              <a:chart seriesIdx="-4" categoryIdx="4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3980"/>
                            </p:stCondLst>
                            <p:childTnLst>
                              <p:par>
                                <p:cTn id="2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4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20"/>
                                        <p:tgtEl>
                                          <p:spTgt spid="6">
                                            <p:graphicEl>
                                              <a:chart seriesIdx="-4" categoryIdx="4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4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20"/>
                                        <p:tgtEl>
                                          <p:spTgt spid="6">
                                            <p:graphicEl>
                                              <a:chart seriesIdx="-4" categoryIdx="4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4020"/>
                            </p:stCondLst>
                            <p:childTnLst>
                              <p:par>
                                <p:cTn id="2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5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20"/>
                                        <p:tgtEl>
                                          <p:spTgt spid="6">
                                            <p:graphicEl>
                                              <a:chart seriesIdx="-4" categoryIdx="5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4040"/>
                            </p:stCondLst>
                            <p:childTnLst>
                              <p:par>
                                <p:cTn id="2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5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20"/>
                                        <p:tgtEl>
                                          <p:spTgt spid="6">
                                            <p:graphicEl>
                                              <a:chart seriesIdx="-4" categoryIdx="5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4060"/>
                            </p:stCondLst>
                            <p:childTnLst>
                              <p:par>
                                <p:cTn id="2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5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20"/>
                                        <p:tgtEl>
                                          <p:spTgt spid="6">
                                            <p:graphicEl>
                                              <a:chart seriesIdx="-4" categoryIdx="5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0" fill="hold">
                            <p:stCondLst>
                              <p:cond delay="4080"/>
                            </p:stCondLst>
                            <p:childTnLst>
                              <p:par>
                                <p:cTn id="2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5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20"/>
                                        <p:tgtEl>
                                          <p:spTgt spid="6">
                                            <p:graphicEl>
                                              <a:chart seriesIdx="-4" categoryIdx="5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4100"/>
                            </p:stCondLst>
                            <p:childTnLst>
                              <p:par>
                                <p:cTn id="2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5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20"/>
                                        <p:tgtEl>
                                          <p:spTgt spid="6">
                                            <p:graphicEl>
                                              <a:chart seriesIdx="-4" categoryIdx="5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4120"/>
                            </p:stCondLst>
                            <p:childTnLst>
                              <p:par>
                                <p:cTn id="2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5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20"/>
                                        <p:tgtEl>
                                          <p:spTgt spid="6">
                                            <p:graphicEl>
                                              <a:chart seriesIdx="-4" categoryIdx="5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4140"/>
                            </p:stCondLst>
                            <p:childTnLst>
                              <p:par>
                                <p:cTn id="2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5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20"/>
                                        <p:tgtEl>
                                          <p:spTgt spid="6">
                                            <p:graphicEl>
                                              <a:chart seriesIdx="-4" categoryIdx="5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4160"/>
                            </p:stCondLst>
                            <p:childTnLst>
                              <p:par>
                                <p:cTn id="2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5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20"/>
                                        <p:tgtEl>
                                          <p:spTgt spid="6">
                                            <p:graphicEl>
                                              <a:chart seriesIdx="-4" categoryIdx="5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4180"/>
                            </p:stCondLst>
                            <p:childTnLst>
                              <p:par>
                                <p:cTn id="2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5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20"/>
                                        <p:tgtEl>
                                          <p:spTgt spid="6">
                                            <p:graphicEl>
                                              <a:chart seriesIdx="-4" categoryIdx="5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4200"/>
                            </p:stCondLst>
                            <p:childTnLst>
                              <p:par>
                                <p:cTn id="2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5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20"/>
                                        <p:tgtEl>
                                          <p:spTgt spid="6">
                                            <p:graphicEl>
                                              <a:chart seriesIdx="-4" categoryIdx="5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4220"/>
                            </p:stCondLst>
                            <p:childTnLst>
                              <p:par>
                                <p:cTn id="2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6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20"/>
                                        <p:tgtEl>
                                          <p:spTgt spid="6">
                                            <p:graphicEl>
                                              <a:chart seriesIdx="-4" categoryIdx="6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4240"/>
                            </p:stCondLst>
                            <p:childTnLst>
                              <p:par>
                                <p:cTn id="2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6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20"/>
                                        <p:tgtEl>
                                          <p:spTgt spid="6">
                                            <p:graphicEl>
                                              <a:chart seriesIdx="-4" categoryIdx="6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" fill="hold">
                            <p:stCondLst>
                              <p:cond delay="4260"/>
                            </p:stCondLst>
                            <p:childTnLst>
                              <p:par>
                                <p:cTn id="2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6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20"/>
                                        <p:tgtEl>
                                          <p:spTgt spid="6">
                                            <p:graphicEl>
                                              <a:chart seriesIdx="-4" categoryIdx="6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>
                            <p:stCondLst>
                              <p:cond delay="4280"/>
                            </p:stCondLst>
                            <p:childTnLst>
                              <p:par>
                                <p:cTn id="2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6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20"/>
                                        <p:tgtEl>
                                          <p:spTgt spid="6">
                                            <p:graphicEl>
                                              <a:chart seriesIdx="-4" categoryIdx="6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4300"/>
                            </p:stCondLst>
                            <p:childTnLst>
                              <p:par>
                                <p:cTn id="2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6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20"/>
                                        <p:tgtEl>
                                          <p:spTgt spid="6">
                                            <p:graphicEl>
                                              <a:chart seriesIdx="-4" categoryIdx="6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" fill="hold">
                            <p:stCondLst>
                              <p:cond delay="4320"/>
                            </p:stCondLst>
                            <p:childTnLst>
                              <p:par>
                                <p:cTn id="2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6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20"/>
                                        <p:tgtEl>
                                          <p:spTgt spid="6">
                                            <p:graphicEl>
                                              <a:chart seriesIdx="-4" categoryIdx="6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4340"/>
                            </p:stCondLst>
                            <p:childTnLst>
                              <p:par>
                                <p:cTn id="2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6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20"/>
                                        <p:tgtEl>
                                          <p:spTgt spid="6">
                                            <p:graphicEl>
                                              <a:chart seriesIdx="-4" categoryIdx="6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6" fill="hold">
                            <p:stCondLst>
                              <p:cond delay="4360"/>
                            </p:stCondLst>
                            <p:childTnLst>
                              <p:par>
                                <p:cTn id="2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6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20"/>
                                        <p:tgtEl>
                                          <p:spTgt spid="6">
                                            <p:graphicEl>
                                              <a:chart seriesIdx="-4" categoryIdx="6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0" fill="hold">
                            <p:stCondLst>
                              <p:cond delay="4380"/>
                            </p:stCondLst>
                            <p:childTnLst>
                              <p:par>
                                <p:cTn id="3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6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20"/>
                                        <p:tgtEl>
                                          <p:spTgt spid="6">
                                            <p:graphicEl>
                                              <a:chart seriesIdx="-4" categoryIdx="6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4400"/>
                            </p:stCondLst>
                            <p:childTnLst>
                              <p:par>
                                <p:cTn id="3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6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20"/>
                                        <p:tgtEl>
                                          <p:spTgt spid="6">
                                            <p:graphicEl>
                                              <a:chart seriesIdx="-4" categoryIdx="6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8" fill="hold">
                            <p:stCondLst>
                              <p:cond delay="4420"/>
                            </p:stCondLst>
                            <p:childTnLst>
                              <p:par>
                                <p:cTn id="3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7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1" dur="20"/>
                                        <p:tgtEl>
                                          <p:spTgt spid="6">
                                            <p:graphicEl>
                                              <a:chart seriesIdx="-4" categoryIdx="7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2" fill="hold">
                            <p:stCondLst>
                              <p:cond delay="4440"/>
                            </p:stCondLst>
                            <p:childTnLst>
                              <p:par>
                                <p:cTn id="3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7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5" dur="20"/>
                                        <p:tgtEl>
                                          <p:spTgt spid="6">
                                            <p:graphicEl>
                                              <a:chart seriesIdx="-4" categoryIdx="7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6" fill="hold">
                            <p:stCondLst>
                              <p:cond delay="4460"/>
                            </p:stCondLst>
                            <p:childTnLst>
                              <p:par>
                                <p:cTn id="3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7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20"/>
                                        <p:tgtEl>
                                          <p:spTgt spid="6">
                                            <p:graphicEl>
                                              <a:chart seriesIdx="-4" categoryIdx="7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4480"/>
                            </p:stCondLst>
                            <p:childTnLst>
                              <p:par>
                                <p:cTn id="3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7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20"/>
                                        <p:tgtEl>
                                          <p:spTgt spid="6">
                                            <p:graphicEl>
                                              <a:chart seriesIdx="-4" categoryIdx="7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4" fill="hold">
                            <p:stCondLst>
                              <p:cond delay="4500"/>
                            </p:stCondLst>
                            <p:childTnLst>
                              <p:par>
                                <p:cTn id="3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7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20"/>
                                        <p:tgtEl>
                                          <p:spTgt spid="6">
                                            <p:graphicEl>
                                              <a:chart seriesIdx="-4" categoryIdx="7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8" fill="hold">
                            <p:stCondLst>
                              <p:cond delay="4520"/>
                            </p:stCondLst>
                            <p:childTnLst>
                              <p:par>
                                <p:cTn id="3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7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20"/>
                                        <p:tgtEl>
                                          <p:spTgt spid="6">
                                            <p:graphicEl>
                                              <a:chart seriesIdx="-4" categoryIdx="7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2" fill="hold">
                            <p:stCondLst>
                              <p:cond delay="4540"/>
                            </p:stCondLst>
                            <p:childTnLst>
                              <p:par>
                                <p:cTn id="3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7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5" dur="20"/>
                                        <p:tgtEl>
                                          <p:spTgt spid="6">
                                            <p:graphicEl>
                                              <a:chart seriesIdx="-4" categoryIdx="7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6" fill="hold">
                            <p:stCondLst>
                              <p:cond delay="4560"/>
                            </p:stCondLst>
                            <p:childTnLst>
                              <p:par>
                                <p:cTn id="3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7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9" dur="20"/>
                                        <p:tgtEl>
                                          <p:spTgt spid="6">
                                            <p:graphicEl>
                                              <a:chart seriesIdx="-4" categoryIdx="7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0" fill="hold">
                            <p:stCondLst>
                              <p:cond delay="4580"/>
                            </p:stCondLst>
                            <p:childTnLst>
                              <p:par>
                                <p:cTn id="3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7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3" dur="20"/>
                                        <p:tgtEl>
                                          <p:spTgt spid="6">
                                            <p:graphicEl>
                                              <a:chart seriesIdx="-4" categoryIdx="7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4" fill="hold">
                            <p:stCondLst>
                              <p:cond delay="4600"/>
                            </p:stCondLst>
                            <p:childTnLst>
                              <p:par>
                                <p:cTn id="3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7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7" dur="20"/>
                                        <p:tgtEl>
                                          <p:spTgt spid="6">
                                            <p:graphicEl>
                                              <a:chart seriesIdx="-4" categoryIdx="7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8" fill="hold">
                            <p:stCondLst>
                              <p:cond delay="4620"/>
                            </p:stCondLst>
                            <p:childTnLst>
                              <p:par>
                                <p:cTn id="3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8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1" dur="20"/>
                                        <p:tgtEl>
                                          <p:spTgt spid="6">
                                            <p:graphicEl>
                                              <a:chart seriesIdx="-4" categoryIdx="8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2" fill="hold">
                            <p:stCondLst>
                              <p:cond delay="4640"/>
                            </p:stCondLst>
                            <p:childTnLst>
                              <p:par>
                                <p:cTn id="3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8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5" dur="20"/>
                                        <p:tgtEl>
                                          <p:spTgt spid="6">
                                            <p:graphicEl>
                                              <a:chart seriesIdx="-4" categoryIdx="8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6" fill="hold">
                            <p:stCondLst>
                              <p:cond delay="4660"/>
                            </p:stCondLst>
                            <p:childTnLst>
                              <p:par>
                                <p:cTn id="3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8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9" dur="20"/>
                                        <p:tgtEl>
                                          <p:spTgt spid="6">
                                            <p:graphicEl>
                                              <a:chart seriesIdx="-4" categoryIdx="8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0" fill="hold">
                            <p:stCondLst>
                              <p:cond delay="4680"/>
                            </p:stCondLst>
                            <p:childTnLst>
                              <p:par>
                                <p:cTn id="3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8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3" dur="20"/>
                                        <p:tgtEl>
                                          <p:spTgt spid="6">
                                            <p:graphicEl>
                                              <a:chart seriesIdx="-4" categoryIdx="8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4" fill="hold">
                            <p:stCondLst>
                              <p:cond delay="4700"/>
                            </p:stCondLst>
                            <p:childTnLst>
                              <p:par>
                                <p:cTn id="3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8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7" dur="20"/>
                                        <p:tgtEl>
                                          <p:spTgt spid="6">
                                            <p:graphicEl>
                                              <a:chart seriesIdx="-4" categoryIdx="8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8" fill="hold">
                            <p:stCondLst>
                              <p:cond delay="4720"/>
                            </p:stCondLst>
                            <p:childTnLst>
                              <p:par>
                                <p:cTn id="3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8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1" dur="20"/>
                                        <p:tgtEl>
                                          <p:spTgt spid="6">
                                            <p:graphicEl>
                                              <a:chart seriesIdx="-4" categoryIdx="8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4740"/>
                            </p:stCondLst>
                            <p:childTnLst>
                              <p:par>
                                <p:cTn id="3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8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20"/>
                                        <p:tgtEl>
                                          <p:spTgt spid="6">
                                            <p:graphicEl>
                                              <a:chart seriesIdx="-4" categoryIdx="8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6" fill="hold">
                            <p:stCondLst>
                              <p:cond delay="4760"/>
                            </p:stCondLst>
                            <p:childTnLst>
                              <p:par>
                                <p:cTn id="3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8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9" dur="20"/>
                                        <p:tgtEl>
                                          <p:spTgt spid="6">
                                            <p:graphicEl>
                                              <a:chart seriesIdx="-4" categoryIdx="8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0" fill="hold">
                            <p:stCondLst>
                              <p:cond delay="4780"/>
                            </p:stCondLst>
                            <p:childTnLst>
                              <p:par>
                                <p:cTn id="3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8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3" dur="20"/>
                                        <p:tgtEl>
                                          <p:spTgt spid="6">
                                            <p:graphicEl>
                                              <a:chart seriesIdx="-4" categoryIdx="8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4" fill="hold">
                            <p:stCondLst>
                              <p:cond delay="4800"/>
                            </p:stCondLst>
                            <p:childTnLst>
                              <p:par>
                                <p:cTn id="3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8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20"/>
                                        <p:tgtEl>
                                          <p:spTgt spid="6">
                                            <p:graphicEl>
                                              <a:chart seriesIdx="-4" categoryIdx="8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8" fill="hold">
                            <p:stCondLst>
                              <p:cond delay="4820"/>
                            </p:stCondLst>
                            <p:childTnLst>
                              <p:par>
                                <p:cTn id="3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9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1" dur="20"/>
                                        <p:tgtEl>
                                          <p:spTgt spid="6">
                                            <p:graphicEl>
                                              <a:chart seriesIdx="-4" categoryIdx="9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2" fill="hold">
                            <p:stCondLst>
                              <p:cond delay="4840"/>
                            </p:stCondLst>
                            <p:childTnLst>
                              <p:par>
                                <p:cTn id="3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9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5" dur="20"/>
                                        <p:tgtEl>
                                          <p:spTgt spid="6">
                                            <p:graphicEl>
                                              <a:chart seriesIdx="-4" categoryIdx="9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6" fill="hold">
                            <p:stCondLst>
                              <p:cond delay="4860"/>
                            </p:stCondLst>
                            <p:childTnLst>
                              <p:par>
                                <p:cTn id="3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9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9" dur="20"/>
                                        <p:tgtEl>
                                          <p:spTgt spid="6">
                                            <p:graphicEl>
                                              <a:chart seriesIdx="-4" categoryIdx="9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0" fill="hold">
                            <p:stCondLst>
                              <p:cond delay="4880"/>
                            </p:stCondLst>
                            <p:childTnLst>
                              <p:par>
                                <p:cTn id="4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9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3" dur="20"/>
                                        <p:tgtEl>
                                          <p:spTgt spid="6">
                                            <p:graphicEl>
                                              <a:chart seriesIdx="-4" categoryIdx="9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4" fill="hold">
                            <p:stCondLst>
                              <p:cond delay="4900"/>
                            </p:stCondLst>
                            <p:childTnLst>
                              <p:par>
                                <p:cTn id="4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9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7" dur="20"/>
                                        <p:tgtEl>
                                          <p:spTgt spid="6">
                                            <p:graphicEl>
                                              <a:chart seriesIdx="-4" categoryIdx="9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8" fill="hold">
                            <p:stCondLst>
                              <p:cond delay="4920"/>
                            </p:stCondLst>
                            <p:childTnLst>
                              <p:par>
                                <p:cTn id="4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9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1" dur="20"/>
                                        <p:tgtEl>
                                          <p:spTgt spid="6">
                                            <p:graphicEl>
                                              <a:chart seriesIdx="-4" categoryIdx="9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2" fill="hold">
                            <p:stCondLst>
                              <p:cond delay="4940"/>
                            </p:stCondLst>
                            <p:childTnLst>
                              <p:par>
                                <p:cTn id="4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9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5" dur="20"/>
                                        <p:tgtEl>
                                          <p:spTgt spid="6">
                                            <p:graphicEl>
                                              <a:chart seriesIdx="-4" categoryIdx="9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6" fill="hold">
                            <p:stCondLst>
                              <p:cond delay="4960"/>
                            </p:stCondLst>
                            <p:childTnLst>
                              <p:par>
                                <p:cTn id="4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9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9" dur="20"/>
                                        <p:tgtEl>
                                          <p:spTgt spid="6">
                                            <p:graphicEl>
                                              <a:chart seriesIdx="-4" categoryIdx="9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0" fill="hold">
                            <p:stCondLst>
                              <p:cond delay="4980"/>
                            </p:stCondLst>
                            <p:childTnLst>
                              <p:par>
                                <p:cTn id="4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9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3" dur="20"/>
                                        <p:tgtEl>
                                          <p:spTgt spid="6">
                                            <p:graphicEl>
                                              <a:chart seriesIdx="-4" categoryIdx="9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4" fill="hold">
                            <p:stCondLst>
                              <p:cond delay="5000"/>
                            </p:stCondLst>
                            <p:childTnLst>
                              <p:par>
                                <p:cTn id="4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9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7" dur="20"/>
                                        <p:tgtEl>
                                          <p:spTgt spid="6">
                                            <p:graphicEl>
                                              <a:chart seriesIdx="-4" categoryIdx="9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8" fill="hold">
                            <p:stCondLst>
                              <p:cond delay="5020"/>
                            </p:stCondLst>
                            <p:childTnLst>
                              <p:par>
                                <p:cTn id="4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0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1" dur="20"/>
                                        <p:tgtEl>
                                          <p:spTgt spid="6">
                                            <p:graphicEl>
                                              <a:chart seriesIdx="-4" categoryIdx="10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2" fill="hold">
                            <p:stCondLst>
                              <p:cond delay="5040"/>
                            </p:stCondLst>
                            <p:childTnLst>
                              <p:par>
                                <p:cTn id="4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0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5" dur="20"/>
                                        <p:tgtEl>
                                          <p:spTgt spid="6">
                                            <p:graphicEl>
                                              <a:chart seriesIdx="-4" categoryIdx="10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6" fill="hold">
                            <p:stCondLst>
                              <p:cond delay="5060"/>
                            </p:stCondLst>
                            <p:childTnLst>
                              <p:par>
                                <p:cTn id="4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chart seriesIdx="-4" categoryIdx="10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9" dur="20"/>
                                        <p:tgtEl>
                                          <p:spTgt spid="6">
                                            <p:graphicEl>
                                              <a:chart seriesIdx="-4" categoryIdx="10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0" fill="hold">
                            <p:stCondLst>
                              <p:cond delay="5080"/>
                            </p:stCondLst>
                            <p:childTnLst>
                              <p:par>
                                <p:cTn id="441" presetID="42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Chart bld="category"/>
        </p:bldSub>
      </p:bldGraphic>
      <p:bldP spid="8" grpId="0"/>
      <p:bldP spid="9" grpId="0"/>
      <p:bldP spid="10" grpId="0" animBg="1"/>
      <p:bldP spid="1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DCF446C5-5F15-4132-B34D-EC1D28A8EB07}"/>
              </a:ext>
            </a:extLst>
          </p:cNvPr>
          <p:cNvGraphicFramePr/>
          <p:nvPr/>
        </p:nvGraphicFramePr>
        <p:xfrm>
          <a:off x="35714" y="2304744"/>
          <a:ext cx="4536286" cy="36792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B4083928-A5B7-45BE-BF92-014073519930}"/>
              </a:ext>
            </a:extLst>
          </p:cNvPr>
          <p:cNvGraphicFramePr/>
          <p:nvPr/>
        </p:nvGraphicFramePr>
        <p:xfrm>
          <a:off x="4687927" y="2304744"/>
          <a:ext cx="4414274" cy="36792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ítulo 4">
            <a:extLst>
              <a:ext uri="{FF2B5EF4-FFF2-40B4-BE49-F238E27FC236}">
                <a16:creationId xmlns:a16="http://schemas.microsoft.com/office/drawing/2014/main" id="{FEA209F9-E074-4CB3-A496-0AE2B942F187}"/>
              </a:ext>
            </a:extLst>
          </p:cNvPr>
          <p:cNvSpPr txBox="1">
            <a:spLocks/>
          </p:cNvSpPr>
          <p:nvPr/>
        </p:nvSpPr>
        <p:spPr>
          <a:xfrm>
            <a:off x="-15957" y="-4997"/>
            <a:ext cx="7886700" cy="75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4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Frente Externo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113F216D-F45D-4288-B278-C9895E878037}"/>
              </a:ext>
            </a:extLst>
          </p:cNvPr>
          <p:cNvSpPr/>
          <p:nvPr/>
        </p:nvSpPr>
        <p:spPr>
          <a:xfrm>
            <a:off x="683568" y="1292412"/>
            <a:ext cx="3597937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BALANZA DE PAGOS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F795B31E-5C64-4ABB-BE37-27A92B3CDE99}"/>
              </a:ext>
            </a:extLst>
          </p:cNvPr>
          <p:cNvSpPr/>
          <p:nvPr/>
        </p:nvSpPr>
        <p:spPr>
          <a:xfrm>
            <a:off x="4981291" y="1287882"/>
            <a:ext cx="3597937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TIPO DE CAMBIO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EBF18185-42DD-4AB9-BF52-7FC98EF288B0}"/>
              </a:ext>
            </a:extLst>
          </p:cNvPr>
          <p:cNvCxnSpPr/>
          <p:nvPr/>
        </p:nvCxnSpPr>
        <p:spPr>
          <a:xfrm flipV="1">
            <a:off x="3203848" y="2132856"/>
            <a:ext cx="0" cy="1909299"/>
          </a:xfrm>
          <a:prstGeom prst="line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0B85B2D3-EDEE-49A7-B803-094607AEFC1A}"/>
              </a:ext>
            </a:extLst>
          </p:cNvPr>
          <p:cNvCxnSpPr/>
          <p:nvPr/>
        </p:nvCxnSpPr>
        <p:spPr>
          <a:xfrm flipV="1">
            <a:off x="7870743" y="2708920"/>
            <a:ext cx="0" cy="1909299"/>
          </a:xfrm>
          <a:prstGeom prst="line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4815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"/>
                                        <p:tgtEl>
                                          <p:spTgt spid="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"/>
                                        <p:tgtEl>
                                          <p:spTgt spid="7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45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"/>
                                        <p:tgtEl>
                                          <p:spTgt spid="7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"/>
                                        <p:tgtEl>
                                          <p:spTgt spid="7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6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"/>
                                        <p:tgtEl>
                                          <p:spTgt spid="7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75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"/>
                                        <p:tgtEl>
                                          <p:spTgt spid="7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85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"/>
                                        <p:tgtEl>
                                          <p:spTgt spid="7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95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"/>
                                        <p:tgtEl>
                                          <p:spTgt spid="7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5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"/>
                                        <p:tgtEl>
                                          <p:spTgt spid="7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15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"/>
                                        <p:tgtEl>
                                          <p:spTgt spid="7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2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"/>
                                        <p:tgtEl>
                                          <p:spTgt spid="7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350"/>
                            </p:stCondLst>
                            <p:childTnLst>
                              <p:par>
                                <p:cTn id="59" presetID="2" presetClass="entr" presetSubtype="1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6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"/>
                                        <p:tgtEl>
                                          <p:spTgt spid="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62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"/>
                                        <p:tgtEl>
                                          <p:spTgt spid="8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64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"/>
                                        <p:tgtEl>
                                          <p:spTgt spid="8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66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"/>
                                        <p:tgtEl>
                                          <p:spTgt spid="8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68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"/>
                                        <p:tgtEl>
                                          <p:spTgt spid="8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37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20"/>
                                        <p:tgtEl>
                                          <p:spTgt spid="8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372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0"/>
                                        <p:tgtEl>
                                          <p:spTgt spid="8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374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0"/>
                                        <p:tgtEl>
                                          <p:spTgt spid="8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76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0"/>
                                        <p:tgtEl>
                                          <p:spTgt spid="8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378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0"/>
                                        <p:tgtEl>
                                          <p:spTgt spid="8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80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0"/>
                                        <p:tgtEl>
                                          <p:spTgt spid="8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382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20"/>
                                        <p:tgtEl>
                                          <p:spTgt spid="8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3840"/>
                            </p:stCondLst>
                            <p:childTnLst>
                              <p:par>
                                <p:cTn id="1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20"/>
                                        <p:tgtEl>
                                          <p:spTgt spid="8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3860"/>
                            </p:stCondLst>
                            <p:childTnLst>
                              <p:par>
                                <p:cTn id="1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0"/>
                                        <p:tgtEl>
                                          <p:spTgt spid="8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388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20"/>
                                        <p:tgtEl>
                                          <p:spTgt spid="8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3900"/>
                            </p:stCondLst>
                            <p:childTnLst>
                              <p:par>
                                <p:cTn id="1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20"/>
                                        <p:tgtEl>
                                          <p:spTgt spid="8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3920"/>
                            </p:stCondLst>
                            <p:childTnLst>
                              <p:par>
                                <p:cTn id="1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20"/>
                                        <p:tgtEl>
                                          <p:spTgt spid="8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3940"/>
                            </p:stCondLst>
                            <p:childTnLst>
                              <p:par>
                                <p:cTn id="1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20"/>
                                        <p:tgtEl>
                                          <p:spTgt spid="8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3960"/>
                            </p:stCondLst>
                            <p:childTnLst>
                              <p:par>
                                <p:cTn id="1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20"/>
                                        <p:tgtEl>
                                          <p:spTgt spid="8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3980"/>
                            </p:stCondLst>
                            <p:childTnLst>
                              <p:par>
                                <p:cTn id="1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20"/>
                                        <p:tgtEl>
                                          <p:spTgt spid="8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4000"/>
                            </p:stCondLst>
                            <p:childTnLst>
                              <p:par>
                                <p:cTn id="1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20"/>
                                        <p:tgtEl>
                                          <p:spTgt spid="8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402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20"/>
                                        <p:tgtEl>
                                          <p:spTgt spid="8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4040"/>
                            </p:stCondLst>
                            <p:childTnLst>
                              <p:par>
                                <p:cTn id="1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20"/>
                                        <p:tgtEl>
                                          <p:spTgt spid="8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4060"/>
                            </p:stCondLst>
                            <p:childTnLst>
                              <p:par>
                                <p:cTn id="1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20"/>
                                        <p:tgtEl>
                                          <p:spTgt spid="8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4080"/>
                            </p:stCondLst>
                            <p:childTnLst>
                              <p:par>
                                <p:cTn id="1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20"/>
                                        <p:tgtEl>
                                          <p:spTgt spid="8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4100"/>
                            </p:stCondLst>
                            <p:childTnLst>
                              <p:par>
                                <p:cTn id="1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2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20"/>
                                        <p:tgtEl>
                                          <p:spTgt spid="8">
                                            <p:graphicEl>
                                              <a:chart seriesIdx="-4" categoryIdx="2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4120"/>
                            </p:stCondLst>
                            <p:childTnLst>
                              <p:par>
                                <p:cTn id="1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2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20"/>
                                        <p:tgtEl>
                                          <p:spTgt spid="8">
                                            <p:graphicEl>
                                              <a:chart seriesIdx="-4" categoryIdx="2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4140"/>
                            </p:stCondLst>
                            <p:childTnLst>
                              <p:par>
                                <p:cTn id="1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2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20"/>
                                        <p:tgtEl>
                                          <p:spTgt spid="8">
                                            <p:graphicEl>
                                              <a:chart seriesIdx="-4" categoryIdx="2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4160"/>
                            </p:stCondLst>
                            <p:childTnLst>
                              <p:par>
                                <p:cTn id="1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2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20"/>
                                        <p:tgtEl>
                                          <p:spTgt spid="8">
                                            <p:graphicEl>
                                              <a:chart seriesIdx="-4" categoryIdx="2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4180"/>
                            </p:stCondLst>
                            <p:childTnLst>
                              <p:par>
                                <p:cTn id="1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2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20"/>
                                        <p:tgtEl>
                                          <p:spTgt spid="8">
                                            <p:graphicEl>
                                              <a:chart seriesIdx="-4" categoryIdx="2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4200"/>
                            </p:stCondLst>
                            <p:childTnLst>
                              <p:par>
                                <p:cTn id="1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2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20"/>
                                        <p:tgtEl>
                                          <p:spTgt spid="8">
                                            <p:graphicEl>
                                              <a:chart seriesIdx="-4" categoryIdx="2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4220"/>
                            </p:stCondLst>
                            <p:childTnLst>
                              <p:par>
                                <p:cTn id="1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3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20"/>
                                        <p:tgtEl>
                                          <p:spTgt spid="8">
                                            <p:graphicEl>
                                              <a:chart seriesIdx="-4" categoryIdx="3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4240"/>
                            </p:stCondLst>
                            <p:childTnLst>
                              <p:par>
                                <p:cTn id="1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3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20"/>
                                        <p:tgtEl>
                                          <p:spTgt spid="8">
                                            <p:graphicEl>
                                              <a:chart seriesIdx="-4" categoryIdx="3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4260"/>
                            </p:stCondLst>
                            <p:childTnLst>
                              <p:par>
                                <p:cTn id="1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3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20"/>
                                        <p:tgtEl>
                                          <p:spTgt spid="8">
                                            <p:graphicEl>
                                              <a:chart seriesIdx="-4" categoryIdx="3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4280"/>
                            </p:stCondLst>
                            <p:childTnLst>
                              <p:par>
                                <p:cTn id="2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3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20"/>
                                        <p:tgtEl>
                                          <p:spTgt spid="8">
                                            <p:graphicEl>
                                              <a:chart seriesIdx="-4" categoryIdx="3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4300"/>
                            </p:stCondLst>
                            <p:childTnLst>
                              <p:par>
                                <p:cTn id="2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3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20"/>
                                        <p:tgtEl>
                                          <p:spTgt spid="8">
                                            <p:graphicEl>
                                              <a:chart seriesIdx="-4" categoryIdx="3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4320"/>
                            </p:stCondLst>
                            <p:childTnLst>
                              <p:par>
                                <p:cTn id="2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3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20"/>
                                        <p:tgtEl>
                                          <p:spTgt spid="8">
                                            <p:graphicEl>
                                              <a:chart seriesIdx="-4" categoryIdx="3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4340"/>
                            </p:stCondLst>
                            <p:childTnLst>
                              <p:par>
                                <p:cTn id="2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3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20"/>
                                        <p:tgtEl>
                                          <p:spTgt spid="8">
                                            <p:graphicEl>
                                              <a:chart seriesIdx="-4" categoryIdx="3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4360"/>
                            </p:stCondLst>
                            <p:childTnLst>
                              <p:par>
                                <p:cTn id="2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3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20"/>
                                        <p:tgtEl>
                                          <p:spTgt spid="8">
                                            <p:graphicEl>
                                              <a:chart seriesIdx="-4" categoryIdx="3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4380"/>
                            </p:stCondLst>
                            <p:childTnLst>
                              <p:par>
                                <p:cTn id="2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3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20"/>
                                        <p:tgtEl>
                                          <p:spTgt spid="8">
                                            <p:graphicEl>
                                              <a:chart seriesIdx="-4" categoryIdx="3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4400"/>
                            </p:stCondLst>
                            <p:childTnLst>
                              <p:par>
                                <p:cTn id="2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3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20"/>
                                        <p:tgtEl>
                                          <p:spTgt spid="8">
                                            <p:graphicEl>
                                              <a:chart seriesIdx="-4" categoryIdx="3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4420"/>
                            </p:stCondLst>
                            <p:childTnLst>
                              <p:par>
                                <p:cTn id="2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4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20"/>
                                        <p:tgtEl>
                                          <p:spTgt spid="8">
                                            <p:graphicEl>
                                              <a:chart seriesIdx="-4" categoryIdx="4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4440"/>
                            </p:stCondLst>
                            <p:childTnLst>
                              <p:par>
                                <p:cTn id="2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4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20"/>
                                        <p:tgtEl>
                                          <p:spTgt spid="8">
                                            <p:graphicEl>
                                              <a:chart seriesIdx="-4" categoryIdx="4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4460"/>
                            </p:stCondLst>
                            <p:childTnLst>
                              <p:par>
                                <p:cTn id="2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4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20"/>
                                        <p:tgtEl>
                                          <p:spTgt spid="8">
                                            <p:graphicEl>
                                              <a:chart seriesIdx="-4" categoryIdx="4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4480"/>
                            </p:stCondLst>
                            <p:childTnLst>
                              <p:par>
                                <p:cTn id="2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4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20"/>
                                        <p:tgtEl>
                                          <p:spTgt spid="8">
                                            <p:graphicEl>
                                              <a:chart seriesIdx="-4" categoryIdx="4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4500"/>
                            </p:stCondLst>
                            <p:childTnLst>
                              <p:par>
                                <p:cTn id="2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4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20"/>
                                        <p:tgtEl>
                                          <p:spTgt spid="8">
                                            <p:graphicEl>
                                              <a:chart seriesIdx="-4" categoryIdx="4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4520"/>
                            </p:stCondLst>
                            <p:childTnLst>
                              <p:par>
                                <p:cTn id="2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4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20"/>
                                        <p:tgtEl>
                                          <p:spTgt spid="8">
                                            <p:graphicEl>
                                              <a:chart seriesIdx="-4" categoryIdx="4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4540"/>
                            </p:stCondLst>
                            <p:childTnLst>
                              <p:par>
                                <p:cTn id="2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4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20"/>
                                        <p:tgtEl>
                                          <p:spTgt spid="8">
                                            <p:graphicEl>
                                              <a:chart seriesIdx="-4" categoryIdx="4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4560"/>
                            </p:stCondLst>
                            <p:childTnLst>
                              <p:par>
                                <p:cTn id="2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4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20"/>
                                        <p:tgtEl>
                                          <p:spTgt spid="8">
                                            <p:graphicEl>
                                              <a:chart seriesIdx="-4" categoryIdx="4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4580"/>
                            </p:stCondLst>
                            <p:childTnLst>
                              <p:par>
                                <p:cTn id="2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4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20"/>
                                        <p:tgtEl>
                                          <p:spTgt spid="8">
                                            <p:graphicEl>
                                              <a:chart seriesIdx="-4" categoryIdx="4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>
                            <p:stCondLst>
                              <p:cond delay="4600"/>
                            </p:stCondLst>
                            <p:childTnLst>
                              <p:par>
                                <p:cTn id="2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4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20"/>
                                        <p:tgtEl>
                                          <p:spTgt spid="8">
                                            <p:graphicEl>
                                              <a:chart seriesIdx="-4" categoryIdx="4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>
                            <p:stCondLst>
                              <p:cond delay="4620"/>
                            </p:stCondLst>
                            <p:childTnLst>
                              <p:par>
                                <p:cTn id="2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5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20"/>
                                        <p:tgtEl>
                                          <p:spTgt spid="8">
                                            <p:graphicEl>
                                              <a:chart seriesIdx="-4" categoryIdx="5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4640"/>
                            </p:stCondLst>
                            <p:childTnLst>
                              <p:par>
                                <p:cTn id="2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5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20"/>
                                        <p:tgtEl>
                                          <p:spTgt spid="8">
                                            <p:graphicEl>
                                              <a:chart seriesIdx="-4" categoryIdx="5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4660"/>
                            </p:stCondLst>
                            <p:childTnLst>
                              <p:par>
                                <p:cTn id="2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5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20"/>
                                        <p:tgtEl>
                                          <p:spTgt spid="8">
                                            <p:graphicEl>
                                              <a:chart seriesIdx="-4" categoryIdx="5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4680"/>
                            </p:stCondLst>
                            <p:childTnLst>
                              <p:par>
                                <p:cTn id="2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5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20"/>
                                        <p:tgtEl>
                                          <p:spTgt spid="8">
                                            <p:graphicEl>
                                              <a:chart seriesIdx="-4" categoryIdx="5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4700"/>
                            </p:stCondLst>
                            <p:childTnLst>
                              <p:par>
                                <p:cTn id="2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5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20"/>
                                        <p:tgtEl>
                                          <p:spTgt spid="8">
                                            <p:graphicEl>
                                              <a:chart seriesIdx="-4" categoryIdx="5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" fill="hold">
                            <p:stCondLst>
                              <p:cond delay="4720"/>
                            </p:stCondLst>
                            <p:childTnLst>
                              <p:par>
                                <p:cTn id="2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5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20"/>
                                        <p:tgtEl>
                                          <p:spTgt spid="8">
                                            <p:graphicEl>
                                              <a:chart seriesIdx="-4" categoryIdx="5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1" fill="hold">
                            <p:stCondLst>
                              <p:cond delay="4740"/>
                            </p:stCondLst>
                            <p:childTnLst>
                              <p:par>
                                <p:cTn id="2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5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20"/>
                                        <p:tgtEl>
                                          <p:spTgt spid="8">
                                            <p:graphicEl>
                                              <a:chart seriesIdx="-4" categoryIdx="5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4760"/>
                            </p:stCondLst>
                            <p:childTnLst>
                              <p:par>
                                <p:cTn id="2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5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20"/>
                                        <p:tgtEl>
                                          <p:spTgt spid="8">
                                            <p:graphicEl>
                                              <a:chart seriesIdx="-4" categoryIdx="5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4780"/>
                            </p:stCondLst>
                            <p:childTnLst>
                              <p:par>
                                <p:cTn id="3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5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20"/>
                                        <p:tgtEl>
                                          <p:spTgt spid="8">
                                            <p:graphicEl>
                                              <a:chart seriesIdx="-4" categoryIdx="5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3" fill="hold">
                            <p:stCondLst>
                              <p:cond delay="4800"/>
                            </p:stCondLst>
                            <p:childTnLst>
                              <p:par>
                                <p:cTn id="3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5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20"/>
                                        <p:tgtEl>
                                          <p:spTgt spid="8">
                                            <p:graphicEl>
                                              <a:chart seriesIdx="-4" categoryIdx="5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4820"/>
                            </p:stCondLst>
                            <p:childTnLst>
                              <p:par>
                                <p:cTn id="3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6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20"/>
                                        <p:tgtEl>
                                          <p:spTgt spid="8">
                                            <p:graphicEl>
                                              <a:chart seriesIdx="-4" categoryIdx="6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" fill="hold">
                            <p:stCondLst>
                              <p:cond delay="4840"/>
                            </p:stCondLst>
                            <p:childTnLst>
                              <p:par>
                                <p:cTn id="3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6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20"/>
                                        <p:tgtEl>
                                          <p:spTgt spid="8">
                                            <p:graphicEl>
                                              <a:chart seriesIdx="-4" categoryIdx="6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4860"/>
                            </p:stCondLst>
                            <p:childTnLst>
                              <p:par>
                                <p:cTn id="3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6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20"/>
                                        <p:tgtEl>
                                          <p:spTgt spid="8">
                                            <p:graphicEl>
                                              <a:chart seriesIdx="-4" categoryIdx="6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4880"/>
                            </p:stCondLst>
                            <p:childTnLst>
                              <p:par>
                                <p:cTn id="3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6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20"/>
                                        <p:tgtEl>
                                          <p:spTgt spid="8">
                                            <p:graphicEl>
                                              <a:chart seriesIdx="-4" categoryIdx="6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3" fill="hold">
                            <p:stCondLst>
                              <p:cond delay="4900"/>
                            </p:stCondLst>
                            <p:childTnLst>
                              <p:par>
                                <p:cTn id="3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6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20"/>
                                        <p:tgtEl>
                                          <p:spTgt spid="8">
                                            <p:graphicEl>
                                              <a:chart seriesIdx="-4" categoryIdx="6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7" fill="hold">
                            <p:stCondLst>
                              <p:cond delay="4920"/>
                            </p:stCondLst>
                            <p:childTnLst>
                              <p:par>
                                <p:cTn id="3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6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20"/>
                                        <p:tgtEl>
                                          <p:spTgt spid="8">
                                            <p:graphicEl>
                                              <a:chart seriesIdx="-4" categoryIdx="6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4940"/>
                            </p:stCondLst>
                            <p:childTnLst>
                              <p:par>
                                <p:cTn id="3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6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20"/>
                                        <p:tgtEl>
                                          <p:spTgt spid="8">
                                            <p:graphicEl>
                                              <a:chart seriesIdx="-4" categoryIdx="6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" fill="hold">
                            <p:stCondLst>
                              <p:cond delay="4960"/>
                            </p:stCondLst>
                            <p:childTnLst>
                              <p:par>
                                <p:cTn id="3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6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8" dur="20"/>
                                        <p:tgtEl>
                                          <p:spTgt spid="8">
                                            <p:graphicEl>
                                              <a:chart seriesIdx="-4" categoryIdx="6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9" fill="hold">
                            <p:stCondLst>
                              <p:cond delay="4980"/>
                            </p:stCondLst>
                            <p:childTnLst>
                              <p:par>
                                <p:cTn id="3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6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2" dur="20"/>
                                        <p:tgtEl>
                                          <p:spTgt spid="8">
                                            <p:graphicEl>
                                              <a:chart seriesIdx="-4" categoryIdx="6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3" fill="hold">
                            <p:stCondLst>
                              <p:cond delay="5000"/>
                            </p:stCondLst>
                            <p:childTnLst>
                              <p:par>
                                <p:cTn id="3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6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20"/>
                                        <p:tgtEl>
                                          <p:spTgt spid="8">
                                            <p:graphicEl>
                                              <a:chart seriesIdx="-4" categoryIdx="6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7" fill="hold">
                            <p:stCondLst>
                              <p:cond delay="5020"/>
                            </p:stCondLst>
                            <p:childTnLst>
                              <p:par>
                                <p:cTn id="3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7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0" dur="20"/>
                                        <p:tgtEl>
                                          <p:spTgt spid="8">
                                            <p:graphicEl>
                                              <a:chart seriesIdx="-4" categoryIdx="7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1" fill="hold">
                            <p:stCondLst>
                              <p:cond delay="5040"/>
                            </p:stCondLst>
                            <p:childTnLst>
                              <p:par>
                                <p:cTn id="3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7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4" dur="20"/>
                                        <p:tgtEl>
                                          <p:spTgt spid="8">
                                            <p:graphicEl>
                                              <a:chart seriesIdx="-4" categoryIdx="7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5" fill="hold">
                            <p:stCondLst>
                              <p:cond delay="5060"/>
                            </p:stCondLst>
                            <p:childTnLst>
                              <p:par>
                                <p:cTn id="3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7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20"/>
                                        <p:tgtEl>
                                          <p:spTgt spid="8">
                                            <p:graphicEl>
                                              <a:chart seriesIdx="-4" categoryIdx="7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5080"/>
                            </p:stCondLst>
                            <p:childTnLst>
                              <p:par>
                                <p:cTn id="3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7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2" dur="20"/>
                                        <p:tgtEl>
                                          <p:spTgt spid="8">
                                            <p:graphicEl>
                                              <a:chart seriesIdx="-4" categoryIdx="7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3" fill="hold">
                            <p:stCondLst>
                              <p:cond delay="5100"/>
                            </p:stCondLst>
                            <p:childTnLst>
                              <p:par>
                                <p:cTn id="3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7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6" dur="20"/>
                                        <p:tgtEl>
                                          <p:spTgt spid="8">
                                            <p:graphicEl>
                                              <a:chart seriesIdx="-4" categoryIdx="7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7" fill="hold">
                            <p:stCondLst>
                              <p:cond delay="5120"/>
                            </p:stCondLst>
                            <p:childTnLst>
                              <p:par>
                                <p:cTn id="3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7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0" dur="20"/>
                                        <p:tgtEl>
                                          <p:spTgt spid="8">
                                            <p:graphicEl>
                                              <a:chart seriesIdx="-4" categoryIdx="7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1" fill="hold">
                            <p:stCondLst>
                              <p:cond delay="5140"/>
                            </p:stCondLst>
                            <p:childTnLst>
                              <p:par>
                                <p:cTn id="3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7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4" dur="20"/>
                                        <p:tgtEl>
                                          <p:spTgt spid="8">
                                            <p:graphicEl>
                                              <a:chart seriesIdx="-4" categoryIdx="7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5" fill="hold">
                            <p:stCondLst>
                              <p:cond delay="5160"/>
                            </p:stCondLst>
                            <p:childTnLst>
                              <p:par>
                                <p:cTn id="3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7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8" dur="20"/>
                                        <p:tgtEl>
                                          <p:spTgt spid="8">
                                            <p:graphicEl>
                                              <a:chart seriesIdx="-4" categoryIdx="7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9" fill="hold">
                            <p:stCondLst>
                              <p:cond delay="5180"/>
                            </p:stCondLst>
                            <p:childTnLst>
                              <p:par>
                                <p:cTn id="3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7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2" dur="20"/>
                                        <p:tgtEl>
                                          <p:spTgt spid="8">
                                            <p:graphicEl>
                                              <a:chart seriesIdx="-4" categoryIdx="7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3" fill="hold">
                            <p:stCondLst>
                              <p:cond delay="5200"/>
                            </p:stCondLst>
                            <p:childTnLst>
                              <p:par>
                                <p:cTn id="3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7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6" dur="20"/>
                                        <p:tgtEl>
                                          <p:spTgt spid="8">
                                            <p:graphicEl>
                                              <a:chart seriesIdx="-4" categoryIdx="7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7" fill="hold">
                            <p:stCondLst>
                              <p:cond delay="5220"/>
                            </p:stCondLst>
                            <p:childTnLst>
                              <p:par>
                                <p:cTn id="3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8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0" dur="20"/>
                                        <p:tgtEl>
                                          <p:spTgt spid="8">
                                            <p:graphicEl>
                                              <a:chart seriesIdx="-4" categoryIdx="8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1" fill="hold">
                            <p:stCondLst>
                              <p:cond delay="5240"/>
                            </p:stCondLst>
                            <p:childTnLst>
                              <p:par>
                                <p:cTn id="3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8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4" dur="20"/>
                                        <p:tgtEl>
                                          <p:spTgt spid="8">
                                            <p:graphicEl>
                                              <a:chart seriesIdx="-4" categoryIdx="8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5" fill="hold">
                            <p:stCondLst>
                              <p:cond delay="5260"/>
                            </p:stCondLst>
                            <p:childTnLst>
                              <p:par>
                                <p:cTn id="3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8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8" dur="20"/>
                                        <p:tgtEl>
                                          <p:spTgt spid="8">
                                            <p:graphicEl>
                                              <a:chart seriesIdx="-4" categoryIdx="8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9" fill="hold">
                            <p:stCondLst>
                              <p:cond delay="5280"/>
                            </p:stCondLst>
                            <p:childTnLst>
                              <p:par>
                                <p:cTn id="4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8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2" dur="20"/>
                                        <p:tgtEl>
                                          <p:spTgt spid="8">
                                            <p:graphicEl>
                                              <a:chart seriesIdx="-4" categoryIdx="8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3" fill="hold">
                            <p:stCondLst>
                              <p:cond delay="5300"/>
                            </p:stCondLst>
                            <p:childTnLst>
                              <p:par>
                                <p:cTn id="4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8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6" dur="20"/>
                                        <p:tgtEl>
                                          <p:spTgt spid="8">
                                            <p:graphicEl>
                                              <a:chart seriesIdx="-4" categoryIdx="8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7" fill="hold">
                            <p:stCondLst>
                              <p:cond delay="5320"/>
                            </p:stCondLst>
                            <p:childTnLst>
                              <p:par>
                                <p:cTn id="4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8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0" dur="20"/>
                                        <p:tgtEl>
                                          <p:spTgt spid="8">
                                            <p:graphicEl>
                                              <a:chart seriesIdx="-4" categoryIdx="8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>
                            <p:stCondLst>
                              <p:cond delay="5340"/>
                            </p:stCondLst>
                            <p:childTnLst>
                              <p:par>
                                <p:cTn id="4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8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4" dur="20"/>
                                        <p:tgtEl>
                                          <p:spTgt spid="8">
                                            <p:graphicEl>
                                              <a:chart seriesIdx="-4" categoryIdx="8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5" fill="hold">
                            <p:stCondLst>
                              <p:cond delay="5360"/>
                            </p:stCondLst>
                            <p:childTnLst>
                              <p:par>
                                <p:cTn id="4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8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8" dur="20"/>
                                        <p:tgtEl>
                                          <p:spTgt spid="8">
                                            <p:graphicEl>
                                              <a:chart seriesIdx="-4" categoryIdx="8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9" fill="hold">
                            <p:stCondLst>
                              <p:cond delay="5380"/>
                            </p:stCondLst>
                            <p:childTnLst>
                              <p:par>
                                <p:cTn id="4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8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2" dur="20"/>
                                        <p:tgtEl>
                                          <p:spTgt spid="8">
                                            <p:graphicEl>
                                              <a:chart seriesIdx="-4" categoryIdx="8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3" fill="hold">
                            <p:stCondLst>
                              <p:cond delay="5400"/>
                            </p:stCondLst>
                            <p:childTnLst>
                              <p:par>
                                <p:cTn id="4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8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6" dur="20"/>
                                        <p:tgtEl>
                                          <p:spTgt spid="8">
                                            <p:graphicEl>
                                              <a:chart seriesIdx="-4" categoryIdx="8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7" fill="hold">
                            <p:stCondLst>
                              <p:cond delay="5420"/>
                            </p:stCondLst>
                            <p:childTnLst>
                              <p:par>
                                <p:cTn id="4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9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0" dur="20"/>
                                        <p:tgtEl>
                                          <p:spTgt spid="8">
                                            <p:graphicEl>
                                              <a:chart seriesIdx="-4" categoryIdx="9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1" fill="hold">
                            <p:stCondLst>
                              <p:cond delay="5440"/>
                            </p:stCondLst>
                            <p:childTnLst>
                              <p:par>
                                <p:cTn id="4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9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4" dur="20"/>
                                        <p:tgtEl>
                                          <p:spTgt spid="8">
                                            <p:graphicEl>
                                              <a:chart seriesIdx="-4" categoryIdx="9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5" fill="hold">
                            <p:stCondLst>
                              <p:cond delay="5460"/>
                            </p:stCondLst>
                            <p:childTnLst>
                              <p:par>
                                <p:cTn id="4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9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8" dur="20"/>
                                        <p:tgtEl>
                                          <p:spTgt spid="8">
                                            <p:graphicEl>
                                              <a:chart seriesIdx="-4" categoryIdx="9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9" fill="hold">
                            <p:stCondLst>
                              <p:cond delay="5480"/>
                            </p:stCondLst>
                            <p:childTnLst>
                              <p:par>
                                <p:cTn id="4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9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2" dur="20"/>
                                        <p:tgtEl>
                                          <p:spTgt spid="8">
                                            <p:graphicEl>
                                              <a:chart seriesIdx="-4" categoryIdx="9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3" fill="hold">
                            <p:stCondLst>
                              <p:cond delay="5500"/>
                            </p:stCondLst>
                            <p:childTnLst>
                              <p:par>
                                <p:cTn id="4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9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6" dur="20"/>
                                        <p:tgtEl>
                                          <p:spTgt spid="8">
                                            <p:graphicEl>
                                              <a:chart seriesIdx="-4" categoryIdx="9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7" fill="hold">
                            <p:stCondLst>
                              <p:cond delay="5520"/>
                            </p:stCondLst>
                            <p:childTnLst>
                              <p:par>
                                <p:cTn id="4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9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0" dur="20"/>
                                        <p:tgtEl>
                                          <p:spTgt spid="8">
                                            <p:graphicEl>
                                              <a:chart seriesIdx="-4" categoryIdx="9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1" fill="hold">
                            <p:stCondLst>
                              <p:cond delay="5540"/>
                            </p:stCondLst>
                            <p:childTnLst>
                              <p:par>
                                <p:cTn id="4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9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4" dur="20"/>
                                        <p:tgtEl>
                                          <p:spTgt spid="8">
                                            <p:graphicEl>
                                              <a:chart seriesIdx="-4" categoryIdx="9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5" fill="hold">
                            <p:stCondLst>
                              <p:cond delay="5560"/>
                            </p:stCondLst>
                            <p:childTnLst>
                              <p:par>
                                <p:cTn id="4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9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8" dur="20"/>
                                        <p:tgtEl>
                                          <p:spTgt spid="8">
                                            <p:graphicEl>
                                              <a:chart seriesIdx="-4" categoryIdx="9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9" fill="hold">
                            <p:stCondLst>
                              <p:cond delay="5580"/>
                            </p:stCondLst>
                            <p:childTnLst>
                              <p:par>
                                <p:cTn id="4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9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2" dur="20"/>
                                        <p:tgtEl>
                                          <p:spTgt spid="8">
                                            <p:graphicEl>
                                              <a:chart seriesIdx="-4" categoryIdx="9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3" fill="hold">
                            <p:stCondLst>
                              <p:cond delay="5600"/>
                            </p:stCondLst>
                            <p:childTnLst>
                              <p:par>
                                <p:cTn id="4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9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6" dur="20"/>
                                        <p:tgtEl>
                                          <p:spTgt spid="8">
                                            <p:graphicEl>
                                              <a:chart seriesIdx="-4" categoryIdx="9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7" fill="hold">
                            <p:stCondLst>
                              <p:cond delay="5620"/>
                            </p:stCondLst>
                            <p:childTnLst>
                              <p:par>
                                <p:cTn id="4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0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0" dur="20"/>
                                        <p:tgtEl>
                                          <p:spTgt spid="8">
                                            <p:graphicEl>
                                              <a:chart seriesIdx="-4" categoryIdx="10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1" fill="hold">
                            <p:stCondLst>
                              <p:cond delay="5640"/>
                            </p:stCondLst>
                            <p:childTnLst>
                              <p:par>
                                <p:cTn id="4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0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4" dur="20"/>
                                        <p:tgtEl>
                                          <p:spTgt spid="8">
                                            <p:graphicEl>
                                              <a:chart seriesIdx="-4" categoryIdx="10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5" fill="hold">
                            <p:stCondLst>
                              <p:cond delay="5660"/>
                            </p:stCondLst>
                            <p:childTnLst>
                              <p:par>
                                <p:cTn id="4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0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8" dur="20"/>
                                        <p:tgtEl>
                                          <p:spTgt spid="8">
                                            <p:graphicEl>
                                              <a:chart seriesIdx="-4" categoryIdx="10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9" fill="hold">
                            <p:stCondLst>
                              <p:cond delay="5680"/>
                            </p:stCondLst>
                            <p:childTnLst>
                              <p:par>
                                <p:cTn id="4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0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2" dur="20"/>
                                        <p:tgtEl>
                                          <p:spTgt spid="8">
                                            <p:graphicEl>
                                              <a:chart seriesIdx="-4" categoryIdx="10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3" fill="hold">
                            <p:stCondLst>
                              <p:cond delay="5700"/>
                            </p:stCondLst>
                            <p:childTnLst>
                              <p:par>
                                <p:cTn id="4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0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6" dur="20"/>
                                        <p:tgtEl>
                                          <p:spTgt spid="8">
                                            <p:graphicEl>
                                              <a:chart seriesIdx="-4" categoryIdx="10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7" fill="hold">
                            <p:stCondLst>
                              <p:cond delay="5720"/>
                            </p:stCondLst>
                            <p:childTnLst>
                              <p:par>
                                <p:cTn id="4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0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0" dur="20"/>
                                        <p:tgtEl>
                                          <p:spTgt spid="8">
                                            <p:graphicEl>
                                              <a:chart seriesIdx="-4" categoryIdx="10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1" fill="hold">
                            <p:stCondLst>
                              <p:cond delay="5740"/>
                            </p:stCondLst>
                            <p:childTnLst>
                              <p:par>
                                <p:cTn id="4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0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4" dur="20"/>
                                        <p:tgtEl>
                                          <p:spTgt spid="8">
                                            <p:graphicEl>
                                              <a:chart seriesIdx="-4" categoryIdx="10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5" fill="hold">
                            <p:stCondLst>
                              <p:cond delay="5760"/>
                            </p:stCondLst>
                            <p:childTnLst>
                              <p:par>
                                <p:cTn id="4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0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8" dur="20"/>
                                        <p:tgtEl>
                                          <p:spTgt spid="8">
                                            <p:graphicEl>
                                              <a:chart seriesIdx="-4" categoryIdx="10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9" fill="hold">
                            <p:stCondLst>
                              <p:cond delay="5780"/>
                            </p:stCondLst>
                            <p:childTnLst>
                              <p:par>
                                <p:cTn id="5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0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2" dur="20"/>
                                        <p:tgtEl>
                                          <p:spTgt spid="8">
                                            <p:graphicEl>
                                              <a:chart seriesIdx="-4" categoryIdx="10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3" fill="hold">
                            <p:stCondLst>
                              <p:cond delay="5800"/>
                            </p:stCondLst>
                            <p:childTnLst>
                              <p:par>
                                <p:cTn id="5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0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6" dur="20"/>
                                        <p:tgtEl>
                                          <p:spTgt spid="8">
                                            <p:graphicEl>
                                              <a:chart seriesIdx="-4" categoryIdx="10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7" fill="hold">
                            <p:stCondLst>
                              <p:cond delay="5820"/>
                            </p:stCondLst>
                            <p:childTnLst>
                              <p:par>
                                <p:cTn id="5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0" dur="20"/>
                                        <p:tgtEl>
                                          <p:spTgt spid="8">
                                            <p:graphicEl>
                                              <a:chart seriesIdx="-4" categoryIdx="11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1" fill="hold">
                            <p:stCondLst>
                              <p:cond delay="5840"/>
                            </p:stCondLst>
                            <p:childTnLst>
                              <p:par>
                                <p:cTn id="5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4" dur="20"/>
                                        <p:tgtEl>
                                          <p:spTgt spid="8">
                                            <p:graphicEl>
                                              <a:chart seriesIdx="-4" categoryIdx="11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5" fill="hold">
                            <p:stCondLst>
                              <p:cond delay="5860"/>
                            </p:stCondLst>
                            <p:childTnLst>
                              <p:par>
                                <p:cTn id="5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8" dur="20"/>
                                        <p:tgtEl>
                                          <p:spTgt spid="8">
                                            <p:graphicEl>
                                              <a:chart seriesIdx="-4" categoryIdx="11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9" fill="hold">
                            <p:stCondLst>
                              <p:cond delay="5880"/>
                            </p:stCondLst>
                            <p:childTnLst>
                              <p:par>
                                <p:cTn id="5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2" dur="20"/>
                                        <p:tgtEl>
                                          <p:spTgt spid="8">
                                            <p:graphicEl>
                                              <a:chart seriesIdx="-4" categoryIdx="11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3" fill="hold">
                            <p:stCondLst>
                              <p:cond delay="5900"/>
                            </p:stCondLst>
                            <p:childTnLst>
                              <p:par>
                                <p:cTn id="5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1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6" dur="20"/>
                                        <p:tgtEl>
                                          <p:spTgt spid="8">
                                            <p:graphicEl>
                                              <a:chart seriesIdx="-4" categoryIdx="11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7" fill="hold">
                            <p:stCondLst>
                              <p:cond delay="5920"/>
                            </p:stCondLst>
                            <p:childTnLst>
                              <p:par>
                                <p:cTn id="5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1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0" dur="20"/>
                                        <p:tgtEl>
                                          <p:spTgt spid="8">
                                            <p:graphicEl>
                                              <a:chart seriesIdx="-4" categoryIdx="11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1" fill="hold">
                            <p:stCondLst>
                              <p:cond delay="5940"/>
                            </p:stCondLst>
                            <p:childTnLst>
                              <p:par>
                                <p:cTn id="5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1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4" dur="20"/>
                                        <p:tgtEl>
                                          <p:spTgt spid="8">
                                            <p:graphicEl>
                                              <a:chart seriesIdx="-4" categoryIdx="11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5" fill="hold">
                            <p:stCondLst>
                              <p:cond delay="5960"/>
                            </p:stCondLst>
                            <p:childTnLst>
                              <p:par>
                                <p:cTn id="5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1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8" dur="20"/>
                                        <p:tgtEl>
                                          <p:spTgt spid="8">
                                            <p:graphicEl>
                                              <a:chart seriesIdx="-4" categoryIdx="11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9" fill="hold">
                            <p:stCondLst>
                              <p:cond delay="5980"/>
                            </p:stCondLst>
                            <p:childTnLst>
                              <p:par>
                                <p:cTn id="5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1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2" dur="20"/>
                                        <p:tgtEl>
                                          <p:spTgt spid="8">
                                            <p:graphicEl>
                                              <a:chart seriesIdx="-4" categoryIdx="11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3" fill="hold">
                            <p:stCondLst>
                              <p:cond delay="6000"/>
                            </p:stCondLst>
                            <p:childTnLst>
                              <p:par>
                                <p:cTn id="5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1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6" dur="20"/>
                                        <p:tgtEl>
                                          <p:spTgt spid="8">
                                            <p:graphicEl>
                                              <a:chart seriesIdx="-4" categoryIdx="11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7" fill="hold">
                            <p:stCondLst>
                              <p:cond delay="6020"/>
                            </p:stCondLst>
                            <p:childTnLst>
                              <p:par>
                                <p:cTn id="548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0" fill="hold">
                            <p:stCondLst>
                              <p:cond delay="6270"/>
                            </p:stCondLst>
                            <p:childTnLst>
                              <p:par>
                                <p:cTn id="551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Chart bld="category"/>
        </p:bldSub>
      </p:bldGraphic>
      <p:bldGraphic spid="8" grpId="0">
        <p:bldSub>
          <a:bldChart bld="category"/>
        </p:bldSub>
      </p:bldGraphic>
      <p:bldP spid="9" grpId="0"/>
      <p:bldP spid="10" grpId="0" animBg="1"/>
      <p:bldP spid="1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C026488B-ECC7-4F7A-8592-94388FB4943A}"/>
              </a:ext>
            </a:extLst>
          </p:cNvPr>
          <p:cNvSpPr/>
          <p:nvPr/>
        </p:nvSpPr>
        <p:spPr>
          <a:xfrm>
            <a:off x="2443658" y="2201477"/>
            <a:ext cx="148630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20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1927-1929</a:t>
            </a:r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C8D7A7D9-8570-4A49-BD11-BA5C7AF06E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86193318"/>
              </p:ext>
            </p:extLst>
          </p:nvPr>
        </p:nvGraphicFramePr>
        <p:xfrm>
          <a:off x="-132681" y="2789312"/>
          <a:ext cx="6000826" cy="36640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ítulo 4">
            <a:extLst>
              <a:ext uri="{FF2B5EF4-FFF2-40B4-BE49-F238E27FC236}">
                <a16:creationId xmlns:a16="http://schemas.microsoft.com/office/drawing/2014/main" id="{2E2AA4C7-2E66-4B75-81C6-F14E1CF87DEC}"/>
              </a:ext>
            </a:extLst>
          </p:cNvPr>
          <p:cNvSpPr txBox="1">
            <a:spLocks/>
          </p:cNvSpPr>
          <p:nvPr/>
        </p:nvSpPr>
        <p:spPr>
          <a:xfrm>
            <a:off x="-15957" y="-4997"/>
            <a:ext cx="7886700" cy="75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4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La Caja Conversión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FE3F80C-CDEA-466D-AC87-07DEE6811F37}"/>
              </a:ext>
            </a:extLst>
          </p:cNvPr>
          <p:cNvSpPr/>
          <p:nvPr/>
        </p:nvSpPr>
        <p:spPr>
          <a:xfrm>
            <a:off x="822960" y="1194730"/>
            <a:ext cx="7498080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COMPORTAMIENTO </a:t>
            </a:r>
            <a:r>
              <a:rPr lang="es-ES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  <a:sym typeface="Wingdings" panose="05000000000000000000" pitchFamily="2" charset="2"/>
              </a:rPr>
              <a:t> REGLA</a:t>
            </a:r>
            <a:endParaRPr lang="es-ES" b="1" dirty="0"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  <a:cs typeface="Browallia New" panose="020B0604020202020204" pitchFamily="34" charset="-34"/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A0F4A8B9-0CAD-4F5D-805D-7CE5C64E5965}"/>
              </a:ext>
            </a:extLst>
          </p:cNvPr>
          <p:cNvSpPr/>
          <p:nvPr/>
        </p:nvSpPr>
        <p:spPr>
          <a:xfrm>
            <a:off x="4067944" y="1194730"/>
            <a:ext cx="2961576" cy="482166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  <a:sym typeface="Wingdings" panose="05000000000000000000" pitchFamily="2" charset="2"/>
              </a:rPr>
              <a:t> REGLA</a:t>
            </a:r>
            <a:endParaRPr lang="es-ES" b="1" dirty="0">
              <a:solidFill>
                <a:schemeClr val="tx2">
                  <a:lumMod val="20000"/>
                  <a:lumOff val="80000"/>
                </a:schemeClr>
              </a:solidFill>
              <a:latin typeface="Abadi" panose="020B0604020104020204" pitchFamily="34" charset="0"/>
              <a:cs typeface="Browallia New" panose="020B0604020202020204" pitchFamily="34" charset="-34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C56AC9E-15E2-4C1D-9936-EE72D667BE82}"/>
              </a:ext>
            </a:extLst>
          </p:cNvPr>
          <p:cNvSpPr/>
          <p:nvPr/>
        </p:nvSpPr>
        <p:spPr>
          <a:xfrm>
            <a:off x="7164287" y="3399682"/>
            <a:ext cx="1567559" cy="179655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FONDO DE CONVERSIÓN</a:t>
            </a:r>
          </a:p>
          <a:p>
            <a:pPr algn="ctr"/>
            <a:r>
              <a:rPr lang="es-AR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30 Millones PESOS ORO</a:t>
            </a:r>
          </a:p>
          <a:p>
            <a:pPr algn="ctr"/>
            <a:endParaRPr lang="es-AR" sz="1600" b="1" dirty="0"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</a:endParaRPr>
          </a:p>
          <a:p>
            <a:pPr algn="ctr"/>
            <a:r>
              <a:rPr lang="es-AR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DIC 1928:</a:t>
            </a:r>
          </a:p>
          <a:p>
            <a:pPr algn="ctr"/>
            <a:r>
              <a:rPr lang="es-AR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Respaldo 86%</a:t>
            </a:r>
          </a:p>
        </p:txBody>
      </p:sp>
      <p:pic>
        <p:nvPicPr>
          <p:cNvPr id="21" name="Gráfico 20" descr="Monedas">
            <a:extLst>
              <a:ext uri="{FF2B5EF4-FFF2-40B4-BE49-F238E27FC236}">
                <a16:creationId xmlns:a16="http://schemas.microsoft.com/office/drawing/2014/main" id="{CF65766D-59D9-4ED3-838D-F0373B8BBD9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78116" y="2562615"/>
            <a:ext cx="739902" cy="73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204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"/>
                                        <p:tgtEl>
                                          <p:spTgt spid="10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2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"/>
                                        <p:tgtEl>
                                          <p:spTgt spid="10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4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"/>
                                        <p:tgtEl>
                                          <p:spTgt spid="10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6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"/>
                                        <p:tgtEl>
                                          <p:spTgt spid="10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8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"/>
                                        <p:tgtEl>
                                          <p:spTgt spid="10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1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"/>
                                        <p:tgtEl>
                                          <p:spTgt spid="10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12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"/>
                                        <p:tgtEl>
                                          <p:spTgt spid="10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14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"/>
                                        <p:tgtEl>
                                          <p:spTgt spid="10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16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"/>
                                        <p:tgtEl>
                                          <p:spTgt spid="10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18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"/>
                                        <p:tgtEl>
                                          <p:spTgt spid="10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2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"/>
                                        <p:tgtEl>
                                          <p:spTgt spid="10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22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"/>
                                        <p:tgtEl>
                                          <p:spTgt spid="10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24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0"/>
                                        <p:tgtEl>
                                          <p:spTgt spid="10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26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"/>
                                        <p:tgtEl>
                                          <p:spTgt spid="10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28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0"/>
                                        <p:tgtEl>
                                          <p:spTgt spid="10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3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0"/>
                                        <p:tgtEl>
                                          <p:spTgt spid="10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32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0"/>
                                        <p:tgtEl>
                                          <p:spTgt spid="10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334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0"/>
                                        <p:tgtEl>
                                          <p:spTgt spid="10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36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0"/>
                                        <p:tgtEl>
                                          <p:spTgt spid="10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3380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0"/>
                                        <p:tgtEl>
                                          <p:spTgt spid="10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340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0"/>
                                        <p:tgtEl>
                                          <p:spTgt spid="10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3420"/>
                            </p:stCondLst>
                            <p:childTnLst>
                              <p:par>
                                <p:cTn id="1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20"/>
                                        <p:tgtEl>
                                          <p:spTgt spid="10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3440"/>
                            </p:stCondLst>
                            <p:childTnLst>
                              <p:par>
                                <p:cTn id="1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20"/>
                                        <p:tgtEl>
                                          <p:spTgt spid="10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3460"/>
                            </p:stCondLst>
                            <p:childTnLst>
                              <p:par>
                                <p:cTn id="1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20"/>
                                        <p:tgtEl>
                                          <p:spTgt spid="10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3480"/>
                            </p:stCondLst>
                            <p:childTnLst>
                              <p:par>
                                <p:cTn id="1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20"/>
                                        <p:tgtEl>
                                          <p:spTgt spid="10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350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2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20"/>
                                        <p:tgtEl>
                                          <p:spTgt spid="10">
                                            <p:graphicEl>
                                              <a:chart seriesIdx="-4" categoryIdx="2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3520"/>
                            </p:stCondLst>
                            <p:childTnLst>
                              <p:par>
                                <p:cTn id="1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2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20"/>
                                        <p:tgtEl>
                                          <p:spTgt spid="10">
                                            <p:graphicEl>
                                              <a:chart seriesIdx="-4" categoryIdx="2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3540"/>
                            </p:stCondLst>
                            <p:childTnLst>
                              <p:par>
                                <p:cTn id="1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2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20"/>
                                        <p:tgtEl>
                                          <p:spTgt spid="10">
                                            <p:graphicEl>
                                              <a:chart seriesIdx="-4" categoryIdx="2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3560"/>
                            </p:stCondLst>
                            <p:childTnLst>
                              <p:par>
                                <p:cTn id="1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2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20"/>
                                        <p:tgtEl>
                                          <p:spTgt spid="10">
                                            <p:graphicEl>
                                              <a:chart seriesIdx="-4" categoryIdx="2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3580"/>
                            </p:stCondLst>
                            <p:childTnLst>
                              <p:par>
                                <p:cTn id="141" presetID="26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21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68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249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249" tmFilter="0, 0; 0.125,0.2665; 0.25,0.4; 0.375,0.465; 0.5,0.5;  0.625,0.535; 0.75,0.6; 0.875,0.7335; 1,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25" tmFilter="0, 0; 0.125,0.2665; 0.25,0.4; 0.375,0.465; 0.5,0.5;  0.625,0.535; 0.75,0.6; 0.875,0.7335; 1,1">
                                          <p:stCondLst>
                                            <p:cond delay="49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62" tmFilter="0, 0; 0.125,0.2665; 0.25,0.4; 0.375,0.465; 0.5,0.5;  0.625,0.535; 0.75,0.6; 0.875,0.7335; 1,1">
                                          <p:stCondLst>
                                            <p:cond delay="621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9" dur="10">
                                          <p:stCondLst>
                                            <p:cond delay="24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0" dur="62" decel="50000">
                                          <p:stCondLst>
                                            <p:cond delay="253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1" dur="10">
                                          <p:stCondLst>
                                            <p:cond delay="49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2" dur="62" decel="50000">
                                          <p:stCondLst>
                                            <p:cond delay="50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3" dur="10">
                                          <p:stCondLst>
                                            <p:cond delay="61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4" dur="62" decel="50000">
                                          <p:stCondLst>
                                            <p:cond delay="62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5" dur="10">
                                          <p:stCondLst>
                                            <p:cond delay="67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6" dur="62" decel="50000">
                                          <p:stCondLst>
                                            <p:cond delay="68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5080"/>
                            </p:stCondLst>
                            <p:childTnLst>
                              <p:par>
                                <p:cTn id="158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6080"/>
                            </p:stCondLst>
                            <p:childTnLst>
                              <p:par>
                                <p:cTn id="163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5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7080"/>
                            </p:stCondLst>
                            <p:childTnLst>
                              <p:par>
                                <p:cTn id="168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8080"/>
                            </p:stCondLst>
                            <p:childTnLst>
                              <p:par>
                                <p:cTn id="173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Graphic spid="10" grpId="0">
        <p:bldSub>
          <a:bldChart bld="category"/>
        </p:bldSub>
      </p:bldGraphic>
      <p:bldP spid="14" grpId="0"/>
      <p:bldP spid="15" grpId="0" animBg="1"/>
      <p:bldP spid="16" grpId="0"/>
      <p:bldP spid="20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Marcador de contenido 12">
            <a:extLst>
              <a:ext uri="{FF2B5EF4-FFF2-40B4-BE49-F238E27FC236}">
                <a16:creationId xmlns:a16="http://schemas.microsoft.com/office/drawing/2014/main" id="{F9491057-4A63-4D58-A637-031E116381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0151650"/>
              </p:ext>
            </p:extLst>
          </p:nvPr>
        </p:nvGraphicFramePr>
        <p:xfrm>
          <a:off x="278678" y="5445224"/>
          <a:ext cx="4274444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7222">
                  <a:extLst>
                    <a:ext uri="{9D8B030D-6E8A-4147-A177-3AD203B41FA5}">
                      <a16:colId xmlns:a16="http://schemas.microsoft.com/office/drawing/2014/main" val="3181701745"/>
                    </a:ext>
                  </a:extLst>
                </a:gridCol>
                <a:gridCol w="2137222">
                  <a:extLst>
                    <a:ext uri="{9D8B030D-6E8A-4147-A177-3AD203B41FA5}">
                      <a16:colId xmlns:a16="http://schemas.microsoft.com/office/drawing/2014/main" val="136087557"/>
                    </a:ext>
                  </a:extLst>
                </a:gridCol>
              </a:tblGrid>
              <a:tr h="192021">
                <a:tc gridSpan="2"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Tasa de crecimiento promedio anual</a:t>
                      </a:r>
                    </a:p>
                  </a:txBody>
                  <a:tcPr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747716"/>
                  </a:ext>
                </a:extLst>
              </a:tr>
              <a:tr h="192021">
                <a:tc>
                  <a:txBody>
                    <a:bodyPr/>
                    <a:lstStyle/>
                    <a:p>
                      <a:pPr algn="r"/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BNA</a:t>
                      </a:r>
                    </a:p>
                  </a:txBody>
                  <a:tcPr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5%</a:t>
                      </a:r>
                    </a:p>
                  </a:txBody>
                  <a:tcPr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429703"/>
                  </a:ext>
                </a:extLst>
              </a:tr>
              <a:tr h="192021">
                <a:tc>
                  <a:txBody>
                    <a:bodyPr/>
                    <a:lstStyle/>
                    <a:p>
                      <a:pPr algn="r"/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Resto</a:t>
                      </a:r>
                    </a:p>
                  </a:txBody>
                  <a:tcPr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4%</a:t>
                      </a:r>
                    </a:p>
                  </a:txBody>
                  <a:tcPr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9471135"/>
                  </a:ext>
                </a:extLst>
              </a:tr>
            </a:tbl>
          </a:graphicData>
        </a:graphic>
      </p:graphicFrame>
      <p:graphicFrame>
        <p:nvGraphicFramePr>
          <p:cNvPr id="13" name="Marcador de contenido 12">
            <a:extLst>
              <a:ext uri="{FF2B5EF4-FFF2-40B4-BE49-F238E27FC236}">
                <a16:creationId xmlns:a16="http://schemas.microsoft.com/office/drawing/2014/main" id="{3C8B9612-EB26-4D1B-BA1D-C357C1402B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4916954"/>
              </p:ext>
            </p:extLst>
          </p:nvPr>
        </p:nvGraphicFramePr>
        <p:xfrm>
          <a:off x="4622655" y="5445224"/>
          <a:ext cx="4274444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7222">
                  <a:extLst>
                    <a:ext uri="{9D8B030D-6E8A-4147-A177-3AD203B41FA5}">
                      <a16:colId xmlns:a16="http://schemas.microsoft.com/office/drawing/2014/main" val="3181701745"/>
                    </a:ext>
                  </a:extLst>
                </a:gridCol>
                <a:gridCol w="2137222">
                  <a:extLst>
                    <a:ext uri="{9D8B030D-6E8A-4147-A177-3AD203B41FA5}">
                      <a16:colId xmlns:a16="http://schemas.microsoft.com/office/drawing/2014/main" val="136087557"/>
                    </a:ext>
                  </a:extLst>
                </a:gridCol>
              </a:tblGrid>
              <a:tr h="192021">
                <a:tc gridSpan="2"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Ratio promedio</a:t>
                      </a:r>
                    </a:p>
                  </a:txBody>
                  <a:tcPr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747716"/>
                  </a:ext>
                </a:extLst>
              </a:tr>
              <a:tr h="313549">
                <a:tc>
                  <a:txBody>
                    <a:bodyPr/>
                    <a:lstStyle/>
                    <a:p>
                      <a:pPr algn="r"/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BNA</a:t>
                      </a:r>
                    </a:p>
                  </a:txBody>
                  <a:tcPr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27%</a:t>
                      </a:r>
                    </a:p>
                  </a:txBody>
                  <a:tcPr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429703"/>
                  </a:ext>
                </a:extLst>
              </a:tr>
              <a:tr h="192021">
                <a:tc>
                  <a:txBody>
                    <a:bodyPr/>
                    <a:lstStyle/>
                    <a:p>
                      <a:pPr algn="r"/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Resto</a:t>
                      </a:r>
                    </a:p>
                  </a:txBody>
                  <a:tcPr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29%</a:t>
                      </a:r>
                    </a:p>
                  </a:txBody>
                  <a:tcPr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9471135"/>
                  </a:ext>
                </a:extLst>
              </a:tr>
            </a:tbl>
          </a:graphicData>
        </a:graphic>
      </p:graphicFrame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C89A6880-6117-4193-A17B-8914C424CC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6062457"/>
              </p:ext>
            </p:extLst>
          </p:nvPr>
        </p:nvGraphicFramePr>
        <p:xfrm>
          <a:off x="251837" y="1916832"/>
          <a:ext cx="4274443" cy="33123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Gráfico 13">
            <a:extLst>
              <a:ext uri="{FF2B5EF4-FFF2-40B4-BE49-F238E27FC236}">
                <a16:creationId xmlns:a16="http://schemas.microsoft.com/office/drawing/2014/main" id="{5A29E037-D700-4883-88F2-8EC00EAE1F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5529300"/>
              </p:ext>
            </p:extLst>
          </p:nvPr>
        </p:nvGraphicFramePr>
        <p:xfrm>
          <a:off x="4609532" y="1916832"/>
          <a:ext cx="4282631" cy="33123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ítulo 4">
            <a:extLst>
              <a:ext uri="{FF2B5EF4-FFF2-40B4-BE49-F238E27FC236}">
                <a16:creationId xmlns:a16="http://schemas.microsoft.com/office/drawing/2014/main" id="{0D8B7D3A-52CF-4D7A-B1A0-B36305946E33}"/>
              </a:ext>
            </a:extLst>
          </p:cNvPr>
          <p:cNvSpPr txBox="1">
            <a:spLocks/>
          </p:cNvSpPr>
          <p:nvPr/>
        </p:nvSpPr>
        <p:spPr>
          <a:xfrm>
            <a:off x="-15957" y="-4997"/>
            <a:ext cx="7886700" cy="75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4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El Sistema Bancario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48A4CD77-C88B-464A-9ED0-75BA85CA2DF3}"/>
              </a:ext>
            </a:extLst>
          </p:cNvPr>
          <p:cNvSpPr/>
          <p:nvPr/>
        </p:nvSpPr>
        <p:spPr>
          <a:xfrm>
            <a:off x="683568" y="1340768"/>
            <a:ext cx="3597937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DEPÓSITOS REALES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7641F270-C472-453D-AF11-041CFDAD9F21}"/>
              </a:ext>
            </a:extLst>
          </p:cNvPr>
          <p:cNvSpPr/>
          <p:nvPr/>
        </p:nvSpPr>
        <p:spPr>
          <a:xfrm>
            <a:off x="4877034" y="1292412"/>
            <a:ext cx="3597937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RATIO R/D</a:t>
            </a:r>
          </a:p>
        </p:txBody>
      </p:sp>
    </p:spTree>
    <p:extLst>
      <p:ext uri="{BB962C8B-B14F-4D97-AF65-F5344CB8AC3E}">
        <p14:creationId xmlns:p14="http://schemas.microsoft.com/office/powerpoint/2010/main" val="1019120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"/>
                                        <p:tgtEl>
                                          <p:spTgt spid="11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2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"/>
                                        <p:tgtEl>
                                          <p:spTgt spid="11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4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"/>
                                        <p:tgtEl>
                                          <p:spTgt spid="11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6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"/>
                                        <p:tgtEl>
                                          <p:spTgt spid="11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8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"/>
                                        <p:tgtEl>
                                          <p:spTgt spid="11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1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"/>
                                        <p:tgtEl>
                                          <p:spTgt spid="11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12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"/>
                                        <p:tgtEl>
                                          <p:spTgt spid="11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14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"/>
                                        <p:tgtEl>
                                          <p:spTgt spid="11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16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"/>
                                        <p:tgtEl>
                                          <p:spTgt spid="11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18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"/>
                                        <p:tgtEl>
                                          <p:spTgt spid="11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2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"/>
                                        <p:tgtEl>
                                          <p:spTgt spid="11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22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"/>
                                        <p:tgtEl>
                                          <p:spTgt spid="11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24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"/>
                                        <p:tgtEl>
                                          <p:spTgt spid="11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26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"/>
                                        <p:tgtEl>
                                          <p:spTgt spid="11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28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"/>
                                        <p:tgtEl>
                                          <p:spTgt spid="11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3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"/>
                                        <p:tgtEl>
                                          <p:spTgt spid="11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32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0"/>
                                        <p:tgtEl>
                                          <p:spTgt spid="11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34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0"/>
                                        <p:tgtEl>
                                          <p:spTgt spid="11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36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0"/>
                                        <p:tgtEl>
                                          <p:spTgt spid="11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38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0"/>
                                        <p:tgtEl>
                                          <p:spTgt spid="11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40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0"/>
                                        <p:tgtEl>
                                          <p:spTgt spid="11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42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20"/>
                                        <p:tgtEl>
                                          <p:spTgt spid="11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44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20"/>
                                        <p:tgtEl>
                                          <p:spTgt spid="11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460"/>
                            </p:stCondLst>
                            <p:childTnLst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0"/>
                                        <p:tgtEl>
                                          <p:spTgt spid="11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2480"/>
                            </p:stCondLst>
                            <p:childTnLst>
                              <p:par>
                                <p:cTn id="1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20"/>
                                        <p:tgtEl>
                                          <p:spTgt spid="11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2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20"/>
                                        <p:tgtEl>
                                          <p:spTgt spid="11">
                                            <p:graphicEl>
                                              <a:chart seriesIdx="-4" categoryIdx="2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2520"/>
                            </p:stCondLst>
                            <p:childTnLst>
                              <p:par>
                                <p:cTn id="1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2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20"/>
                                        <p:tgtEl>
                                          <p:spTgt spid="11">
                                            <p:graphicEl>
                                              <a:chart seriesIdx="-4" categoryIdx="2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540"/>
                            </p:stCondLst>
                            <p:childTnLst>
                              <p:par>
                                <p:cTn id="1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2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20"/>
                                        <p:tgtEl>
                                          <p:spTgt spid="11">
                                            <p:graphicEl>
                                              <a:chart seriesIdx="-4" categoryIdx="2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2560"/>
                            </p:stCondLst>
                            <p:childTnLst>
                              <p:par>
                                <p:cTn id="1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2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20"/>
                                        <p:tgtEl>
                                          <p:spTgt spid="11">
                                            <p:graphicEl>
                                              <a:chart seriesIdx="-4" categoryIdx="2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2580"/>
                            </p:stCondLst>
                            <p:childTnLst>
                              <p:par>
                                <p:cTn id="1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2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20"/>
                                        <p:tgtEl>
                                          <p:spTgt spid="11">
                                            <p:graphicEl>
                                              <a:chart seriesIdx="-4" categoryIdx="2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260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2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20"/>
                                        <p:tgtEl>
                                          <p:spTgt spid="11">
                                            <p:graphicEl>
                                              <a:chart seriesIdx="-4" categoryIdx="2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2620"/>
                            </p:stCondLst>
                            <p:childTnLst>
                              <p:par>
                                <p:cTn id="1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3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20"/>
                                        <p:tgtEl>
                                          <p:spTgt spid="11">
                                            <p:graphicEl>
                                              <a:chart seriesIdx="-4" categoryIdx="3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2640"/>
                            </p:stCondLst>
                            <p:childTnLst>
                              <p:par>
                                <p:cTn id="1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3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20"/>
                                        <p:tgtEl>
                                          <p:spTgt spid="11">
                                            <p:graphicEl>
                                              <a:chart seriesIdx="-4" categoryIdx="3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2660"/>
                            </p:stCondLst>
                            <p:childTnLst>
                              <p:par>
                                <p:cTn id="1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3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20"/>
                                        <p:tgtEl>
                                          <p:spTgt spid="11">
                                            <p:graphicEl>
                                              <a:chart seriesIdx="-4" categoryIdx="3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2680"/>
                            </p:stCondLst>
                            <p:childTnLst>
                              <p:par>
                                <p:cTn id="1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3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20"/>
                                        <p:tgtEl>
                                          <p:spTgt spid="11">
                                            <p:graphicEl>
                                              <a:chart seriesIdx="-4" categoryIdx="3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2700"/>
                            </p:stCondLst>
                            <p:childTnLst>
                              <p:par>
                                <p:cTn id="1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3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20"/>
                                        <p:tgtEl>
                                          <p:spTgt spid="11">
                                            <p:graphicEl>
                                              <a:chart seriesIdx="-4" categoryIdx="3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2720"/>
                            </p:stCondLst>
                            <p:childTnLst>
                              <p:par>
                                <p:cTn id="1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3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20"/>
                                        <p:tgtEl>
                                          <p:spTgt spid="11">
                                            <p:graphicEl>
                                              <a:chart seriesIdx="-4" categoryIdx="3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2740"/>
                            </p:stCondLst>
                            <p:childTnLst>
                              <p:par>
                                <p:cTn id="1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3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20"/>
                                        <p:tgtEl>
                                          <p:spTgt spid="11">
                                            <p:graphicEl>
                                              <a:chart seriesIdx="-4" categoryIdx="3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2760"/>
                            </p:stCondLst>
                            <p:childTnLst>
                              <p:par>
                                <p:cTn id="1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3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20"/>
                                        <p:tgtEl>
                                          <p:spTgt spid="11">
                                            <p:graphicEl>
                                              <a:chart seriesIdx="-4" categoryIdx="3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2780"/>
                            </p:stCondLst>
                            <p:childTnLst>
                              <p:par>
                                <p:cTn id="1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3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20"/>
                                        <p:tgtEl>
                                          <p:spTgt spid="11">
                                            <p:graphicEl>
                                              <a:chart seriesIdx="-4" categoryIdx="3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2800"/>
                            </p:stCondLst>
                            <p:childTnLst>
                              <p:par>
                                <p:cTn id="1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3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20"/>
                                        <p:tgtEl>
                                          <p:spTgt spid="11">
                                            <p:graphicEl>
                                              <a:chart seriesIdx="-4" categoryIdx="3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2820"/>
                            </p:stCondLst>
                            <p:childTnLst>
                              <p:par>
                                <p:cTn id="1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4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20"/>
                                        <p:tgtEl>
                                          <p:spTgt spid="11">
                                            <p:graphicEl>
                                              <a:chart seriesIdx="-4" categoryIdx="4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2840"/>
                            </p:stCondLst>
                            <p:childTnLst>
                              <p:par>
                                <p:cTn id="1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4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20"/>
                                        <p:tgtEl>
                                          <p:spTgt spid="11">
                                            <p:graphicEl>
                                              <a:chart seriesIdx="-4" categoryIdx="4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2860"/>
                            </p:stCondLst>
                            <p:childTnLst>
                              <p:par>
                                <p:cTn id="1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4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20"/>
                                        <p:tgtEl>
                                          <p:spTgt spid="11">
                                            <p:graphicEl>
                                              <a:chart seriesIdx="-4" categoryIdx="4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2880"/>
                            </p:stCondLst>
                            <p:childTnLst>
                              <p:par>
                                <p:cTn id="1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4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20"/>
                                        <p:tgtEl>
                                          <p:spTgt spid="11">
                                            <p:graphicEl>
                                              <a:chart seriesIdx="-4" categoryIdx="4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2900"/>
                            </p:stCondLst>
                            <p:childTnLst>
                              <p:par>
                                <p:cTn id="1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4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20"/>
                                        <p:tgtEl>
                                          <p:spTgt spid="11">
                                            <p:graphicEl>
                                              <a:chart seriesIdx="-4" categoryIdx="4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2920"/>
                            </p:stCondLst>
                            <p:childTnLst>
                              <p:par>
                                <p:cTn id="1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4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20"/>
                                        <p:tgtEl>
                                          <p:spTgt spid="11">
                                            <p:graphicEl>
                                              <a:chart seriesIdx="-4" categoryIdx="4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2940"/>
                            </p:stCondLst>
                            <p:childTnLst>
                              <p:par>
                                <p:cTn id="2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4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20"/>
                                        <p:tgtEl>
                                          <p:spTgt spid="11">
                                            <p:graphicEl>
                                              <a:chart seriesIdx="-4" categoryIdx="4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2960"/>
                            </p:stCondLst>
                            <p:childTnLst>
                              <p:par>
                                <p:cTn id="2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4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20"/>
                                        <p:tgtEl>
                                          <p:spTgt spid="11">
                                            <p:graphicEl>
                                              <a:chart seriesIdx="-4" categoryIdx="4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>
                            <p:stCondLst>
                              <p:cond delay="2980"/>
                            </p:stCondLst>
                            <p:childTnLst>
                              <p:par>
                                <p:cTn id="2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4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20"/>
                                        <p:tgtEl>
                                          <p:spTgt spid="11">
                                            <p:graphicEl>
                                              <a:chart seriesIdx="-4" categoryIdx="4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3000"/>
                            </p:stCondLst>
                            <p:childTnLst>
                              <p:par>
                                <p:cTn id="2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4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20"/>
                                        <p:tgtEl>
                                          <p:spTgt spid="11">
                                            <p:graphicEl>
                                              <a:chart seriesIdx="-4" categoryIdx="4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3020"/>
                            </p:stCondLst>
                            <p:childTnLst>
                              <p:par>
                                <p:cTn id="2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5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20"/>
                                        <p:tgtEl>
                                          <p:spTgt spid="11">
                                            <p:graphicEl>
                                              <a:chart seriesIdx="-4" categoryIdx="5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2" fill="hold">
                            <p:stCondLst>
                              <p:cond delay="3040"/>
                            </p:stCondLst>
                            <p:childTnLst>
                              <p:par>
                                <p:cTn id="2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5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20"/>
                                        <p:tgtEl>
                                          <p:spTgt spid="11">
                                            <p:graphicEl>
                                              <a:chart seriesIdx="-4" categoryIdx="5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3060"/>
                            </p:stCondLst>
                            <p:childTnLst>
                              <p:par>
                                <p:cTn id="2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5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20"/>
                                        <p:tgtEl>
                                          <p:spTgt spid="11">
                                            <p:graphicEl>
                                              <a:chart seriesIdx="-4" categoryIdx="5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0" fill="hold">
                            <p:stCondLst>
                              <p:cond delay="3080"/>
                            </p:stCondLst>
                            <p:childTnLst>
                              <p:par>
                                <p:cTn id="2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5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20"/>
                                        <p:tgtEl>
                                          <p:spTgt spid="11">
                                            <p:graphicEl>
                                              <a:chart seriesIdx="-4" categoryIdx="5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3100"/>
                            </p:stCondLst>
                            <p:childTnLst>
                              <p:par>
                                <p:cTn id="2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5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20"/>
                                        <p:tgtEl>
                                          <p:spTgt spid="11">
                                            <p:graphicEl>
                                              <a:chart seriesIdx="-4" categoryIdx="5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3120"/>
                            </p:stCondLst>
                            <p:childTnLst>
                              <p:par>
                                <p:cTn id="2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5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20"/>
                                        <p:tgtEl>
                                          <p:spTgt spid="11">
                                            <p:graphicEl>
                                              <a:chart seriesIdx="-4" categoryIdx="5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3140"/>
                            </p:stCondLst>
                            <p:childTnLst>
                              <p:par>
                                <p:cTn id="2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5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20"/>
                                        <p:tgtEl>
                                          <p:spTgt spid="11">
                                            <p:graphicEl>
                                              <a:chart seriesIdx="-4" categoryIdx="5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6" fill="hold">
                            <p:stCondLst>
                              <p:cond delay="3160"/>
                            </p:stCondLst>
                            <p:childTnLst>
                              <p:par>
                                <p:cTn id="2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5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20"/>
                                        <p:tgtEl>
                                          <p:spTgt spid="11">
                                            <p:graphicEl>
                                              <a:chart seriesIdx="-4" categoryIdx="5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0" fill="hold">
                            <p:stCondLst>
                              <p:cond delay="3180"/>
                            </p:stCondLst>
                            <p:childTnLst>
                              <p:par>
                                <p:cTn id="2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5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20"/>
                                        <p:tgtEl>
                                          <p:spTgt spid="11">
                                            <p:graphicEl>
                                              <a:chart seriesIdx="-4" categoryIdx="5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3200"/>
                            </p:stCondLst>
                            <p:childTnLst>
                              <p:par>
                                <p:cTn id="2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5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20"/>
                                        <p:tgtEl>
                                          <p:spTgt spid="11">
                                            <p:graphicEl>
                                              <a:chart seriesIdx="-4" categoryIdx="5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>
                            <p:stCondLst>
                              <p:cond delay="3220"/>
                            </p:stCondLst>
                            <p:childTnLst>
                              <p:par>
                                <p:cTn id="2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6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20"/>
                                        <p:tgtEl>
                                          <p:spTgt spid="11">
                                            <p:graphicEl>
                                              <a:chart seriesIdx="-4" categoryIdx="6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2" fill="hold">
                            <p:stCondLst>
                              <p:cond delay="3240"/>
                            </p:stCondLst>
                            <p:childTnLst>
                              <p:par>
                                <p:cTn id="2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6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20"/>
                                        <p:tgtEl>
                                          <p:spTgt spid="11">
                                            <p:graphicEl>
                                              <a:chart seriesIdx="-4" categoryIdx="6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" fill="hold">
                            <p:stCondLst>
                              <p:cond delay="3260"/>
                            </p:stCondLst>
                            <p:childTnLst>
                              <p:par>
                                <p:cTn id="2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6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20"/>
                                        <p:tgtEl>
                                          <p:spTgt spid="11">
                                            <p:graphicEl>
                                              <a:chart seriesIdx="-4" categoryIdx="6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0" fill="hold">
                            <p:stCondLst>
                              <p:cond delay="3280"/>
                            </p:stCondLst>
                            <p:childTnLst>
                              <p:par>
                                <p:cTn id="2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6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20"/>
                                        <p:tgtEl>
                                          <p:spTgt spid="11">
                                            <p:graphicEl>
                                              <a:chart seriesIdx="-4" categoryIdx="6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3300"/>
                            </p:stCondLst>
                            <p:childTnLst>
                              <p:par>
                                <p:cTn id="2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6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20"/>
                                        <p:tgtEl>
                                          <p:spTgt spid="11">
                                            <p:graphicEl>
                                              <a:chart seriesIdx="-4" categoryIdx="6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>
                            <p:stCondLst>
                              <p:cond delay="3320"/>
                            </p:stCondLst>
                            <p:childTnLst>
                              <p:par>
                                <p:cTn id="2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6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20"/>
                                        <p:tgtEl>
                                          <p:spTgt spid="11">
                                            <p:graphicEl>
                                              <a:chart seriesIdx="-4" categoryIdx="6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2" fill="hold">
                            <p:stCondLst>
                              <p:cond delay="3340"/>
                            </p:stCondLst>
                            <p:childTnLst>
                              <p:par>
                                <p:cTn id="2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6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20"/>
                                        <p:tgtEl>
                                          <p:spTgt spid="11">
                                            <p:graphicEl>
                                              <a:chart seriesIdx="-4" categoryIdx="6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6" fill="hold">
                            <p:stCondLst>
                              <p:cond delay="3360"/>
                            </p:stCondLst>
                            <p:childTnLst>
                              <p:par>
                                <p:cTn id="2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6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20"/>
                                        <p:tgtEl>
                                          <p:spTgt spid="11">
                                            <p:graphicEl>
                                              <a:chart seriesIdx="-4" categoryIdx="6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0" fill="hold">
                            <p:stCondLst>
                              <p:cond delay="3380"/>
                            </p:stCondLst>
                            <p:childTnLst>
                              <p:par>
                                <p:cTn id="2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6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20"/>
                                        <p:tgtEl>
                                          <p:spTgt spid="11">
                                            <p:graphicEl>
                                              <a:chart seriesIdx="-4" categoryIdx="6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3400"/>
                            </p:stCondLst>
                            <p:childTnLst>
                              <p:par>
                                <p:cTn id="2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6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20"/>
                                        <p:tgtEl>
                                          <p:spTgt spid="11">
                                            <p:graphicEl>
                                              <a:chart seriesIdx="-4" categoryIdx="6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8" fill="hold">
                            <p:stCondLst>
                              <p:cond delay="3420"/>
                            </p:stCondLst>
                            <p:childTnLst>
                              <p:par>
                                <p:cTn id="2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7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20"/>
                                        <p:tgtEl>
                                          <p:spTgt spid="11">
                                            <p:graphicEl>
                                              <a:chart seriesIdx="-4" categoryIdx="7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2" fill="hold">
                            <p:stCondLst>
                              <p:cond delay="3440"/>
                            </p:stCondLst>
                            <p:childTnLst>
                              <p:par>
                                <p:cTn id="3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7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20"/>
                                        <p:tgtEl>
                                          <p:spTgt spid="11">
                                            <p:graphicEl>
                                              <a:chart seriesIdx="-4" categoryIdx="7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6" fill="hold">
                            <p:stCondLst>
                              <p:cond delay="3460"/>
                            </p:stCondLst>
                            <p:childTnLst>
                              <p:par>
                                <p:cTn id="3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7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9" dur="20"/>
                                        <p:tgtEl>
                                          <p:spTgt spid="11">
                                            <p:graphicEl>
                                              <a:chart seriesIdx="-4" categoryIdx="7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0" fill="hold">
                            <p:stCondLst>
                              <p:cond delay="3480"/>
                            </p:stCondLst>
                            <p:childTnLst>
                              <p:par>
                                <p:cTn id="3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7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20"/>
                                        <p:tgtEl>
                                          <p:spTgt spid="11">
                                            <p:graphicEl>
                                              <a:chart seriesIdx="-4" categoryIdx="7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4" fill="hold">
                            <p:stCondLst>
                              <p:cond delay="3500"/>
                            </p:stCondLst>
                            <p:childTnLst>
                              <p:par>
                                <p:cTn id="3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7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20"/>
                                        <p:tgtEl>
                                          <p:spTgt spid="11">
                                            <p:graphicEl>
                                              <a:chart seriesIdx="-4" categoryIdx="7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8" fill="hold">
                            <p:stCondLst>
                              <p:cond delay="3520"/>
                            </p:stCondLst>
                            <p:childTnLst>
                              <p:par>
                                <p:cTn id="3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7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20"/>
                                        <p:tgtEl>
                                          <p:spTgt spid="11">
                                            <p:graphicEl>
                                              <a:chart seriesIdx="-4" categoryIdx="7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2" fill="hold">
                            <p:stCondLst>
                              <p:cond delay="3540"/>
                            </p:stCondLst>
                            <p:childTnLst>
                              <p:par>
                                <p:cTn id="3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7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20"/>
                                        <p:tgtEl>
                                          <p:spTgt spid="11">
                                            <p:graphicEl>
                                              <a:chart seriesIdx="-4" categoryIdx="7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6" fill="hold">
                            <p:stCondLst>
                              <p:cond delay="3560"/>
                            </p:stCondLst>
                            <p:childTnLst>
                              <p:par>
                                <p:cTn id="3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7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9" dur="20"/>
                                        <p:tgtEl>
                                          <p:spTgt spid="11">
                                            <p:graphicEl>
                                              <a:chart seriesIdx="-4" categoryIdx="7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0" fill="hold">
                            <p:stCondLst>
                              <p:cond delay="3580"/>
                            </p:stCondLst>
                            <p:childTnLst>
                              <p:par>
                                <p:cTn id="3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7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3" dur="20"/>
                                        <p:tgtEl>
                                          <p:spTgt spid="11">
                                            <p:graphicEl>
                                              <a:chart seriesIdx="-4" categoryIdx="7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3600"/>
                            </p:stCondLst>
                            <p:childTnLst>
                              <p:par>
                                <p:cTn id="3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7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20"/>
                                        <p:tgtEl>
                                          <p:spTgt spid="11">
                                            <p:graphicEl>
                                              <a:chart seriesIdx="-4" categoryIdx="7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8" fill="hold">
                            <p:stCondLst>
                              <p:cond delay="3620"/>
                            </p:stCondLst>
                            <p:childTnLst>
                              <p:par>
                                <p:cTn id="3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8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1" dur="20"/>
                                        <p:tgtEl>
                                          <p:spTgt spid="11">
                                            <p:graphicEl>
                                              <a:chart seriesIdx="-4" categoryIdx="8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2" fill="hold">
                            <p:stCondLst>
                              <p:cond delay="3640"/>
                            </p:stCondLst>
                            <p:childTnLst>
                              <p:par>
                                <p:cTn id="3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8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5" dur="20"/>
                                        <p:tgtEl>
                                          <p:spTgt spid="11">
                                            <p:graphicEl>
                                              <a:chart seriesIdx="-4" categoryIdx="8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3660"/>
                            </p:stCondLst>
                            <p:childTnLst>
                              <p:par>
                                <p:cTn id="3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8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9" dur="20"/>
                                        <p:tgtEl>
                                          <p:spTgt spid="11">
                                            <p:graphicEl>
                                              <a:chart seriesIdx="-4" categoryIdx="8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0" fill="hold">
                            <p:stCondLst>
                              <p:cond delay="3680"/>
                            </p:stCondLst>
                            <p:childTnLst>
                              <p:par>
                                <p:cTn id="3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8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3" dur="20"/>
                                        <p:tgtEl>
                                          <p:spTgt spid="11">
                                            <p:graphicEl>
                                              <a:chart seriesIdx="-4" categoryIdx="8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4" fill="hold">
                            <p:stCondLst>
                              <p:cond delay="3700"/>
                            </p:stCondLst>
                            <p:childTnLst>
                              <p:par>
                                <p:cTn id="3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8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20"/>
                                        <p:tgtEl>
                                          <p:spTgt spid="11">
                                            <p:graphicEl>
                                              <a:chart seriesIdx="-4" categoryIdx="8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8" fill="hold">
                            <p:stCondLst>
                              <p:cond delay="3720"/>
                            </p:stCondLst>
                            <p:childTnLst>
                              <p:par>
                                <p:cTn id="3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8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1" dur="20"/>
                                        <p:tgtEl>
                                          <p:spTgt spid="11">
                                            <p:graphicEl>
                                              <a:chart seriesIdx="-4" categoryIdx="8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2" fill="hold">
                            <p:stCondLst>
                              <p:cond delay="3740"/>
                            </p:stCondLst>
                            <p:childTnLst>
                              <p:par>
                                <p:cTn id="3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8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5" dur="20"/>
                                        <p:tgtEl>
                                          <p:spTgt spid="11">
                                            <p:graphicEl>
                                              <a:chart seriesIdx="-4" categoryIdx="8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6" fill="hold">
                            <p:stCondLst>
                              <p:cond delay="3760"/>
                            </p:stCondLst>
                            <p:childTnLst>
                              <p:par>
                                <p:cTn id="3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8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9" dur="20"/>
                                        <p:tgtEl>
                                          <p:spTgt spid="11">
                                            <p:graphicEl>
                                              <a:chart seriesIdx="-4" categoryIdx="8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0" fill="hold">
                            <p:stCondLst>
                              <p:cond delay="3780"/>
                            </p:stCondLst>
                            <p:childTnLst>
                              <p:par>
                                <p:cTn id="3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8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3" dur="20"/>
                                        <p:tgtEl>
                                          <p:spTgt spid="11">
                                            <p:graphicEl>
                                              <a:chart seriesIdx="-4" categoryIdx="8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4" fill="hold">
                            <p:stCondLst>
                              <p:cond delay="3800"/>
                            </p:stCondLst>
                            <p:childTnLst>
                              <p:par>
                                <p:cTn id="3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8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7" dur="20"/>
                                        <p:tgtEl>
                                          <p:spTgt spid="11">
                                            <p:graphicEl>
                                              <a:chart seriesIdx="-4" categoryIdx="8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8" fill="hold">
                            <p:stCondLst>
                              <p:cond delay="3820"/>
                            </p:stCondLst>
                            <p:childTnLst>
                              <p:par>
                                <p:cTn id="3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9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20"/>
                                        <p:tgtEl>
                                          <p:spTgt spid="11">
                                            <p:graphicEl>
                                              <a:chart seriesIdx="-4" categoryIdx="9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2" fill="hold">
                            <p:stCondLst>
                              <p:cond delay="3840"/>
                            </p:stCondLst>
                            <p:childTnLst>
                              <p:par>
                                <p:cTn id="3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9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5" dur="20"/>
                                        <p:tgtEl>
                                          <p:spTgt spid="11">
                                            <p:graphicEl>
                                              <a:chart seriesIdx="-4" categoryIdx="9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6" fill="hold">
                            <p:stCondLst>
                              <p:cond delay="3860"/>
                            </p:stCondLst>
                            <p:childTnLst>
                              <p:par>
                                <p:cTn id="3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9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9" dur="20"/>
                                        <p:tgtEl>
                                          <p:spTgt spid="11">
                                            <p:graphicEl>
                                              <a:chart seriesIdx="-4" categoryIdx="9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0" fill="hold">
                            <p:stCondLst>
                              <p:cond delay="3880"/>
                            </p:stCondLst>
                            <p:childTnLst>
                              <p:par>
                                <p:cTn id="3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9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3" dur="20"/>
                                        <p:tgtEl>
                                          <p:spTgt spid="11">
                                            <p:graphicEl>
                                              <a:chart seriesIdx="-4" categoryIdx="9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4" fill="hold">
                            <p:stCondLst>
                              <p:cond delay="3900"/>
                            </p:stCondLst>
                            <p:childTnLst>
                              <p:par>
                                <p:cTn id="3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9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7" dur="20"/>
                                        <p:tgtEl>
                                          <p:spTgt spid="11">
                                            <p:graphicEl>
                                              <a:chart seriesIdx="-4" categoryIdx="9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3920"/>
                            </p:stCondLst>
                            <p:childTnLst>
                              <p:par>
                                <p:cTn id="3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9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1" dur="20"/>
                                        <p:tgtEl>
                                          <p:spTgt spid="11">
                                            <p:graphicEl>
                                              <a:chart seriesIdx="-4" categoryIdx="9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2" fill="hold">
                            <p:stCondLst>
                              <p:cond delay="3940"/>
                            </p:stCondLst>
                            <p:childTnLst>
                              <p:par>
                                <p:cTn id="4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9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5" dur="20"/>
                                        <p:tgtEl>
                                          <p:spTgt spid="11">
                                            <p:graphicEl>
                                              <a:chart seriesIdx="-4" categoryIdx="9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6" fill="hold">
                            <p:stCondLst>
                              <p:cond delay="3960"/>
                            </p:stCondLst>
                            <p:childTnLst>
                              <p:par>
                                <p:cTn id="4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9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9" dur="20"/>
                                        <p:tgtEl>
                                          <p:spTgt spid="11">
                                            <p:graphicEl>
                                              <a:chart seriesIdx="-4" categoryIdx="9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0" fill="hold">
                            <p:stCondLst>
                              <p:cond delay="3980"/>
                            </p:stCondLst>
                            <p:childTnLst>
                              <p:par>
                                <p:cTn id="4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9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3" dur="20"/>
                                        <p:tgtEl>
                                          <p:spTgt spid="11">
                                            <p:graphicEl>
                                              <a:chart seriesIdx="-4" categoryIdx="9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4" fill="hold">
                            <p:stCondLst>
                              <p:cond delay="4000"/>
                            </p:stCondLst>
                            <p:childTnLst>
                              <p:par>
                                <p:cTn id="4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9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7" dur="20"/>
                                        <p:tgtEl>
                                          <p:spTgt spid="11">
                                            <p:graphicEl>
                                              <a:chart seriesIdx="-4" categoryIdx="9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8" fill="hold">
                            <p:stCondLst>
                              <p:cond delay="4020"/>
                            </p:stCondLst>
                            <p:childTnLst>
                              <p:par>
                                <p:cTn id="4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0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" dur="20"/>
                                        <p:tgtEl>
                                          <p:spTgt spid="11">
                                            <p:graphicEl>
                                              <a:chart seriesIdx="-4" categoryIdx="10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2" fill="hold">
                            <p:stCondLst>
                              <p:cond delay="4040"/>
                            </p:stCondLst>
                            <p:childTnLst>
                              <p:par>
                                <p:cTn id="4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0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5" dur="20"/>
                                        <p:tgtEl>
                                          <p:spTgt spid="11">
                                            <p:graphicEl>
                                              <a:chart seriesIdx="-4" categoryIdx="10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6" fill="hold">
                            <p:stCondLst>
                              <p:cond delay="4060"/>
                            </p:stCondLst>
                            <p:childTnLst>
                              <p:par>
                                <p:cTn id="4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0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9" dur="20"/>
                                        <p:tgtEl>
                                          <p:spTgt spid="11">
                                            <p:graphicEl>
                                              <a:chart seriesIdx="-4" categoryIdx="10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0" fill="hold">
                            <p:stCondLst>
                              <p:cond delay="4080"/>
                            </p:stCondLst>
                            <p:childTnLst>
                              <p:par>
                                <p:cTn id="4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0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3" dur="20"/>
                                        <p:tgtEl>
                                          <p:spTgt spid="11">
                                            <p:graphicEl>
                                              <a:chart seriesIdx="-4" categoryIdx="10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4" fill="hold">
                            <p:stCondLst>
                              <p:cond delay="4100"/>
                            </p:stCondLst>
                            <p:childTnLst>
                              <p:par>
                                <p:cTn id="4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0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7" dur="20"/>
                                        <p:tgtEl>
                                          <p:spTgt spid="11">
                                            <p:graphicEl>
                                              <a:chart seriesIdx="-4" categoryIdx="10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8" fill="hold">
                            <p:stCondLst>
                              <p:cond delay="4120"/>
                            </p:stCondLst>
                            <p:childTnLst>
                              <p:par>
                                <p:cTn id="4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0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1" dur="20"/>
                                        <p:tgtEl>
                                          <p:spTgt spid="11">
                                            <p:graphicEl>
                                              <a:chart seriesIdx="-4" categoryIdx="10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2" fill="hold">
                            <p:stCondLst>
                              <p:cond delay="4140"/>
                            </p:stCondLst>
                            <p:childTnLst>
                              <p:par>
                                <p:cTn id="4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0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5" dur="20"/>
                                        <p:tgtEl>
                                          <p:spTgt spid="11">
                                            <p:graphicEl>
                                              <a:chart seriesIdx="-4" categoryIdx="10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6" fill="hold">
                            <p:stCondLst>
                              <p:cond delay="4160"/>
                            </p:stCondLst>
                            <p:childTnLst>
                              <p:par>
                                <p:cTn id="4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0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9" dur="20"/>
                                        <p:tgtEl>
                                          <p:spTgt spid="11">
                                            <p:graphicEl>
                                              <a:chart seriesIdx="-4" categoryIdx="10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0" fill="hold">
                            <p:stCondLst>
                              <p:cond delay="4180"/>
                            </p:stCondLst>
                            <p:childTnLst>
                              <p:par>
                                <p:cTn id="4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0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3" dur="20"/>
                                        <p:tgtEl>
                                          <p:spTgt spid="11">
                                            <p:graphicEl>
                                              <a:chart seriesIdx="-4" categoryIdx="10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4" fill="hold">
                            <p:stCondLst>
                              <p:cond delay="4200"/>
                            </p:stCondLst>
                            <p:childTnLst>
                              <p:par>
                                <p:cTn id="4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0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7" dur="20"/>
                                        <p:tgtEl>
                                          <p:spTgt spid="11">
                                            <p:graphicEl>
                                              <a:chart seriesIdx="-4" categoryIdx="10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8" fill="hold">
                            <p:stCondLst>
                              <p:cond delay="4220"/>
                            </p:stCondLst>
                            <p:childTnLst>
                              <p:par>
                                <p:cTn id="4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1" dur="20"/>
                                        <p:tgtEl>
                                          <p:spTgt spid="11">
                                            <p:graphicEl>
                                              <a:chart seriesIdx="-4" categoryIdx="11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2" fill="hold">
                            <p:stCondLst>
                              <p:cond delay="4240"/>
                            </p:stCondLst>
                            <p:childTnLst>
                              <p:par>
                                <p:cTn id="4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5" dur="20"/>
                                        <p:tgtEl>
                                          <p:spTgt spid="11">
                                            <p:graphicEl>
                                              <a:chart seriesIdx="-4" categoryIdx="11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6" fill="hold">
                            <p:stCondLst>
                              <p:cond delay="4260"/>
                            </p:stCondLst>
                            <p:childTnLst>
                              <p:par>
                                <p:cTn id="4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9" dur="20"/>
                                        <p:tgtEl>
                                          <p:spTgt spid="11">
                                            <p:graphicEl>
                                              <a:chart seriesIdx="-4" categoryIdx="11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0" fill="hold">
                            <p:stCondLst>
                              <p:cond delay="4280"/>
                            </p:stCondLst>
                            <p:childTnLst>
                              <p:par>
                                <p:cTn id="4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3" dur="20"/>
                                        <p:tgtEl>
                                          <p:spTgt spid="11">
                                            <p:graphicEl>
                                              <a:chart seriesIdx="-4" categoryIdx="11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4" fill="hold">
                            <p:stCondLst>
                              <p:cond delay="4300"/>
                            </p:stCondLst>
                            <p:childTnLst>
                              <p:par>
                                <p:cTn id="4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1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7" dur="20"/>
                                        <p:tgtEl>
                                          <p:spTgt spid="11">
                                            <p:graphicEl>
                                              <a:chart seriesIdx="-4" categoryIdx="11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8" fill="hold">
                            <p:stCondLst>
                              <p:cond delay="4320"/>
                            </p:stCondLst>
                            <p:childTnLst>
                              <p:par>
                                <p:cTn id="4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1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1" dur="20"/>
                                        <p:tgtEl>
                                          <p:spTgt spid="11">
                                            <p:graphicEl>
                                              <a:chart seriesIdx="-4" categoryIdx="11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2" fill="hold">
                            <p:stCondLst>
                              <p:cond delay="4340"/>
                            </p:stCondLst>
                            <p:childTnLst>
                              <p:par>
                                <p:cTn id="4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1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5" dur="20"/>
                                        <p:tgtEl>
                                          <p:spTgt spid="11">
                                            <p:graphicEl>
                                              <a:chart seriesIdx="-4" categoryIdx="11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6" fill="hold">
                            <p:stCondLst>
                              <p:cond delay="4360"/>
                            </p:stCondLst>
                            <p:childTnLst>
                              <p:par>
                                <p:cTn id="4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1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9" dur="20"/>
                                        <p:tgtEl>
                                          <p:spTgt spid="11">
                                            <p:graphicEl>
                                              <a:chart seriesIdx="-4" categoryIdx="11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0" fill="hold">
                            <p:stCondLst>
                              <p:cond delay="4380"/>
                            </p:stCondLst>
                            <p:childTnLst>
                              <p:par>
                                <p:cTn id="4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1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3" dur="20"/>
                                        <p:tgtEl>
                                          <p:spTgt spid="11">
                                            <p:graphicEl>
                                              <a:chart seriesIdx="-4" categoryIdx="11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4" fill="hold">
                            <p:stCondLst>
                              <p:cond delay="4400"/>
                            </p:stCondLst>
                            <p:childTnLst>
                              <p:par>
                                <p:cTn id="4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graphicEl>
                                              <a:chart seriesIdx="-4" categoryIdx="11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7" dur="20"/>
                                        <p:tgtEl>
                                          <p:spTgt spid="11">
                                            <p:graphicEl>
                                              <a:chart seriesIdx="-4" categoryIdx="11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8" fill="hold">
                            <p:stCondLst>
                              <p:cond delay="4420"/>
                            </p:stCondLst>
                            <p:childTnLst>
                              <p:par>
                                <p:cTn id="499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4" fill="hold">
                            <p:stCondLst>
                              <p:cond delay="5920"/>
                            </p:stCondLst>
                            <p:childTnLst>
                              <p:par>
                                <p:cTn id="505" presetID="2" presetClass="entr" presetSubtype="1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9" fill="hold">
                            <p:stCondLst>
                              <p:cond delay="7170"/>
                            </p:stCondLst>
                            <p:childTnLst>
                              <p:par>
                                <p:cTn id="5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2" dur="100"/>
                                        <p:tgtEl>
                                          <p:spTgt spid="1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3" fill="hold">
                            <p:stCondLst>
                              <p:cond delay="7270"/>
                            </p:stCondLst>
                            <p:childTnLst>
                              <p:par>
                                <p:cTn id="5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6" dur="100"/>
                                        <p:tgtEl>
                                          <p:spTgt spid="14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7" fill="hold">
                            <p:stCondLst>
                              <p:cond delay="7370"/>
                            </p:stCondLst>
                            <p:childTnLst>
                              <p:par>
                                <p:cTn id="5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0" dur="100"/>
                                        <p:tgtEl>
                                          <p:spTgt spid="14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1" fill="hold">
                            <p:stCondLst>
                              <p:cond delay="7470"/>
                            </p:stCondLst>
                            <p:childTnLst>
                              <p:par>
                                <p:cTn id="5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4" dur="100"/>
                                        <p:tgtEl>
                                          <p:spTgt spid="14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5" fill="hold">
                            <p:stCondLst>
                              <p:cond delay="7570"/>
                            </p:stCondLst>
                            <p:childTnLst>
                              <p:par>
                                <p:cTn id="5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8" dur="100"/>
                                        <p:tgtEl>
                                          <p:spTgt spid="14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9" fill="hold">
                            <p:stCondLst>
                              <p:cond delay="7670"/>
                            </p:stCondLst>
                            <p:childTnLst>
                              <p:par>
                                <p:cTn id="5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2" dur="100"/>
                                        <p:tgtEl>
                                          <p:spTgt spid="14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3" fill="hold">
                            <p:stCondLst>
                              <p:cond delay="7770"/>
                            </p:stCondLst>
                            <p:childTnLst>
                              <p:par>
                                <p:cTn id="5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6" dur="100"/>
                                        <p:tgtEl>
                                          <p:spTgt spid="14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7" fill="hold">
                            <p:stCondLst>
                              <p:cond delay="7870"/>
                            </p:stCondLst>
                            <p:childTnLst>
                              <p:par>
                                <p:cTn id="5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0" dur="100"/>
                                        <p:tgtEl>
                                          <p:spTgt spid="14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1" fill="hold">
                            <p:stCondLst>
                              <p:cond delay="7970"/>
                            </p:stCondLst>
                            <p:childTnLst>
                              <p:par>
                                <p:cTn id="5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4" dur="100"/>
                                        <p:tgtEl>
                                          <p:spTgt spid="14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5" fill="hold">
                            <p:stCondLst>
                              <p:cond delay="8070"/>
                            </p:stCondLst>
                            <p:childTnLst>
                              <p:par>
                                <p:cTn id="5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8" dur="100"/>
                                        <p:tgtEl>
                                          <p:spTgt spid="14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9" fill="hold">
                            <p:stCondLst>
                              <p:cond delay="8170"/>
                            </p:stCondLst>
                            <p:childTnLst>
                              <p:par>
                                <p:cTn id="5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2" dur="100"/>
                                        <p:tgtEl>
                                          <p:spTgt spid="14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3" fill="hold">
                            <p:stCondLst>
                              <p:cond delay="8270"/>
                            </p:stCondLst>
                            <p:childTnLst>
                              <p:par>
                                <p:cTn id="554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>
        <p:bldSub>
          <a:bldChart bld="category"/>
        </p:bldSub>
      </p:bldGraphic>
      <p:bldGraphic spid="14" grpId="0">
        <p:bldSub>
          <a:bldChart bld="category"/>
        </p:bldSub>
      </p:bldGraphic>
      <p:bldP spid="12" grpId="0"/>
      <p:bldP spid="15" grpId="0" animBg="1"/>
      <p:bldP spid="1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566555A0-A36E-48AF-8E6B-CA5428F30A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6635393"/>
              </p:ext>
            </p:extLst>
          </p:nvPr>
        </p:nvGraphicFramePr>
        <p:xfrm>
          <a:off x="182115" y="2348880"/>
          <a:ext cx="4298446" cy="3744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8D19968F-FD34-4731-85E1-E451AC3447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6737994"/>
              </p:ext>
            </p:extLst>
          </p:nvPr>
        </p:nvGraphicFramePr>
        <p:xfrm>
          <a:off x="4663440" y="2348880"/>
          <a:ext cx="4271332" cy="3744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25E3D479-165B-4C64-B5A8-24805144C981}"/>
              </a:ext>
            </a:extLst>
          </p:cNvPr>
          <p:cNvSpPr/>
          <p:nvPr/>
        </p:nvSpPr>
        <p:spPr>
          <a:xfrm>
            <a:off x="3079602" y="3212976"/>
            <a:ext cx="1584176" cy="432048"/>
          </a:xfrm>
          <a:prstGeom prst="roundRect">
            <a:avLst>
              <a:gd name="adj" fmla="val 5630"/>
            </a:avLst>
          </a:prstGeom>
          <a:noFill/>
          <a:ln w="285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 err="1">
                <a:solidFill>
                  <a:srgbClr val="4B4B50"/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Prom</a:t>
            </a:r>
            <a:r>
              <a:rPr lang="es-ES" sz="1600" b="1" dirty="0">
                <a:solidFill>
                  <a:srgbClr val="4B4B50"/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: 29%</a:t>
            </a:r>
            <a:endParaRPr lang="es-ES" sz="1600" dirty="0">
              <a:solidFill>
                <a:srgbClr val="4B4B50"/>
              </a:solidFill>
              <a:latin typeface="Abadi" panose="020B0604020104020204" pitchFamily="34" charset="0"/>
              <a:cs typeface="Browallia New" panose="020B0604020202020204" pitchFamily="34" charset="-34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12979E4C-F814-4A2C-8564-193BF0719FE6}"/>
              </a:ext>
            </a:extLst>
          </p:cNvPr>
          <p:cNvSpPr/>
          <p:nvPr/>
        </p:nvSpPr>
        <p:spPr>
          <a:xfrm>
            <a:off x="3079602" y="4090304"/>
            <a:ext cx="1584176" cy="396043"/>
          </a:xfrm>
          <a:prstGeom prst="roundRect">
            <a:avLst>
              <a:gd name="adj" fmla="val 5630"/>
            </a:avLst>
          </a:prstGeom>
          <a:noFill/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b="1" dirty="0" err="1">
                <a:solidFill>
                  <a:srgbClr val="4B4B50"/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Prom</a:t>
            </a:r>
            <a:r>
              <a:rPr lang="es-ES" sz="1600" b="1" dirty="0">
                <a:solidFill>
                  <a:srgbClr val="4B4B50"/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: 26%</a:t>
            </a:r>
            <a:endParaRPr lang="es-ES" sz="1600" dirty="0">
              <a:solidFill>
                <a:srgbClr val="4B4B50"/>
              </a:solidFill>
              <a:latin typeface="Abadi" panose="020B0604020104020204" pitchFamily="34" charset="0"/>
              <a:cs typeface="Browallia New" panose="020B0604020202020204" pitchFamily="34" charset="-34"/>
            </a:endParaRPr>
          </a:p>
        </p:txBody>
      </p:sp>
      <p:sp>
        <p:nvSpPr>
          <p:cNvPr id="12" name="Título 4">
            <a:extLst>
              <a:ext uri="{FF2B5EF4-FFF2-40B4-BE49-F238E27FC236}">
                <a16:creationId xmlns:a16="http://schemas.microsoft.com/office/drawing/2014/main" id="{9FF22766-EB7C-48AF-8FEA-242849440B65}"/>
              </a:ext>
            </a:extLst>
          </p:cNvPr>
          <p:cNvSpPr txBox="1">
            <a:spLocks/>
          </p:cNvSpPr>
          <p:nvPr/>
        </p:nvSpPr>
        <p:spPr>
          <a:xfrm>
            <a:off x="-15958" y="-4996"/>
            <a:ext cx="9159957" cy="12737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El Banco de la Nación y las funciones “</a:t>
            </a:r>
            <a:r>
              <a:rPr lang="es-ES" sz="3200" i="1" dirty="0" err="1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bancocentralistas</a:t>
            </a:r>
            <a:r>
              <a:rPr lang="es-ES" sz="32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”</a:t>
            </a:r>
            <a:br>
              <a:rPr lang="es-ES" sz="32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</a:br>
            <a:r>
              <a:rPr lang="es-ES" sz="2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(Ejercicio Contrafactual)</a:t>
            </a:r>
            <a:endParaRPr lang="es-ES" sz="3200" i="1" dirty="0"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  <a:cs typeface="Browallia New" panose="020B0604020202020204" pitchFamily="34" charset="-34"/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0D773103-A391-46E0-B448-81B425C9023F}"/>
              </a:ext>
            </a:extLst>
          </p:cNvPr>
          <p:cNvSpPr/>
          <p:nvPr/>
        </p:nvSpPr>
        <p:spPr>
          <a:xfrm>
            <a:off x="625776" y="1484784"/>
            <a:ext cx="3597937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RESTO DE LOS BANCOS (R/D)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7D483450-CA07-4F7D-BB6B-8B80DC6F78B0}"/>
              </a:ext>
            </a:extLst>
          </p:cNvPr>
          <p:cNvSpPr/>
          <p:nvPr/>
        </p:nvSpPr>
        <p:spPr>
          <a:xfrm>
            <a:off x="4966322" y="1484784"/>
            <a:ext cx="3597937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ESTADO (RDO. FIN.)</a:t>
            </a:r>
          </a:p>
        </p:txBody>
      </p:sp>
    </p:spTree>
    <p:extLst>
      <p:ext uri="{BB962C8B-B14F-4D97-AF65-F5344CB8AC3E}">
        <p14:creationId xmlns:p14="http://schemas.microsoft.com/office/powerpoint/2010/main" val="3592907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"/>
                                        <p:tgtEl>
                                          <p:spTgt spid="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6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"/>
                                        <p:tgtEl>
                                          <p:spTgt spid="9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7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"/>
                                        <p:tgtEl>
                                          <p:spTgt spid="9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8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"/>
                                        <p:tgtEl>
                                          <p:spTgt spid="9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9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"/>
                                        <p:tgtEl>
                                          <p:spTgt spid="9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"/>
                                        <p:tgtEl>
                                          <p:spTgt spid="9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1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"/>
                                        <p:tgtEl>
                                          <p:spTgt spid="9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2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"/>
                                        <p:tgtEl>
                                          <p:spTgt spid="9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3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"/>
                                        <p:tgtEl>
                                          <p:spTgt spid="9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4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"/>
                                        <p:tgtEl>
                                          <p:spTgt spid="9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5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"/>
                                        <p:tgtEl>
                                          <p:spTgt spid="9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6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85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100"/>
                            </p:stCondLst>
                            <p:childTnLst>
                              <p:par>
                                <p:cTn id="71" presetID="2" presetClass="entr" presetSubtype="1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735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"/>
                                        <p:tgtEl>
                                          <p:spTgt spid="10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45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"/>
                                        <p:tgtEl>
                                          <p:spTgt spid="10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755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"/>
                                        <p:tgtEl>
                                          <p:spTgt spid="10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765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"/>
                                        <p:tgtEl>
                                          <p:spTgt spid="10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775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"/>
                                        <p:tgtEl>
                                          <p:spTgt spid="10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785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"/>
                                        <p:tgtEl>
                                          <p:spTgt spid="10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795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"/>
                                        <p:tgtEl>
                                          <p:spTgt spid="10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805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"/>
                                        <p:tgtEl>
                                          <p:spTgt spid="10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815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"/>
                                        <p:tgtEl>
                                          <p:spTgt spid="10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8250"/>
                            </p:stCondLst>
                            <p:childTnLst>
                              <p:par>
                                <p:cTn id="1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"/>
                                        <p:tgtEl>
                                          <p:spTgt spid="10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8350"/>
                            </p:stCondLst>
                            <p:childTnLst>
                              <p:par>
                                <p:cTn id="1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"/>
                                        <p:tgtEl>
                                          <p:spTgt spid="10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Sub>
          <a:bldChart bld="category"/>
        </p:bldSub>
      </p:bldGraphic>
      <p:bldGraphic spid="10" grpId="0">
        <p:bldSub>
          <a:bldChart bld="category"/>
        </p:bldSub>
      </p:bldGraphic>
      <p:bldP spid="7" grpId="0"/>
      <p:bldP spid="8" grpId="0"/>
      <p:bldP spid="12" grpId="0"/>
      <p:bldP spid="13" grpId="0" animBg="1"/>
      <p:bldP spid="1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1285852" y="81892"/>
            <a:ext cx="6815141" cy="6463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lang="es-AR" sz="32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ea typeface="+mj-ea"/>
                <a:cs typeface="Browallia New" panose="020B0604020202020204" pitchFamily="34" charset="-34"/>
              </a:rPr>
              <a:t>Performance del </a:t>
            </a:r>
            <a:r>
              <a:rPr lang="es-AR" sz="3200" i="1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ea typeface="+mj-ea"/>
                <a:cs typeface="Browallia New" panose="020B0604020202020204" pitchFamily="34" charset="-34"/>
              </a:rPr>
              <a:t>Banco Nación</a:t>
            </a:r>
            <a:endParaRPr lang="es-ES" sz="3200" i="1" dirty="0"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  <a:ea typeface="+mj-ea"/>
              <a:cs typeface="Browallia New" panose="020B0604020202020204" pitchFamily="34" charset="-34"/>
            </a:endParaRPr>
          </a:p>
        </p:txBody>
      </p:sp>
      <p:pic>
        <p:nvPicPr>
          <p:cNvPr id="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3071810"/>
            <a:ext cx="3168351" cy="1666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7 CuadroTexto"/>
          <p:cNvSpPr txBox="1"/>
          <p:nvPr/>
        </p:nvSpPr>
        <p:spPr>
          <a:xfrm>
            <a:off x="0" y="2734622"/>
            <a:ext cx="5643570" cy="40011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b="1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/>
              <a:t>Liquidez: Ratio Reservas /Depósitos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5975651" y="1871533"/>
            <a:ext cx="2857520" cy="120027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b="1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/>
              <a:t>Valores Referencia</a:t>
            </a:r>
          </a:p>
          <a:p>
            <a:r>
              <a:rPr lang="es-AR" dirty="0"/>
              <a:t>Dpto. </a:t>
            </a:r>
            <a:r>
              <a:rPr lang="es-AR" dirty="0" err="1"/>
              <a:t>Ccial</a:t>
            </a:r>
            <a:r>
              <a:rPr lang="es-AR" dirty="0"/>
              <a:t>. Banco de Inglaterra</a:t>
            </a:r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1128526"/>
            <a:ext cx="3384376" cy="1599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10 CuadroTexto"/>
          <p:cNvSpPr txBox="1"/>
          <p:nvPr/>
        </p:nvSpPr>
        <p:spPr>
          <a:xfrm>
            <a:off x="0" y="785794"/>
            <a:ext cx="5643570" cy="40011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b="1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/>
              <a:t>Tasa de crec. real de los depósitos (</a:t>
            </a:r>
            <a:r>
              <a:rPr lang="es-AR" dirty="0" err="1"/>
              <a:t>prom.mensual</a:t>
            </a:r>
            <a:r>
              <a:rPr lang="es-AR" dirty="0"/>
              <a:t>)</a:t>
            </a:r>
          </a:p>
        </p:txBody>
      </p:sp>
      <p:pic>
        <p:nvPicPr>
          <p:cNvPr id="12" name="Picture 6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5201022"/>
            <a:ext cx="3168352" cy="1684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12 CuadroTexto"/>
          <p:cNvSpPr txBox="1"/>
          <p:nvPr/>
        </p:nvSpPr>
        <p:spPr>
          <a:xfrm>
            <a:off x="0" y="4816802"/>
            <a:ext cx="5643570" cy="40011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b="1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/>
              <a:t>Solvencia: Ratio Capital/Activo</a:t>
            </a:r>
          </a:p>
        </p:txBody>
      </p:sp>
      <p:graphicFrame>
        <p:nvGraphicFramePr>
          <p:cNvPr id="18" name="17 Tabla"/>
          <p:cNvGraphicFramePr>
            <a:graphicFrameLocks noGrp="1"/>
          </p:cNvGraphicFramePr>
          <p:nvPr/>
        </p:nvGraphicFramePr>
        <p:xfrm>
          <a:off x="5975651" y="3103954"/>
          <a:ext cx="2840037" cy="1877187"/>
        </p:xfrm>
        <a:graphic>
          <a:graphicData uri="http://schemas.openxmlformats.org/drawingml/2006/table">
            <a:tbl>
              <a:tblPr/>
              <a:tblGrid>
                <a:gridCol w="113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Sub-períodos</a:t>
                      </a:r>
                      <a:endParaRPr lang="es-ES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Reservas/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Depósitos</a:t>
                      </a:r>
                      <a:endParaRPr lang="es-ES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Capital/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Activo</a:t>
                      </a:r>
                      <a:endParaRPr lang="es-ES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1909-1913</a:t>
                      </a:r>
                      <a:endParaRPr lang="es-ES" sz="160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47%</a:t>
                      </a:r>
                      <a:endParaRPr lang="es-ES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20%</a:t>
                      </a:r>
                      <a:endParaRPr lang="es-ES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1914-1919</a:t>
                      </a:r>
                      <a:endParaRPr lang="es-ES" sz="160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22%</a:t>
                      </a:r>
                      <a:endParaRPr lang="es-ES" sz="160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9%</a:t>
                      </a:r>
                      <a:endParaRPr lang="es-ES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1920-1926</a:t>
                      </a:r>
                      <a:endParaRPr lang="es-ES" sz="160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17%</a:t>
                      </a:r>
                      <a:endParaRPr lang="es-ES" sz="160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10%</a:t>
                      </a:r>
                      <a:endParaRPr lang="es-ES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1927-1928</a:t>
                      </a:r>
                      <a:endParaRPr lang="es-ES" sz="160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34%</a:t>
                      </a:r>
                      <a:endParaRPr lang="es-ES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11%</a:t>
                      </a:r>
                      <a:endParaRPr lang="es-ES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4" name="Gráfico 13" descr="Advertencia">
            <a:extLst>
              <a:ext uri="{FF2B5EF4-FFF2-40B4-BE49-F238E27FC236}">
                <a16:creationId xmlns:a16="http://schemas.microsoft.com/office/drawing/2014/main" id="{923996E7-FE77-44CF-9F8E-A8304CEEF8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39751" y="6382293"/>
            <a:ext cx="457200" cy="457200"/>
          </a:xfrm>
          <a:prstGeom prst="rect">
            <a:avLst/>
          </a:prstGeom>
        </p:spPr>
      </p:pic>
      <p:sp>
        <p:nvSpPr>
          <p:cNvPr id="15" name="Flecha: hacia la izquierda 14">
            <a:extLst>
              <a:ext uri="{FF2B5EF4-FFF2-40B4-BE49-F238E27FC236}">
                <a16:creationId xmlns:a16="http://schemas.microsoft.com/office/drawing/2014/main" id="{C010527F-07CE-4D38-8946-06EEFB0140D3}"/>
              </a:ext>
            </a:extLst>
          </p:cNvPr>
          <p:cNvSpPr/>
          <p:nvPr/>
        </p:nvSpPr>
        <p:spPr>
          <a:xfrm>
            <a:off x="3204324" y="2289935"/>
            <a:ext cx="360040" cy="191471"/>
          </a:xfrm>
          <a:prstGeom prst="left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Flecha: hacia la izquierda 15">
            <a:extLst>
              <a:ext uri="{FF2B5EF4-FFF2-40B4-BE49-F238E27FC236}">
                <a16:creationId xmlns:a16="http://schemas.microsoft.com/office/drawing/2014/main" id="{8F20B0B4-CDE4-471D-8C90-63E5B6837515}"/>
              </a:ext>
            </a:extLst>
          </p:cNvPr>
          <p:cNvSpPr/>
          <p:nvPr/>
        </p:nvSpPr>
        <p:spPr>
          <a:xfrm>
            <a:off x="3024304" y="4307140"/>
            <a:ext cx="360040" cy="191471"/>
          </a:xfrm>
          <a:prstGeom prst="left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Flecha: hacia la izquierda 16">
            <a:extLst>
              <a:ext uri="{FF2B5EF4-FFF2-40B4-BE49-F238E27FC236}">
                <a16:creationId xmlns:a16="http://schemas.microsoft.com/office/drawing/2014/main" id="{06A8990B-5D18-45A1-AEB5-88D5E4DC73AC}"/>
              </a:ext>
            </a:extLst>
          </p:cNvPr>
          <p:cNvSpPr/>
          <p:nvPr/>
        </p:nvSpPr>
        <p:spPr>
          <a:xfrm>
            <a:off x="3024304" y="6122888"/>
            <a:ext cx="360040" cy="191471"/>
          </a:xfrm>
          <a:prstGeom prst="left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59054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-32" y="3071810"/>
            <a:ext cx="4929222" cy="1656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-32" y="5218323"/>
            <a:ext cx="4968552" cy="1680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-32" y="1000108"/>
            <a:ext cx="2278472" cy="1676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304224" y="1000108"/>
            <a:ext cx="2016224" cy="1680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857224" y="81892"/>
            <a:ext cx="7572428" cy="6463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lang="es-AR" sz="3200" i="1" dirty="0" err="1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ea typeface="+mj-ea"/>
                <a:cs typeface="Browallia New" panose="020B0604020202020204" pitchFamily="34" charset="-34"/>
              </a:rPr>
              <a:t>Perform</a:t>
            </a:r>
            <a:r>
              <a:rPr lang="es-AR" sz="32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ea typeface="+mj-ea"/>
                <a:cs typeface="Browallia New" panose="020B0604020202020204" pitchFamily="34" charset="-34"/>
              </a:rPr>
              <a:t>. del resto del </a:t>
            </a:r>
            <a:r>
              <a:rPr lang="es-AR" sz="3200" i="1" dirty="0" err="1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ea typeface="+mj-ea"/>
                <a:cs typeface="Browallia New" panose="020B0604020202020204" pitchFamily="34" charset="-34"/>
              </a:rPr>
              <a:t>Sis</a:t>
            </a:r>
            <a:r>
              <a:rPr lang="es-AR" sz="3200" i="1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ea typeface="+mj-ea"/>
                <a:cs typeface="Browallia New" panose="020B0604020202020204" pitchFamily="34" charset="-34"/>
              </a:rPr>
              <a:t>. Bancario</a:t>
            </a:r>
            <a:endParaRPr lang="es-ES" sz="3200" i="1" dirty="0"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  <a:ea typeface="+mj-ea"/>
              <a:cs typeface="Browallia New" panose="020B0604020202020204" pitchFamily="34" charset="-34"/>
            </a:endParaRPr>
          </a:p>
        </p:txBody>
      </p:sp>
      <p:sp>
        <p:nvSpPr>
          <p:cNvPr id="19" name="18 CuadroTexto"/>
          <p:cNvSpPr txBox="1"/>
          <p:nvPr/>
        </p:nvSpPr>
        <p:spPr>
          <a:xfrm>
            <a:off x="0" y="785794"/>
            <a:ext cx="5643570" cy="40011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b="1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/>
              <a:t>Tasa de crec. real de los depósitos (</a:t>
            </a:r>
            <a:r>
              <a:rPr lang="es-AR" dirty="0" err="1"/>
              <a:t>prom.mensual</a:t>
            </a:r>
            <a:r>
              <a:rPr lang="es-AR" dirty="0"/>
              <a:t>)</a:t>
            </a:r>
          </a:p>
        </p:txBody>
      </p:sp>
      <p:graphicFrame>
        <p:nvGraphicFramePr>
          <p:cNvPr id="20" name="19 Tabla"/>
          <p:cNvGraphicFramePr>
            <a:graphicFrameLocks noGrp="1"/>
          </p:cNvGraphicFramePr>
          <p:nvPr/>
        </p:nvGraphicFramePr>
        <p:xfrm>
          <a:off x="5941884" y="3657952"/>
          <a:ext cx="2995613" cy="1596771"/>
        </p:xfrm>
        <a:graphic>
          <a:graphicData uri="http://schemas.openxmlformats.org/drawingml/2006/table">
            <a:tbl>
              <a:tblPr/>
              <a:tblGrid>
                <a:gridCol w="113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Sub-períodos</a:t>
                      </a:r>
                      <a:endParaRPr lang="es-ES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Reservas/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 Depósitos</a:t>
                      </a:r>
                      <a:endParaRPr lang="es-ES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Capital/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Activo</a:t>
                      </a:r>
                      <a:endParaRPr lang="es-ES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1908-1913</a:t>
                      </a:r>
                      <a:endParaRPr lang="es-ES" sz="160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30%</a:t>
                      </a:r>
                      <a:endParaRPr lang="es-ES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10%</a:t>
                      </a:r>
                      <a:endParaRPr lang="es-ES" sz="160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1914-1919</a:t>
                      </a:r>
                      <a:endParaRPr lang="es-ES" sz="160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26%</a:t>
                      </a:r>
                      <a:endParaRPr lang="es-ES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8%</a:t>
                      </a:r>
                      <a:endParaRPr lang="es-ES" sz="160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1920-1926</a:t>
                      </a:r>
                      <a:endParaRPr lang="es-ES" sz="160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21%</a:t>
                      </a:r>
                      <a:endParaRPr lang="es-ES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6%</a:t>
                      </a:r>
                      <a:endParaRPr lang="es-ES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1927-1928</a:t>
                      </a:r>
                      <a:endParaRPr lang="es-ES" sz="160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19%</a:t>
                      </a:r>
                      <a:endParaRPr lang="es-ES" sz="160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 anchor="ctr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  <a:ea typeface="Times New Roman"/>
                          <a:cs typeface="Times New Roman"/>
                        </a:rPr>
                        <a:t>6%</a:t>
                      </a:r>
                      <a:endParaRPr lang="es-ES" sz="1600" dirty="0">
                        <a:solidFill>
                          <a:schemeClr val="tx2">
                            <a:lumMod val="75000"/>
                          </a:schemeClr>
                        </a:solidFill>
                        <a:latin typeface="Abadi" panose="020B0604020104020204" pitchFamily="34" charset="0"/>
                        <a:ea typeface="Calibri"/>
                        <a:cs typeface="Times New Roman"/>
                      </a:endParaRPr>
                    </a:p>
                  </a:txBody>
                  <a:tcPr marL="44450" marR="44450" marT="0" marB="0">
                    <a:lnL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20 CuadroTexto"/>
          <p:cNvSpPr txBox="1"/>
          <p:nvPr/>
        </p:nvSpPr>
        <p:spPr>
          <a:xfrm>
            <a:off x="6084168" y="2734622"/>
            <a:ext cx="2857520" cy="92333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b="1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/>
              <a:t>Valores Referencia</a:t>
            </a:r>
          </a:p>
          <a:p>
            <a:r>
              <a:rPr lang="es-AR" dirty="0"/>
              <a:t>Bancos Comerciales de EEUU</a:t>
            </a:r>
          </a:p>
        </p:txBody>
      </p:sp>
      <p:sp>
        <p:nvSpPr>
          <p:cNvPr id="22" name="21 CuadroTexto"/>
          <p:cNvSpPr txBox="1"/>
          <p:nvPr/>
        </p:nvSpPr>
        <p:spPr>
          <a:xfrm>
            <a:off x="0" y="2734622"/>
            <a:ext cx="5643570" cy="40011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b="1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/>
              <a:t>Liquidez: Ratio Reservas /Depósitos</a:t>
            </a:r>
          </a:p>
        </p:txBody>
      </p:sp>
      <p:sp>
        <p:nvSpPr>
          <p:cNvPr id="23" name="22 CuadroTexto"/>
          <p:cNvSpPr txBox="1"/>
          <p:nvPr/>
        </p:nvSpPr>
        <p:spPr>
          <a:xfrm>
            <a:off x="0" y="4816802"/>
            <a:ext cx="5643570" cy="40011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b="1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AR" dirty="0"/>
              <a:t>Solvencia: Ratio Capital/Activo</a:t>
            </a:r>
          </a:p>
        </p:txBody>
      </p:sp>
      <p:sp>
        <p:nvSpPr>
          <p:cNvPr id="12" name="Flecha: hacia la izquierda 11">
            <a:extLst>
              <a:ext uri="{FF2B5EF4-FFF2-40B4-BE49-F238E27FC236}">
                <a16:creationId xmlns:a16="http://schemas.microsoft.com/office/drawing/2014/main" id="{43FCEFBF-F514-4CA8-9FC9-7739A31A2543}"/>
              </a:ext>
            </a:extLst>
          </p:cNvPr>
          <p:cNvSpPr/>
          <p:nvPr/>
        </p:nvSpPr>
        <p:spPr>
          <a:xfrm>
            <a:off x="4140428" y="2156583"/>
            <a:ext cx="360040" cy="191471"/>
          </a:xfrm>
          <a:prstGeom prst="left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Flecha: hacia la izquierda 12">
            <a:extLst>
              <a:ext uri="{FF2B5EF4-FFF2-40B4-BE49-F238E27FC236}">
                <a16:creationId xmlns:a16="http://schemas.microsoft.com/office/drawing/2014/main" id="{B58F726E-EFE4-425E-A323-9D45D48A7AD0}"/>
              </a:ext>
            </a:extLst>
          </p:cNvPr>
          <p:cNvSpPr/>
          <p:nvPr/>
        </p:nvSpPr>
        <p:spPr>
          <a:xfrm>
            <a:off x="4841771" y="4260233"/>
            <a:ext cx="360040" cy="191471"/>
          </a:xfrm>
          <a:prstGeom prst="left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Flecha: hacia la izquierda 13">
            <a:extLst>
              <a:ext uri="{FF2B5EF4-FFF2-40B4-BE49-F238E27FC236}">
                <a16:creationId xmlns:a16="http://schemas.microsoft.com/office/drawing/2014/main" id="{D8262C85-ED40-46F5-A396-902F76F00447}"/>
              </a:ext>
            </a:extLst>
          </p:cNvPr>
          <p:cNvSpPr/>
          <p:nvPr/>
        </p:nvSpPr>
        <p:spPr>
          <a:xfrm>
            <a:off x="4841771" y="6440842"/>
            <a:ext cx="360040" cy="191471"/>
          </a:xfrm>
          <a:prstGeom prst="leftArrow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43883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  <p:bldP spid="22" grpId="0" animBg="1"/>
      <p:bldP spid="2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AD54198C-F0F0-4184-A63A-C3EE0058C8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6247366"/>
              </p:ext>
            </p:extLst>
          </p:nvPr>
        </p:nvGraphicFramePr>
        <p:xfrm>
          <a:off x="1475656" y="2342659"/>
          <a:ext cx="5508104" cy="44931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90AA958C-1D9B-4213-9875-3876306F9D0E}"/>
              </a:ext>
            </a:extLst>
          </p:cNvPr>
          <p:cNvSpPr/>
          <p:nvPr/>
        </p:nvSpPr>
        <p:spPr>
          <a:xfrm>
            <a:off x="6699888" y="3703323"/>
            <a:ext cx="2042336" cy="791795"/>
          </a:xfrm>
          <a:prstGeom prst="roundRect">
            <a:avLst>
              <a:gd name="adj" fmla="val 5630"/>
            </a:avLst>
          </a:prstGeom>
          <a:noFill/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Sin redescuentos </a:t>
            </a:r>
          </a:p>
          <a:p>
            <a:r>
              <a:rPr lang="es-ES" sz="1600" b="1" dirty="0" err="1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Prom</a:t>
            </a:r>
            <a:r>
              <a:rPr lang="es-ES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: 33%</a:t>
            </a:r>
            <a:endParaRPr lang="es-ES" sz="1600" dirty="0"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  <a:cs typeface="Browallia New" panose="020B0604020202020204" pitchFamily="34" charset="-34"/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86EC726C-CBE9-4827-8DC0-5793C10D97EE}"/>
              </a:ext>
            </a:extLst>
          </p:cNvPr>
          <p:cNvSpPr/>
          <p:nvPr/>
        </p:nvSpPr>
        <p:spPr>
          <a:xfrm>
            <a:off x="6707893" y="2916450"/>
            <a:ext cx="1789102" cy="797681"/>
          </a:xfrm>
          <a:prstGeom prst="roundRect">
            <a:avLst>
              <a:gd name="adj" fmla="val 5630"/>
            </a:avLst>
          </a:prstGeom>
          <a:noFill/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Sin financiamiento </a:t>
            </a:r>
          </a:p>
          <a:p>
            <a:r>
              <a:rPr lang="es-ES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al Estado </a:t>
            </a:r>
          </a:p>
          <a:p>
            <a:r>
              <a:rPr lang="es-ES" sz="1600" b="1" dirty="0" err="1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Prom</a:t>
            </a:r>
            <a:r>
              <a:rPr lang="es-ES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: 59%</a:t>
            </a:r>
            <a:endParaRPr lang="es-ES" sz="1600" dirty="0"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  <a:cs typeface="Browallia New" panose="020B0604020202020204" pitchFamily="34" charset="-34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115F8977-4587-46AF-A1D2-3780572BC94E}"/>
              </a:ext>
            </a:extLst>
          </p:cNvPr>
          <p:cNvSpPr/>
          <p:nvPr/>
        </p:nvSpPr>
        <p:spPr>
          <a:xfrm>
            <a:off x="6699887" y="4440378"/>
            <a:ext cx="1797107" cy="724230"/>
          </a:xfrm>
          <a:prstGeom prst="roundRect">
            <a:avLst>
              <a:gd name="adj" fmla="val 5630"/>
            </a:avLst>
          </a:prstGeom>
          <a:solidFill>
            <a:schemeClr val="tx2">
              <a:lumMod val="40000"/>
              <a:lumOff val="60000"/>
            </a:schemeClr>
          </a:solidFill>
          <a:ln w="285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Observado </a:t>
            </a:r>
          </a:p>
          <a:p>
            <a:r>
              <a:rPr lang="es-ES" sz="1600" b="1" dirty="0" err="1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Prom</a:t>
            </a:r>
            <a:r>
              <a:rPr lang="es-ES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: 27%</a:t>
            </a:r>
            <a:endParaRPr lang="es-ES" sz="1600" dirty="0"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  <a:cs typeface="Browallia New" panose="020B0604020202020204" pitchFamily="34" charset="-34"/>
            </a:endParaRPr>
          </a:p>
        </p:txBody>
      </p:sp>
      <p:sp>
        <p:nvSpPr>
          <p:cNvPr id="10" name="Título 4">
            <a:extLst>
              <a:ext uri="{FF2B5EF4-FFF2-40B4-BE49-F238E27FC236}">
                <a16:creationId xmlns:a16="http://schemas.microsoft.com/office/drawing/2014/main" id="{7939FEC8-AAD4-4EFB-BD3E-A4C7E1B1BD6F}"/>
              </a:ext>
            </a:extLst>
          </p:cNvPr>
          <p:cNvSpPr txBox="1">
            <a:spLocks/>
          </p:cNvSpPr>
          <p:nvPr/>
        </p:nvSpPr>
        <p:spPr>
          <a:xfrm>
            <a:off x="-15958" y="-4996"/>
            <a:ext cx="9159957" cy="12737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El Banco de la Nación y las funciones “</a:t>
            </a:r>
            <a:r>
              <a:rPr lang="es-ES" sz="3200" i="1" dirty="0" err="1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bancocentralistas</a:t>
            </a:r>
            <a:r>
              <a:rPr lang="es-ES" sz="32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”</a:t>
            </a:r>
            <a:br>
              <a:rPr lang="es-ES" sz="32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</a:br>
            <a:r>
              <a:rPr lang="es-ES" sz="2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(Ejercicio Contrafactual)</a:t>
            </a:r>
            <a:endParaRPr lang="es-ES" sz="3200" i="1" dirty="0"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  <a:cs typeface="Browallia New" panose="020B0604020202020204" pitchFamily="34" charset="-34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B4757A8B-7A84-487F-B936-C691890AABE9}"/>
              </a:ext>
            </a:extLst>
          </p:cNvPr>
          <p:cNvSpPr/>
          <p:nvPr/>
        </p:nvSpPr>
        <p:spPr>
          <a:xfrm>
            <a:off x="683568" y="1578682"/>
            <a:ext cx="7740984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EL SACRIFICIO</a:t>
            </a:r>
          </a:p>
        </p:txBody>
      </p:sp>
      <p:pic>
        <p:nvPicPr>
          <p:cNvPr id="16" name="Gráfico 15" descr="Tribunal">
            <a:extLst>
              <a:ext uri="{FF2B5EF4-FFF2-40B4-BE49-F238E27FC236}">
                <a16:creationId xmlns:a16="http://schemas.microsoft.com/office/drawing/2014/main" id="{394FF737-B818-44D6-9930-1802EDD119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65261" y="2075587"/>
            <a:ext cx="884168" cy="884168"/>
          </a:xfrm>
          <a:prstGeom prst="rect">
            <a:avLst/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0C2C12B1-4734-41C9-BE0D-286AFDE33081}"/>
              </a:ext>
            </a:extLst>
          </p:cNvPr>
          <p:cNvSpPr/>
          <p:nvPr/>
        </p:nvSpPr>
        <p:spPr>
          <a:xfrm>
            <a:off x="3918648" y="2823643"/>
            <a:ext cx="11816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BNA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9A12A542-1D9A-4279-8DB2-CAF0325BA27C}"/>
              </a:ext>
            </a:extLst>
          </p:cNvPr>
          <p:cNvSpPr/>
          <p:nvPr/>
        </p:nvSpPr>
        <p:spPr>
          <a:xfrm>
            <a:off x="4555720" y="2360587"/>
            <a:ext cx="11816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R/D</a:t>
            </a:r>
          </a:p>
        </p:txBody>
      </p:sp>
    </p:spTree>
    <p:extLst>
      <p:ext uri="{BB962C8B-B14F-4D97-AF65-F5344CB8AC3E}">
        <p14:creationId xmlns:p14="http://schemas.microsoft.com/office/powerpoint/2010/main" val="787730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"/>
                                        <p:tgtEl>
                                          <p:spTgt spid="12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1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"/>
                                        <p:tgtEl>
                                          <p:spTgt spid="12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2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"/>
                                        <p:tgtEl>
                                          <p:spTgt spid="12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3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"/>
                                        <p:tgtEl>
                                          <p:spTgt spid="12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4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"/>
                                        <p:tgtEl>
                                          <p:spTgt spid="12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"/>
                                        <p:tgtEl>
                                          <p:spTgt spid="12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6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"/>
                                        <p:tgtEl>
                                          <p:spTgt spid="12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7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"/>
                                        <p:tgtEl>
                                          <p:spTgt spid="12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8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"/>
                                        <p:tgtEl>
                                          <p:spTgt spid="12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9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"/>
                                        <p:tgtEl>
                                          <p:spTgt spid="12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0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"/>
                                        <p:tgtEl>
                                          <p:spTgt spid="12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100"/>
                            </p:stCondLst>
                            <p:childTnLst>
                              <p:par>
                                <p:cTn id="72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600"/>
                            </p:stCondLst>
                            <p:childTnLst>
                              <p:par>
                                <p:cTn id="78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7100"/>
                            </p:stCondLst>
                            <p:childTnLst>
                              <p:par>
                                <p:cTn id="84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" grpId="0">
        <p:bldSub>
          <a:bldChart bld="category"/>
        </p:bldSub>
      </p:bldGraphic>
      <p:bldP spid="13" grpId="0"/>
      <p:bldP spid="15" grpId="0"/>
      <p:bldP spid="7" grpId="0" animBg="1"/>
      <p:bldP spid="10" grpId="0"/>
      <p:bldP spid="14" grpId="0" animBg="1"/>
      <p:bldP spid="17" grpId="0"/>
      <p:bldP spid="1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FE7D078A-31D7-4EAA-B7BB-E011F1782759}"/>
              </a:ext>
            </a:extLst>
          </p:cNvPr>
          <p:cNvSpPr/>
          <p:nvPr/>
        </p:nvSpPr>
        <p:spPr>
          <a:xfrm>
            <a:off x="4942499" y="2798756"/>
            <a:ext cx="3723502" cy="3817032"/>
          </a:xfrm>
          <a:prstGeom prst="roundRect">
            <a:avLst>
              <a:gd name="adj" fmla="val 563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 dirty="0">
              <a:solidFill>
                <a:srgbClr val="4B4B50"/>
              </a:solidFill>
              <a:latin typeface="Abadi" panose="020B0604020104020204" pitchFamily="34" charset="0"/>
              <a:cs typeface="Browallia New" panose="020B0604020202020204" pitchFamily="34" charset="-34"/>
            </a:endParaRPr>
          </a:p>
        </p:txBody>
      </p:sp>
      <p:pic>
        <p:nvPicPr>
          <p:cNvPr id="40" name="Gráfico 39" descr="Tribunal">
            <a:extLst>
              <a:ext uri="{FF2B5EF4-FFF2-40B4-BE49-F238E27FC236}">
                <a16:creationId xmlns:a16="http://schemas.microsoft.com/office/drawing/2014/main" id="{80B48F7F-70EA-4BAF-95C5-916CD1460D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31014" y="4713598"/>
            <a:ext cx="877629" cy="877629"/>
          </a:xfrm>
          <a:prstGeom prst="rect">
            <a:avLst/>
          </a:prstGeom>
        </p:spPr>
      </p:pic>
      <p:sp>
        <p:nvSpPr>
          <p:cNvPr id="41" name="Rectángulo 40">
            <a:extLst>
              <a:ext uri="{FF2B5EF4-FFF2-40B4-BE49-F238E27FC236}">
                <a16:creationId xmlns:a16="http://schemas.microsoft.com/office/drawing/2014/main" id="{1C57EC82-2047-4A2A-BC5C-512A37C6E26A}"/>
              </a:ext>
            </a:extLst>
          </p:cNvPr>
          <p:cNvSpPr/>
          <p:nvPr/>
        </p:nvSpPr>
        <p:spPr>
          <a:xfrm>
            <a:off x="5379004" y="5421950"/>
            <a:ext cx="11816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BNA</a:t>
            </a:r>
          </a:p>
        </p:txBody>
      </p:sp>
      <p:pic>
        <p:nvPicPr>
          <p:cNvPr id="54" name="Gráfico 53" descr="Tribunal">
            <a:extLst>
              <a:ext uri="{FF2B5EF4-FFF2-40B4-BE49-F238E27FC236}">
                <a16:creationId xmlns:a16="http://schemas.microsoft.com/office/drawing/2014/main" id="{76A1E364-C102-4C28-AC42-E01C643854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49488" y="5537785"/>
            <a:ext cx="877629" cy="877629"/>
          </a:xfrm>
          <a:prstGeom prst="rect">
            <a:avLst/>
          </a:prstGeom>
        </p:spPr>
      </p:pic>
      <p:sp>
        <p:nvSpPr>
          <p:cNvPr id="55" name="Rectángulo 54">
            <a:extLst>
              <a:ext uri="{FF2B5EF4-FFF2-40B4-BE49-F238E27FC236}">
                <a16:creationId xmlns:a16="http://schemas.microsoft.com/office/drawing/2014/main" id="{E75303F3-4571-4645-9AAF-38736EC2D0A5}"/>
              </a:ext>
            </a:extLst>
          </p:cNvPr>
          <p:cNvSpPr/>
          <p:nvPr/>
        </p:nvSpPr>
        <p:spPr>
          <a:xfrm>
            <a:off x="6816217" y="6261525"/>
            <a:ext cx="13604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BANCOS</a:t>
            </a:r>
          </a:p>
        </p:txBody>
      </p:sp>
      <p:sp>
        <p:nvSpPr>
          <p:cNvPr id="57" name="Flecha: a la derecha 56">
            <a:extLst>
              <a:ext uri="{FF2B5EF4-FFF2-40B4-BE49-F238E27FC236}">
                <a16:creationId xmlns:a16="http://schemas.microsoft.com/office/drawing/2014/main" id="{5E019E91-EB42-4C37-ADD8-10F016FDE57E}"/>
              </a:ext>
            </a:extLst>
          </p:cNvPr>
          <p:cNvSpPr/>
          <p:nvPr/>
        </p:nvSpPr>
        <p:spPr>
          <a:xfrm rot="19663556">
            <a:off x="6401357" y="4599138"/>
            <a:ext cx="648882" cy="245078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4D76E441-6844-475A-804B-8F5090B99A52}"/>
              </a:ext>
            </a:extLst>
          </p:cNvPr>
          <p:cNvSpPr/>
          <p:nvPr/>
        </p:nvSpPr>
        <p:spPr>
          <a:xfrm>
            <a:off x="6897479" y="4513211"/>
            <a:ext cx="11816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ESTADO</a:t>
            </a:r>
          </a:p>
        </p:txBody>
      </p:sp>
      <p:pic>
        <p:nvPicPr>
          <p:cNvPr id="59" name="Imagen 58">
            <a:extLst>
              <a:ext uri="{FF2B5EF4-FFF2-40B4-BE49-F238E27FC236}">
                <a16:creationId xmlns:a16="http://schemas.microsoft.com/office/drawing/2014/main" id="{47D1A53A-1E7B-4E76-8D60-04248AB96E65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092282" y="3719759"/>
            <a:ext cx="808307" cy="808307"/>
          </a:xfrm>
          <a:prstGeom prst="rect">
            <a:avLst/>
          </a:prstGeom>
        </p:spPr>
      </p:pic>
      <p:sp>
        <p:nvSpPr>
          <p:cNvPr id="60" name="Flecha: a la derecha 59">
            <a:extLst>
              <a:ext uri="{FF2B5EF4-FFF2-40B4-BE49-F238E27FC236}">
                <a16:creationId xmlns:a16="http://schemas.microsoft.com/office/drawing/2014/main" id="{69A5AB20-31BD-4D5B-9D2A-867B259239D5}"/>
              </a:ext>
            </a:extLst>
          </p:cNvPr>
          <p:cNvSpPr/>
          <p:nvPr/>
        </p:nvSpPr>
        <p:spPr>
          <a:xfrm rot="1936444" flipV="1">
            <a:off x="6428093" y="5592252"/>
            <a:ext cx="648882" cy="245078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Flecha: cheurón 2">
            <a:extLst>
              <a:ext uri="{FF2B5EF4-FFF2-40B4-BE49-F238E27FC236}">
                <a16:creationId xmlns:a16="http://schemas.microsoft.com/office/drawing/2014/main" id="{DE0E788A-6828-4908-8007-35A9426DB4E3}"/>
              </a:ext>
            </a:extLst>
          </p:cNvPr>
          <p:cNvSpPr/>
          <p:nvPr/>
        </p:nvSpPr>
        <p:spPr>
          <a:xfrm>
            <a:off x="7003895" y="5014983"/>
            <a:ext cx="955450" cy="398566"/>
          </a:xfrm>
          <a:prstGeom prst="chevron">
            <a:avLst>
              <a:gd name="adj" fmla="val 152393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400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4D375850-0C04-45B4-9AF0-CDB643F40920}"/>
              </a:ext>
            </a:extLst>
          </p:cNvPr>
          <p:cNvSpPr/>
          <p:nvPr/>
        </p:nvSpPr>
        <p:spPr>
          <a:xfrm>
            <a:off x="4937121" y="2783655"/>
            <a:ext cx="3723502" cy="785407"/>
          </a:xfrm>
          <a:prstGeom prst="roundRect">
            <a:avLst>
              <a:gd name="adj" fmla="val 2859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FUNCIONES “BANCO-CENTRALISTAS”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80E4212A-20EB-4ED2-80F3-C3200CA8B611}"/>
              </a:ext>
            </a:extLst>
          </p:cNvPr>
          <p:cNvSpPr/>
          <p:nvPr/>
        </p:nvSpPr>
        <p:spPr>
          <a:xfrm>
            <a:off x="883789" y="4087052"/>
            <a:ext cx="3492858" cy="948649"/>
          </a:xfrm>
          <a:prstGeom prst="roundRect">
            <a:avLst>
              <a:gd name="adj" fmla="val 12615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 dirty="0">
              <a:solidFill>
                <a:srgbClr val="4B4B50"/>
              </a:solidFill>
              <a:latin typeface="Abadi" panose="020B0604020104020204" pitchFamily="34" charset="0"/>
              <a:cs typeface="Browallia New" panose="020B0604020202020204" pitchFamily="34" charset="-34"/>
            </a:endParaRPr>
          </a:p>
        </p:txBody>
      </p:sp>
      <p:pic>
        <p:nvPicPr>
          <p:cNvPr id="20" name="Gráfico 19" descr="Tribunal">
            <a:extLst>
              <a:ext uri="{FF2B5EF4-FFF2-40B4-BE49-F238E27FC236}">
                <a16:creationId xmlns:a16="http://schemas.microsoft.com/office/drawing/2014/main" id="{C8A11739-2479-4E0B-9BF7-A74279F7543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70979" y="4090643"/>
            <a:ext cx="737772" cy="737772"/>
          </a:xfrm>
          <a:prstGeom prst="rect">
            <a:avLst/>
          </a:prstGeom>
        </p:spPr>
      </p:pic>
      <p:sp>
        <p:nvSpPr>
          <p:cNvPr id="21" name="Rectángulo 20">
            <a:extLst>
              <a:ext uri="{FF2B5EF4-FFF2-40B4-BE49-F238E27FC236}">
                <a16:creationId xmlns:a16="http://schemas.microsoft.com/office/drawing/2014/main" id="{6F7DA780-2548-47DE-8549-0F8C481EA3E3}"/>
              </a:ext>
            </a:extLst>
          </p:cNvPr>
          <p:cNvSpPr/>
          <p:nvPr/>
        </p:nvSpPr>
        <p:spPr>
          <a:xfrm>
            <a:off x="1095367" y="4715437"/>
            <a:ext cx="110163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BANCOS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E6ABF856-CE96-4813-9B2D-A5A71C82A379}"/>
              </a:ext>
            </a:extLst>
          </p:cNvPr>
          <p:cNvSpPr/>
          <p:nvPr/>
        </p:nvSpPr>
        <p:spPr>
          <a:xfrm>
            <a:off x="2168721" y="4278211"/>
            <a:ext cx="198981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INDICADORES</a:t>
            </a:r>
          </a:p>
          <a:p>
            <a:pPr algn="ctr"/>
            <a:r>
              <a:rPr lang="es-ES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MODERADOS</a:t>
            </a:r>
            <a:endParaRPr lang="es-ES" b="1" dirty="0"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  <a:cs typeface="Browallia New" panose="020B0604020202020204" pitchFamily="34" charset="-34"/>
            </a:endParaRPr>
          </a:p>
        </p:txBody>
      </p:sp>
      <p:sp>
        <p:nvSpPr>
          <p:cNvPr id="23" name="Título 4">
            <a:extLst>
              <a:ext uri="{FF2B5EF4-FFF2-40B4-BE49-F238E27FC236}">
                <a16:creationId xmlns:a16="http://schemas.microsoft.com/office/drawing/2014/main" id="{E8511E15-5A44-48B7-B8E3-C0049607B675}"/>
              </a:ext>
            </a:extLst>
          </p:cNvPr>
          <p:cNvSpPr txBox="1">
            <a:spLocks/>
          </p:cNvSpPr>
          <p:nvPr/>
        </p:nvSpPr>
        <p:spPr>
          <a:xfrm>
            <a:off x="0" y="-5424"/>
            <a:ext cx="9144000" cy="24567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4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Transformación de la Primera Caja de Conversión con la vuelta a la «normalidad» </a:t>
            </a:r>
          </a:p>
          <a:p>
            <a:pPr algn="ctr"/>
            <a:r>
              <a:rPr lang="es-ES" sz="4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1927-1929</a:t>
            </a:r>
          </a:p>
        </p:txBody>
      </p:sp>
    </p:spTree>
    <p:extLst>
      <p:ext uri="{BB962C8B-B14F-4D97-AF65-F5344CB8AC3E}">
        <p14:creationId xmlns:p14="http://schemas.microsoft.com/office/powerpoint/2010/main" val="369597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750"/>
                            </p:stCondLst>
                            <p:childTnLst>
                              <p:par>
                                <p:cTn id="4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75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500"/>
                            </p:stCondLst>
                            <p:childTnLst>
                              <p:par>
                                <p:cTn id="55" presetID="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250"/>
                            </p:stCondLst>
                            <p:childTnLst>
                              <p:par>
                                <p:cTn id="60" presetID="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000"/>
                            </p:stCondLst>
                            <p:childTnLst>
                              <p:par>
                                <p:cTn id="69" presetID="2" presetClass="entr" presetSubtype="9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750"/>
                            </p:stCondLst>
                            <p:childTnLst>
                              <p:par>
                                <p:cTn id="74" presetID="2" presetClass="entr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7500"/>
                            </p:stCondLst>
                            <p:childTnLst>
                              <p:par>
                                <p:cTn id="83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8000"/>
                            </p:stCondLst>
                            <p:childTnLst>
                              <p:par>
                                <p:cTn id="8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8500"/>
                            </p:stCondLst>
                            <p:childTnLst>
                              <p:par>
                                <p:cTn id="9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41" grpId="0"/>
      <p:bldP spid="55" grpId="0"/>
      <p:bldP spid="57" grpId="0" animBg="1"/>
      <p:bldP spid="58" grpId="0"/>
      <p:bldP spid="60" grpId="0" animBg="1"/>
      <p:bldP spid="3" grpId="0" animBg="1"/>
      <p:bldP spid="19" grpId="0" animBg="1"/>
      <p:bldP spid="16" grpId="0" animBg="1"/>
      <p:bldP spid="21" grpId="0"/>
      <p:bldP spid="22" grpId="0"/>
      <p:bldP spid="2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0568311"/>
              </p:ext>
            </p:extLst>
          </p:nvPr>
        </p:nvGraphicFramePr>
        <p:xfrm>
          <a:off x="323528" y="1124744"/>
          <a:ext cx="8352928" cy="5112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801555" y="116632"/>
            <a:ext cx="7643866" cy="535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lang="es-AR" sz="32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ea typeface="+mj-ea"/>
                <a:cs typeface="Browallia New" panose="020B0604020202020204" pitchFamily="34" charset="-34"/>
              </a:rPr>
              <a:t>Financiamiento del BN al Estado</a:t>
            </a:r>
            <a:endParaRPr lang="es-ES" sz="3200" i="1" dirty="0"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  <a:ea typeface="+mj-ea"/>
              <a:cs typeface="Browallia New" panose="020B0604020202020204" pitchFamily="34" charset="-34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99592" y="1484784"/>
            <a:ext cx="7519411" cy="453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899592" y="116632"/>
            <a:ext cx="7643866" cy="535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r>
              <a:rPr lang="es-AR" sz="32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ea typeface="+mj-ea"/>
                <a:cs typeface="Browallia New" panose="020B0604020202020204" pitchFamily="34" charset="-34"/>
              </a:rPr>
              <a:t>Redescuentos del </a:t>
            </a:r>
            <a:r>
              <a:rPr lang="es-AR" sz="3200" i="1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ea typeface="+mj-ea"/>
                <a:cs typeface="Browallia New" panose="020B0604020202020204" pitchFamily="34" charset="-34"/>
              </a:rPr>
              <a:t>Banco Nación</a:t>
            </a:r>
            <a:endParaRPr lang="es-ES" sz="3200" i="1" dirty="0"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  <a:ea typeface="+mj-ea"/>
              <a:cs typeface="Browallia New" panose="020B0604020202020204" pitchFamily="34" charset="-34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ráfico 27" descr="Centro educativo">
            <a:extLst>
              <a:ext uri="{FF2B5EF4-FFF2-40B4-BE49-F238E27FC236}">
                <a16:creationId xmlns:a16="http://schemas.microsoft.com/office/drawing/2014/main" id="{96048CDA-AD44-48D7-82CA-F1286AE2AD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91372" y="4801956"/>
            <a:ext cx="914400" cy="914400"/>
          </a:xfrm>
          <a:prstGeom prst="rect">
            <a:avLst/>
          </a:prstGeom>
        </p:spPr>
      </p:pic>
      <p:pic>
        <p:nvPicPr>
          <p:cNvPr id="31" name="Gráfico 30" descr="Tribunal">
            <a:extLst>
              <a:ext uri="{FF2B5EF4-FFF2-40B4-BE49-F238E27FC236}">
                <a16:creationId xmlns:a16="http://schemas.microsoft.com/office/drawing/2014/main" id="{4416DA77-A2C0-4524-9D4F-3BF192BD4E1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23246" y="4930026"/>
            <a:ext cx="737772" cy="737772"/>
          </a:xfrm>
          <a:prstGeom prst="rect">
            <a:avLst/>
          </a:prstGeom>
        </p:spPr>
      </p:pic>
      <p:sp>
        <p:nvSpPr>
          <p:cNvPr id="32" name="Flecha: a la derecha 31">
            <a:extLst>
              <a:ext uri="{FF2B5EF4-FFF2-40B4-BE49-F238E27FC236}">
                <a16:creationId xmlns:a16="http://schemas.microsoft.com/office/drawing/2014/main" id="{062A6FF6-1C32-43DF-B4BA-21618B19D32D}"/>
              </a:ext>
            </a:extLst>
          </p:cNvPr>
          <p:cNvSpPr/>
          <p:nvPr/>
        </p:nvSpPr>
        <p:spPr>
          <a:xfrm>
            <a:off x="2745518" y="5259156"/>
            <a:ext cx="679496" cy="288032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33" name="Gráfico 32" descr="Dinero">
            <a:extLst>
              <a:ext uri="{FF2B5EF4-FFF2-40B4-BE49-F238E27FC236}">
                <a16:creationId xmlns:a16="http://schemas.microsoft.com/office/drawing/2014/main" id="{6F95D3F5-E777-4C4E-9A1F-0A39B7959E5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770865" y="4846254"/>
            <a:ext cx="496956" cy="496956"/>
          </a:xfrm>
          <a:prstGeom prst="rect">
            <a:avLst/>
          </a:prstGeom>
        </p:spPr>
      </p:pic>
      <p:sp>
        <p:nvSpPr>
          <p:cNvPr id="34" name="Rectángulo 33">
            <a:extLst>
              <a:ext uri="{FF2B5EF4-FFF2-40B4-BE49-F238E27FC236}">
                <a16:creationId xmlns:a16="http://schemas.microsoft.com/office/drawing/2014/main" id="{2BBF806B-87EE-49C7-AAC6-56F4F3DD490D}"/>
              </a:ext>
            </a:extLst>
          </p:cNvPr>
          <p:cNvSpPr/>
          <p:nvPr/>
        </p:nvSpPr>
        <p:spPr>
          <a:xfrm>
            <a:off x="2139593" y="5786100"/>
            <a:ext cx="16914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EMISIÓN A TRAVÉS </a:t>
            </a:r>
          </a:p>
          <a:p>
            <a:pPr algn="ctr"/>
            <a:r>
              <a:rPr lang="es-ES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DE REDESCUENTOS</a:t>
            </a:r>
          </a:p>
        </p:txBody>
      </p:sp>
      <p:pic>
        <p:nvPicPr>
          <p:cNvPr id="21" name="Gráfico 20" descr="Dinero">
            <a:extLst>
              <a:ext uri="{FF2B5EF4-FFF2-40B4-BE49-F238E27FC236}">
                <a16:creationId xmlns:a16="http://schemas.microsoft.com/office/drawing/2014/main" id="{25F93A9B-A9B9-4CED-BC66-AEA2DB13FEA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47056" y="4660798"/>
            <a:ext cx="496956" cy="496956"/>
          </a:xfrm>
          <a:prstGeom prst="rect">
            <a:avLst/>
          </a:prstGeom>
        </p:spPr>
      </p:pic>
      <p:pic>
        <p:nvPicPr>
          <p:cNvPr id="24" name="Gráfico 23" descr="Dinero">
            <a:extLst>
              <a:ext uri="{FF2B5EF4-FFF2-40B4-BE49-F238E27FC236}">
                <a16:creationId xmlns:a16="http://schemas.microsoft.com/office/drawing/2014/main" id="{A88E0A22-C1CD-4724-B6BF-36FC1ACCA76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67319" y="4574012"/>
            <a:ext cx="496956" cy="496956"/>
          </a:xfrm>
          <a:prstGeom prst="rect">
            <a:avLst/>
          </a:prstGeom>
        </p:spPr>
      </p:pic>
      <p:pic>
        <p:nvPicPr>
          <p:cNvPr id="27" name="Gráfico 26" descr="Calendario giratorio">
            <a:extLst>
              <a:ext uri="{FF2B5EF4-FFF2-40B4-BE49-F238E27FC236}">
                <a16:creationId xmlns:a16="http://schemas.microsoft.com/office/drawing/2014/main" id="{9AB394B4-05FA-4565-BE07-2F019D0D658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9552" y="2847852"/>
            <a:ext cx="1280167" cy="1228479"/>
          </a:xfrm>
          <a:prstGeom prst="rect">
            <a:avLst/>
          </a:prstGeom>
        </p:spPr>
      </p:pic>
      <p:sp>
        <p:nvSpPr>
          <p:cNvPr id="29" name="Rectángulo 28">
            <a:extLst>
              <a:ext uri="{FF2B5EF4-FFF2-40B4-BE49-F238E27FC236}">
                <a16:creationId xmlns:a16="http://schemas.microsoft.com/office/drawing/2014/main" id="{CA9AB304-8D1A-41C2-9EF3-A6BD648A3483}"/>
              </a:ext>
            </a:extLst>
          </p:cNvPr>
          <p:cNvSpPr/>
          <p:nvPr/>
        </p:nvSpPr>
        <p:spPr>
          <a:xfrm>
            <a:off x="863838" y="3357263"/>
            <a:ext cx="60785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s-AR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Dic </a:t>
            </a:r>
          </a:p>
          <a:p>
            <a:pPr algn="ctr"/>
            <a:r>
              <a:rPr lang="es-AR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1929</a:t>
            </a:r>
          </a:p>
        </p:txBody>
      </p:sp>
      <p:pic>
        <p:nvPicPr>
          <p:cNvPr id="30" name="Gráfico 29" descr="Calendario giratorio">
            <a:extLst>
              <a:ext uri="{FF2B5EF4-FFF2-40B4-BE49-F238E27FC236}">
                <a16:creationId xmlns:a16="http://schemas.microsoft.com/office/drawing/2014/main" id="{35725B48-07DA-46E3-A5D9-E3C44002B1A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7605" y="4983920"/>
            <a:ext cx="1280167" cy="1228479"/>
          </a:xfrm>
          <a:prstGeom prst="rect">
            <a:avLst/>
          </a:prstGeom>
        </p:spPr>
      </p:pic>
      <p:sp>
        <p:nvSpPr>
          <p:cNvPr id="35" name="Rectángulo 34">
            <a:extLst>
              <a:ext uri="{FF2B5EF4-FFF2-40B4-BE49-F238E27FC236}">
                <a16:creationId xmlns:a16="http://schemas.microsoft.com/office/drawing/2014/main" id="{968139B4-94EF-4767-8C25-1C084B897AAC}"/>
              </a:ext>
            </a:extLst>
          </p:cNvPr>
          <p:cNvSpPr/>
          <p:nvPr/>
        </p:nvSpPr>
        <p:spPr>
          <a:xfrm>
            <a:off x="901892" y="5493331"/>
            <a:ext cx="60785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AR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Abr </a:t>
            </a:r>
          </a:p>
          <a:p>
            <a:pPr algn="ctr"/>
            <a:r>
              <a:rPr lang="es-AR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1931</a:t>
            </a:r>
          </a:p>
        </p:txBody>
      </p:sp>
      <p:pic>
        <p:nvPicPr>
          <p:cNvPr id="1026" name="Picture 2" descr="Resultado de imagen para icono llave">
            <a:extLst>
              <a:ext uri="{FF2B5EF4-FFF2-40B4-BE49-F238E27FC236}">
                <a16:creationId xmlns:a16="http://schemas.microsoft.com/office/drawing/2014/main" id="{6BD6EC93-F4A6-4B61-A45F-F2D4790DA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505419" y="3180057"/>
            <a:ext cx="864248" cy="864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Gráfico 37" descr="Calendario giratorio">
            <a:extLst>
              <a:ext uri="{FF2B5EF4-FFF2-40B4-BE49-F238E27FC236}">
                <a16:creationId xmlns:a16="http://schemas.microsoft.com/office/drawing/2014/main" id="{2D9D9CB9-F99A-40F8-BEAD-EC1BC51D7A9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48729" y="2835076"/>
            <a:ext cx="1280167" cy="1228479"/>
          </a:xfrm>
          <a:prstGeom prst="rect">
            <a:avLst/>
          </a:prstGeom>
        </p:spPr>
      </p:pic>
      <p:sp>
        <p:nvSpPr>
          <p:cNvPr id="39" name="Rectángulo 38">
            <a:extLst>
              <a:ext uri="{FF2B5EF4-FFF2-40B4-BE49-F238E27FC236}">
                <a16:creationId xmlns:a16="http://schemas.microsoft.com/office/drawing/2014/main" id="{EDB05102-25F7-40CE-86CA-93F81562ADB3}"/>
              </a:ext>
            </a:extLst>
          </p:cNvPr>
          <p:cNvSpPr/>
          <p:nvPr/>
        </p:nvSpPr>
        <p:spPr>
          <a:xfrm>
            <a:off x="5315953" y="3350469"/>
            <a:ext cx="7457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AR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Oct 31</a:t>
            </a:r>
          </a:p>
          <a:p>
            <a:pPr algn="ctr"/>
            <a:r>
              <a:rPr lang="es-AR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Nov 33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7C5BC5CF-E61E-46CA-9920-379C8D6B9A6F}"/>
              </a:ext>
            </a:extLst>
          </p:cNvPr>
          <p:cNvSpPr/>
          <p:nvPr/>
        </p:nvSpPr>
        <p:spPr>
          <a:xfrm>
            <a:off x="6295218" y="3823314"/>
            <a:ext cx="196239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CONTROL DE CAMBIOS</a:t>
            </a:r>
          </a:p>
        </p:txBody>
      </p:sp>
      <p:sp>
        <p:nvSpPr>
          <p:cNvPr id="43" name="Flecha: a la derecha 42">
            <a:extLst>
              <a:ext uri="{FF2B5EF4-FFF2-40B4-BE49-F238E27FC236}">
                <a16:creationId xmlns:a16="http://schemas.microsoft.com/office/drawing/2014/main" id="{00B7B20E-DE12-4671-BCA6-5D54B5A97873}"/>
              </a:ext>
            </a:extLst>
          </p:cNvPr>
          <p:cNvSpPr/>
          <p:nvPr/>
        </p:nvSpPr>
        <p:spPr>
          <a:xfrm>
            <a:off x="7036594" y="5284069"/>
            <a:ext cx="679496" cy="288032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A2308493-3E2E-4D34-86F8-7EDC6568A598}"/>
              </a:ext>
            </a:extLst>
          </p:cNvPr>
          <p:cNvSpPr/>
          <p:nvPr/>
        </p:nvSpPr>
        <p:spPr>
          <a:xfrm>
            <a:off x="6258350" y="5786100"/>
            <a:ext cx="203613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EMISIÓN CONTRA </a:t>
            </a:r>
          </a:p>
          <a:p>
            <a:pPr algn="ctr"/>
            <a:r>
              <a:rPr lang="es-ES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TÍTULOS DEL GOBIERNO</a:t>
            </a:r>
          </a:p>
        </p:txBody>
      </p:sp>
      <p:pic>
        <p:nvPicPr>
          <p:cNvPr id="48" name="Gráfico 47" descr="Calendario giratorio">
            <a:extLst>
              <a:ext uri="{FF2B5EF4-FFF2-40B4-BE49-F238E27FC236}">
                <a16:creationId xmlns:a16="http://schemas.microsoft.com/office/drawing/2014/main" id="{33CAD347-15F2-437D-A64C-8FCC02B52672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48729" y="5008833"/>
            <a:ext cx="1280167" cy="1228479"/>
          </a:xfrm>
          <a:prstGeom prst="rect">
            <a:avLst/>
          </a:prstGeom>
        </p:spPr>
      </p:pic>
      <p:sp>
        <p:nvSpPr>
          <p:cNvPr id="49" name="Rectángulo 48">
            <a:extLst>
              <a:ext uri="{FF2B5EF4-FFF2-40B4-BE49-F238E27FC236}">
                <a16:creationId xmlns:a16="http://schemas.microsoft.com/office/drawing/2014/main" id="{0B5A4CB2-7631-4012-A80D-5E91845E237F}"/>
              </a:ext>
            </a:extLst>
          </p:cNvPr>
          <p:cNvSpPr/>
          <p:nvPr/>
        </p:nvSpPr>
        <p:spPr>
          <a:xfrm>
            <a:off x="5373015" y="5518244"/>
            <a:ext cx="60786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AR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May </a:t>
            </a:r>
          </a:p>
          <a:p>
            <a:pPr algn="ctr"/>
            <a:r>
              <a:rPr lang="es-AR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1932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73F12FF-4DCC-4343-9FE8-0E69FB7740C8}"/>
              </a:ext>
            </a:extLst>
          </p:cNvPr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804819" y="4940078"/>
            <a:ext cx="679497" cy="679497"/>
          </a:xfrm>
          <a:prstGeom prst="rect">
            <a:avLst/>
          </a:prstGeom>
        </p:spPr>
      </p:pic>
      <p:sp>
        <p:nvSpPr>
          <p:cNvPr id="42" name="Rectángulo 41">
            <a:extLst>
              <a:ext uri="{FF2B5EF4-FFF2-40B4-BE49-F238E27FC236}">
                <a16:creationId xmlns:a16="http://schemas.microsoft.com/office/drawing/2014/main" id="{8E800FAB-93C0-4422-9825-28CFD7E905A4}"/>
              </a:ext>
            </a:extLst>
          </p:cNvPr>
          <p:cNvSpPr/>
          <p:nvPr/>
        </p:nvSpPr>
        <p:spPr>
          <a:xfrm>
            <a:off x="1753329" y="5487900"/>
            <a:ext cx="118164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CAJA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CE25F8E5-EFD9-49E1-972B-6614EFA7B447}"/>
              </a:ext>
            </a:extLst>
          </p:cNvPr>
          <p:cNvSpPr/>
          <p:nvPr/>
        </p:nvSpPr>
        <p:spPr>
          <a:xfrm>
            <a:off x="3102320" y="5535562"/>
            <a:ext cx="118164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BANCOS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FB402FF3-5117-45CC-93A3-30899B8FE075}"/>
              </a:ext>
            </a:extLst>
          </p:cNvPr>
          <p:cNvSpPr/>
          <p:nvPr/>
        </p:nvSpPr>
        <p:spPr>
          <a:xfrm>
            <a:off x="7567314" y="5556243"/>
            <a:ext cx="118164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ESTADO</a:t>
            </a:r>
          </a:p>
        </p:txBody>
      </p:sp>
      <p:sp>
        <p:nvSpPr>
          <p:cNvPr id="53" name="Título 4">
            <a:extLst>
              <a:ext uri="{FF2B5EF4-FFF2-40B4-BE49-F238E27FC236}">
                <a16:creationId xmlns:a16="http://schemas.microsoft.com/office/drawing/2014/main" id="{3AEABD19-5E2E-4D70-BB66-3DC8A99BEBE6}"/>
              </a:ext>
            </a:extLst>
          </p:cNvPr>
          <p:cNvSpPr txBox="1">
            <a:spLocks/>
          </p:cNvSpPr>
          <p:nvPr/>
        </p:nvSpPr>
        <p:spPr>
          <a:xfrm>
            <a:off x="-15958" y="-4997"/>
            <a:ext cx="9159957" cy="75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sz="5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3er shock externo: </a:t>
            </a:r>
          </a:p>
        </p:txBody>
      </p:sp>
      <p:sp>
        <p:nvSpPr>
          <p:cNvPr id="54" name="Título 4">
            <a:extLst>
              <a:ext uri="{FF2B5EF4-FFF2-40B4-BE49-F238E27FC236}">
                <a16:creationId xmlns:a16="http://schemas.microsoft.com/office/drawing/2014/main" id="{E8B0E779-7607-4BD0-9C42-941012484C1F}"/>
              </a:ext>
            </a:extLst>
          </p:cNvPr>
          <p:cNvSpPr txBox="1">
            <a:spLocks/>
          </p:cNvSpPr>
          <p:nvPr/>
        </p:nvSpPr>
        <p:spPr>
          <a:xfrm>
            <a:off x="-45112" y="786124"/>
            <a:ext cx="9159957" cy="75643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AR" sz="60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La Gran Depresión</a:t>
            </a:r>
          </a:p>
        </p:txBody>
      </p:sp>
      <p:sp>
        <p:nvSpPr>
          <p:cNvPr id="55" name="Rectángulo: esquinas redondeadas 54">
            <a:extLst>
              <a:ext uri="{FF2B5EF4-FFF2-40B4-BE49-F238E27FC236}">
                <a16:creationId xmlns:a16="http://schemas.microsoft.com/office/drawing/2014/main" id="{9566E0F5-FFE8-48FD-9AF9-DCE8E6C36E3D}"/>
              </a:ext>
            </a:extLst>
          </p:cNvPr>
          <p:cNvSpPr/>
          <p:nvPr/>
        </p:nvSpPr>
        <p:spPr>
          <a:xfrm>
            <a:off x="822960" y="1938722"/>
            <a:ext cx="7498080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Abandono de las reglas básicas del modelo</a:t>
            </a:r>
          </a:p>
        </p:txBody>
      </p:sp>
      <p:pic>
        <p:nvPicPr>
          <p:cNvPr id="57" name="Gráfico 56" descr="Dinero">
            <a:extLst>
              <a:ext uri="{FF2B5EF4-FFF2-40B4-BE49-F238E27FC236}">
                <a16:creationId xmlns:a16="http://schemas.microsoft.com/office/drawing/2014/main" id="{A4CE2925-96EB-4CFE-B69F-A2E887F016F1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39585" y="2650768"/>
            <a:ext cx="914400" cy="914400"/>
          </a:xfrm>
          <a:prstGeom prst="rect">
            <a:avLst/>
          </a:prstGeom>
        </p:spPr>
      </p:pic>
      <p:pic>
        <p:nvPicPr>
          <p:cNvPr id="58" name="Gráfico 57" descr="Monedas">
            <a:extLst>
              <a:ext uri="{FF2B5EF4-FFF2-40B4-BE49-F238E27FC236}">
                <a16:creationId xmlns:a16="http://schemas.microsoft.com/office/drawing/2014/main" id="{EA578557-90E0-44F0-A54F-0EF1EA14C722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289449" y="2719099"/>
            <a:ext cx="914400" cy="914400"/>
          </a:xfrm>
          <a:prstGeom prst="rect">
            <a:avLst/>
          </a:prstGeom>
        </p:spPr>
      </p:pic>
      <p:pic>
        <p:nvPicPr>
          <p:cNvPr id="59" name="Gráfico 58" descr="Repetir">
            <a:extLst>
              <a:ext uri="{FF2B5EF4-FFF2-40B4-BE49-F238E27FC236}">
                <a16:creationId xmlns:a16="http://schemas.microsoft.com/office/drawing/2014/main" id="{B1770C99-3F98-4FCE-9576-5C980205262B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760241" y="2843364"/>
            <a:ext cx="529208" cy="529208"/>
          </a:xfrm>
          <a:prstGeom prst="rect">
            <a:avLst/>
          </a:prstGeom>
        </p:spPr>
      </p:pic>
      <p:pic>
        <p:nvPicPr>
          <p:cNvPr id="60" name="Gráfico 59" descr="Cerrar">
            <a:extLst>
              <a:ext uri="{FF2B5EF4-FFF2-40B4-BE49-F238E27FC236}">
                <a16:creationId xmlns:a16="http://schemas.microsoft.com/office/drawing/2014/main" id="{1CDEA999-1278-4AC3-887D-3CFF35083803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565671" y="2635635"/>
            <a:ext cx="914400" cy="914400"/>
          </a:xfrm>
          <a:prstGeom prst="rect">
            <a:avLst/>
          </a:prstGeom>
        </p:spPr>
      </p:pic>
      <p:sp>
        <p:nvSpPr>
          <p:cNvPr id="61" name="Rectángulo 60">
            <a:extLst>
              <a:ext uri="{FF2B5EF4-FFF2-40B4-BE49-F238E27FC236}">
                <a16:creationId xmlns:a16="http://schemas.microsoft.com/office/drawing/2014/main" id="{BDE0EC93-C806-4033-BB12-15E12DB5C8FD}"/>
              </a:ext>
            </a:extLst>
          </p:cNvPr>
          <p:cNvSpPr/>
          <p:nvPr/>
        </p:nvSpPr>
        <p:spPr>
          <a:xfrm>
            <a:off x="1579871" y="3634632"/>
            <a:ext cx="269598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SUSPENSIÓN DE LA </a:t>
            </a:r>
          </a:p>
          <a:p>
            <a:pPr algn="ctr"/>
            <a:r>
              <a:rPr lang="es-ES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CONVERTIBILIDAD</a:t>
            </a:r>
          </a:p>
        </p:txBody>
      </p:sp>
      <p:pic>
        <p:nvPicPr>
          <p:cNvPr id="62" name="Gráfico 61" descr="Dinero">
            <a:extLst>
              <a:ext uri="{FF2B5EF4-FFF2-40B4-BE49-F238E27FC236}">
                <a16:creationId xmlns:a16="http://schemas.microsoft.com/office/drawing/2014/main" id="{3CC851B9-C662-4BA0-83A6-77079BF7473B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01195" y="2550986"/>
            <a:ext cx="914400" cy="914400"/>
          </a:xfrm>
          <a:prstGeom prst="rect">
            <a:avLst/>
          </a:prstGeom>
        </p:spPr>
      </p:pic>
      <p:pic>
        <p:nvPicPr>
          <p:cNvPr id="63" name="Gráfico 62" descr="Monedas">
            <a:extLst>
              <a:ext uri="{FF2B5EF4-FFF2-40B4-BE49-F238E27FC236}">
                <a16:creationId xmlns:a16="http://schemas.microsoft.com/office/drawing/2014/main" id="{E50A49C1-4047-4845-A589-B23F3E1D56CA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306703" y="2858545"/>
            <a:ext cx="914400" cy="914400"/>
          </a:xfrm>
          <a:prstGeom prst="rect">
            <a:avLst/>
          </a:prstGeom>
        </p:spPr>
      </p:pic>
      <p:pic>
        <p:nvPicPr>
          <p:cNvPr id="64" name="Gráfico 63" descr="Centro educativo">
            <a:extLst>
              <a:ext uri="{FF2B5EF4-FFF2-40B4-BE49-F238E27FC236}">
                <a16:creationId xmlns:a16="http://schemas.microsoft.com/office/drawing/2014/main" id="{5244BF6F-1F3D-40FD-B550-FE3A133A94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6634" y="4851118"/>
            <a:ext cx="914400" cy="914400"/>
          </a:xfrm>
          <a:prstGeom prst="rect">
            <a:avLst/>
          </a:prstGeom>
        </p:spPr>
      </p:pic>
      <p:sp>
        <p:nvSpPr>
          <p:cNvPr id="65" name="Rectángulo 64">
            <a:extLst>
              <a:ext uri="{FF2B5EF4-FFF2-40B4-BE49-F238E27FC236}">
                <a16:creationId xmlns:a16="http://schemas.microsoft.com/office/drawing/2014/main" id="{5E45B001-CDFD-4376-8129-309035EF6ACD}"/>
              </a:ext>
            </a:extLst>
          </p:cNvPr>
          <p:cNvSpPr/>
          <p:nvPr/>
        </p:nvSpPr>
        <p:spPr>
          <a:xfrm>
            <a:off x="6038591" y="5537062"/>
            <a:ext cx="118164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CAJA</a:t>
            </a:r>
          </a:p>
        </p:txBody>
      </p:sp>
      <p:pic>
        <p:nvPicPr>
          <p:cNvPr id="66" name="Gráfico 65" descr="Dinero">
            <a:extLst>
              <a:ext uri="{FF2B5EF4-FFF2-40B4-BE49-F238E27FC236}">
                <a16:creationId xmlns:a16="http://schemas.microsoft.com/office/drawing/2014/main" id="{F86F2519-7E52-454E-8A56-05F801CA48A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80061" y="4867812"/>
            <a:ext cx="496956" cy="496956"/>
          </a:xfrm>
          <a:prstGeom prst="rect">
            <a:avLst/>
          </a:prstGeom>
        </p:spPr>
      </p:pic>
      <p:pic>
        <p:nvPicPr>
          <p:cNvPr id="67" name="Gráfico 66" descr="Dinero">
            <a:extLst>
              <a:ext uri="{FF2B5EF4-FFF2-40B4-BE49-F238E27FC236}">
                <a16:creationId xmlns:a16="http://schemas.microsoft.com/office/drawing/2014/main" id="{ABFB4975-332D-4E07-A390-2C96872A986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56252" y="4682356"/>
            <a:ext cx="496956" cy="496956"/>
          </a:xfrm>
          <a:prstGeom prst="rect">
            <a:avLst/>
          </a:prstGeom>
        </p:spPr>
      </p:pic>
      <p:pic>
        <p:nvPicPr>
          <p:cNvPr id="68" name="Gráfico 67" descr="Dinero">
            <a:extLst>
              <a:ext uri="{FF2B5EF4-FFF2-40B4-BE49-F238E27FC236}">
                <a16:creationId xmlns:a16="http://schemas.microsoft.com/office/drawing/2014/main" id="{62EBB18D-5C2D-41C2-8947-19A419876CD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76515" y="4595570"/>
            <a:ext cx="496956" cy="496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256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" presetClass="entr" presetSubtype="1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1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250"/>
                            </p:stCondLst>
                            <p:childTnLst>
                              <p:par>
                                <p:cTn id="29" presetID="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45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750"/>
                            </p:stCondLst>
                            <p:childTnLst>
                              <p:par>
                                <p:cTn id="56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500"/>
                            </p:stCondLst>
                            <p:childTnLst>
                              <p:par>
                                <p:cTn id="62" presetID="2" presetClass="entr" presetSubtype="1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1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750"/>
                            </p:stCondLst>
                            <p:childTnLst>
                              <p:par>
                                <p:cTn id="71" presetID="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8250"/>
                            </p:stCondLst>
                            <p:childTnLst>
                              <p:par>
                                <p:cTn id="80" presetID="45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5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5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5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9250"/>
                            </p:stCondLst>
                            <p:childTnLst>
                              <p:par>
                                <p:cTn id="86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0"/>
                            </p:stCondLst>
                            <p:childTnLst>
                              <p:par>
                                <p:cTn id="92" presetID="2" presetClass="entr" presetSubtype="1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1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1250"/>
                            </p:stCondLst>
                            <p:childTnLst>
                              <p:par>
                                <p:cTn id="101" presetID="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2000"/>
                            </p:stCondLst>
                            <p:childTnLst>
                              <p:par>
                                <p:cTn id="110" presetID="2" presetClass="entr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2750"/>
                            </p:stCondLst>
                            <p:childTnLst>
                              <p:par>
                                <p:cTn id="119" presetID="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3500"/>
                            </p:stCondLst>
                            <p:childTnLst>
                              <p:par>
                                <p:cTn id="124" presetID="26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14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448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63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63" tmFilter="0, 0; 0.125,0.2665; 0.25,0.4; 0.375,0.465; 0.5,0.5;  0.625,0.535; 0.75,0.6; 0.875,0.7335; 1,1">
                                          <p:stCondLst>
                                            <p:cond delay="163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2" tmFilter="0, 0; 0.125,0.2665; 0.25,0.4; 0.375,0.465; 0.5,0.5;  0.625,0.535; 0.75,0.6; 0.875,0.7335; 1,1">
                                          <p:stCondLst>
                                            <p:cond delay="32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" tmFilter="0, 0; 0.125,0.2665; 0.25,0.4; 0.375,0.465; 0.5,0.5;  0.625,0.535; 0.75,0.6; 0.875,0.7335; 1,1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2" dur="1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3" dur="1" decel="50000">
                                          <p:stCondLst>
                                            <p:cond delay="16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4" dur="1">
                                          <p:stCondLst>
                                            <p:cond delay="323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5" dur="1" decel="50000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6" dur="1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7" dur="1" decel="50000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8" dur="1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9" dur="1" decel="50000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40" presetID="26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2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67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24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245" tmFilter="0, 0; 0.125,0.2665; 0.25,0.4; 0.375,0.465; 0.5,0.5;  0.625,0.535; 0.75,0.6; 0.875,0.7335; 1,1">
                                          <p:stCondLst>
                                            <p:cond delay="245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2" tmFilter="0, 0; 0.125,0.2665; 0.25,0.4; 0.375,0.465; 0.5,0.5;  0.625,0.535; 0.75,0.6; 0.875,0.7335; 1,1">
                                          <p:stCondLst>
                                            <p:cond delay="48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" tmFilter="0, 0; 0.125,0.2665; 0.25,0.4; 0.375,0.465; 0.5,0.5;  0.625,0.535; 0.75,0.6; 0.875,0.7335; 1,1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8" dur="1">
                                          <p:stCondLst>
                                            <p:cond delay="24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9" dur="1" decel="50000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0" dur="1">
                                          <p:stCondLst>
                                            <p:cond delay="48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1" dur="1" decel="50000">
                                          <p:stCondLst>
                                            <p:cond delay="493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2" dur="1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3" dur="1" decel="50000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4" dur="1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5" dur="1" decel="50000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6" presetID="26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2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67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24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245" tmFilter="0, 0; 0.125,0.2665; 0.25,0.4; 0.375,0.465; 0.5,0.5;  0.625,0.535; 0.75,0.6; 0.875,0.7335; 1,1">
                                          <p:stCondLst>
                                            <p:cond delay="24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2" tmFilter="0, 0; 0.125,0.2665; 0.25,0.4; 0.375,0.465; 0.5,0.5;  0.625,0.535; 0.75,0.6; 0.875,0.7335; 1,1">
                                          <p:stCondLst>
                                            <p:cond delay="48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" tmFilter="0, 0; 0.125,0.2665; 0.25,0.4; 0.375,0.465; 0.5,0.5;  0.625,0.535; 0.75,0.6; 0.875,0.7335; 1,1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4" dur="1">
                                          <p:stCondLst>
                                            <p:cond delay="23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5" dur="1" decel="50000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6" dur="1">
                                          <p:stCondLst>
                                            <p:cond delay="48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7" dur="1" decel="50000">
                                          <p:stCondLst>
                                            <p:cond delay="493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8" dur="1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9" dur="1" decel="50000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0" dur="1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1" dur="1" decel="50000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14500"/>
                            </p:stCondLst>
                            <p:childTnLst>
                              <p:par>
                                <p:cTn id="173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15250"/>
                            </p:stCondLst>
                            <p:childTnLst>
                              <p:par>
                                <p:cTn id="179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16000"/>
                            </p:stCondLst>
                            <p:childTnLst>
                              <p:par>
                                <p:cTn id="185" presetID="2" presetClass="entr" presetSubtype="1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2" presetClass="entr" presetSubtype="1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17250"/>
                            </p:stCondLst>
                            <p:childTnLst>
                              <p:par>
                                <p:cTn id="194" presetID="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8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18000"/>
                            </p:stCondLst>
                            <p:childTnLst>
                              <p:par>
                                <p:cTn id="203" presetID="2" presetClass="entr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18750"/>
                            </p:stCondLst>
                            <p:childTnLst>
                              <p:par>
                                <p:cTn id="212" presetID="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19500"/>
                            </p:stCondLst>
                            <p:childTnLst>
                              <p:par>
                                <p:cTn id="217" presetID="26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9" dur="14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448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163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163" tmFilter="0, 0; 0.125,0.2665; 0.25,0.4; 0.375,0.465; 0.5,0.5;  0.625,0.535; 0.75,0.6; 0.875,0.7335; 1,1">
                                          <p:stCondLst>
                                            <p:cond delay="163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2" tmFilter="0, 0; 0.125,0.2665; 0.25,0.4; 0.375,0.465; 0.5,0.5;  0.625,0.535; 0.75,0.6; 0.875,0.7335; 1,1">
                                          <p:stCondLst>
                                            <p:cond delay="326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1" tmFilter="0, 0; 0.125,0.2665; 0.25,0.4; 0.375,0.465; 0.5,0.5;  0.625,0.535; 0.75,0.6; 0.875,0.7335; 1,1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5" dur="1">
                                          <p:stCondLst>
                                            <p:cond delay="16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6" dur="1" decel="50000">
                                          <p:stCondLst>
                                            <p:cond delay="166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7" dur="1">
                                          <p:stCondLst>
                                            <p:cond delay="323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8" dur="1" decel="50000">
                                          <p:stCondLst>
                                            <p:cond delay="32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9" dur="1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0" dur="1" decel="50000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1" dur="1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2" dur="1" decel="50000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33" presetID="26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5" dur="2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6" dur="67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24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245" tmFilter="0, 0; 0.125,0.2665; 0.25,0.4; 0.375,0.465; 0.5,0.5;  0.625,0.535; 0.75,0.6; 0.875,0.7335; 1,1">
                                          <p:stCondLst>
                                            <p:cond delay="245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2" tmFilter="0, 0; 0.125,0.2665; 0.25,0.4; 0.375,0.465; 0.5,0.5;  0.625,0.535; 0.75,0.6; 0.875,0.7335; 1,1">
                                          <p:stCondLst>
                                            <p:cond delay="488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1" tmFilter="0, 0; 0.125,0.2665; 0.25,0.4; 0.375,0.465; 0.5,0.5;  0.625,0.535; 0.75,0.6; 0.875,0.7335; 1,1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1" dur="1">
                                          <p:stCondLst>
                                            <p:cond delay="24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2" dur="1" decel="50000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3" dur="1">
                                          <p:stCondLst>
                                            <p:cond delay="484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4" dur="1" decel="50000">
                                          <p:stCondLst>
                                            <p:cond delay="493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5" dur="1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6" dur="1" decel="50000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7" dur="1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8" dur="1" decel="50000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9" presetID="26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1" dur="2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2" dur="67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24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245" tmFilter="0, 0; 0.125,0.2665; 0.25,0.4; 0.375,0.465; 0.5,0.5;  0.625,0.535; 0.75,0.6; 0.875,0.7335; 1,1">
                                          <p:stCondLst>
                                            <p:cond delay="245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2" tmFilter="0, 0; 0.125,0.2665; 0.25,0.4; 0.375,0.465; 0.5,0.5;  0.625,0.535; 0.75,0.6; 0.875,0.7335; 1,1">
                                          <p:stCondLst>
                                            <p:cond delay="488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1" tmFilter="0, 0; 0.125,0.2665; 0.25,0.4; 0.375,0.465; 0.5,0.5;  0.625,0.535; 0.75,0.6; 0.875,0.7335; 1,1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7" dur="1">
                                          <p:stCondLst>
                                            <p:cond delay="23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8" dur="1" decel="50000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9" dur="1">
                                          <p:stCondLst>
                                            <p:cond delay="484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0" dur="1" decel="50000">
                                          <p:stCondLst>
                                            <p:cond delay="493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1" dur="1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2" dur="1" decel="50000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3" dur="1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4" dur="1" decel="50000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20500"/>
                            </p:stCondLst>
                            <p:childTnLst>
                              <p:par>
                                <p:cTn id="266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9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21250"/>
                            </p:stCondLst>
                            <p:childTnLst>
                              <p:par>
                                <p:cTn id="272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500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5" dur="500" fill="hold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6" dur="500" fill="hold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4" grpId="0" build="p"/>
      <p:bldP spid="29" grpId="0"/>
      <p:bldP spid="35" grpId="0"/>
      <p:bldP spid="39" grpId="0"/>
      <p:bldP spid="40" grpId="0"/>
      <p:bldP spid="43" grpId="0" animBg="1"/>
      <p:bldP spid="45" grpId="0" build="p"/>
      <p:bldP spid="49" grpId="0"/>
      <p:bldP spid="42" grpId="0"/>
      <p:bldP spid="50" grpId="0"/>
      <p:bldP spid="52" grpId="0"/>
      <p:bldP spid="53" grpId="0"/>
      <p:bldP spid="54" grpId="0"/>
      <p:bldP spid="55" grpId="0" animBg="1"/>
      <p:bldP spid="61" grpId="0" build="p"/>
      <p:bldP spid="6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1 Gráfico">
            <a:extLst>
              <a:ext uri="{FF2B5EF4-FFF2-40B4-BE49-F238E27FC236}">
                <a16:creationId xmlns:a16="http://schemas.microsoft.com/office/drawing/2014/main" id="{F9B885F6-69D5-490B-B5FB-C6B92E0506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8425308"/>
              </p:ext>
            </p:extLst>
          </p:nvPr>
        </p:nvGraphicFramePr>
        <p:xfrm>
          <a:off x="4706283" y="2204498"/>
          <a:ext cx="4417569" cy="37447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1 Gráfico">
            <a:extLst>
              <a:ext uri="{FF2B5EF4-FFF2-40B4-BE49-F238E27FC236}">
                <a16:creationId xmlns:a16="http://schemas.microsoft.com/office/drawing/2014/main" id="{59C76511-399D-4E35-98EC-BFA9BA811E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652520"/>
              </p:ext>
            </p:extLst>
          </p:nvPr>
        </p:nvGraphicFramePr>
        <p:xfrm>
          <a:off x="204500" y="2175100"/>
          <a:ext cx="4233219" cy="37741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ítulo 4">
            <a:extLst>
              <a:ext uri="{FF2B5EF4-FFF2-40B4-BE49-F238E27FC236}">
                <a16:creationId xmlns:a16="http://schemas.microsoft.com/office/drawing/2014/main" id="{52F5CB59-CBEF-410C-A415-15804B9927AF}"/>
              </a:ext>
            </a:extLst>
          </p:cNvPr>
          <p:cNvSpPr txBox="1">
            <a:spLocks/>
          </p:cNvSpPr>
          <p:nvPr/>
        </p:nvSpPr>
        <p:spPr>
          <a:xfrm>
            <a:off x="-15957" y="-4997"/>
            <a:ext cx="7886700" cy="75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4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Frente Externo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C822D1C9-5FA1-4D20-AA18-03E286CEB5A6}"/>
              </a:ext>
            </a:extLst>
          </p:cNvPr>
          <p:cNvSpPr/>
          <p:nvPr/>
        </p:nvSpPr>
        <p:spPr>
          <a:xfrm>
            <a:off x="683568" y="1292412"/>
            <a:ext cx="3597937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BALANZA DE PAGOS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72BCFF6E-680F-4F4D-9947-68A24BE16A0A}"/>
              </a:ext>
            </a:extLst>
          </p:cNvPr>
          <p:cNvSpPr/>
          <p:nvPr/>
        </p:nvSpPr>
        <p:spPr>
          <a:xfrm>
            <a:off x="4981291" y="1287882"/>
            <a:ext cx="3597937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TIPO DE CAMBIO</a:t>
            </a:r>
          </a:p>
        </p:txBody>
      </p:sp>
    </p:spTree>
    <p:extLst>
      <p:ext uri="{BB962C8B-B14F-4D97-AF65-F5344CB8AC3E}">
        <p14:creationId xmlns:p14="http://schemas.microsoft.com/office/powerpoint/2010/main" val="347286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"/>
                                        <p:tgtEl>
                                          <p:spTgt spid="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6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"/>
                                        <p:tgtEl>
                                          <p:spTgt spid="8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7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"/>
                                        <p:tgtEl>
                                          <p:spTgt spid="8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8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"/>
                                        <p:tgtEl>
                                          <p:spTgt spid="8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9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"/>
                                        <p:tgtEl>
                                          <p:spTgt spid="8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"/>
                                        <p:tgtEl>
                                          <p:spTgt spid="8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1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"/>
                                        <p:tgtEl>
                                          <p:spTgt spid="8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200"/>
                            </p:stCondLst>
                            <p:childTnLst>
                              <p:par>
                                <p:cTn id="43" presetID="2" presetClass="entr" presetSubtype="1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45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"/>
                                        <p:tgtEl>
                                          <p:spTgt spid="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47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"/>
                                        <p:tgtEl>
                                          <p:spTgt spid="7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49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"/>
                                        <p:tgtEl>
                                          <p:spTgt spid="7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51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"/>
                                        <p:tgtEl>
                                          <p:spTgt spid="7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53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"/>
                                        <p:tgtEl>
                                          <p:spTgt spid="7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55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"/>
                                        <p:tgtEl>
                                          <p:spTgt spid="7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57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"/>
                                        <p:tgtEl>
                                          <p:spTgt spid="7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59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"/>
                                        <p:tgtEl>
                                          <p:spTgt spid="7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61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"/>
                                        <p:tgtEl>
                                          <p:spTgt spid="7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463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20"/>
                                        <p:tgtEl>
                                          <p:spTgt spid="7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465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0"/>
                                        <p:tgtEl>
                                          <p:spTgt spid="7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467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0"/>
                                        <p:tgtEl>
                                          <p:spTgt spid="7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469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0"/>
                                        <p:tgtEl>
                                          <p:spTgt spid="7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471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0"/>
                                        <p:tgtEl>
                                          <p:spTgt spid="7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473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0"/>
                                        <p:tgtEl>
                                          <p:spTgt spid="7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475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20"/>
                                        <p:tgtEl>
                                          <p:spTgt spid="7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4770"/>
                            </p:stCondLst>
                            <p:childTnLst>
                              <p:par>
                                <p:cTn id="1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20"/>
                                        <p:tgtEl>
                                          <p:spTgt spid="7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4790"/>
                            </p:stCondLst>
                            <p:childTnLst>
                              <p:par>
                                <p:cTn id="1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0"/>
                                        <p:tgtEl>
                                          <p:spTgt spid="7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481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20"/>
                                        <p:tgtEl>
                                          <p:spTgt spid="7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4830"/>
                            </p:stCondLst>
                            <p:childTnLst>
                              <p:par>
                                <p:cTn id="1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20"/>
                                        <p:tgtEl>
                                          <p:spTgt spid="7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4850"/>
                            </p:stCondLst>
                            <p:childTnLst>
                              <p:par>
                                <p:cTn id="1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20"/>
                                        <p:tgtEl>
                                          <p:spTgt spid="7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4870"/>
                            </p:stCondLst>
                            <p:childTnLst>
                              <p:par>
                                <p:cTn id="1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20"/>
                                        <p:tgtEl>
                                          <p:spTgt spid="7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4890"/>
                            </p:stCondLst>
                            <p:childTnLst>
                              <p:par>
                                <p:cTn id="1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20"/>
                                        <p:tgtEl>
                                          <p:spTgt spid="7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4910"/>
                            </p:stCondLst>
                            <p:childTnLst>
                              <p:par>
                                <p:cTn id="1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20"/>
                                        <p:tgtEl>
                                          <p:spTgt spid="7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4930"/>
                            </p:stCondLst>
                            <p:childTnLst>
                              <p:par>
                                <p:cTn id="1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20"/>
                                        <p:tgtEl>
                                          <p:spTgt spid="7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495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2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20"/>
                                        <p:tgtEl>
                                          <p:spTgt spid="7">
                                            <p:graphicEl>
                                              <a:chart seriesIdx="-4" categoryIdx="2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4970"/>
                            </p:stCondLst>
                            <p:childTnLst>
                              <p:par>
                                <p:cTn id="1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2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20"/>
                                        <p:tgtEl>
                                          <p:spTgt spid="7">
                                            <p:graphicEl>
                                              <a:chart seriesIdx="-4" categoryIdx="2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4990"/>
                            </p:stCondLst>
                            <p:childTnLst>
                              <p:par>
                                <p:cTn id="1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2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20"/>
                                        <p:tgtEl>
                                          <p:spTgt spid="7">
                                            <p:graphicEl>
                                              <a:chart seriesIdx="-4" categoryIdx="2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5010"/>
                            </p:stCondLst>
                            <p:childTnLst>
                              <p:par>
                                <p:cTn id="1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2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20"/>
                                        <p:tgtEl>
                                          <p:spTgt spid="7">
                                            <p:graphicEl>
                                              <a:chart seriesIdx="-4" categoryIdx="2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030"/>
                            </p:stCondLst>
                            <p:childTnLst>
                              <p:par>
                                <p:cTn id="1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2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20"/>
                                        <p:tgtEl>
                                          <p:spTgt spid="7">
                                            <p:graphicEl>
                                              <a:chart seriesIdx="-4" categoryIdx="2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5050"/>
                            </p:stCondLst>
                            <p:childTnLst>
                              <p:par>
                                <p:cTn id="1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2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20"/>
                                        <p:tgtEl>
                                          <p:spTgt spid="7">
                                            <p:graphicEl>
                                              <a:chart seriesIdx="-4" categoryIdx="2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5070"/>
                            </p:stCondLst>
                            <p:childTnLst>
                              <p:par>
                                <p:cTn id="1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3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20"/>
                                        <p:tgtEl>
                                          <p:spTgt spid="7">
                                            <p:graphicEl>
                                              <a:chart seriesIdx="-4" categoryIdx="3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5090"/>
                            </p:stCondLst>
                            <p:childTnLst>
                              <p:par>
                                <p:cTn id="1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3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20"/>
                                        <p:tgtEl>
                                          <p:spTgt spid="7">
                                            <p:graphicEl>
                                              <a:chart seriesIdx="-4" categoryIdx="3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5110"/>
                            </p:stCondLst>
                            <p:childTnLst>
                              <p:par>
                                <p:cTn id="1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3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20"/>
                                        <p:tgtEl>
                                          <p:spTgt spid="7">
                                            <p:graphicEl>
                                              <a:chart seriesIdx="-4" categoryIdx="3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5130"/>
                            </p:stCondLst>
                            <p:childTnLst>
                              <p:par>
                                <p:cTn id="1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3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20"/>
                                        <p:tgtEl>
                                          <p:spTgt spid="7">
                                            <p:graphicEl>
                                              <a:chart seriesIdx="-4" categoryIdx="3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5150"/>
                            </p:stCondLst>
                            <p:childTnLst>
                              <p:par>
                                <p:cTn id="1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3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20"/>
                                        <p:tgtEl>
                                          <p:spTgt spid="7">
                                            <p:graphicEl>
                                              <a:chart seriesIdx="-4" categoryIdx="3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5170"/>
                            </p:stCondLst>
                            <p:childTnLst>
                              <p:par>
                                <p:cTn id="1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3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20"/>
                                        <p:tgtEl>
                                          <p:spTgt spid="7">
                                            <p:graphicEl>
                                              <a:chart seriesIdx="-4" categoryIdx="3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5190"/>
                            </p:stCondLst>
                            <p:childTnLst>
                              <p:par>
                                <p:cTn id="1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3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20"/>
                                        <p:tgtEl>
                                          <p:spTgt spid="7">
                                            <p:graphicEl>
                                              <a:chart seriesIdx="-4" categoryIdx="3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5210"/>
                            </p:stCondLst>
                            <p:childTnLst>
                              <p:par>
                                <p:cTn id="2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3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20"/>
                                        <p:tgtEl>
                                          <p:spTgt spid="7">
                                            <p:graphicEl>
                                              <a:chart seriesIdx="-4" categoryIdx="3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230"/>
                            </p:stCondLst>
                            <p:childTnLst>
                              <p:par>
                                <p:cTn id="2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3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20"/>
                                        <p:tgtEl>
                                          <p:spTgt spid="7">
                                            <p:graphicEl>
                                              <a:chart seriesIdx="-4" categoryIdx="3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5250"/>
                            </p:stCondLst>
                            <p:childTnLst>
                              <p:par>
                                <p:cTn id="2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3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20"/>
                                        <p:tgtEl>
                                          <p:spTgt spid="7">
                                            <p:graphicEl>
                                              <a:chart seriesIdx="-4" categoryIdx="3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5270"/>
                            </p:stCondLst>
                            <p:childTnLst>
                              <p:par>
                                <p:cTn id="2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4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20"/>
                                        <p:tgtEl>
                                          <p:spTgt spid="7">
                                            <p:graphicEl>
                                              <a:chart seriesIdx="-4" categoryIdx="4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5290"/>
                            </p:stCondLst>
                            <p:childTnLst>
                              <p:par>
                                <p:cTn id="2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4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20"/>
                                        <p:tgtEl>
                                          <p:spTgt spid="7">
                                            <p:graphicEl>
                                              <a:chart seriesIdx="-4" categoryIdx="4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5310"/>
                            </p:stCondLst>
                            <p:childTnLst>
                              <p:par>
                                <p:cTn id="2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4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20"/>
                                        <p:tgtEl>
                                          <p:spTgt spid="7">
                                            <p:graphicEl>
                                              <a:chart seriesIdx="-4" categoryIdx="4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5330"/>
                            </p:stCondLst>
                            <p:childTnLst>
                              <p:par>
                                <p:cTn id="2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4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20"/>
                                        <p:tgtEl>
                                          <p:spTgt spid="7">
                                            <p:graphicEl>
                                              <a:chart seriesIdx="-4" categoryIdx="4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5350"/>
                            </p:stCondLst>
                            <p:childTnLst>
                              <p:par>
                                <p:cTn id="2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4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20"/>
                                        <p:tgtEl>
                                          <p:spTgt spid="7">
                                            <p:graphicEl>
                                              <a:chart seriesIdx="-4" categoryIdx="4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5370"/>
                            </p:stCondLst>
                            <p:childTnLst>
                              <p:par>
                                <p:cTn id="2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4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20"/>
                                        <p:tgtEl>
                                          <p:spTgt spid="7">
                                            <p:graphicEl>
                                              <a:chart seriesIdx="-4" categoryIdx="4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5390"/>
                            </p:stCondLst>
                            <p:childTnLst>
                              <p:par>
                                <p:cTn id="2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4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20"/>
                                        <p:tgtEl>
                                          <p:spTgt spid="7">
                                            <p:graphicEl>
                                              <a:chart seriesIdx="-4" categoryIdx="4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5410"/>
                            </p:stCondLst>
                            <p:childTnLst>
                              <p:par>
                                <p:cTn id="2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4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20"/>
                                        <p:tgtEl>
                                          <p:spTgt spid="7">
                                            <p:graphicEl>
                                              <a:chart seriesIdx="-4" categoryIdx="4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5430"/>
                            </p:stCondLst>
                            <p:childTnLst>
                              <p:par>
                                <p:cTn id="2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4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20"/>
                                        <p:tgtEl>
                                          <p:spTgt spid="7">
                                            <p:graphicEl>
                                              <a:chart seriesIdx="-4" categoryIdx="4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5450"/>
                            </p:stCondLst>
                            <p:childTnLst>
                              <p:par>
                                <p:cTn id="2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4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20"/>
                                        <p:tgtEl>
                                          <p:spTgt spid="7">
                                            <p:graphicEl>
                                              <a:chart seriesIdx="-4" categoryIdx="4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5470"/>
                            </p:stCondLst>
                            <p:childTnLst>
                              <p:par>
                                <p:cTn id="2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5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20"/>
                                        <p:tgtEl>
                                          <p:spTgt spid="7">
                                            <p:graphicEl>
                                              <a:chart seriesIdx="-4" categoryIdx="5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490"/>
                            </p:stCondLst>
                            <p:childTnLst>
                              <p:par>
                                <p:cTn id="2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5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20"/>
                                        <p:tgtEl>
                                          <p:spTgt spid="7">
                                            <p:graphicEl>
                                              <a:chart seriesIdx="-4" categoryIdx="5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5510"/>
                            </p:stCondLst>
                            <p:childTnLst>
                              <p:par>
                                <p:cTn id="2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5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20"/>
                                        <p:tgtEl>
                                          <p:spTgt spid="7">
                                            <p:graphicEl>
                                              <a:chart seriesIdx="-4" categoryIdx="5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>
                            <p:stCondLst>
                              <p:cond delay="5530"/>
                            </p:stCondLst>
                            <p:childTnLst>
                              <p:par>
                                <p:cTn id="2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5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20"/>
                                        <p:tgtEl>
                                          <p:spTgt spid="7">
                                            <p:graphicEl>
                                              <a:chart seriesIdx="-4" categoryIdx="5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>
                            <p:stCondLst>
                              <p:cond delay="5550"/>
                            </p:stCondLst>
                            <p:childTnLst>
                              <p:par>
                                <p:cTn id="2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5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20"/>
                                        <p:tgtEl>
                                          <p:spTgt spid="7">
                                            <p:graphicEl>
                                              <a:chart seriesIdx="-4" categoryIdx="5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5570"/>
                            </p:stCondLst>
                            <p:childTnLst>
                              <p:par>
                                <p:cTn id="2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5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20"/>
                                        <p:tgtEl>
                                          <p:spTgt spid="7">
                                            <p:graphicEl>
                                              <a:chart seriesIdx="-4" categoryIdx="5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5590"/>
                            </p:stCondLst>
                            <p:childTnLst>
                              <p:par>
                                <p:cTn id="2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5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20"/>
                                        <p:tgtEl>
                                          <p:spTgt spid="7">
                                            <p:graphicEl>
                                              <a:chart seriesIdx="-4" categoryIdx="5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5610"/>
                            </p:stCondLst>
                            <p:childTnLst>
                              <p:par>
                                <p:cTn id="2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5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20"/>
                                        <p:tgtEl>
                                          <p:spTgt spid="7">
                                            <p:graphicEl>
                                              <a:chart seriesIdx="-4" categoryIdx="5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5630"/>
                            </p:stCondLst>
                            <p:childTnLst>
                              <p:par>
                                <p:cTn id="2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5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20"/>
                                        <p:tgtEl>
                                          <p:spTgt spid="7">
                                            <p:graphicEl>
                                              <a:chart seriesIdx="-4" categoryIdx="5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" fill="hold">
                            <p:stCondLst>
                              <p:cond delay="5650"/>
                            </p:stCondLst>
                            <p:childTnLst>
                              <p:par>
                                <p:cTn id="2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5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20"/>
                                        <p:tgtEl>
                                          <p:spTgt spid="7">
                                            <p:graphicEl>
                                              <a:chart seriesIdx="-4" categoryIdx="5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1" fill="hold">
                            <p:stCondLst>
                              <p:cond delay="5670"/>
                            </p:stCondLst>
                            <p:childTnLst>
                              <p:par>
                                <p:cTn id="2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6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20"/>
                                        <p:tgtEl>
                                          <p:spTgt spid="7">
                                            <p:graphicEl>
                                              <a:chart seriesIdx="-4" categoryIdx="6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5690"/>
                            </p:stCondLst>
                            <p:childTnLst>
                              <p:par>
                                <p:cTn id="2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6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20"/>
                                        <p:tgtEl>
                                          <p:spTgt spid="7">
                                            <p:graphicEl>
                                              <a:chart seriesIdx="-4" categoryIdx="6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5710"/>
                            </p:stCondLst>
                            <p:childTnLst>
                              <p:par>
                                <p:cTn id="3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6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20"/>
                                        <p:tgtEl>
                                          <p:spTgt spid="7">
                                            <p:graphicEl>
                                              <a:chart seriesIdx="-4" categoryIdx="6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3" fill="hold">
                            <p:stCondLst>
                              <p:cond delay="5730"/>
                            </p:stCondLst>
                            <p:childTnLst>
                              <p:par>
                                <p:cTn id="3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6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20"/>
                                        <p:tgtEl>
                                          <p:spTgt spid="7">
                                            <p:graphicEl>
                                              <a:chart seriesIdx="-4" categoryIdx="6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750"/>
                            </p:stCondLst>
                            <p:childTnLst>
                              <p:par>
                                <p:cTn id="3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6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20"/>
                                        <p:tgtEl>
                                          <p:spTgt spid="7">
                                            <p:graphicEl>
                                              <a:chart seriesIdx="-4" categoryIdx="6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" fill="hold">
                            <p:stCondLst>
                              <p:cond delay="5770"/>
                            </p:stCondLst>
                            <p:childTnLst>
                              <p:par>
                                <p:cTn id="3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6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20"/>
                                        <p:tgtEl>
                                          <p:spTgt spid="7">
                                            <p:graphicEl>
                                              <a:chart seriesIdx="-4" categoryIdx="6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5790"/>
                            </p:stCondLst>
                            <p:childTnLst>
                              <p:par>
                                <p:cTn id="3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6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20"/>
                                        <p:tgtEl>
                                          <p:spTgt spid="7">
                                            <p:graphicEl>
                                              <a:chart seriesIdx="-4" categoryIdx="6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5810"/>
                            </p:stCondLst>
                            <p:childTnLst>
                              <p:par>
                                <p:cTn id="3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6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20"/>
                                        <p:tgtEl>
                                          <p:spTgt spid="7">
                                            <p:graphicEl>
                                              <a:chart seriesIdx="-4" categoryIdx="6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3" fill="hold">
                            <p:stCondLst>
                              <p:cond delay="5830"/>
                            </p:stCondLst>
                            <p:childTnLst>
                              <p:par>
                                <p:cTn id="3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6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20"/>
                                        <p:tgtEl>
                                          <p:spTgt spid="7">
                                            <p:graphicEl>
                                              <a:chart seriesIdx="-4" categoryIdx="6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7" fill="hold">
                            <p:stCondLst>
                              <p:cond delay="5850"/>
                            </p:stCondLst>
                            <p:childTnLst>
                              <p:par>
                                <p:cTn id="3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6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20"/>
                                        <p:tgtEl>
                                          <p:spTgt spid="7">
                                            <p:graphicEl>
                                              <a:chart seriesIdx="-4" categoryIdx="6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5870"/>
                            </p:stCondLst>
                            <p:childTnLst>
                              <p:par>
                                <p:cTn id="3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7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20"/>
                                        <p:tgtEl>
                                          <p:spTgt spid="7">
                                            <p:graphicEl>
                                              <a:chart seriesIdx="-4" categoryIdx="7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" fill="hold">
                            <p:stCondLst>
                              <p:cond delay="5890"/>
                            </p:stCondLst>
                            <p:childTnLst>
                              <p:par>
                                <p:cTn id="3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4" categoryIdx="7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8" dur="20"/>
                                        <p:tgtEl>
                                          <p:spTgt spid="7">
                                            <p:graphicEl>
                                              <a:chart seriesIdx="-4" categoryIdx="7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Chart bld="category"/>
        </p:bldSub>
      </p:bldGraphic>
      <p:bldGraphic spid="8" grpId="0">
        <p:bldSub>
          <a:bldChart bld="category"/>
        </p:bldSub>
      </p:bldGraphic>
      <p:bldP spid="13" grpId="0"/>
      <p:bldP spid="14" grpId="0" animBg="1"/>
      <p:bldP spid="1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867CD971-FE52-4E04-B62E-AEE281954D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255274"/>
              </p:ext>
            </p:extLst>
          </p:nvPr>
        </p:nvGraphicFramePr>
        <p:xfrm>
          <a:off x="822960" y="3348094"/>
          <a:ext cx="3670299" cy="15267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66763">
                  <a:extLst>
                    <a:ext uri="{9D8B030D-6E8A-4147-A177-3AD203B41FA5}">
                      <a16:colId xmlns:a16="http://schemas.microsoft.com/office/drawing/2014/main" val="2231118976"/>
                    </a:ext>
                  </a:extLst>
                </a:gridCol>
                <a:gridCol w="601662">
                  <a:extLst>
                    <a:ext uri="{9D8B030D-6E8A-4147-A177-3AD203B41FA5}">
                      <a16:colId xmlns:a16="http://schemas.microsoft.com/office/drawing/2014/main" val="374181715"/>
                    </a:ext>
                  </a:extLst>
                </a:gridCol>
                <a:gridCol w="633412">
                  <a:extLst>
                    <a:ext uri="{9D8B030D-6E8A-4147-A177-3AD203B41FA5}">
                      <a16:colId xmlns:a16="http://schemas.microsoft.com/office/drawing/2014/main" val="1951223463"/>
                    </a:ext>
                  </a:extLst>
                </a:gridCol>
                <a:gridCol w="587375">
                  <a:extLst>
                    <a:ext uri="{9D8B030D-6E8A-4147-A177-3AD203B41FA5}">
                      <a16:colId xmlns:a16="http://schemas.microsoft.com/office/drawing/2014/main" val="624836216"/>
                    </a:ext>
                  </a:extLst>
                </a:gridCol>
                <a:gridCol w="633412">
                  <a:extLst>
                    <a:ext uri="{9D8B030D-6E8A-4147-A177-3AD203B41FA5}">
                      <a16:colId xmlns:a16="http://schemas.microsoft.com/office/drawing/2014/main" val="1011255053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1881400173"/>
                    </a:ext>
                  </a:extLst>
                </a:gridCol>
              </a:tblGrid>
              <a:tr h="318864">
                <a:tc rowSpan="2"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s-AR" sz="12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Variación de la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Base Monetaria</a:t>
                      </a:r>
                      <a:endParaRPr lang="es-AR" sz="12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Total</a:t>
                      </a:r>
                      <a:endParaRPr lang="es-AR" sz="12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66238"/>
                  </a:ext>
                </a:extLst>
              </a:tr>
              <a:tr h="154417">
                <a:tc gridSpan="2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∆ M&lt; 0</a:t>
                      </a:r>
                      <a:endParaRPr lang="es-AR" sz="12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∆ M=0</a:t>
                      </a:r>
                      <a:endParaRPr lang="es-AR" sz="12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∆ M&gt; 0</a:t>
                      </a:r>
                      <a:endParaRPr lang="es-AR" sz="12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s-AR" sz="12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4161851"/>
                  </a:ext>
                </a:extLst>
              </a:tr>
              <a:tr h="154417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Variación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Del oro</a:t>
                      </a:r>
                      <a:endParaRPr lang="es-AR" sz="12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∆ R&lt; 0</a:t>
                      </a:r>
                      <a:endParaRPr lang="es-AR" sz="12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9</a:t>
                      </a:r>
                      <a:endParaRPr lang="es-AR" sz="14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0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10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3109866"/>
                  </a:ext>
                </a:extLst>
              </a:tr>
              <a:tr h="154417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∆ R= 0</a:t>
                      </a:r>
                      <a:endParaRPr lang="es-AR" sz="12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0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0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536986"/>
                  </a:ext>
                </a:extLst>
              </a:tr>
              <a:tr h="154417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∆ R&gt; 0</a:t>
                      </a:r>
                      <a:endParaRPr lang="es-AR" sz="12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3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5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4401531"/>
                  </a:ext>
                </a:extLst>
              </a:tr>
              <a:tr h="154417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Total</a:t>
                      </a:r>
                      <a:endParaRPr lang="es-AR" sz="12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13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2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16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288593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27742A66-4027-4E74-B33D-8ADF117E64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386251"/>
              </p:ext>
            </p:extLst>
          </p:nvPr>
        </p:nvGraphicFramePr>
        <p:xfrm>
          <a:off x="822959" y="5001378"/>
          <a:ext cx="3670299" cy="8535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52372">
                  <a:extLst>
                    <a:ext uri="{9D8B030D-6E8A-4147-A177-3AD203B41FA5}">
                      <a16:colId xmlns:a16="http://schemas.microsoft.com/office/drawing/2014/main" val="3237632680"/>
                    </a:ext>
                  </a:extLst>
                </a:gridCol>
                <a:gridCol w="1187259">
                  <a:extLst>
                    <a:ext uri="{9D8B030D-6E8A-4147-A177-3AD203B41FA5}">
                      <a16:colId xmlns:a16="http://schemas.microsoft.com/office/drawing/2014/main" val="2771391282"/>
                    </a:ext>
                  </a:extLst>
                </a:gridCol>
                <a:gridCol w="1230668">
                  <a:extLst>
                    <a:ext uri="{9D8B030D-6E8A-4147-A177-3AD203B41FA5}">
                      <a16:colId xmlns:a16="http://schemas.microsoft.com/office/drawing/2014/main" val="617854806"/>
                    </a:ext>
                  </a:extLst>
                </a:gridCol>
              </a:tblGrid>
              <a:tr h="44450"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∆ M&lt; 0 y ∆ R&lt; 0</a:t>
                      </a:r>
                      <a:endParaRPr lang="es-AR" sz="12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07106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|∆ M|&lt; | ∆R|</a:t>
                      </a:r>
                      <a:endParaRPr lang="es-AR" sz="12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|∆ M|=|∆ R|</a:t>
                      </a:r>
                      <a:endParaRPr lang="es-AR" sz="12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|∆ M|&gt; |∆ R|</a:t>
                      </a:r>
                      <a:endParaRPr lang="es-AR" sz="12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3360545"/>
                  </a:ext>
                </a:extLst>
              </a:tr>
              <a:tr h="44450"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9</a:t>
                      </a:r>
                      <a:endParaRPr lang="es-AR" sz="14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7851231"/>
                  </a:ext>
                </a:extLst>
              </a:tr>
              <a:tr h="444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  8</a:t>
                      </a:r>
                      <a:endParaRPr lang="es-AR" sz="14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0</a:t>
                      </a:r>
                      <a:endParaRPr lang="es-AR" sz="14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</a:t>
                      </a:r>
                      <a:endParaRPr lang="es-AR" sz="14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274500"/>
                  </a:ext>
                </a:extLst>
              </a:tr>
            </a:tbl>
          </a:graphicData>
        </a:graphic>
      </p:graphicFrame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FC151FEB-AE25-4439-AD43-B8A128539C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327345"/>
              </p:ext>
            </p:extLst>
          </p:nvPr>
        </p:nvGraphicFramePr>
        <p:xfrm>
          <a:off x="4829176" y="3348094"/>
          <a:ext cx="3605744" cy="15267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40378">
                  <a:extLst>
                    <a:ext uri="{9D8B030D-6E8A-4147-A177-3AD203B41FA5}">
                      <a16:colId xmlns:a16="http://schemas.microsoft.com/office/drawing/2014/main" val="3958338815"/>
                    </a:ext>
                  </a:extLst>
                </a:gridCol>
                <a:gridCol w="576472">
                  <a:extLst>
                    <a:ext uri="{9D8B030D-6E8A-4147-A177-3AD203B41FA5}">
                      <a16:colId xmlns:a16="http://schemas.microsoft.com/office/drawing/2014/main" val="2547075027"/>
                    </a:ext>
                  </a:extLst>
                </a:gridCol>
                <a:gridCol w="633412">
                  <a:extLst>
                    <a:ext uri="{9D8B030D-6E8A-4147-A177-3AD203B41FA5}">
                      <a16:colId xmlns:a16="http://schemas.microsoft.com/office/drawing/2014/main" val="1340244276"/>
                    </a:ext>
                  </a:extLst>
                </a:gridCol>
                <a:gridCol w="576472">
                  <a:extLst>
                    <a:ext uri="{9D8B030D-6E8A-4147-A177-3AD203B41FA5}">
                      <a16:colId xmlns:a16="http://schemas.microsoft.com/office/drawing/2014/main" val="2349579624"/>
                    </a:ext>
                  </a:extLst>
                </a:gridCol>
                <a:gridCol w="633412">
                  <a:extLst>
                    <a:ext uri="{9D8B030D-6E8A-4147-A177-3AD203B41FA5}">
                      <a16:colId xmlns:a16="http://schemas.microsoft.com/office/drawing/2014/main" val="2318279637"/>
                    </a:ext>
                  </a:extLst>
                </a:gridCol>
                <a:gridCol w="445598">
                  <a:extLst>
                    <a:ext uri="{9D8B030D-6E8A-4147-A177-3AD203B41FA5}">
                      <a16:colId xmlns:a16="http://schemas.microsoft.com/office/drawing/2014/main" val="2423519795"/>
                    </a:ext>
                  </a:extLst>
                </a:gridCol>
              </a:tblGrid>
              <a:tr h="401853">
                <a:tc rowSpan="2"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 lang="es-AR" sz="12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Variación de la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Base Monetaria</a:t>
                      </a:r>
                      <a:endParaRPr lang="es-AR" sz="12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Total</a:t>
                      </a:r>
                      <a:endParaRPr lang="es-AR" sz="12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955672"/>
                  </a:ext>
                </a:extLst>
              </a:tr>
              <a:tr h="194577">
                <a:tc gridSpan="2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∆ M&lt; 0</a:t>
                      </a:r>
                      <a:endParaRPr lang="es-AR" sz="12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∆ M=0</a:t>
                      </a:r>
                      <a:endParaRPr lang="es-AR" sz="12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∆ M&gt; 0</a:t>
                      </a:r>
                      <a:endParaRPr lang="es-AR" sz="12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</a:pPr>
                      <a:endParaRPr lang="es-AR" sz="12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436004"/>
                  </a:ext>
                </a:extLst>
              </a:tr>
              <a:tr h="194577">
                <a:tc row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Variación</a:t>
                      </a:r>
                      <a:br>
                        <a:rPr lang="es-AR" sz="12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</a:br>
                      <a:r>
                        <a:rPr lang="es-AR" sz="12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del Oro</a:t>
                      </a:r>
                      <a:endParaRPr lang="es-AR" sz="12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∆ R&lt; 0</a:t>
                      </a:r>
                      <a:endParaRPr lang="es-AR" sz="12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5</a:t>
                      </a:r>
                      <a:endParaRPr lang="es-AR" sz="14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0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2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7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6068030"/>
                  </a:ext>
                </a:extLst>
              </a:tr>
              <a:tr h="194577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∆ R= 0</a:t>
                      </a:r>
                      <a:endParaRPr lang="es-AR" sz="12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0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0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0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0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00282"/>
                  </a:ext>
                </a:extLst>
              </a:tr>
              <a:tr h="194577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∆ R&gt; 0</a:t>
                      </a:r>
                      <a:endParaRPr lang="es-AR" sz="12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0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0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0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0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018132"/>
                  </a:ext>
                </a:extLst>
              </a:tr>
              <a:tr h="215059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Total</a:t>
                      </a:r>
                      <a:endParaRPr lang="es-AR" sz="12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5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0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2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7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982423"/>
                  </a:ext>
                </a:extLst>
              </a:tr>
            </a:tbl>
          </a:graphicData>
        </a:graphic>
      </p:graphicFrame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C82B82EB-0F30-4815-BFD2-83FBA31D0A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399602"/>
              </p:ext>
            </p:extLst>
          </p:nvPr>
        </p:nvGraphicFramePr>
        <p:xfrm>
          <a:off x="4829176" y="5017482"/>
          <a:ext cx="3605744" cy="8535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50637">
                  <a:extLst>
                    <a:ext uri="{9D8B030D-6E8A-4147-A177-3AD203B41FA5}">
                      <a16:colId xmlns:a16="http://schemas.microsoft.com/office/drawing/2014/main" val="2659835"/>
                    </a:ext>
                  </a:extLst>
                </a:gridCol>
                <a:gridCol w="928716">
                  <a:extLst>
                    <a:ext uri="{9D8B030D-6E8A-4147-A177-3AD203B41FA5}">
                      <a16:colId xmlns:a16="http://schemas.microsoft.com/office/drawing/2014/main" val="4216801376"/>
                    </a:ext>
                  </a:extLst>
                </a:gridCol>
                <a:gridCol w="1326391">
                  <a:extLst>
                    <a:ext uri="{9D8B030D-6E8A-4147-A177-3AD203B41FA5}">
                      <a16:colId xmlns:a16="http://schemas.microsoft.com/office/drawing/2014/main" val="1034793935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∆ M&lt; 0 y ∆ R&lt; 0</a:t>
                      </a:r>
                      <a:endParaRPr lang="es-AR" sz="12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4160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|∆ M|&lt;| ∆R|</a:t>
                      </a:r>
                      <a:endParaRPr lang="es-AR" sz="12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∆ M=∆ R</a:t>
                      </a:r>
                      <a:endParaRPr lang="es-AR" sz="12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|∆ M|&gt;|∆ R|</a:t>
                      </a:r>
                      <a:endParaRPr lang="es-AR" sz="12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5411909"/>
                  </a:ext>
                </a:extLst>
              </a:tr>
              <a:tr h="44450">
                <a:tc gridSpan="3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5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7698686"/>
                  </a:ext>
                </a:extLst>
              </a:tr>
              <a:tr h="444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5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0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0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3596250"/>
                  </a:ext>
                </a:extLst>
              </a:tr>
            </a:tbl>
          </a:graphicData>
        </a:graphic>
      </p:graphicFrame>
      <p:pic>
        <p:nvPicPr>
          <p:cNvPr id="16" name="Gráfico 15" descr="Calendario giratorio">
            <a:extLst>
              <a:ext uri="{FF2B5EF4-FFF2-40B4-BE49-F238E27FC236}">
                <a16:creationId xmlns:a16="http://schemas.microsoft.com/office/drawing/2014/main" id="{494088E7-1ECF-4882-8E59-23289A01AB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1033" y="2812276"/>
            <a:ext cx="1280167" cy="1228479"/>
          </a:xfrm>
          <a:prstGeom prst="rect">
            <a:avLst/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AFAA70CC-A0FC-48ED-A283-05B988565CD2}"/>
              </a:ext>
            </a:extLst>
          </p:cNvPr>
          <p:cNvSpPr/>
          <p:nvPr/>
        </p:nvSpPr>
        <p:spPr>
          <a:xfrm>
            <a:off x="862001" y="3321687"/>
            <a:ext cx="7344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AR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Dic 29</a:t>
            </a:r>
          </a:p>
          <a:p>
            <a:pPr algn="ctr"/>
            <a:r>
              <a:rPr lang="es-AR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Mar 31</a:t>
            </a:r>
          </a:p>
        </p:txBody>
      </p:sp>
      <p:pic>
        <p:nvPicPr>
          <p:cNvPr id="18" name="Gráfico 17" descr="Calendario giratorio">
            <a:extLst>
              <a:ext uri="{FF2B5EF4-FFF2-40B4-BE49-F238E27FC236}">
                <a16:creationId xmlns:a16="http://schemas.microsoft.com/office/drawing/2014/main" id="{8777B618-4231-4324-BBF1-5C24A372E6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8640" y="2825528"/>
            <a:ext cx="1280167" cy="1228479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DFAF1D1F-DAEE-4D5D-A33F-A0EE2EE1807A}"/>
              </a:ext>
            </a:extLst>
          </p:cNvPr>
          <p:cNvSpPr/>
          <p:nvPr/>
        </p:nvSpPr>
        <p:spPr>
          <a:xfrm>
            <a:off x="4859608" y="3334939"/>
            <a:ext cx="7344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AR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Abr 31</a:t>
            </a:r>
          </a:p>
          <a:p>
            <a:pPr algn="ctr"/>
            <a:r>
              <a:rPr lang="es-AR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Oct 31</a:t>
            </a:r>
          </a:p>
        </p:txBody>
      </p:sp>
      <p:sp>
        <p:nvSpPr>
          <p:cNvPr id="23" name="Título 4">
            <a:extLst>
              <a:ext uri="{FF2B5EF4-FFF2-40B4-BE49-F238E27FC236}">
                <a16:creationId xmlns:a16="http://schemas.microsoft.com/office/drawing/2014/main" id="{01969642-878A-4C2D-B7C9-D027B396B765}"/>
              </a:ext>
            </a:extLst>
          </p:cNvPr>
          <p:cNvSpPr txBox="1">
            <a:spLocks/>
          </p:cNvSpPr>
          <p:nvPr/>
        </p:nvSpPr>
        <p:spPr>
          <a:xfrm>
            <a:off x="-15957" y="-4997"/>
            <a:ext cx="7886700" cy="75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4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La Caja Conversión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0EDE59D6-1BE8-47E6-A6D9-73BC85FC0FE0}"/>
              </a:ext>
            </a:extLst>
          </p:cNvPr>
          <p:cNvSpPr/>
          <p:nvPr/>
        </p:nvSpPr>
        <p:spPr>
          <a:xfrm>
            <a:off x="822960" y="1194730"/>
            <a:ext cx="7498080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PREVIO AL CONTROL DE CAMBIOS. Dic 29 - oct 31 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C0AF27B4-53B3-413E-91FE-333A5F80DB32}"/>
              </a:ext>
            </a:extLst>
          </p:cNvPr>
          <p:cNvSpPr/>
          <p:nvPr/>
        </p:nvSpPr>
        <p:spPr>
          <a:xfrm>
            <a:off x="1979712" y="1821067"/>
            <a:ext cx="5184576" cy="482166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  <a:sym typeface="Wingdings" panose="05000000000000000000" pitchFamily="2" charset="2"/>
              </a:rPr>
              <a:t>ANTI-CÍCLICO RESPECTO A LAS RESERVAS</a:t>
            </a:r>
          </a:p>
        </p:txBody>
      </p:sp>
      <p:pic>
        <p:nvPicPr>
          <p:cNvPr id="28" name="Gráfico 27" descr="Mano con dedo índice apuntando a la derecha ">
            <a:extLst>
              <a:ext uri="{FF2B5EF4-FFF2-40B4-BE49-F238E27FC236}">
                <a16:creationId xmlns:a16="http://schemas.microsoft.com/office/drawing/2014/main" id="{4D2729CA-EFF2-4073-8F17-DAC47AEB147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272055">
            <a:off x="1876880" y="3663835"/>
            <a:ext cx="547956" cy="547956"/>
          </a:xfrm>
          <a:prstGeom prst="rect">
            <a:avLst/>
          </a:prstGeom>
        </p:spPr>
      </p:pic>
      <p:pic>
        <p:nvPicPr>
          <p:cNvPr id="29" name="Gráfico 28" descr="Mano con dedo índice apuntando a la derecha ">
            <a:extLst>
              <a:ext uri="{FF2B5EF4-FFF2-40B4-BE49-F238E27FC236}">
                <a16:creationId xmlns:a16="http://schemas.microsoft.com/office/drawing/2014/main" id="{289810A5-B831-426B-8419-B0A9E40A819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272055">
            <a:off x="903497" y="5373777"/>
            <a:ext cx="547956" cy="547956"/>
          </a:xfrm>
          <a:prstGeom prst="rect">
            <a:avLst/>
          </a:prstGeom>
        </p:spPr>
      </p:pic>
      <p:pic>
        <p:nvPicPr>
          <p:cNvPr id="30" name="Gráfico 29" descr="Mano con dedo índice apuntando a la derecha ">
            <a:extLst>
              <a:ext uri="{FF2B5EF4-FFF2-40B4-BE49-F238E27FC236}">
                <a16:creationId xmlns:a16="http://schemas.microsoft.com/office/drawing/2014/main" id="{C62BB017-BFD8-46B8-9061-5E01DB22FF3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272055">
            <a:off x="5793901" y="3677087"/>
            <a:ext cx="547956" cy="547956"/>
          </a:xfrm>
          <a:prstGeom prst="rect">
            <a:avLst/>
          </a:prstGeom>
        </p:spPr>
      </p:pic>
      <p:pic>
        <p:nvPicPr>
          <p:cNvPr id="31" name="Gráfico 30" descr="Mano con dedo índice apuntando a la derecha ">
            <a:extLst>
              <a:ext uri="{FF2B5EF4-FFF2-40B4-BE49-F238E27FC236}">
                <a16:creationId xmlns:a16="http://schemas.microsoft.com/office/drawing/2014/main" id="{F525451D-6303-43A1-8F3C-4944B77B813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272055">
            <a:off x="4909715" y="5389292"/>
            <a:ext cx="547956" cy="547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76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75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" presetID="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250"/>
                            </p:stCondLst>
                            <p:childTnLst>
                              <p:par>
                                <p:cTn id="51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000"/>
                            </p:stCondLst>
                            <p:childTnLst>
                              <p:par>
                                <p:cTn id="57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000"/>
                            </p:stCondLst>
                            <p:childTnLst>
                              <p:par>
                                <p:cTn id="63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750"/>
                            </p:stCondLst>
                            <p:childTnLst>
                              <p:par>
                                <p:cTn id="69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8500"/>
                            </p:stCondLst>
                            <p:childTnLst>
                              <p:par>
                                <p:cTn id="75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250"/>
                            </p:stCondLst>
                            <p:childTnLst>
                              <p:par>
                                <p:cTn id="81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23" grpId="0"/>
      <p:bldP spid="24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A1C9F7D2-8229-4D3C-9ABA-CA93BD1C80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542563"/>
              </p:ext>
            </p:extLst>
          </p:nvPr>
        </p:nvGraphicFramePr>
        <p:xfrm>
          <a:off x="657917" y="3689962"/>
          <a:ext cx="3719180" cy="15267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53592">
                  <a:extLst>
                    <a:ext uri="{9D8B030D-6E8A-4147-A177-3AD203B41FA5}">
                      <a16:colId xmlns:a16="http://schemas.microsoft.com/office/drawing/2014/main" val="2303095545"/>
                    </a:ext>
                  </a:extLst>
                </a:gridCol>
                <a:gridCol w="583324">
                  <a:extLst>
                    <a:ext uri="{9D8B030D-6E8A-4147-A177-3AD203B41FA5}">
                      <a16:colId xmlns:a16="http://schemas.microsoft.com/office/drawing/2014/main" val="3311369781"/>
                    </a:ext>
                  </a:extLst>
                </a:gridCol>
                <a:gridCol w="633412">
                  <a:extLst>
                    <a:ext uri="{9D8B030D-6E8A-4147-A177-3AD203B41FA5}">
                      <a16:colId xmlns:a16="http://schemas.microsoft.com/office/drawing/2014/main" val="3427187705"/>
                    </a:ext>
                  </a:extLst>
                </a:gridCol>
                <a:gridCol w="633412">
                  <a:extLst>
                    <a:ext uri="{9D8B030D-6E8A-4147-A177-3AD203B41FA5}">
                      <a16:colId xmlns:a16="http://schemas.microsoft.com/office/drawing/2014/main" val="281095128"/>
                    </a:ext>
                  </a:extLst>
                </a:gridCol>
                <a:gridCol w="633412">
                  <a:extLst>
                    <a:ext uri="{9D8B030D-6E8A-4147-A177-3AD203B41FA5}">
                      <a16:colId xmlns:a16="http://schemas.microsoft.com/office/drawing/2014/main" val="1289445150"/>
                    </a:ext>
                  </a:extLst>
                </a:gridCol>
                <a:gridCol w="482028">
                  <a:extLst>
                    <a:ext uri="{9D8B030D-6E8A-4147-A177-3AD203B41FA5}">
                      <a16:colId xmlns:a16="http://schemas.microsoft.com/office/drawing/2014/main" val="3186201490"/>
                    </a:ext>
                  </a:extLst>
                </a:gridCol>
              </a:tblGrid>
              <a:tr h="190500">
                <a:tc rowSpan="2"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 </a:t>
                      </a:r>
                      <a:endParaRPr lang="es-AR" sz="12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Variaciones de la </a:t>
                      </a:r>
                      <a:endParaRPr lang="es-AR" sz="12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Base Monetaria</a:t>
                      </a:r>
                      <a:endParaRPr lang="es-AR" sz="12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272964"/>
                  </a:ext>
                </a:extLst>
              </a:tr>
              <a:tr h="190500">
                <a:tc gridSpan="2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∆</a:t>
                      </a:r>
                      <a:r>
                        <a:rPr lang="es-ES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M &lt; 0</a:t>
                      </a:r>
                      <a:endParaRPr lang="es-AR" sz="12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∆</a:t>
                      </a:r>
                      <a:r>
                        <a:rPr lang="es-ES" sz="12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M = 0</a:t>
                      </a:r>
                      <a:endParaRPr lang="es-AR" sz="12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∆</a:t>
                      </a:r>
                      <a:r>
                        <a:rPr lang="es-ES" sz="12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M &gt; 0</a:t>
                      </a:r>
                      <a:endParaRPr lang="es-AR" sz="12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 Total</a:t>
                      </a:r>
                      <a:endParaRPr lang="es-AR" sz="12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5078894"/>
                  </a:ext>
                </a:extLst>
              </a:tr>
              <a:tr h="190500">
                <a:tc row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Variación de Activos</a:t>
                      </a:r>
                      <a:br>
                        <a:rPr lang="es-ES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</a:br>
                      <a:r>
                        <a:rPr lang="es-ES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internos</a:t>
                      </a:r>
                      <a:endParaRPr lang="es-AR" sz="12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∆</a:t>
                      </a:r>
                      <a:r>
                        <a:rPr lang="es-ES" sz="12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A &lt; 0</a:t>
                      </a:r>
                      <a:endParaRPr lang="es-AR" sz="12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10</a:t>
                      </a:r>
                      <a:endParaRPr lang="es-AR" sz="14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0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0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10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231253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∆</a:t>
                      </a:r>
                      <a:r>
                        <a:rPr lang="es-ES" sz="12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A = 0</a:t>
                      </a:r>
                      <a:endParaRPr lang="es-AR" sz="12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0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4</a:t>
                      </a:r>
                      <a:endParaRPr lang="es-AR" sz="14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0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4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568603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∆</a:t>
                      </a:r>
                      <a:r>
                        <a:rPr lang="es-ES" sz="12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A &gt; 0</a:t>
                      </a:r>
                      <a:endParaRPr lang="es-AR" sz="12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0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0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6</a:t>
                      </a:r>
                      <a:endParaRPr lang="es-AR" sz="14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6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719972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 Total</a:t>
                      </a:r>
                      <a:endParaRPr lang="es-AR" sz="12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10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4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6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20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0950826"/>
                  </a:ext>
                </a:extLst>
              </a:tr>
            </a:tbl>
          </a:graphicData>
        </a:graphic>
      </p:graphicFrame>
      <p:pic>
        <p:nvPicPr>
          <p:cNvPr id="16" name="Gráfico 15" descr="Calendario giratorio">
            <a:extLst>
              <a:ext uri="{FF2B5EF4-FFF2-40B4-BE49-F238E27FC236}">
                <a16:creationId xmlns:a16="http://schemas.microsoft.com/office/drawing/2014/main" id="{C065123C-EC67-4074-9FFC-A9308BDB79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990" y="3150451"/>
            <a:ext cx="1280167" cy="1228479"/>
          </a:xfrm>
          <a:prstGeom prst="rect">
            <a:avLst/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C76C65E8-E0CC-4AEE-8C12-D5C0FFF3DC70}"/>
              </a:ext>
            </a:extLst>
          </p:cNvPr>
          <p:cNvSpPr/>
          <p:nvPr/>
        </p:nvSpPr>
        <p:spPr>
          <a:xfrm>
            <a:off x="696958" y="3659862"/>
            <a:ext cx="73449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AR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Mar 32</a:t>
            </a:r>
          </a:p>
          <a:p>
            <a:pPr algn="ctr"/>
            <a:r>
              <a:rPr lang="es-AR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Oct 33</a:t>
            </a:r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DDDB8AD3-11D5-4D57-B4B5-F37E4934C9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761270"/>
              </p:ext>
            </p:extLst>
          </p:nvPr>
        </p:nvGraphicFramePr>
        <p:xfrm>
          <a:off x="4688091" y="3689962"/>
          <a:ext cx="3747565" cy="15267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55701">
                  <a:extLst>
                    <a:ext uri="{9D8B030D-6E8A-4147-A177-3AD203B41FA5}">
                      <a16:colId xmlns:a16="http://schemas.microsoft.com/office/drawing/2014/main" val="328931726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186593686"/>
                    </a:ext>
                  </a:extLst>
                </a:gridCol>
                <a:gridCol w="633412">
                  <a:extLst>
                    <a:ext uri="{9D8B030D-6E8A-4147-A177-3AD203B41FA5}">
                      <a16:colId xmlns:a16="http://schemas.microsoft.com/office/drawing/2014/main" val="1602875591"/>
                    </a:ext>
                  </a:extLst>
                </a:gridCol>
                <a:gridCol w="633412">
                  <a:extLst>
                    <a:ext uri="{9D8B030D-6E8A-4147-A177-3AD203B41FA5}">
                      <a16:colId xmlns:a16="http://schemas.microsoft.com/office/drawing/2014/main" val="415304763"/>
                    </a:ext>
                  </a:extLst>
                </a:gridCol>
                <a:gridCol w="633412">
                  <a:extLst>
                    <a:ext uri="{9D8B030D-6E8A-4147-A177-3AD203B41FA5}">
                      <a16:colId xmlns:a16="http://schemas.microsoft.com/office/drawing/2014/main" val="428585677"/>
                    </a:ext>
                  </a:extLst>
                </a:gridCol>
                <a:gridCol w="482028">
                  <a:extLst>
                    <a:ext uri="{9D8B030D-6E8A-4147-A177-3AD203B41FA5}">
                      <a16:colId xmlns:a16="http://schemas.microsoft.com/office/drawing/2014/main" val="4231758605"/>
                    </a:ext>
                  </a:extLst>
                </a:gridCol>
              </a:tblGrid>
              <a:tr h="190500">
                <a:tc rowSpan="2"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 </a:t>
                      </a:r>
                      <a:endParaRPr lang="es-AR" sz="12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Variaciones de la </a:t>
                      </a:r>
                      <a:endParaRPr lang="es-AR" sz="12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Base Monetaria</a:t>
                      </a:r>
                      <a:endParaRPr lang="es-AR" sz="12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6404376"/>
                  </a:ext>
                </a:extLst>
              </a:tr>
              <a:tr h="190500">
                <a:tc gridSpan="2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∆</a:t>
                      </a:r>
                      <a:r>
                        <a:rPr lang="es-ES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M &lt; 0</a:t>
                      </a:r>
                      <a:endParaRPr lang="es-AR" sz="12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∆</a:t>
                      </a:r>
                      <a:r>
                        <a:rPr lang="es-ES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M = 0</a:t>
                      </a:r>
                      <a:endParaRPr lang="es-AR" sz="12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∆</a:t>
                      </a:r>
                      <a:r>
                        <a:rPr lang="es-ES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M &gt; 0</a:t>
                      </a:r>
                      <a:endParaRPr lang="es-AR" sz="12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 Total</a:t>
                      </a:r>
                      <a:endParaRPr lang="es-AR" sz="12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298083"/>
                  </a:ext>
                </a:extLst>
              </a:tr>
              <a:tr h="190500">
                <a:tc row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Variación de Activos</a:t>
                      </a:r>
                      <a:br>
                        <a:rPr lang="es-ES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</a:br>
                      <a:r>
                        <a:rPr lang="es-ES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internos</a:t>
                      </a:r>
                      <a:endParaRPr lang="es-AR" sz="12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∆</a:t>
                      </a:r>
                      <a:r>
                        <a:rPr lang="es-ES" sz="12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A &lt; 0</a:t>
                      </a:r>
                      <a:endParaRPr lang="es-AR" sz="12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9</a:t>
                      </a:r>
                      <a:endParaRPr lang="es-AR" sz="14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0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0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9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4994346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∆</a:t>
                      </a:r>
                      <a:r>
                        <a:rPr lang="es-ES" sz="12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A = 0</a:t>
                      </a:r>
                      <a:endParaRPr lang="es-AR" sz="12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0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0</a:t>
                      </a:r>
                      <a:endParaRPr lang="es-AR" sz="14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0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0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8146604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∆</a:t>
                      </a:r>
                      <a:r>
                        <a:rPr lang="es-ES" sz="12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A &gt; 0</a:t>
                      </a:r>
                      <a:endParaRPr lang="es-AR" sz="12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0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4</a:t>
                      </a:r>
                      <a:endParaRPr lang="es-AR" sz="14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5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978922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 Total</a:t>
                      </a:r>
                      <a:endParaRPr lang="es-AR" sz="12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10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0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4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0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803287"/>
                  </a:ext>
                </a:extLst>
              </a:tr>
            </a:tbl>
          </a:graphicData>
        </a:graphic>
      </p:graphicFrame>
      <p:pic>
        <p:nvPicPr>
          <p:cNvPr id="18" name="Gráfico 17" descr="Calendario giratorio">
            <a:extLst>
              <a:ext uri="{FF2B5EF4-FFF2-40B4-BE49-F238E27FC236}">
                <a16:creationId xmlns:a16="http://schemas.microsoft.com/office/drawing/2014/main" id="{AE2E40F7-0918-4D93-AF07-EFEA21E403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3597" y="3163703"/>
            <a:ext cx="1280167" cy="1228479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769ABD0A-1C92-4EC0-9EB1-8A900FD57EE1}"/>
              </a:ext>
            </a:extLst>
          </p:cNvPr>
          <p:cNvSpPr/>
          <p:nvPr/>
        </p:nvSpPr>
        <p:spPr>
          <a:xfrm>
            <a:off x="4688954" y="3673114"/>
            <a:ext cx="7457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AR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Nov 33</a:t>
            </a:r>
          </a:p>
          <a:p>
            <a:pPr algn="ctr"/>
            <a:r>
              <a:rPr lang="es-AR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Dic 34</a:t>
            </a:r>
          </a:p>
        </p:txBody>
      </p:sp>
      <p:sp>
        <p:nvSpPr>
          <p:cNvPr id="15" name="Título 4">
            <a:extLst>
              <a:ext uri="{FF2B5EF4-FFF2-40B4-BE49-F238E27FC236}">
                <a16:creationId xmlns:a16="http://schemas.microsoft.com/office/drawing/2014/main" id="{08594F97-7C07-4F0A-A53A-28F6870DFBAD}"/>
              </a:ext>
            </a:extLst>
          </p:cNvPr>
          <p:cNvSpPr txBox="1">
            <a:spLocks/>
          </p:cNvSpPr>
          <p:nvPr/>
        </p:nvSpPr>
        <p:spPr>
          <a:xfrm>
            <a:off x="-15957" y="-4997"/>
            <a:ext cx="7886700" cy="75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4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La Caja Conversión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353934A9-E308-4FBE-BB97-25A5CA050DDC}"/>
              </a:ext>
            </a:extLst>
          </p:cNvPr>
          <p:cNvSpPr/>
          <p:nvPr/>
        </p:nvSpPr>
        <p:spPr>
          <a:xfrm>
            <a:off x="822960" y="1194730"/>
            <a:ext cx="7498080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BAJO EL CONTROL DE CAMBIOS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BDD1A947-3A1B-4C3C-9D5B-EFCBBCF0FB32}"/>
              </a:ext>
            </a:extLst>
          </p:cNvPr>
          <p:cNvSpPr/>
          <p:nvPr/>
        </p:nvSpPr>
        <p:spPr>
          <a:xfrm>
            <a:off x="1979712" y="1997166"/>
            <a:ext cx="5184576" cy="482166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  <a:sym typeface="Wingdings" panose="05000000000000000000" pitchFamily="2" charset="2"/>
              </a:rPr>
              <a:t>RESPONDE A LOS ACTIVOS INTERNOS (Redescuentos, Adelantos al Gobierno)</a:t>
            </a:r>
          </a:p>
        </p:txBody>
      </p:sp>
      <p:pic>
        <p:nvPicPr>
          <p:cNvPr id="22" name="Gráfico 21" descr="Mano con dedo índice apuntando a la derecha ">
            <a:extLst>
              <a:ext uri="{FF2B5EF4-FFF2-40B4-BE49-F238E27FC236}">
                <a16:creationId xmlns:a16="http://schemas.microsoft.com/office/drawing/2014/main" id="{6134906F-1F44-4348-B6D6-E4A7F7C0222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272055">
            <a:off x="1597676" y="3966920"/>
            <a:ext cx="547956" cy="547956"/>
          </a:xfrm>
          <a:prstGeom prst="rect">
            <a:avLst/>
          </a:prstGeom>
        </p:spPr>
      </p:pic>
      <p:pic>
        <p:nvPicPr>
          <p:cNvPr id="23" name="Gráfico 22" descr="Mano con dedo índice apuntando a la derecha ">
            <a:extLst>
              <a:ext uri="{FF2B5EF4-FFF2-40B4-BE49-F238E27FC236}">
                <a16:creationId xmlns:a16="http://schemas.microsoft.com/office/drawing/2014/main" id="{036AFDEC-0A9F-4780-A49B-4F957EABE8E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272055">
            <a:off x="5660650" y="3962976"/>
            <a:ext cx="547956" cy="547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300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750"/>
                            </p:stCondLst>
                            <p:childTnLst>
                              <p:par>
                                <p:cTn id="30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250"/>
                            </p:stCondLst>
                            <p:childTnLst>
                              <p:par>
                                <p:cTn id="45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0"/>
                            </p:stCondLst>
                            <p:childTnLst>
                              <p:par>
                                <p:cTn id="51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750"/>
                            </p:stCondLst>
                            <p:childTnLst>
                              <p:par>
                                <p:cTn id="57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15" grpId="0"/>
      <p:bldP spid="20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Marcador de texto 8">
            <a:extLst>
              <a:ext uri="{FF2B5EF4-FFF2-40B4-BE49-F238E27FC236}">
                <a16:creationId xmlns:a16="http://schemas.microsoft.com/office/drawing/2014/main" id="{821541FC-0905-486A-B47A-935E8F467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1520" y="1524001"/>
            <a:ext cx="4025860" cy="762471"/>
          </a:xfrm>
          <a:prstGeom prst="roundRect">
            <a:avLst>
              <a:gd name="adj" fmla="val 34358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20000"/>
          </a:bodyPr>
          <a:lstStyle/>
          <a:p>
            <a:pPr algn="ctr" defTabSz="914400"/>
            <a:r>
              <a:rPr lang="es-AR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CORRIDA BANCARIA</a:t>
            </a:r>
          </a:p>
          <a:p>
            <a:pPr algn="ctr" defTabSz="914400"/>
            <a:r>
              <a:rPr lang="es-AR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(variación de los depósitos)</a:t>
            </a:r>
          </a:p>
        </p:txBody>
      </p:sp>
      <p:graphicFrame>
        <p:nvGraphicFramePr>
          <p:cNvPr id="10" name="Marcador de contenido 12">
            <a:extLst>
              <a:ext uri="{FF2B5EF4-FFF2-40B4-BE49-F238E27FC236}">
                <a16:creationId xmlns:a16="http://schemas.microsoft.com/office/drawing/2014/main" id="{F9491057-4A63-4D58-A637-031E116381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7896003"/>
              </p:ext>
            </p:extLst>
          </p:nvPr>
        </p:nvGraphicFramePr>
        <p:xfrm>
          <a:off x="5062773" y="5265200"/>
          <a:ext cx="3510829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8980">
                  <a:extLst>
                    <a:ext uri="{9D8B030D-6E8A-4147-A177-3AD203B41FA5}">
                      <a16:colId xmlns:a16="http://schemas.microsoft.com/office/drawing/2014/main" val="3181701745"/>
                    </a:ext>
                  </a:extLst>
                </a:gridCol>
                <a:gridCol w="1474124">
                  <a:extLst>
                    <a:ext uri="{9D8B030D-6E8A-4147-A177-3AD203B41FA5}">
                      <a16:colId xmlns:a16="http://schemas.microsoft.com/office/drawing/2014/main" val="136087557"/>
                    </a:ext>
                  </a:extLst>
                </a:gridCol>
                <a:gridCol w="1307725">
                  <a:extLst>
                    <a:ext uri="{9D8B030D-6E8A-4147-A177-3AD203B41FA5}">
                      <a16:colId xmlns:a16="http://schemas.microsoft.com/office/drawing/2014/main" val="915755596"/>
                    </a:ext>
                  </a:extLst>
                </a:gridCol>
              </a:tblGrid>
              <a:tr h="192021">
                <a:tc gridSpan="3"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Tasa de crecimiento promedio anual</a:t>
                      </a:r>
                    </a:p>
                  </a:txBody>
                  <a:tcPr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>
                    <a:lnL w="19050" cap="flat" cmpd="sng" algn="ctr">
                      <a:solidFill>
                        <a:srgbClr val="4B4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642747716"/>
                  </a:ext>
                </a:extLst>
              </a:tr>
              <a:tr h="192021">
                <a:tc>
                  <a:txBody>
                    <a:bodyPr/>
                    <a:lstStyle/>
                    <a:p>
                      <a:pPr algn="r"/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BNA</a:t>
                      </a:r>
                    </a:p>
                  </a:txBody>
                  <a:tcPr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29-32: -11%</a:t>
                      </a:r>
                    </a:p>
                  </a:txBody>
                  <a:tcPr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32-34: 7%</a:t>
                      </a:r>
                    </a:p>
                  </a:txBody>
                  <a:tcPr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429703"/>
                  </a:ext>
                </a:extLst>
              </a:tr>
              <a:tr h="192021">
                <a:tc>
                  <a:txBody>
                    <a:bodyPr/>
                    <a:lstStyle/>
                    <a:p>
                      <a:pPr algn="r"/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Resto</a:t>
                      </a:r>
                    </a:p>
                  </a:txBody>
                  <a:tcPr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29-32: -7%</a:t>
                      </a:r>
                    </a:p>
                  </a:txBody>
                  <a:tcPr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32-34: 7%</a:t>
                      </a:r>
                    </a:p>
                  </a:txBody>
                  <a:tcPr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9471135"/>
                  </a:ext>
                </a:extLst>
              </a:tr>
            </a:tbl>
          </a:graphicData>
        </a:graphic>
      </p:graphicFrame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34D7B85A-0E7F-4A60-8444-1ABB63E808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9405909"/>
              </p:ext>
            </p:extLst>
          </p:nvPr>
        </p:nvGraphicFramePr>
        <p:xfrm>
          <a:off x="4575042" y="1678312"/>
          <a:ext cx="4274443" cy="33136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069AE5F7-A387-4C33-B147-CF0BA26F9A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504508"/>
              </p:ext>
            </p:extLst>
          </p:nvPr>
        </p:nvGraphicFramePr>
        <p:xfrm>
          <a:off x="298430" y="2495342"/>
          <a:ext cx="4002405" cy="37239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0822">
                  <a:extLst>
                    <a:ext uri="{9D8B030D-6E8A-4147-A177-3AD203B41FA5}">
                      <a16:colId xmlns:a16="http://schemas.microsoft.com/office/drawing/2014/main" val="724669465"/>
                    </a:ext>
                  </a:extLst>
                </a:gridCol>
                <a:gridCol w="783535">
                  <a:extLst>
                    <a:ext uri="{9D8B030D-6E8A-4147-A177-3AD203B41FA5}">
                      <a16:colId xmlns:a16="http://schemas.microsoft.com/office/drawing/2014/main" val="3969322412"/>
                    </a:ext>
                  </a:extLst>
                </a:gridCol>
                <a:gridCol w="797822">
                  <a:extLst>
                    <a:ext uri="{9D8B030D-6E8A-4147-A177-3AD203B41FA5}">
                      <a16:colId xmlns:a16="http://schemas.microsoft.com/office/drawing/2014/main" val="4201052278"/>
                    </a:ext>
                  </a:extLst>
                </a:gridCol>
                <a:gridCol w="783535">
                  <a:extLst>
                    <a:ext uri="{9D8B030D-6E8A-4147-A177-3AD203B41FA5}">
                      <a16:colId xmlns:a16="http://schemas.microsoft.com/office/drawing/2014/main" val="1702156545"/>
                    </a:ext>
                  </a:extLst>
                </a:gridCol>
                <a:gridCol w="966691">
                  <a:extLst>
                    <a:ext uri="{9D8B030D-6E8A-4147-A177-3AD203B41FA5}">
                      <a16:colId xmlns:a16="http://schemas.microsoft.com/office/drawing/2014/main" val="275176287"/>
                    </a:ext>
                  </a:extLst>
                </a:gridCol>
              </a:tblGrid>
              <a:tr h="95352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 </a:t>
                      </a:r>
                      <a:endParaRPr lang="es-AR" sz="16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786" marR="33786" marT="0" marB="0" anchor="b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Banco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Nación</a:t>
                      </a:r>
                      <a:endParaRPr lang="es-AR" sz="16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786" marR="33786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Bancos </a:t>
                      </a:r>
                      <a:br>
                        <a:rPr lang="es-ES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</a:br>
                      <a:r>
                        <a:rPr lang="es-ES" sz="16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Nac</a:t>
                      </a:r>
                      <a:r>
                        <a:rPr lang="es-ES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.</a:t>
                      </a:r>
                      <a:endParaRPr lang="es-AR" sz="16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786" marR="33786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Bancos</a:t>
                      </a:r>
                      <a:endParaRPr lang="es-AR" sz="16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Ext.</a:t>
                      </a:r>
                      <a:endParaRPr lang="es-AR" sz="16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786" marR="33786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Total de </a:t>
                      </a:r>
                      <a:br>
                        <a:rPr lang="es-ES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</a:br>
                      <a:r>
                        <a:rPr lang="es-ES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Bancos</a:t>
                      </a:r>
                      <a:endParaRPr lang="es-AR" sz="16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786" marR="33786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7154410"/>
                  </a:ext>
                </a:extLst>
              </a:tr>
              <a:tr h="46172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1929 </a:t>
                      </a:r>
                      <a:endParaRPr lang="es-AR" sz="16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786" marR="33786" marT="0" marB="0" anchor="b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-4,9%</a:t>
                      </a:r>
                      <a:endParaRPr lang="es-AR" sz="16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786" marR="33786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-1,4%</a:t>
                      </a:r>
                      <a:endParaRPr lang="es-AR" sz="16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786" marR="33786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4,1%</a:t>
                      </a:r>
                      <a:endParaRPr lang="es-AR" sz="16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786" marR="33786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-1,9%</a:t>
                      </a:r>
                      <a:endParaRPr lang="es-AR" sz="16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786" marR="33786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4565037"/>
                  </a:ext>
                </a:extLst>
              </a:tr>
              <a:tr h="46172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1930 </a:t>
                      </a:r>
                      <a:endParaRPr lang="es-AR" sz="16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786" marR="33786" marT="0" marB="0" anchor="b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-1,7%</a:t>
                      </a:r>
                      <a:endParaRPr lang="es-AR" sz="16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786" marR="33786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-0,9%</a:t>
                      </a:r>
                      <a:endParaRPr lang="es-AR" sz="16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786" marR="33786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12,8%</a:t>
                      </a:r>
                      <a:endParaRPr lang="es-AR" sz="16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786" marR="33786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1,5%</a:t>
                      </a:r>
                      <a:endParaRPr lang="es-AR" sz="16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786" marR="33786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1521257"/>
                  </a:ext>
                </a:extLst>
              </a:tr>
              <a:tr h="46172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1931 </a:t>
                      </a:r>
                      <a:endParaRPr lang="es-AR" sz="16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786" marR="33786" marT="0" marB="0" anchor="b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-10,2%</a:t>
                      </a:r>
                      <a:endParaRPr lang="es-AR" sz="16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786" marR="33786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-10,0%</a:t>
                      </a:r>
                      <a:endParaRPr lang="es-AR" sz="16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786" marR="33786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-7,5%</a:t>
                      </a:r>
                      <a:endParaRPr lang="es-AR" sz="16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786" marR="33786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-9,5%</a:t>
                      </a:r>
                      <a:endParaRPr lang="es-AR" sz="16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786" marR="33786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6783382"/>
                  </a:ext>
                </a:extLst>
              </a:tr>
              <a:tr h="46172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1932 </a:t>
                      </a:r>
                      <a:endParaRPr lang="es-AR" sz="16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786" marR="33786" marT="0" marB="0" anchor="b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3,4%</a:t>
                      </a:r>
                      <a:endParaRPr lang="es-AR" sz="16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786" marR="33786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-5,2%</a:t>
                      </a:r>
                      <a:endParaRPr lang="es-AR" sz="16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786" marR="33786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0,2%</a:t>
                      </a:r>
                      <a:endParaRPr lang="es-AR" sz="16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786" marR="33786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-0,4%</a:t>
                      </a:r>
                      <a:endParaRPr lang="es-AR" sz="16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786" marR="33786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825682"/>
                  </a:ext>
                </a:extLst>
              </a:tr>
              <a:tr h="46172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1933 </a:t>
                      </a:r>
                      <a:endParaRPr lang="es-AR" sz="16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786" marR="33786" marT="0" marB="0" anchor="b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5,1%</a:t>
                      </a:r>
                      <a:endParaRPr lang="es-AR" sz="16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786" marR="33786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-1,7%</a:t>
                      </a:r>
                      <a:endParaRPr lang="es-AR" sz="16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786" marR="33786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-8,5%</a:t>
                      </a:r>
                      <a:endParaRPr lang="es-AR" sz="16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786" marR="33786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-0,4%</a:t>
                      </a:r>
                      <a:endParaRPr lang="es-AR" sz="16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786" marR="33786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4149301"/>
                  </a:ext>
                </a:extLst>
              </a:tr>
              <a:tr h="46172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1934 </a:t>
                      </a:r>
                      <a:endParaRPr lang="es-AR" sz="1600" b="1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786" marR="33786" marT="0" marB="0" anchor="b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-2,2%</a:t>
                      </a:r>
                      <a:endParaRPr lang="es-AR" sz="16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786" marR="33786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2,2%</a:t>
                      </a:r>
                      <a:endParaRPr lang="es-AR" sz="16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786" marR="33786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-10,1%</a:t>
                      </a:r>
                      <a:endParaRPr lang="es-AR" sz="16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786" marR="33786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-2,4%</a:t>
                      </a:r>
                      <a:endParaRPr lang="es-AR" sz="16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3786" marR="33786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5996824"/>
                  </a:ext>
                </a:extLst>
              </a:tr>
            </a:tbl>
          </a:graphicData>
        </a:graphic>
      </p:graphicFrame>
      <p:sp>
        <p:nvSpPr>
          <p:cNvPr id="8" name="Título 4">
            <a:extLst>
              <a:ext uri="{FF2B5EF4-FFF2-40B4-BE49-F238E27FC236}">
                <a16:creationId xmlns:a16="http://schemas.microsoft.com/office/drawing/2014/main" id="{F528C0DB-D6DC-4B23-BC76-22C3463C220E}"/>
              </a:ext>
            </a:extLst>
          </p:cNvPr>
          <p:cNvSpPr txBox="1">
            <a:spLocks/>
          </p:cNvSpPr>
          <p:nvPr/>
        </p:nvSpPr>
        <p:spPr>
          <a:xfrm>
            <a:off x="-15957" y="-4997"/>
            <a:ext cx="7886700" cy="75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4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El Sistema Bancario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7B5034B4-D91F-4441-BEBA-383AA1AD11E5}"/>
              </a:ext>
            </a:extLst>
          </p:cNvPr>
          <p:cNvSpPr/>
          <p:nvPr/>
        </p:nvSpPr>
        <p:spPr>
          <a:xfrm>
            <a:off x="5018267" y="1041835"/>
            <a:ext cx="3597937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DEPÓSITOS REALES</a:t>
            </a:r>
          </a:p>
        </p:txBody>
      </p:sp>
      <p:pic>
        <p:nvPicPr>
          <p:cNvPr id="17" name="Gráfico 16" descr="Correr">
            <a:extLst>
              <a:ext uri="{FF2B5EF4-FFF2-40B4-BE49-F238E27FC236}">
                <a16:creationId xmlns:a16="http://schemas.microsoft.com/office/drawing/2014/main" id="{8DB32353-F887-4A9E-84FC-4A03B15E5FE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1251" y="4248917"/>
            <a:ext cx="347266" cy="347266"/>
          </a:xfrm>
          <a:prstGeom prst="rect">
            <a:avLst/>
          </a:prstGeom>
        </p:spPr>
      </p:pic>
      <p:pic>
        <p:nvPicPr>
          <p:cNvPr id="20" name="Gráfico 19" descr="Correr">
            <a:extLst>
              <a:ext uri="{FF2B5EF4-FFF2-40B4-BE49-F238E27FC236}">
                <a16:creationId xmlns:a16="http://schemas.microsoft.com/office/drawing/2014/main" id="{BE422850-A5DF-450E-91AA-A3517E37491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62762" y="4251487"/>
            <a:ext cx="347266" cy="347266"/>
          </a:xfrm>
          <a:prstGeom prst="rect">
            <a:avLst/>
          </a:prstGeom>
        </p:spPr>
      </p:pic>
      <p:pic>
        <p:nvPicPr>
          <p:cNvPr id="23" name="Gráfico 22" descr="Correr">
            <a:extLst>
              <a:ext uri="{FF2B5EF4-FFF2-40B4-BE49-F238E27FC236}">
                <a16:creationId xmlns:a16="http://schemas.microsoft.com/office/drawing/2014/main" id="{B65FBD8F-1C09-4C23-978A-0819B09C13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59216" y="4289990"/>
            <a:ext cx="347266" cy="34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309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"/>
                                        <p:tgtEl>
                                          <p:spTgt spid="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2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"/>
                                        <p:tgtEl>
                                          <p:spTgt spid="9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54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"/>
                                        <p:tgtEl>
                                          <p:spTgt spid="9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6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"/>
                                        <p:tgtEl>
                                          <p:spTgt spid="9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58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"/>
                                        <p:tgtEl>
                                          <p:spTgt spid="9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6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"/>
                                        <p:tgtEl>
                                          <p:spTgt spid="9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62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"/>
                                        <p:tgtEl>
                                          <p:spTgt spid="9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64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"/>
                                        <p:tgtEl>
                                          <p:spTgt spid="9">
                                            <p:graphicEl>
                                              <a:chart seriesIdx="-4" categoryIdx="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66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"/>
                                        <p:tgtEl>
                                          <p:spTgt spid="9">
                                            <p:graphicEl>
                                              <a:chart seriesIdx="-4" categoryIdx="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68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"/>
                                        <p:tgtEl>
                                          <p:spTgt spid="9">
                                            <p:graphicEl>
                                              <a:chart seriesIdx="-4" categoryIdx="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47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20"/>
                                        <p:tgtEl>
                                          <p:spTgt spid="9">
                                            <p:graphicEl>
                                              <a:chart seriesIdx="-4" categoryIdx="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472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0"/>
                                        <p:tgtEl>
                                          <p:spTgt spid="9">
                                            <p:graphicEl>
                                              <a:chart seriesIdx="-4" categoryIdx="1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474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0"/>
                                        <p:tgtEl>
                                          <p:spTgt spid="9">
                                            <p:graphicEl>
                                              <a:chart seriesIdx="-4" categoryIdx="1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4760"/>
                            </p:stCondLst>
                            <p:childTnLst>
                              <p:par>
                                <p:cTn id="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0"/>
                                        <p:tgtEl>
                                          <p:spTgt spid="9">
                                            <p:graphicEl>
                                              <a:chart seriesIdx="-4" categoryIdx="1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478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0"/>
                                        <p:tgtEl>
                                          <p:spTgt spid="9">
                                            <p:graphicEl>
                                              <a:chart seriesIdx="-4" categoryIdx="1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4800"/>
                            </p:stCondLst>
                            <p:childTnLst>
                              <p:par>
                                <p:cTn id="1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0"/>
                                        <p:tgtEl>
                                          <p:spTgt spid="9">
                                            <p:graphicEl>
                                              <a:chart seriesIdx="-4" categoryIdx="1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482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20"/>
                                        <p:tgtEl>
                                          <p:spTgt spid="9">
                                            <p:graphicEl>
                                              <a:chart seriesIdx="-4" categoryIdx="1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4840"/>
                            </p:stCondLst>
                            <p:childTnLst>
                              <p:par>
                                <p:cTn id="1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20"/>
                                        <p:tgtEl>
                                          <p:spTgt spid="9">
                                            <p:graphicEl>
                                              <a:chart seriesIdx="-4" categoryIdx="1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4860"/>
                            </p:stCondLst>
                            <p:childTnLst>
                              <p:par>
                                <p:cTn id="1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0"/>
                                        <p:tgtEl>
                                          <p:spTgt spid="9">
                                            <p:graphicEl>
                                              <a:chart seriesIdx="-4" categoryIdx="1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488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20"/>
                                        <p:tgtEl>
                                          <p:spTgt spid="9">
                                            <p:graphicEl>
                                              <a:chart seriesIdx="-4" categoryIdx="1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4900"/>
                            </p:stCondLst>
                            <p:childTnLst>
                              <p:par>
                                <p:cTn id="1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20"/>
                                        <p:tgtEl>
                                          <p:spTgt spid="9">
                                            <p:graphicEl>
                                              <a:chart seriesIdx="-4" categoryIdx="1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4920"/>
                            </p:stCondLst>
                            <p:childTnLst>
                              <p:par>
                                <p:cTn id="1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20"/>
                                        <p:tgtEl>
                                          <p:spTgt spid="9">
                                            <p:graphicEl>
                                              <a:chart seriesIdx="-4" categoryIdx="2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4940"/>
                            </p:stCondLst>
                            <p:childTnLst>
                              <p:par>
                                <p:cTn id="1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20"/>
                                        <p:tgtEl>
                                          <p:spTgt spid="9">
                                            <p:graphicEl>
                                              <a:chart seriesIdx="-4" categoryIdx="2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4960"/>
                            </p:stCondLst>
                            <p:childTnLst>
                              <p:par>
                                <p:cTn id="1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20"/>
                                        <p:tgtEl>
                                          <p:spTgt spid="9">
                                            <p:graphicEl>
                                              <a:chart seriesIdx="-4" categoryIdx="2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4980"/>
                            </p:stCondLst>
                            <p:childTnLst>
                              <p:par>
                                <p:cTn id="1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20"/>
                                        <p:tgtEl>
                                          <p:spTgt spid="9">
                                            <p:graphicEl>
                                              <a:chart seriesIdx="-4" categoryIdx="2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5000"/>
                            </p:stCondLst>
                            <p:childTnLst>
                              <p:par>
                                <p:cTn id="1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2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20"/>
                                        <p:tgtEl>
                                          <p:spTgt spid="9">
                                            <p:graphicEl>
                                              <a:chart seriesIdx="-4" categoryIdx="2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502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2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20"/>
                                        <p:tgtEl>
                                          <p:spTgt spid="9">
                                            <p:graphicEl>
                                              <a:chart seriesIdx="-4" categoryIdx="2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40"/>
                            </p:stCondLst>
                            <p:childTnLst>
                              <p:par>
                                <p:cTn id="1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2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20"/>
                                        <p:tgtEl>
                                          <p:spTgt spid="9">
                                            <p:graphicEl>
                                              <a:chart seriesIdx="-4" categoryIdx="2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5060"/>
                            </p:stCondLst>
                            <p:childTnLst>
                              <p:par>
                                <p:cTn id="1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2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20"/>
                                        <p:tgtEl>
                                          <p:spTgt spid="9">
                                            <p:graphicEl>
                                              <a:chart seriesIdx="-4" categoryIdx="2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5080"/>
                            </p:stCondLst>
                            <p:childTnLst>
                              <p:par>
                                <p:cTn id="1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2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20"/>
                                        <p:tgtEl>
                                          <p:spTgt spid="9">
                                            <p:graphicEl>
                                              <a:chart seriesIdx="-4" categoryIdx="2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5100"/>
                            </p:stCondLst>
                            <p:childTnLst>
                              <p:par>
                                <p:cTn id="1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2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20"/>
                                        <p:tgtEl>
                                          <p:spTgt spid="9">
                                            <p:graphicEl>
                                              <a:chart seriesIdx="-4" categoryIdx="2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5120"/>
                            </p:stCondLst>
                            <p:childTnLst>
                              <p:par>
                                <p:cTn id="1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3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20"/>
                                        <p:tgtEl>
                                          <p:spTgt spid="9">
                                            <p:graphicEl>
                                              <a:chart seriesIdx="-4" categoryIdx="3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5140"/>
                            </p:stCondLst>
                            <p:childTnLst>
                              <p:par>
                                <p:cTn id="1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3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20"/>
                                        <p:tgtEl>
                                          <p:spTgt spid="9">
                                            <p:graphicEl>
                                              <a:chart seriesIdx="-4" categoryIdx="3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5160"/>
                            </p:stCondLst>
                            <p:childTnLst>
                              <p:par>
                                <p:cTn id="1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3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20"/>
                                        <p:tgtEl>
                                          <p:spTgt spid="9">
                                            <p:graphicEl>
                                              <a:chart seriesIdx="-4" categoryIdx="3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5180"/>
                            </p:stCondLst>
                            <p:childTnLst>
                              <p:par>
                                <p:cTn id="1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3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20"/>
                                        <p:tgtEl>
                                          <p:spTgt spid="9">
                                            <p:graphicEl>
                                              <a:chart seriesIdx="-4" categoryIdx="3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5200"/>
                            </p:stCondLst>
                            <p:childTnLst>
                              <p:par>
                                <p:cTn id="1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3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20"/>
                                        <p:tgtEl>
                                          <p:spTgt spid="9">
                                            <p:graphicEl>
                                              <a:chart seriesIdx="-4" categoryIdx="3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5220"/>
                            </p:stCondLst>
                            <p:childTnLst>
                              <p:par>
                                <p:cTn id="1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3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20"/>
                                        <p:tgtEl>
                                          <p:spTgt spid="9">
                                            <p:graphicEl>
                                              <a:chart seriesIdx="-4" categoryIdx="3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5240"/>
                            </p:stCondLst>
                            <p:childTnLst>
                              <p:par>
                                <p:cTn id="1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3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20"/>
                                        <p:tgtEl>
                                          <p:spTgt spid="9">
                                            <p:graphicEl>
                                              <a:chart seriesIdx="-4" categoryIdx="3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5260"/>
                            </p:stCondLst>
                            <p:childTnLst>
                              <p:par>
                                <p:cTn id="1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3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20"/>
                                        <p:tgtEl>
                                          <p:spTgt spid="9">
                                            <p:graphicEl>
                                              <a:chart seriesIdx="-4" categoryIdx="3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5280"/>
                            </p:stCondLst>
                            <p:childTnLst>
                              <p:par>
                                <p:cTn id="2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3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20"/>
                                        <p:tgtEl>
                                          <p:spTgt spid="9">
                                            <p:graphicEl>
                                              <a:chart seriesIdx="-4" categoryIdx="3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300"/>
                            </p:stCondLst>
                            <p:childTnLst>
                              <p:par>
                                <p:cTn id="2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3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20"/>
                                        <p:tgtEl>
                                          <p:spTgt spid="9">
                                            <p:graphicEl>
                                              <a:chart seriesIdx="-4" categoryIdx="3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5320"/>
                            </p:stCondLst>
                            <p:childTnLst>
                              <p:par>
                                <p:cTn id="2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4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20"/>
                                        <p:tgtEl>
                                          <p:spTgt spid="9">
                                            <p:graphicEl>
                                              <a:chart seriesIdx="-4" categoryIdx="4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5340"/>
                            </p:stCondLst>
                            <p:childTnLst>
                              <p:par>
                                <p:cTn id="2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4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20"/>
                                        <p:tgtEl>
                                          <p:spTgt spid="9">
                                            <p:graphicEl>
                                              <a:chart seriesIdx="-4" categoryIdx="4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5360"/>
                            </p:stCondLst>
                            <p:childTnLst>
                              <p:par>
                                <p:cTn id="2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4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20"/>
                                        <p:tgtEl>
                                          <p:spTgt spid="9">
                                            <p:graphicEl>
                                              <a:chart seriesIdx="-4" categoryIdx="4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5380"/>
                            </p:stCondLst>
                            <p:childTnLst>
                              <p:par>
                                <p:cTn id="2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4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20"/>
                                        <p:tgtEl>
                                          <p:spTgt spid="9">
                                            <p:graphicEl>
                                              <a:chart seriesIdx="-4" categoryIdx="4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5400"/>
                            </p:stCondLst>
                            <p:childTnLst>
                              <p:par>
                                <p:cTn id="2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4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20"/>
                                        <p:tgtEl>
                                          <p:spTgt spid="9">
                                            <p:graphicEl>
                                              <a:chart seriesIdx="-4" categoryIdx="4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5420"/>
                            </p:stCondLst>
                            <p:childTnLst>
                              <p:par>
                                <p:cTn id="2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4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20"/>
                                        <p:tgtEl>
                                          <p:spTgt spid="9">
                                            <p:graphicEl>
                                              <a:chart seriesIdx="-4" categoryIdx="4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5440"/>
                            </p:stCondLst>
                            <p:childTnLst>
                              <p:par>
                                <p:cTn id="2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4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20"/>
                                        <p:tgtEl>
                                          <p:spTgt spid="9">
                                            <p:graphicEl>
                                              <a:chart seriesIdx="-4" categoryIdx="4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5" fill="hold">
                            <p:stCondLst>
                              <p:cond delay="5460"/>
                            </p:stCondLst>
                            <p:childTnLst>
                              <p:par>
                                <p:cTn id="2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4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20"/>
                                        <p:tgtEl>
                                          <p:spTgt spid="9">
                                            <p:graphicEl>
                                              <a:chart seriesIdx="-4" categoryIdx="4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5480"/>
                            </p:stCondLst>
                            <p:childTnLst>
                              <p:par>
                                <p:cTn id="2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4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20"/>
                                        <p:tgtEl>
                                          <p:spTgt spid="9">
                                            <p:graphicEl>
                                              <a:chart seriesIdx="-4" categoryIdx="4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>
                            <p:stCondLst>
                              <p:cond delay="5500"/>
                            </p:stCondLst>
                            <p:childTnLst>
                              <p:par>
                                <p:cTn id="2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4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20"/>
                                        <p:tgtEl>
                                          <p:spTgt spid="9">
                                            <p:graphicEl>
                                              <a:chart seriesIdx="-4" categoryIdx="4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>
                            <p:stCondLst>
                              <p:cond delay="5520"/>
                            </p:stCondLst>
                            <p:childTnLst>
                              <p:par>
                                <p:cTn id="2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5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20"/>
                                        <p:tgtEl>
                                          <p:spTgt spid="9">
                                            <p:graphicEl>
                                              <a:chart seriesIdx="-4" categoryIdx="5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5540"/>
                            </p:stCondLst>
                            <p:childTnLst>
                              <p:par>
                                <p:cTn id="2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5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20"/>
                                        <p:tgtEl>
                                          <p:spTgt spid="9">
                                            <p:graphicEl>
                                              <a:chart seriesIdx="-4" categoryIdx="5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560"/>
                            </p:stCondLst>
                            <p:childTnLst>
                              <p:par>
                                <p:cTn id="2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5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20"/>
                                        <p:tgtEl>
                                          <p:spTgt spid="9">
                                            <p:graphicEl>
                                              <a:chart seriesIdx="-4" categoryIdx="5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5580"/>
                            </p:stCondLst>
                            <p:childTnLst>
                              <p:par>
                                <p:cTn id="2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5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20"/>
                                        <p:tgtEl>
                                          <p:spTgt spid="9">
                                            <p:graphicEl>
                                              <a:chart seriesIdx="-4" categoryIdx="5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>
                            <p:stCondLst>
                              <p:cond delay="5600"/>
                            </p:stCondLst>
                            <p:childTnLst>
                              <p:par>
                                <p:cTn id="2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5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20"/>
                                        <p:tgtEl>
                                          <p:spTgt spid="9">
                                            <p:graphicEl>
                                              <a:chart seriesIdx="-4" categoryIdx="5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>
                            <p:stCondLst>
                              <p:cond delay="5620"/>
                            </p:stCondLst>
                            <p:childTnLst>
                              <p:par>
                                <p:cTn id="2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5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20"/>
                                        <p:tgtEl>
                                          <p:spTgt spid="9">
                                            <p:graphicEl>
                                              <a:chart seriesIdx="-4" categoryIdx="5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5640"/>
                            </p:stCondLst>
                            <p:childTnLst>
                              <p:par>
                                <p:cTn id="2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5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20"/>
                                        <p:tgtEl>
                                          <p:spTgt spid="9">
                                            <p:graphicEl>
                                              <a:chart seriesIdx="-4" categoryIdx="5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5660"/>
                            </p:stCondLst>
                            <p:childTnLst>
                              <p:par>
                                <p:cTn id="2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5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20"/>
                                        <p:tgtEl>
                                          <p:spTgt spid="9">
                                            <p:graphicEl>
                                              <a:chart seriesIdx="-4" categoryIdx="5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5680"/>
                            </p:stCondLst>
                            <p:childTnLst>
                              <p:par>
                                <p:cTn id="2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5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20"/>
                                        <p:tgtEl>
                                          <p:spTgt spid="9">
                                            <p:graphicEl>
                                              <a:chart seriesIdx="-4" categoryIdx="5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5700"/>
                            </p:stCondLst>
                            <p:childTnLst>
                              <p:par>
                                <p:cTn id="2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5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20"/>
                                        <p:tgtEl>
                                          <p:spTgt spid="9">
                                            <p:graphicEl>
                                              <a:chart seriesIdx="-4" categoryIdx="5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" fill="hold">
                            <p:stCondLst>
                              <p:cond delay="5720"/>
                            </p:stCondLst>
                            <p:childTnLst>
                              <p:par>
                                <p:cTn id="2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6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20"/>
                                        <p:tgtEl>
                                          <p:spTgt spid="9">
                                            <p:graphicEl>
                                              <a:chart seriesIdx="-4" categoryIdx="6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1" fill="hold">
                            <p:stCondLst>
                              <p:cond delay="5740"/>
                            </p:stCondLst>
                            <p:childTnLst>
                              <p:par>
                                <p:cTn id="2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6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20"/>
                                        <p:tgtEl>
                                          <p:spTgt spid="9">
                                            <p:graphicEl>
                                              <a:chart seriesIdx="-4" categoryIdx="6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5" fill="hold">
                            <p:stCondLst>
                              <p:cond delay="5760"/>
                            </p:stCondLst>
                            <p:childTnLst>
                              <p:par>
                                <p:cTn id="29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6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20"/>
                                        <p:tgtEl>
                                          <p:spTgt spid="9">
                                            <p:graphicEl>
                                              <a:chart seriesIdx="-4" categoryIdx="6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5780"/>
                            </p:stCondLst>
                            <p:childTnLst>
                              <p:par>
                                <p:cTn id="3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6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20"/>
                                        <p:tgtEl>
                                          <p:spTgt spid="9">
                                            <p:graphicEl>
                                              <a:chart seriesIdx="-4" categoryIdx="6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3" fill="hold">
                            <p:stCondLst>
                              <p:cond delay="5800"/>
                            </p:stCondLst>
                            <p:childTnLst>
                              <p:par>
                                <p:cTn id="30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6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20"/>
                                        <p:tgtEl>
                                          <p:spTgt spid="9">
                                            <p:graphicEl>
                                              <a:chart seriesIdx="-4" categoryIdx="6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820"/>
                            </p:stCondLst>
                            <p:childTnLst>
                              <p:par>
                                <p:cTn id="3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6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20"/>
                                        <p:tgtEl>
                                          <p:spTgt spid="9">
                                            <p:graphicEl>
                                              <a:chart seriesIdx="-4" categoryIdx="6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" fill="hold">
                            <p:stCondLst>
                              <p:cond delay="5840"/>
                            </p:stCondLst>
                            <p:childTnLst>
                              <p:par>
                                <p:cTn id="3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66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4" dur="20"/>
                                        <p:tgtEl>
                                          <p:spTgt spid="9">
                                            <p:graphicEl>
                                              <a:chart seriesIdx="-4" categoryIdx="66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5" fill="hold">
                            <p:stCondLst>
                              <p:cond delay="5860"/>
                            </p:stCondLst>
                            <p:childTnLst>
                              <p:par>
                                <p:cTn id="3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67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20"/>
                                        <p:tgtEl>
                                          <p:spTgt spid="9">
                                            <p:graphicEl>
                                              <a:chart seriesIdx="-4" categoryIdx="67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5880"/>
                            </p:stCondLst>
                            <p:childTnLst>
                              <p:par>
                                <p:cTn id="3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68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20"/>
                                        <p:tgtEl>
                                          <p:spTgt spid="9">
                                            <p:graphicEl>
                                              <a:chart seriesIdx="-4" categoryIdx="68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3" fill="hold">
                            <p:stCondLst>
                              <p:cond delay="5900"/>
                            </p:stCondLst>
                            <p:childTnLst>
                              <p:par>
                                <p:cTn id="3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69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20"/>
                                        <p:tgtEl>
                                          <p:spTgt spid="9">
                                            <p:graphicEl>
                                              <a:chart seriesIdx="-4" categoryIdx="69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7" fill="hold">
                            <p:stCondLst>
                              <p:cond delay="5920"/>
                            </p:stCondLst>
                            <p:childTnLst>
                              <p:par>
                                <p:cTn id="3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7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20"/>
                                        <p:tgtEl>
                                          <p:spTgt spid="9">
                                            <p:graphicEl>
                                              <a:chart seriesIdx="-4" categoryIdx="7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1" fill="hold">
                            <p:stCondLst>
                              <p:cond delay="5940"/>
                            </p:stCondLst>
                            <p:childTnLst>
                              <p:par>
                                <p:cTn id="3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7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20"/>
                                        <p:tgtEl>
                                          <p:spTgt spid="9">
                                            <p:graphicEl>
                                              <a:chart seriesIdx="-4" categoryIdx="7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" fill="hold">
                            <p:stCondLst>
                              <p:cond delay="5960"/>
                            </p:stCondLst>
                            <p:childTnLst>
                              <p:par>
                                <p:cTn id="336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Graphic spid="9" grpId="0">
        <p:bldSub>
          <a:bldChart bld="category"/>
        </p:bldSub>
      </p:bldGraphic>
      <p:bldP spid="8" grpId="0"/>
      <p:bldP spid="12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Marcador de contenido 12">
            <a:extLst>
              <a:ext uri="{FF2B5EF4-FFF2-40B4-BE49-F238E27FC236}">
                <a16:creationId xmlns:a16="http://schemas.microsoft.com/office/drawing/2014/main" id="{3C8B9612-EB26-4D1B-BA1D-C357C1402B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4718216"/>
              </p:ext>
            </p:extLst>
          </p:nvPr>
        </p:nvGraphicFramePr>
        <p:xfrm>
          <a:off x="441255" y="5158236"/>
          <a:ext cx="4274444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7222">
                  <a:extLst>
                    <a:ext uri="{9D8B030D-6E8A-4147-A177-3AD203B41FA5}">
                      <a16:colId xmlns:a16="http://schemas.microsoft.com/office/drawing/2014/main" val="3181701745"/>
                    </a:ext>
                  </a:extLst>
                </a:gridCol>
                <a:gridCol w="2137222">
                  <a:extLst>
                    <a:ext uri="{9D8B030D-6E8A-4147-A177-3AD203B41FA5}">
                      <a16:colId xmlns:a16="http://schemas.microsoft.com/office/drawing/2014/main" val="136087557"/>
                    </a:ext>
                  </a:extLst>
                </a:gridCol>
              </a:tblGrid>
              <a:tr h="192021">
                <a:tc gridSpan="2">
                  <a:txBody>
                    <a:bodyPr/>
                    <a:lstStyle/>
                    <a:p>
                      <a:pPr algn="ctr"/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Ratio promedio</a:t>
                      </a:r>
                    </a:p>
                  </a:txBody>
                  <a:tcPr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747716"/>
                  </a:ext>
                </a:extLst>
              </a:tr>
              <a:tr h="313549">
                <a:tc>
                  <a:txBody>
                    <a:bodyPr/>
                    <a:lstStyle/>
                    <a:p>
                      <a:pPr algn="r"/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BNA</a:t>
                      </a:r>
                    </a:p>
                  </a:txBody>
                  <a:tcPr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15%</a:t>
                      </a:r>
                    </a:p>
                  </a:txBody>
                  <a:tcPr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429703"/>
                  </a:ext>
                </a:extLst>
              </a:tr>
              <a:tr h="192021">
                <a:tc>
                  <a:txBody>
                    <a:bodyPr/>
                    <a:lstStyle/>
                    <a:p>
                      <a:pPr algn="r"/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Resto</a:t>
                      </a:r>
                    </a:p>
                  </a:txBody>
                  <a:tcPr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sz="1600" b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Abadi" panose="020B0604020104020204" pitchFamily="34" charset="0"/>
                        </a:rPr>
                        <a:t>23%</a:t>
                      </a:r>
                    </a:p>
                  </a:txBody>
                  <a:tcPr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471135"/>
                  </a:ext>
                </a:extLst>
              </a:tr>
            </a:tbl>
          </a:graphicData>
        </a:graphic>
      </p:graphicFrame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F0CFFDFD-A310-40E3-AC56-DBFAA05608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9000379"/>
              </p:ext>
            </p:extLst>
          </p:nvPr>
        </p:nvGraphicFramePr>
        <p:xfrm>
          <a:off x="441255" y="1918209"/>
          <a:ext cx="4274444" cy="29509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Marcador de texto 8">
            <a:extLst>
              <a:ext uri="{FF2B5EF4-FFF2-40B4-BE49-F238E27FC236}">
                <a16:creationId xmlns:a16="http://schemas.microsoft.com/office/drawing/2014/main" id="{33139E2F-C3FC-4192-9638-5EFEDD9F1446}"/>
              </a:ext>
            </a:extLst>
          </p:cNvPr>
          <p:cNvSpPr txBox="1">
            <a:spLocks/>
          </p:cNvSpPr>
          <p:nvPr/>
        </p:nvSpPr>
        <p:spPr>
          <a:xfrm>
            <a:off x="5375936" y="4274482"/>
            <a:ext cx="3714777" cy="594678"/>
          </a:xfrm>
          <a:prstGeom prst="roundRect">
            <a:avLst>
              <a:gd name="adj" fmla="val 11512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AR"/>
            </a:defPPr>
            <a:lvl1pPr algn="ctr">
              <a:defRPr b="1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8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dirty="0"/>
              <a:t>REDESCUENTOS DEL BNA / RESERVAS DE RESTO DE LOS BCOS</a:t>
            </a:r>
          </a:p>
        </p:txBody>
      </p:sp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7E7D8BC2-DD3D-41C2-A59C-912E197E9F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973559"/>
              </p:ext>
            </p:extLst>
          </p:nvPr>
        </p:nvGraphicFramePr>
        <p:xfrm>
          <a:off x="5375937" y="4992064"/>
          <a:ext cx="2494806" cy="15796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20729">
                  <a:extLst>
                    <a:ext uri="{9D8B030D-6E8A-4147-A177-3AD203B41FA5}">
                      <a16:colId xmlns:a16="http://schemas.microsoft.com/office/drawing/2014/main" val="3161090783"/>
                    </a:ext>
                  </a:extLst>
                </a:gridCol>
                <a:gridCol w="1674077">
                  <a:extLst>
                    <a:ext uri="{9D8B030D-6E8A-4147-A177-3AD203B41FA5}">
                      <a16:colId xmlns:a16="http://schemas.microsoft.com/office/drawing/2014/main" val="1830737718"/>
                    </a:ext>
                  </a:extLst>
                </a:gridCol>
              </a:tblGrid>
              <a:tr h="317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1929</a:t>
                      </a:r>
                      <a:endParaRPr lang="es-AR" sz="16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b="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41%</a:t>
                      </a:r>
                      <a:endParaRPr lang="es-AR" sz="1600" b="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49870"/>
                  </a:ext>
                </a:extLst>
              </a:tr>
              <a:tr h="444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1930</a:t>
                      </a:r>
                      <a:endParaRPr lang="es-AR" sz="16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31%</a:t>
                      </a:r>
                      <a:endParaRPr lang="es-AR" sz="16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8505650"/>
                  </a:ext>
                </a:extLst>
              </a:tr>
              <a:tr h="444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1931</a:t>
                      </a:r>
                      <a:endParaRPr lang="es-AR" sz="16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61%</a:t>
                      </a:r>
                      <a:endParaRPr lang="es-AR" sz="16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0701933"/>
                  </a:ext>
                </a:extLst>
              </a:tr>
              <a:tr h="444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1932</a:t>
                      </a:r>
                      <a:endParaRPr lang="es-AR" sz="16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53%</a:t>
                      </a:r>
                      <a:endParaRPr lang="es-AR" sz="16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57659"/>
                  </a:ext>
                </a:extLst>
              </a:tr>
              <a:tr h="444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1933</a:t>
                      </a:r>
                      <a:endParaRPr lang="es-AR" sz="16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55%</a:t>
                      </a:r>
                      <a:endParaRPr lang="es-AR" sz="16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9689982"/>
                  </a:ext>
                </a:extLst>
              </a:tr>
              <a:tr h="444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1934</a:t>
                      </a:r>
                      <a:endParaRPr lang="es-AR" sz="16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6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70%</a:t>
                      </a:r>
                      <a:endParaRPr lang="es-AR" sz="16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478804"/>
                  </a:ext>
                </a:extLst>
              </a:tr>
            </a:tbl>
          </a:graphicData>
        </a:graphic>
      </p:graphicFrame>
      <p:sp>
        <p:nvSpPr>
          <p:cNvPr id="9" name="Título 4">
            <a:extLst>
              <a:ext uri="{FF2B5EF4-FFF2-40B4-BE49-F238E27FC236}">
                <a16:creationId xmlns:a16="http://schemas.microsoft.com/office/drawing/2014/main" id="{19094F37-211B-497F-851B-E47C1B529403}"/>
              </a:ext>
            </a:extLst>
          </p:cNvPr>
          <p:cNvSpPr txBox="1">
            <a:spLocks/>
          </p:cNvSpPr>
          <p:nvPr/>
        </p:nvSpPr>
        <p:spPr>
          <a:xfrm>
            <a:off x="-15957" y="-4997"/>
            <a:ext cx="7886700" cy="75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AR" sz="4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El Sistema Bancario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0C3BEF91-CD74-4D16-8C6C-5A3D1671BC13}"/>
              </a:ext>
            </a:extLst>
          </p:cNvPr>
          <p:cNvSpPr/>
          <p:nvPr/>
        </p:nvSpPr>
        <p:spPr>
          <a:xfrm>
            <a:off x="683568" y="1292412"/>
            <a:ext cx="3597937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RATIO R/D</a:t>
            </a:r>
          </a:p>
        </p:txBody>
      </p:sp>
      <p:pic>
        <p:nvPicPr>
          <p:cNvPr id="16" name="Gráfico 15" descr="Mano con dedo índice apuntando a la derecha ">
            <a:extLst>
              <a:ext uri="{FF2B5EF4-FFF2-40B4-BE49-F238E27FC236}">
                <a16:creationId xmlns:a16="http://schemas.microsoft.com/office/drawing/2014/main" id="{12826C19-23C0-4461-AC85-E0DF2729C8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7739464" y="4869160"/>
            <a:ext cx="547956" cy="547956"/>
          </a:xfrm>
          <a:prstGeom prst="rect">
            <a:avLst/>
          </a:prstGeom>
        </p:spPr>
      </p:pic>
      <p:pic>
        <p:nvPicPr>
          <p:cNvPr id="10" name="Gráfico 9" descr="Mano con dedo índice apuntando a la derecha ">
            <a:extLst>
              <a:ext uri="{FF2B5EF4-FFF2-40B4-BE49-F238E27FC236}">
                <a16:creationId xmlns:a16="http://schemas.microsoft.com/office/drawing/2014/main" id="{421C1205-478C-415B-866C-FD1D26EE35B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7739464" y="5417116"/>
            <a:ext cx="547956" cy="547956"/>
          </a:xfrm>
          <a:prstGeom prst="rect">
            <a:avLst/>
          </a:prstGeom>
        </p:spPr>
      </p:pic>
      <p:pic>
        <p:nvPicPr>
          <p:cNvPr id="17" name="Gráfico 16" descr="Mano con dedo índice apuntando a la derecha ">
            <a:extLst>
              <a:ext uri="{FF2B5EF4-FFF2-40B4-BE49-F238E27FC236}">
                <a16:creationId xmlns:a16="http://schemas.microsoft.com/office/drawing/2014/main" id="{B4B7B754-B8DC-4506-804B-2347DA815E6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7735531" y="6239050"/>
            <a:ext cx="547956" cy="547956"/>
          </a:xfrm>
          <a:prstGeom prst="rect">
            <a:avLst/>
          </a:prstGeom>
        </p:spPr>
      </p:pic>
      <p:graphicFrame>
        <p:nvGraphicFramePr>
          <p:cNvPr id="21" name="26 Gráfico">
            <a:extLst>
              <a:ext uri="{FF2B5EF4-FFF2-40B4-BE49-F238E27FC236}">
                <a16:creationId xmlns:a16="http://schemas.microsoft.com/office/drawing/2014/main" id="{99C67564-1499-486C-9444-82DA5F57F4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4044717"/>
              </p:ext>
            </p:extLst>
          </p:nvPr>
        </p:nvGraphicFramePr>
        <p:xfrm>
          <a:off x="5309360" y="70994"/>
          <a:ext cx="3790950" cy="20240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2" name="12 Gráfico">
            <a:extLst>
              <a:ext uri="{FF2B5EF4-FFF2-40B4-BE49-F238E27FC236}">
                <a16:creationId xmlns:a16="http://schemas.microsoft.com/office/drawing/2014/main" id="{5C853CFE-914B-42DE-B87E-2702DA7C12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1088260"/>
              </p:ext>
            </p:extLst>
          </p:nvPr>
        </p:nvGraphicFramePr>
        <p:xfrm>
          <a:off x="5361057" y="2137229"/>
          <a:ext cx="3714776" cy="20002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647470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"/>
                                        <p:tgtEl>
                                          <p:spTgt spid="12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6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"/>
                                        <p:tgtEl>
                                          <p:spTgt spid="12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"/>
                                        <p:tgtEl>
                                          <p:spTgt spid="12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8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"/>
                                        <p:tgtEl>
                                          <p:spTgt spid="12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9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"/>
                                        <p:tgtEl>
                                          <p:spTgt spid="12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"/>
                                        <p:tgtEl>
                                          <p:spTgt spid="12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1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"/>
                                        <p:tgtEl>
                                          <p:spTgt spid="12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00"/>
                            </p:stCondLst>
                            <p:childTnLst>
                              <p:par>
                                <p:cTn id="43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200"/>
                            </p:stCondLst>
                            <p:childTnLst>
                              <p:par>
                                <p:cTn id="49" presetID="2" presetClass="entr" presetSubtype="1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450"/>
                            </p:stCondLst>
                            <p:childTnLst>
                              <p:par>
                                <p:cTn id="54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200"/>
                            </p:stCondLst>
                            <p:childTnLst>
                              <p:par>
                                <p:cTn id="60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950"/>
                            </p:stCondLst>
                            <p:childTnLst>
                              <p:par>
                                <p:cTn id="66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700"/>
                            </p:stCondLst>
                            <p:childTnLst>
                              <p:par>
                                <p:cTn id="72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" grpId="0">
        <p:bldSub>
          <a:bldChart bld="category"/>
        </p:bldSub>
      </p:bldGraphic>
      <p:bldP spid="11" grpId="0" animBg="1"/>
      <p:bldP spid="9" grpId="0"/>
      <p:bldP spid="1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CDE9F8A0-C785-4EF3-B969-FC21C182B8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2042323"/>
              </p:ext>
            </p:extLst>
          </p:nvPr>
        </p:nvGraphicFramePr>
        <p:xfrm>
          <a:off x="107504" y="2008585"/>
          <a:ext cx="4418777" cy="26445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D2206D29-01B2-442B-803D-51A9EE012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763071"/>
              </p:ext>
            </p:extLst>
          </p:nvPr>
        </p:nvGraphicFramePr>
        <p:xfrm>
          <a:off x="243208" y="4941168"/>
          <a:ext cx="4040760" cy="18580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48413">
                  <a:extLst>
                    <a:ext uri="{9D8B030D-6E8A-4147-A177-3AD203B41FA5}">
                      <a16:colId xmlns:a16="http://schemas.microsoft.com/office/drawing/2014/main" val="1546010388"/>
                    </a:ext>
                  </a:extLst>
                </a:gridCol>
                <a:gridCol w="1652187">
                  <a:extLst>
                    <a:ext uri="{9D8B030D-6E8A-4147-A177-3AD203B41FA5}">
                      <a16:colId xmlns:a16="http://schemas.microsoft.com/office/drawing/2014/main" val="3467038227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584381891"/>
                    </a:ext>
                  </a:extLst>
                </a:gridCol>
              </a:tblGrid>
              <a:tr h="31813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Fondos Propios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del BNA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Emisión Caja de Conversión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888824"/>
                  </a:ext>
                </a:extLst>
              </a:tr>
              <a:tr h="31750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1929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100%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0%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8620087"/>
                  </a:ext>
                </a:extLst>
              </a:tr>
              <a:tr h="44450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1930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100%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0%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4295062"/>
                  </a:ext>
                </a:extLst>
              </a:tr>
              <a:tr h="44450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1931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0%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100%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4563194"/>
                  </a:ext>
                </a:extLst>
              </a:tr>
              <a:tr h="44450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1932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6,5%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93,5%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2697015"/>
                  </a:ext>
                </a:extLst>
              </a:tr>
              <a:tr h="44450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1933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29,4%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70,6%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3684067"/>
                  </a:ext>
                </a:extLst>
              </a:tr>
              <a:tr h="44450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1934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41,7%</a:t>
                      </a:r>
                      <a:endParaRPr lang="es-AR" sz="140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400" dirty="0">
                          <a:solidFill>
                            <a:schemeClr val="tx2">
                              <a:lumMod val="75000"/>
                            </a:schemeClr>
                          </a:solidFill>
                          <a:effectLst/>
                          <a:latin typeface="Abadi" panose="020B0604020104020204" pitchFamily="34" charset="0"/>
                        </a:rPr>
                        <a:t>58,3%</a:t>
                      </a:r>
                      <a:endParaRPr lang="es-AR" sz="1400" dirty="0">
                        <a:solidFill>
                          <a:schemeClr val="tx2">
                            <a:lumMod val="75000"/>
                          </a:schemeClr>
                        </a:solidFill>
                        <a:effectLst/>
                        <a:latin typeface="Abadi" panose="020B06040201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841612"/>
                  </a:ext>
                </a:extLst>
              </a:tr>
            </a:tbl>
          </a:graphicData>
        </a:graphic>
      </p:graphicFrame>
      <p:sp>
        <p:nvSpPr>
          <p:cNvPr id="12" name="Rectángulo 11">
            <a:extLst>
              <a:ext uri="{FF2B5EF4-FFF2-40B4-BE49-F238E27FC236}">
                <a16:creationId xmlns:a16="http://schemas.microsoft.com/office/drawing/2014/main" id="{50159EEC-DEA7-4CA0-BBDA-D0770CB0F880}"/>
              </a:ext>
            </a:extLst>
          </p:cNvPr>
          <p:cNvSpPr/>
          <p:nvPr/>
        </p:nvSpPr>
        <p:spPr>
          <a:xfrm>
            <a:off x="893273" y="4653136"/>
            <a:ext cx="230858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ORIGEN DE REDESCUENTOS</a:t>
            </a:r>
          </a:p>
        </p:txBody>
      </p:sp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CC7E088F-DDED-4FC5-A561-ABA23207AE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0992334"/>
              </p:ext>
            </p:extLst>
          </p:nvPr>
        </p:nvGraphicFramePr>
        <p:xfrm>
          <a:off x="4637689" y="2636913"/>
          <a:ext cx="4170284" cy="28083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Rectángulo 17">
            <a:extLst>
              <a:ext uri="{FF2B5EF4-FFF2-40B4-BE49-F238E27FC236}">
                <a16:creationId xmlns:a16="http://schemas.microsoft.com/office/drawing/2014/main" id="{C55C9514-B67E-4395-A9B8-E914FC64F44C}"/>
              </a:ext>
            </a:extLst>
          </p:cNvPr>
          <p:cNvSpPr/>
          <p:nvPr/>
        </p:nvSpPr>
        <p:spPr>
          <a:xfrm>
            <a:off x="3302995" y="2489700"/>
            <a:ext cx="10454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" sz="1400" b="1" dirty="0" err="1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Prom</a:t>
            </a:r>
            <a:r>
              <a:rPr lang="es-ES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: 23%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B44540A-7A36-4865-B8B0-D4E60B4A6F94}"/>
              </a:ext>
            </a:extLst>
          </p:cNvPr>
          <p:cNvSpPr/>
          <p:nvPr/>
        </p:nvSpPr>
        <p:spPr>
          <a:xfrm>
            <a:off x="3302996" y="3167390"/>
            <a:ext cx="104547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" sz="1400" b="1" dirty="0" err="1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Prom</a:t>
            </a:r>
            <a:r>
              <a:rPr lang="es-ES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: 11%</a:t>
            </a:r>
          </a:p>
        </p:txBody>
      </p:sp>
      <p:sp>
        <p:nvSpPr>
          <p:cNvPr id="15" name="Título 4">
            <a:extLst>
              <a:ext uri="{FF2B5EF4-FFF2-40B4-BE49-F238E27FC236}">
                <a16:creationId xmlns:a16="http://schemas.microsoft.com/office/drawing/2014/main" id="{B8603309-3644-4FA0-B521-F345A94D413E}"/>
              </a:ext>
            </a:extLst>
          </p:cNvPr>
          <p:cNvSpPr txBox="1">
            <a:spLocks/>
          </p:cNvSpPr>
          <p:nvPr/>
        </p:nvSpPr>
        <p:spPr>
          <a:xfrm>
            <a:off x="-15958" y="-4996"/>
            <a:ext cx="9159957" cy="12737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El Banco de la Nación y las funciones “</a:t>
            </a:r>
            <a:r>
              <a:rPr lang="es-ES" sz="3200" i="1" dirty="0" err="1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bancocentralistas</a:t>
            </a:r>
            <a:r>
              <a:rPr lang="es-ES" sz="32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”</a:t>
            </a:r>
            <a:br>
              <a:rPr lang="es-ES" sz="32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</a:br>
            <a:r>
              <a:rPr lang="es-ES" sz="2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(Ejercicio Contrafactual)</a:t>
            </a:r>
            <a:endParaRPr lang="es-ES" sz="3200" i="1" dirty="0"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  <a:cs typeface="Browallia New" panose="020B0604020202020204" pitchFamily="34" charset="-34"/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9AA26763-AD95-41E1-9F3C-425E41094382}"/>
              </a:ext>
            </a:extLst>
          </p:cNvPr>
          <p:cNvSpPr/>
          <p:nvPr/>
        </p:nvSpPr>
        <p:spPr>
          <a:xfrm>
            <a:off x="625776" y="1484784"/>
            <a:ext cx="3597937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RESTO DE LOS BANCOS (R/D)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55EB0C80-97D5-4811-97C2-DA44F29FA7B7}"/>
              </a:ext>
            </a:extLst>
          </p:cNvPr>
          <p:cNvSpPr/>
          <p:nvPr/>
        </p:nvSpPr>
        <p:spPr>
          <a:xfrm>
            <a:off x="4966322" y="1484784"/>
            <a:ext cx="3597937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ESTADO (RDO. FIN.)</a:t>
            </a:r>
          </a:p>
        </p:txBody>
      </p:sp>
      <p:pic>
        <p:nvPicPr>
          <p:cNvPr id="20" name="Gráfico 19" descr="Mano con dedo índice apuntando a la derecha ">
            <a:extLst>
              <a:ext uri="{FF2B5EF4-FFF2-40B4-BE49-F238E27FC236}">
                <a16:creationId xmlns:a16="http://schemas.microsoft.com/office/drawing/2014/main" id="{4C4C1929-0D86-461A-8207-FFFE9163DE9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0327945" flipH="1">
            <a:off x="2196466" y="5308820"/>
            <a:ext cx="456558" cy="456558"/>
          </a:xfrm>
          <a:prstGeom prst="rect">
            <a:avLst/>
          </a:prstGeom>
        </p:spPr>
      </p:pic>
      <p:pic>
        <p:nvPicPr>
          <p:cNvPr id="21" name="Gráfico 20" descr="Mano con dedo índice apuntando a la derecha ">
            <a:extLst>
              <a:ext uri="{FF2B5EF4-FFF2-40B4-BE49-F238E27FC236}">
                <a16:creationId xmlns:a16="http://schemas.microsoft.com/office/drawing/2014/main" id="{2799FC49-ACB1-45A0-8A61-BB165D65A9D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0327945" flipH="1">
            <a:off x="2196468" y="5620651"/>
            <a:ext cx="456558" cy="456558"/>
          </a:xfrm>
          <a:prstGeom prst="rect">
            <a:avLst/>
          </a:prstGeom>
        </p:spPr>
      </p:pic>
      <p:pic>
        <p:nvPicPr>
          <p:cNvPr id="22" name="Gráfico 21" descr="Mano con dedo índice apuntando a la derecha ">
            <a:extLst>
              <a:ext uri="{FF2B5EF4-FFF2-40B4-BE49-F238E27FC236}">
                <a16:creationId xmlns:a16="http://schemas.microsoft.com/office/drawing/2014/main" id="{9B1F162D-2127-4177-A623-06396D92B72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0327945" flipH="1">
            <a:off x="3919026" y="5753405"/>
            <a:ext cx="456558" cy="456558"/>
          </a:xfrm>
          <a:prstGeom prst="rect">
            <a:avLst/>
          </a:prstGeom>
        </p:spPr>
      </p:pic>
      <p:pic>
        <p:nvPicPr>
          <p:cNvPr id="23" name="Gráfico 22" descr="Mano con dedo índice apuntando a la derecha ">
            <a:extLst>
              <a:ext uri="{FF2B5EF4-FFF2-40B4-BE49-F238E27FC236}">
                <a16:creationId xmlns:a16="http://schemas.microsoft.com/office/drawing/2014/main" id="{83F7CBC9-0C96-4687-A433-7DC8F4A0E71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0327945" flipH="1">
            <a:off x="3919025" y="6001681"/>
            <a:ext cx="456558" cy="456558"/>
          </a:xfrm>
          <a:prstGeom prst="rect">
            <a:avLst/>
          </a:prstGeom>
        </p:spPr>
      </p:pic>
      <p:pic>
        <p:nvPicPr>
          <p:cNvPr id="24" name="Gráfico 23" descr="Mano con dedo índice apuntando a la derecha ">
            <a:extLst>
              <a:ext uri="{FF2B5EF4-FFF2-40B4-BE49-F238E27FC236}">
                <a16:creationId xmlns:a16="http://schemas.microsoft.com/office/drawing/2014/main" id="{70C8A0C5-A665-4959-AE03-B8A706B2250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0327945" flipH="1">
            <a:off x="3927041" y="6232166"/>
            <a:ext cx="456558" cy="456558"/>
          </a:xfrm>
          <a:prstGeom prst="rect">
            <a:avLst/>
          </a:prstGeom>
        </p:spPr>
      </p:pic>
      <p:pic>
        <p:nvPicPr>
          <p:cNvPr id="25" name="Gráfico 24" descr="Mano con dedo índice apuntando a la derecha ">
            <a:extLst>
              <a:ext uri="{FF2B5EF4-FFF2-40B4-BE49-F238E27FC236}">
                <a16:creationId xmlns:a16="http://schemas.microsoft.com/office/drawing/2014/main" id="{D1389213-E0E2-4CEC-987F-C2E53D5DFCF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0327945" flipH="1">
            <a:off x="3947007" y="6478078"/>
            <a:ext cx="456558" cy="456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277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"/>
                                        <p:tgtEl>
                                          <p:spTgt spid="9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6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"/>
                                        <p:tgtEl>
                                          <p:spTgt spid="9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7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"/>
                                        <p:tgtEl>
                                          <p:spTgt spid="9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8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"/>
                                        <p:tgtEl>
                                          <p:spTgt spid="9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9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"/>
                                        <p:tgtEl>
                                          <p:spTgt spid="9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"/>
                                        <p:tgtEl>
                                          <p:spTgt spid="9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1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"/>
                                        <p:tgtEl>
                                          <p:spTgt spid="9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200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200"/>
                            </p:stCondLst>
                            <p:childTnLst>
                              <p:par>
                                <p:cTn id="49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2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200"/>
                            </p:stCondLst>
                            <p:childTnLst>
                              <p:par>
                                <p:cTn id="59" presetID="42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950"/>
                            </p:stCondLst>
                            <p:childTnLst>
                              <p:par>
                                <p:cTn id="65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450"/>
                            </p:stCondLst>
                            <p:childTnLst>
                              <p:par>
                                <p:cTn id="71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950"/>
                            </p:stCondLst>
                            <p:childTnLst>
                              <p:par>
                                <p:cTn id="77" presetID="53" presetClass="entr" presetSubtype="16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8950"/>
                            </p:stCondLst>
                            <p:childTnLst>
                              <p:par>
                                <p:cTn id="83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9450"/>
                            </p:stCondLst>
                            <p:childTnLst>
                              <p:par>
                                <p:cTn id="89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9950"/>
                            </p:stCondLst>
                            <p:childTnLst>
                              <p:par>
                                <p:cTn id="95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450"/>
                            </p:stCondLst>
                            <p:childTnLst>
                              <p:par>
                                <p:cTn id="101" presetID="2" presetClass="entr" presetSubtype="1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1700"/>
                            </p:stCondLst>
                            <p:childTnLst>
                              <p:par>
                                <p:cTn id="10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"/>
                                        <p:tgtEl>
                                          <p:spTgt spid="13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180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"/>
                                        <p:tgtEl>
                                          <p:spTgt spid="13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190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"/>
                                        <p:tgtEl>
                                          <p:spTgt spid="13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200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"/>
                                        <p:tgtEl>
                                          <p:spTgt spid="13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210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"/>
                                        <p:tgtEl>
                                          <p:spTgt spid="13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2200"/>
                            </p:stCondLst>
                            <p:childTnLst>
                              <p:par>
                                <p:cTn id="1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"/>
                                        <p:tgtEl>
                                          <p:spTgt spid="13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230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"/>
                                        <p:tgtEl>
                                          <p:spTgt spid="13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Sub>
          <a:bldChart bld="category"/>
        </p:bldSub>
      </p:bldGraphic>
      <p:bldP spid="12" grpId="0"/>
      <p:bldGraphic spid="13" grpId="0">
        <p:bldSub>
          <a:bldChart bld="category"/>
        </p:bldSub>
      </p:bldGraphic>
      <p:bldP spid="18" grpId="0"/>
      <p:bldP spid="19" grpId="0"/>
      <p:bldP spid="15" grpId="0"/>
      <p:bldP spid="16" grpId="0" animBg="1"/>
      <p:bldP spid="17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ráfico 7">
            <a:extLst>
              <a:ext uri="{FF2B5EF4-FFF2-40B4-BE49-F238E27FC236}">
                <a16:creationId xmlns:a16="http://schemas.microsoft.com/office/drawing/2014/main" id="{498DD3F5-8DDA-4448-BE6F-BDF969B4EA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82348"/>
              </p:ext>
            </p:extLst>
          </p:nvPr>
        </p:nvGraphicFramePr>
        <p:xfrm>
          <a:off x="827584" y="2734656"/>
          <a:ext cx="6120680" cy="38626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ítulo 4">
            <a:extLst>
              <a:ext uri="{FF2B5EF4-FFF2-40B4-BE49-F238E27FC236}">
                <a16:creationId xmlns:a16="http://schemas.microsoft.com/office/drawing/2014/main" id="{FED326AD-AF18-4DAD-9035-EF628899B8E6}"/>
              </a:ext>
            </a:extLst>
          </p:cNvPr>
          <p:cNvSpPr txBox="1">
            <a:spLocks/>
          </p:cNvSpPr>
          <p:nvPr/>
        </p:nvSpPr>
        <p:spPr>
          <a:xfrm>
            <a:off x="-15958" y="-4996"/>
            <a:ext cx="9159957" cy="127375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2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El Banco de la Nación y las funciones “</a:t>
            </a:r>
            <a:r>
              <a:rPr lang="es-ES" sz="3200" i="1" dirty="0" err="1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bancocentralistas</a:t>
            </a:r>
            <a:r>
              <a:rPr lang="es-ES" sz="32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”</a:t>
            </a:r>
            <a:br>
              <a:rPr lang="es-ES" sz="32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</a:br>
            <a:r>
              <a:rPr lang="es-ES" sz="2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(Ejercicio Contrafactual)</a:t>
            </a:r>
            <a:endParaRPr lang="es-ES" sz="3200" i="1" dirty="0"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  <a:cs typeface="Browallia New" panose="020B0604020202020204" pitchFamily="34" charset="-34"/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A0EBA061-4197-4EF1-ABA9-3431814B7A6F}"/>
              </a:ext>
            </a:extLst>
          </p:cNvPr>
          <p:cNvSpPr/>
          <p:nvPr/>
        </p:nvSpPr>
        <p:spPr>
          <a:xfrm>
            <a:off x="683568" y="1578682"/>
            <a:ext cx="7740984" cy="48216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EL SACRIFICIO</a:t>
            </a:r>
          </a:p>
        </p:txBody>
      </p:sp>
      <p:pic>
        <p:nvPicPr>
          <p:cNvPr id="18" name="Gráfico 17" descr="Tribunal">
            <a:extLst>
              <a:ext uri="{FF2B5EF4-FFF2-40B4-BE49-F238E27FC236}">
                <a16:creationId xmlns:a16="http://schemas.microsoft.com/office/drawing/2014/main" id="{31489F69-550B-4EE3-994A-CA2D7AA211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65261" y="2075587"/>
            <a:ext cx="884168" cy="884168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88D735F7-20F5-4E5E-8C02-CA1A2526C964}"/>
              </a:ext>
            </a:extLst>
          </p:cNvPr>
          <p:cNvSpPr/>
          <p:nvPr/>
        </p:nvSpPr>
        <p:spPr>
          <a:xfrm>
            <a:off x="3918648" y="2823643"/>
            <a:ext cx="11816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BNA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3715BA6-6146-4F0D-9101-33B9211580EB}"/>
              </a:ext>
            </a:extLst>
          </p:cNvPr>
          <p:cNvSpPr/>
          <p:nvPr/>
        </p:nvSpPr>
        <p:spPr>
          <a:xfrm>
            <a:off x="4555720" y="2360587"/>
            <a:ext cx="11816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R/D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10222DF7-0C11-4242-B323-1592D3205CF4}"/>
              </a:ext>
            </a:extLst>
          </p:cNvPr>
          <p:cNvSpPr/>
          <p:nvPr/>
        </p:nvSpPr>
        <p:spPr>
          <a:xfrm>
            <a:off x="6699888" y="4452308"/>
            <a:ext cx="2042336" cy="791795"/>
          </a:xfrm>
          <a:prstGeom prst="roundRect">
            <a:avLst>
              <a:gd name="adj" fmla="val 5630"/>
            </a:avLst>
          </a:prstGeom>
          <a:noFill/>
          <a:ln w="28575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Sin redescuentos </a:t>
            </a:r>
          </a:p>
          <a:p>
            <a:r>
              <a:rPr lang="es-ES" sz="1600" b="1" dirty="0" err="1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Prom</a:t>
            </a:r>
            <a:r>
              <a:rPr lang="es-ES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: 21%</a:t>
            </a:r>
            <a:endParaRPr lang="es-ES" sz="1600" dirty="0"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  <a:cs typeface="Browallia New" panose="020B0604020202020204" pitchFamily="34" charset="-34"/>
            </a:endParaRP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D8B1887E-0EA9-4690-8C91-A4E278832B2D}"/>
              </a:ext>
            </a:extLst>
          </p:cNvPr>
          <p:cNvSpPr/>
          <p:nvPr/>
        </p:nvSpPr>
        <p:spPr>
          <a:xfrm>
            <a:off x="6699888" y="3454991"/>
            <a:ext cx="1789102" cy="797681"/>
          </a:xfrm>
          <a:prstGeom prst="roundRect">
            <a:avLst>
              <a:gd name="adj" fmla="val 5630"/>
            </a:avLst>
          </a:prstGeom>
          <a:noFill/>
          <a:ln w="28575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Sin financiamiento </a:t>
            </a:r>
          </a:p>
          <a:p>
            <a:r>
              <a:rPr lang="es-ES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al Estado </a:t>
            </a:r>
          </a:p>
          <a:p>
            <a:r>
              <a:rPr lang="es-ES" sz="1600" b="1" dirty="0" err="1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Prom</a:t>
            </a:r>
            <a:r>
              <a:rPr lang="es-ES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: 57%</a:t>
            </a:r>
            <a:endParaRPr lang="es-ES" sz="1600" dirty="0"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  <a:cs typeface="Browallia New" panose="020B0604020202020204" pitchFamily="34" charset="-34"/>
            </a:endParaRP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D3AA79D5-E7A0-4172-A144-760E0C1EE957}"/>
              </a:ext>
            </a:extLst>
          </p:cNvPr>
          <p:cNvSpPr/>
          <p:nvPr/>
        </p:nvSpPr>
        <p:spPr>
          <a:xfrm>
            <a:off x="6699888" y="5244103"/>
            <a:ext cx="1797107" cy="724230"/>
          </a:xfrm>
          <a:prstGeom prst="roundRect">
            <a:avLst>
              <a:gd name="adj" fmla="val 5630"/>
            </a:avLst>
          </a:prstGeom>
          <a:solidFill>
            <a:schemeClr val="tx2">
              <a:lumMod val="40000"/>
              <a:lumOff val="60000"/>
            </a:schemeClr>
          </a:solidFill>
          <a:ln w="285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Observado </a:t>
            </a:r>
          </a:p>
          <a:p>
            <a:r>
              <a:rPr lang="es-ES" sz="1600" b="1" dirty="0" err="1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Prom</a:t>
            </a:r>
            <a:r>
              <a:rPr lang="es-ES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: 15%</a:t>
            </a:r>
            <a:endParaRPr lang="es-ES" sz="1600" dirty="0"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  <a:cs typeface="Browallia New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297247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75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"/>
                                        <p:tgtEl>
                                          <p:spTgt spid="8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5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"/>
                                        <p:tgtEl>
                                          <p:spTgt spid="8">
                                            <p:graphicEl>
                                              <a:chart seriesIdx="-4" categoryIdx="0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95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"/>
                                        <p:tgtEl>
                                          <p:spTgt spid="8">
                                            <p:graphicEl>
                                              <a:chart seriesIdx="-4" categoryIdx="1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5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"/>
                                        <p:tgtEl>
                                          <p:spTgt spid="8">
                                            <p:graphicEl>
                                              <a:chart seriesIdx="-4" categoryIdx="2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15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"/>
                                        <p:tgtEl>
                                          <p:spTgt spid="8">
                                            <p:graphicEl>
                                              <a:chart seriesIdx="-4" categoryIdx="3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25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"/>
                                        <p:tgtEl>
                                          <p:spTgt spid="8">
                                            <p:graphicEl>
                                              <a:chart seriesIdx="-4" categoryIdx="4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35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"/>
                                        <p:tgtEl>
                                          <p:spTgt spid="8">
                                            <p:graphicEl>
                                              <a:chart seriesIdx="-4" categoryIdx="5" bldStep="category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450"/>
                            </p:stCondLst>
                            <p:childTnLst>
                              <p:par>
                                <p:cTn id="5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450"/>
                            </p:stCondLst>
                            <p:childTnLst>
                              <p:par>
                                <p:cTn id="62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950"/>
                            </p:stCondLst>
                            <p:childTnLst>
                              <p:par>
                                <p:cTn id="68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Sub>
          <a:bldChart bld="category"/>
        </p:bldSub>
      </p:bldGraphic>
      <p:bldP spid="16" grpId="0"/>
      <p:bldP spid="17" grpId="0" animBg="1"/>
      <p:bldP spid="19" grpId="0"/>
      <p:bldP spid="20" grpId="0"/>
      <p:bldP spid="21" grpId="0"/>
      <p:bldP spid="22" grpId="0"/>
      <p:bldP spid="2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ángulo: esquinas redondeadas 48">
            <a:extLst>
              <a:ext uri="{FF2B5EF4-FFF2-40B4-BE49-F238E27FC236}">
                <a16:creationId xmlns:a16="http://schemas.microsoft.com/office/drawing/2014/main" id="{079B7C0F-2F83-45BE-A5C7-90EE07A0308F}"/>
              </a:ext>
            </a:extLst>
          </p:cNvPr>
          <p:cNvSpPr/>
          <p:nvPr/>
        </p:nvSpPr>
        <p:spPr>
          <a:xfrm>
            <a:off x="766132" y="5107207"/>
            <a:ext cx="7516948" cy="948649"/>
          </a:xfrm>
          <a:prstGeom prst="roundRect">
            <a:avLst>
              <a:gd name="adj" fmla="val 12615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 dirty="0">
              <a:solidFill>
                <a:srgbClr val="4B4B50"/>
              </a:solidFill>
              <a:latin typeface="Abadi" panose="020B0604020104020204" pitchFamily="34" charset="0"/>
              <a:cs typeface="Browallia New" panose="020B0604020202020204" pitchFamily="34" charset="-34"/>
            </a:endParaRPr>
          </a:p>
        </p:txBody>
      </p:sp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5660829E-BFB0-423F-A4C4-D197187074D7}"/>
              </a:ext>
            </a:extLst>
          </p:cNvPr>
          <p:cNvSpPr/>
          <p:nvPr/>
        </p:nvSpPr>
        <p:spPr>
          <a:xfrm>
            <a:off x="766132" y="4018221"/>
            <a:ext cx="7516948" cy="948649"/>
          </a:xfrm>
          <a:prstGeom prst="roundRect">
            <a:avLst>
              <a:gd name="adj" fmla="val 12615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 dirty="0">
              <a:solidFill>
                <a:srgbClr val="4B4B50"/>
              </a:solidFill>
              <a:latin typeface="Abadi" panose="020B0604020104020204" pitchFamily="34" charset="0"/>
              <a:cs typeface="Browallia New" panose="020B0604020202020204" pitchFamily="34" charset="-34"/>
            </a:endParaRPr>
          </a:p>
        </p:txBody>
      </p: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7F25D129-5732-43AF-AE76-F712CAF7F58A}"/>
              </a:ext>
            </a:extLst>
          </p:cNvPr>
          <p:cNvSpPr/>
          <p:nvPr/>
        </p:nvSpPr>
        <p:spPr>
          <a:xfrm>
            <a:off x="772397" y="2912480"/>
            <a:ext cx="7516948" cy="948649"/>
          </a:xfrm>
          <a:prstGeom prst="roundRect">
            <a:avLst>
              <a:gd name="adj" fmla="val 12615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 dirty="0">
              <a:solidFill>
                <a:srgbClr val="4B4B50"/>
              </a:solidFill>
              <a:latin typeface="Abadi" panose="020B0604020104020204" pitchFamily="34" charset="0"/>
              <a:cs typeface="Browallia New" panose="020B0604020202020204" pitchFamily="34" charset="-34"/>
            </a:endParaRPr>
          </a:p>
        </p:txBody>
      </p:sp>
      <p:pic>
        <p:nvPicPr>
          <p:cNvPr id="8" name="Gráfico 7" descr="Centro educativo">
            <a:extLst>
              <a:ext uri="{FF2B5EF4-FFF2-40B4-BE49-F238E27FC236}">
                <a16:creationId xmlns:a16="http://schemas.microsoft.com/office/drawing/2014/main" id="{C168682F-6ADD-47D5-9547-72866AF613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5202" y="3870527"/>
            <a:ext cx="1002593" cy="1002593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3338BD35-2B45-4C3D-95B0-39AFF646C115}"/>
              </a:ext>
            </a:extLst>
          </p:cNvPr>
          <p:cNvSpPr/>
          <p:nvPr/>
        </p:nvSpPr>
        <p:spPr>
          <a:xfrm>
            <a:off x="1116052" y="4660654"/>
            <a:ext cx="89304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CAJA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148E04D-1582-4868-ADBB-9991DA6449DB}"/>
              </a:ext>
            </a:extLst>
          </p:cNvPr>
          <p:cNvSpPr/>
          <p:nvPr/>
        </p:nvSpPr>
        <p:spPr>
          <a:xfrm>
            <a:off x="3539736" y="4365104"/>
            <a:ext cx="269598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ANTI-CÍCLICO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A5FD063-D8E0-431C-9B9D-2F453135E194}"/>
              </a:ext>
            </a:extLst>
          </p:cNvPr>
          <p:cNvSpPr/>
          <p:nvPr/>
        </p:nvSpPr>
        <p:spPr>
          <a:xfrm>
            <a:off x="6026523" y="4212377"/>
            <a:ext cx="26959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RESPONDE A ACTIVOS INTERNOS</a:t>
            </a:r>
          </a:p>
        </p:txBody>
      </p:sp>
      <p:pic>
        <p:nvPicPr>
          <p:cNvPr id="22" name="Gráfico 21" descr="Tribunal">
            <a:extLst>
              <a:ext uri="{FF2B5EF4-FFF2-40B4-BE49-F238E27FC236}">
                <a16:creationId xmlns:a16="http://schemas.microsoft.com/office/drawing/2014/main" id="{F7FA313D-FB98-4A9E-A0FA-2CA7B73DEE2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97993" y="5086914"/>
            <a:ext cx="810162" cy="810162"/>
          </a:xfrm>
          <a:prstGeom prst="rect">
            <a:avLst/>
          </a:prstGeom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43AE2824-D25E-45FF-A9C0-22346A809CCC}"/>
              </a:ext>
            </a:extLst>
          </p:cNvPr>
          <p:cNvSpPr/>
          <p:nvPr/>
        </p:nvSpPr>
        <p:spPr>
          <a:xfrm>
            <a:off x="251520" y="5743696"/>
            <a:ext cx="269598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BANCOS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DD5BEF58-C3A3-46F7-9FCE-99BE6C5095CE}"/>
              </a:ext>
            </a:extLst>
          </p:cNvPr>
          <p:cNvSpPr/>
          <p:nvPr/>
        </p:nvSpPr>
        <p:spPr>
          <a:xfrm>
            <a:off x="2534181" y="5454788"/>
            <a:ext cx="394786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AL BORDE DEL COLAPSO</a:t>
            </a:r>
          </a:p>
        </p:txBody>
      </p:sp>
      <p:pic>
        <p:nvPicPr>
          <p:cNvPr id="29" name="Gráfico 28" descr="Calendario giratorio">
            <a:extLst>
              <a:ext uri="{FF2B5EF4-FFF2-40B4-BE49-F238E27FC236}">
                <a16:creationId xmlns:a16="http://schemas.microsoft.com/office/drawing/2014/main" id="{567F42A1-A632-4FC4-9691-062D6B7D9DF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33124" y="2772767"/>
            <a:ext cx="1280167" cy="1228479"/>
          </a:xfrm>
          <a:prstGeom prst="rect">
            <a:avLst/>
          </a:prstGeom>
        </p:spPr>
      </p:pic>
      <p:sp>
        <p:nvSpPr>
          <p:cNvPr id="30" name="Rectángulo 29">
            <a:extLst>
              <a:ext uri="{FF2B5EF4-FFF2-40B4-BE49-F238E27FC236}">
                <a16:creationId xmlns:a16="http://schemas.microsoft.com/office/drawing/2014/main" id="{4BA188FD-CF1A-45C1-A7E0-D22EB62C7C2F}"/>
              </a:ext>
            </a:extLst>
          </p:cNvPr>
          <p:cNvSpPr/>
          <p:nvPr/>
        </p:nvSpPr>
        <p:spPr>
          <a:xfrm>
            <a:off x="2727753" y="3272665"/>
            <a:ext cx="6671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AR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1929-</a:t>
            </a:r>
          </a:p>
          <a:p>
            <a:pPr algn="ctr"/>
            <a:r>
              <a:rPr lang="es-AR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1931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3E7B1BAA-25D9-42F8-9043-90EE0A0BA532}"/>
              </a:ext>
            </a:extLst>
          </p:cNvPr>
          <p:cNvSpPr/>
          <p:nvPr/>
        </p:nvSpPr>
        <p:spPr>
          <a:xfrm>
            <a:off x="3562943" y="3296002"/>
            <a:ext cx="13058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TC FLOTANTE</a:t>
            </a:r>
          </a:p>
        </p:txBody>
      </p:sp>
      <p:pic>
        <p:nvPicPr>
          <p:cNvPr id="32" name="Gráfico 31" descr="Calendario giratorio">
            <a:extLst>
              <a:ext uri="{FF2B5EF4-FFF2-40B4-BE49-F238E27FC236}">
                <a16:creationId xmlns:a16="http://schemas.microsoft.com/office/drawing/2014/main" id="{60519B74-ECD8-43CD-882A-445171B8765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55555" y="2772767"/>
            <a:ext cx="1280167" cy="1228479"/>
          </a:xfrm>
          <a:prstGeom prst="rect">
            <a:avLst/>
          </a:prstGeom>
        </p:spPr>
      </p:pic>
      <p:sp>
        <p:nvSpPr>
          <p:cNvPr id="33" name="Rectángulo 32">
            <a:extLst>
              <a:ext uri="{FF2B5EF4-FFF2-40B4-BE49-F238E27FC236}">
                <a16:creationId xmlns:a16="http://schemas.microsoft.com/office/drawing/2014/main" id="{77CBF73D-0DA1-4759-9C9D-5A5A5A83B30C}"/>
              </a:ext>
            </a:extLst>
          </p:cNvPr>
          <p:cNvSpPr/>
          <p:nvPr/>
        </p:nvSpPr>
        <p:spPr>
          <a:xfrm>
            <a:off x="5250184" y="3267741"/>
            <a:ext cx="6671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AR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1931-</a:t>
            </a:r>
          </a:p>
          <a:p>
            <a:pPr algn="ctr"/>
            <a:endParaRPr lang="es-AR" sz="1400" b="1" dirty="0"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  <a:cs typeface="Browallia New" panose="020B0604020202020204" pitchFamily="34" charset="-34"/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3409C30A-B730-49EE-A798-FDA44951ACE4}"/>
              </a:ext>
            </a:extLst>
          </p:cNvPr>
          <p:cNvSpPr/>
          <p:nvPr/>
        </p:nvSpPr>
        <p:spPr>
          <a:xfrm>
            <a:off x="6035290" y="3288908"/>
            <a:ext cx="269598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CONTROL DE CAMBIOS</a:t>
            </a:r>
          </a:p>
        </p:txBody>
      </p:sp>
      <p:sp>
        <p:nvSpPr>
          <p:cNvPr id="40" name="Título 4">
            <a:extLst>
              <a:ext uri="{FF2B5EF4-FFF2-40B4-BE49-F238E27FC236}">
                <a16:creationId xmlns:a16="http://schemas.microsoft.com/office/drawing/2014/main" id="{E3C5FD74-D684-4B80-BDA5-2E156EE562F5}"/>
              </a:ext>
            </a:extLst>
          </p:cNvPr>
          <p:cNvSpPr txBox="1">
            <a:spLocks/>
          </p:cNvSpPr>
          <p:nvPr/>
        </p:nvSpPr>
        <p:spPr>
          <a:xfrm>
            <a:off x="0" y="-5424"/>
            <a:ext cx="9144000" cy="24121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5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Transformación de la Primera Caja de Conversión </a:t>
            </a:r>
          </a:p>
          <a:p>
            <a:pPr algn="ctr"/>
            <a:r>
              <a:rPr lang="es-ES" sz="5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1929-1934</a:t>
            </a:r>
          </a:p>
        </p:txBody>
      </p:sp>
      <p:pic>
        <p:nvPicPr>
          <p:cNvPr id="42" name="Gráfico 41" descr="Monedas">
            <a:extLst>
              <a:ext uri="{FF2B5EF4-FFF2-40B4-BE49-F238E27FC236}">
                <a16:creationId xmlns:a16="http://schemas.microsoft.com/office/drawing/2014/main" id="{B3BE05C7-D797-45CE-A256-25EF94B87E6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45648" y="2826153"/>
            <a:ext cx="1106062" cy="1106062"/>
          </a:xfrm>
          <a:prstGeom prst="rect">
            <a:avLst/>
          </a:prstGeom>
        </p:spPr>
      </p:pic>
      <p:sp>
        <p:nvSpPr>
          <p:cNvPr id="43" name="CuadroTexto 42">
            <a:extLst>
              <a:ext uri="{FF2B5EF4-FFF2-40B4-BE49-F238E27FC236}">
                <a16:creationId xmlns:a16="http://schemas.microsoft.com/office/drawing/2014/main" id="{AD09D8D5-841B-4B7E-942B-9F3A2EAE6E41}"/>
              </a:ext>
            </a:extLst>
          </p:cNvPr>
          <p:cNvSpPr txBox="1"/>
          <p:nvPr/>
        </p:nvSpPr>
        <p:spPr>
          <a:xfrm>
            <a:off x="810059" y="3043291"/>
            <a:ext cx="6711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0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$</a:t>
            </a:r>
          </a:p>
        </p:txBody>
      </p:sp>
      <p:pic>
        <p:nvPicPr>
          <p:cNvPr id="45" name="Gráfico 44" descr="Calendario giratorio">
            <a:extLst>
              <a:ext uri="{FF2B5EF4-FFF2-40B4-BE49-F238E27FC236}">
                <a16:creationId xmlns:a16="http://schemas.microsoft.com/office/drawing/2014/main" id="{2D0202B5-2F01-4DD1-9B40-D963BD389BB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27425" y="3865053"/>
            <a:ext cx="1280167" cy="1228479"/>
          </a:xfrm>
          <a:prstGeom prst="rect">
            <a:avLst/>
          </a:prstGeom>
        </p:spPr>
      </p:pic>
      <p:sp>
        <p:nvSpPr>
          <p:cNvPr id="46" name="Rectángulo 45">
            <a:extLst>
              <a:ext uri="{FF2B5EF4-FFF2-40B4-BE49-F238E27FC236}">
                <a16:creationId xmlns:a16="http://schemas.microsoft.com/office/drawing/2014/main" id="{8A60B84D-D75C-4D1F-BBFE-5E7F69B47CAC}"/>
              </a:ext>
            </a:extLst>
          </p:cNvPr>
          <p:cNvSpPr/>
          <p:nvPr/>
        </p:nvSpPr>
        <p:spPr>
          <a:xfrm>
            <a:off x="2732528" y="4363296"/>
            <a:ext cx="6671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AR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1929-</a:t>
            </a:r>
          </a:p>
          <a:p>
            <a:pPr algn="ctr"/>
            <a:r>
              <a:rPr lang="es-AR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1931</a:t>
            </a:r>
          </a:p>
        </p:txBody>
      </p:sp>
      <p:pic>
        <p:nvPicPr>
          <p:cNvPr id="47" name="Gráfico 46" descr="Calendario giratorio">
            <a:extLst>
              <a:ext uri="{FF2B5EF4-FFF2-40B4-BE49-F238E27FC236}">
                <a16:creationId xmlns:a16="http://schemas.microsoft.com/office/drawing/2014/main" id="{3578A808-7105-4DF7-BD27-614496DA373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76780" y="3865053"/>
            <a:ext cx="1280167" cy="1228479"/>
          </a:xfrm>
          <a:prstGeom prst="rect">
            <a:avLst/>
          </a:prstGeom>
        </p:spPr>
      </p:pic>
      <p:sp>
        <p:nvSpPr>
          <p:cNvPr id="48" name="Rectángulo 47">
            <a:extLst>
              <a:ext uri="{FF2B5EF4-FFF2-40B4-BE49-F238E27FC236}">
                <a16:creationId xmlns:a16="http://schemas.microsoft.com/office/drawing/2014/main" id="{2CB3517C-E766-4860-9C86-280969D6D471}"/>
              </a:ext>
            </a:extLst>
          </p:cNvPr>
          <p:cNvSpPr/>
          <p:nvPr/>
        </p:nvSpPr>
        <p:spPr>
          <a:xfrm>
            <a:off x="5271409" y="4360027"/>
            <a:ext cx="6671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AR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1931-</a:t>
            </a:r>
          </a:p>
          <a:p>
            <a:pPr algn="ctr"/>
            <a:r>
              <a:rPr lang="es-AR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1934</a:t>
            </a:r>
          </a:p>
        </p:txBody>
      </p:sp>
    </p:spTree>
    <p:extLst>
      <p:ext uri="{BB962C8B-B14F-4D97-AF65-F5344CB8AC3E}">
        <p14:creationId xmlns:p14="http://schemas.microsoft.com/office/powerpoint/2010/main" val="3455705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6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26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4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367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98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498" tmFilter="0, 0; 0.125,0.2665; 0.25,0.4; 0.375,0.465; 0.5,0.5;  0.625,0.535; 0.75,0.6; 0.875,0.7335; 1,1">
                                          <p:stCondLst>
                                            <p:cond delay="49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49" tmFilter="0, 0; 0.125,0.2665; 0.25,0.4; 0.375,0.465; 0.5,0.5;  0.625,0.535; 0.75,0.6; 0.875,0.7335; 1,1">
                                          <p:stCondLst>
                                            <p:cond delay="993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23" tmFilter="0, 0; 0.125,0.2665; 0.25,0.4; 0.375,0.465; 0.5,0.5;  0.625,0.535; 0.75,0.6; 0.875,0.7335; 1,1">
                                          <p:stCondLst>
                                            <p:cond delay="124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0">
                                          <p:stCondLst>
                                            <p:cond delay="487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24" decel="50000">
                                          <p:stCondLst>
                                            <p:cond delay="507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0">
                                          <p:stCondLst>
                                            <p:cond delay="98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24" decel="50000">
                                          <p:stCondLst>
                                            <p:cond delay="100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0">
                                          <p:stCondLst>
                                            <p:cond delay="1231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24" decel="50000">
                                          <p:stCondLst>
                                            <p:cond delay="1251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0">
                                          <p:stCondLst>
                                            <p:cond delay="135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24" decel="50000">
                                          <p:stCondLst>
                                            <p:cond delay="137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750"/>
                            </p:stCondLst>
                            <p:childTnLst>
                              <p:par>
                                <p:cTn id="46" presetID="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500"/>
                            </p:stCondLst>
                            <p:childTnLst>
                              <p:par>
                                <p:cTn id="55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750"/>
                            </p:stCondLst>
                            <p:childTnLst>
                              <p:par>
                                <p:cTn id="61" presetID="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500"/>
                            </p:stCondLst>
                            <p:childTnLst>
                              <p:par>
                                <p:cTn id="70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675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7500"/>
                            </p:stCondLst>
                            <p:childTnLst>
                              <p:par>
                                <p:cTn id="79" presetID="26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5" presetID="26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9000"/>
                            </p:stCondLst>
                            <p:childTnLst>
                              <p:par>
                                <p:cTn id="112" presetID="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9750"/>
                            </p:stCondLst>
                            <p:childTnLst>
                              <p:par>
                                <p:cTn id="121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1000"/>
                            </p:stCondLst>
                            <p:childTnLst>
                              <p:par>
                                <p:cTn id="127" presetID="2" presetClass="entr" presetSubtype="1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1750"/>
                            </p:stCondLst>
                            <p:childTnLst>
                              <p:par>
                                <p:cTn id="136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3000"/>
                            </p:stCondLst>
                            <p:childTnLst>
                              <p:par>
                                <p:cTn id="142" presetID="1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3750"/>
                            </p:stCondLst>
                            <p:childTnLst>
                              <p:par>
                                <p:cTn id="145" presetID="26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3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139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415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415" tmFilter="0, 0; 0.125,0.2665; 0.25,0.4; 0.375,0.465; 0.5,0.5;  0.625,0.535; 0.75,0.6; 0.875,0.7335; 1,1">
                                          <p:stCondLst>
                                            <p:cond delay="415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207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3" tmFilter="0, 0; 0.125,0.2665; 0.25,0.4; 0.375,0.465; 0.5,0.5;  0.625,0.535; 0.75,0.6; 0.875,0.7335; 1,1">
                                          <p:stCondLst>
                                            <p:cond delay="1035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3" dur="16">
                                          <p:stCondLst>
                                            <p:cond delay="40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4" dur="104" decel="50000">
                                          <p:stCondLst>
                                            <p:cond delay="423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5" dur="16">
                                          <p:stCondLst>
                                            <p:cond delay="82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6" dur="104" decel="50000">
                                          <p:stCondLst>
                                            <p:cond delay="83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7" dur="16">
                                          <p:stCondLst>
                                            <p:cond delay="102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8" dur="104" decel="50000">
                                          <p:stCondLst>
                                            <p:cond delay="10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9" dur="16">
                                          <p:stCondLst>
                                            <p:cond delay="113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0" dur="104" decel="50000">
                                          <p:stCondLst>
                                            <p:cond delay="114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1" presetID="26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9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0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1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2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3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4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5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6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15250"/>
                            </p:stCondLst>
                            <p:childTnLst>
                              <p:par>
                                <p:cTn id="178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44" grpId="0" animBg="1"/>
      <p:bldP spid="41" grpId="0" animBg="1"/>
      <p:bldP spid="9" grpId="0"/>
      <p:bldP spid="16" grpId="0"/>
      <p:bldP spid="21" grpId="0"/>
      <p:bldP spid="23" grpId="0"/>
      <p:bldP spid="26" grpId="0"/>
      <p:bldP spid="30" grpId="0"/>
      <p:bldP spid="31" grpId="0"/>
      <p:bldP spid="33" grpId="0"/>
      <p:bldP spid="34" grpId="0"/>
      <p:bldP spid="40" grpId="0"/>
      <p:bldP spid="43" grpId="0"/>
      <p:bldP spid="46" grpId="0"/>
      <p:bldP spid="48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19665132-D523-4A9A-B0C0-104227887A26}"/>
              </a:ext>
            </a:extLst>
          </p:cNvPr>
          <p:cNvSpPr/>
          <p:nvPr/>
        </p:nvSpPr>
        <p:spPr>
          <a:xfrm>
            <a:off x="1052368" y="2276872"/>
            <a:ext cx="7181511" cy="4369576"/>
          </a:xfrm>
          <a:prstGeom prst="roundRect">
            <a:avLst>
              <a:gd name="adj" fmla="val 563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 dirty="0">
              <a:solidFill>
                <a:srgbClr val="4B4B50"/>
              </a:solidFill>
              <a:latin typeface="Abadi" panose="020B0604020104020204" pitchFamily="34" charset="0"/>
              <a:cs typeface="Browallia New" panose="020B0604020202020204" pitchFamily="34" charset="-34"/>
            </a:endParaRPr>
          </a:p>
        </p:txBody>
      </p:sp>
      <p:sp>
        <p:nvSpPr>
          <p:cNvPr id="32" name="Explosión: 8 puntos 31">
            <a:extLst>
              <a:ext uri="{FF2B5EF4-FFF2-40B4-BE49-F238E27FC236}">
                <a16:creationId xmlns:a16="http://schemas.microsoft.com/office/drawing/2014/main" id="{355BCBA1-431D-4D0C-A41D-7A5244D50FE7}"/>
              </a:ext>
            </a:extLst>
          </p:cNvPr>
          <p:cNvSpPr/>
          <p:nvPr/>
        </p:nvSpPr>
        <p:spPr>
          <a:xfrm>
            <a:off x="6489777" y="3950987"/>
            <a:ext cx="1092155" cy="1255301"/>
          </a:xfrm>
          <a:prstGeom prst="irregularSeal1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2" name="Explosión: 8 puntos 71">
            <a:extLst>
              <a:ext uri="{FF2B5EF4-FFF2-40B4-BE49-F238E27FC236}">
                <a16:creationId xmlns:a16="http://schemas.microsoft.com/office/drawing/2014/main" id="{F8F1911E-4B58-431E-BA2F-E906B25E4399}"/>
              </a:ext>
            </a:extLst>
          </p:cNvPr>
          <p:cNvSpPr/>
          <p:nvPr/>
        </p:nvSpPr>
        <p:spPr>
          <a:xfrm>
            <a:off x="2185794" y="5216148"/>
            <a:ext cx="1818183" cy="2030416"/>
          </a:xfrm>
          <a:prstGeom prst="irregularSeal1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Explosión: 8 puntos 9">
            <a:extLst>
              <a:ext uri="{FF2B5EF4-FFF2-40B4-BE49-F238E27FC236}">
                <a16:creationId xmlns:a16="http://schemas.microsoft.com/office/drawing/2014/main" id="{C1F20DC5-27B3-4C50-A9A7-09412CF31F47}"/>
              </a:ext>
            </a:extLst>
          </p:cNvPr>
          <p:cNvSpPr/>
          <p:nvPr/>
        </p:nvSpPr>
        <p:spPr>
          <a:xfrm>
            <a:off x="1762919" y="2661701"/>
            <a:ext cx="2224444" cy="1516844"/>
          </a:xfrm>
          <a:prstGeom prst="irregularSeal1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12" name="Gráfico 11" descr="Centro educativo">
            <a:extLst>
              <a:ext uri="{FF2B5EF4-FFF2-40B4-BE49-F238E27FC236}">
                <a16:creationId xmlns:a16="http://schemas.microsoft.com/office/drawing/2014/main" id="{9FB63A81-0FA5-4104-8E57-8721EDB118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6947" y="3835357"/>
            <a:ext cx="914400" cy="914400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2970C011-365D-48ED-9AED-FD3291760B33}"/>
              </a:ext>
            </a:extLst>
          </p:cNvPr>
          <p:cNvSpPr/>
          <p:nvPr/>
        </p:nvSpPr>
        <p:spPr>
          <a:xfrm>
            <a:off x="1647356" y="4542185"/>
            <a:ext cx="673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CAJA</a:t>
            </a:r>
          </a:p>
        </p:txBody>
      </p:sp>
      <p:pic>
        <p:nvPicPr>
          <p:cNvPr id="17" name="Gráfico 16" descr="Tribunal">
            <a:extLst>
              <a:ext uri="{FF2B5EF4-FFF2-40B4-BE49-F238E27FC236}">
                <a16:creationId xmlns:a16="http://schemas.microsoft.com/office/drawing/2014/main" id="{457276C6-6BD8-40F3-8B2E-D9D93F7EDB0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73184" y="3241937"/>
            <a:ext cx="666049" cy="666049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AB9D5153-DA8B-42FD-B91F-D3F32CA58EC5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809833" y="5007828"/>
            <a:ext cx="613439" cy="613439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E4561F74-7399-4F1A-B492-D8E9A3DCAF02}"/>
              </a:ext>
            </a:extLst>
          </p:cNvPr>
          <p:cNvSpPr/>
          <p:nvPr/>
        </p:nvSpPr>
        <p:spPr>
          <a:xfrm>
            <a:off x="3640363" y="3766146"/>
            <a:ext cx="93006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BANCOS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A09E367-4D98-4DD1-8BED-D4B2999321D1}"/>
              </a:ext>
            </a:extLst>
          </p:cNvPr>
          <p:cNvSpPr/>
          <p:nvPr/>
        </p:nvSpPr>
        <p:spPr>
          <a:xfrm>
            <a:off x="3651690" y="5564176"/>
            <a:ext cx="90601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ESTADO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68D7FDF-EF68-49E4-A29C-663E24FB10D6}"/>
              </a:ext>
            </a:extLst>
          </p:cNvPr>
          <p:cNvSpPr/>
          <p:nvPr/>
        </p:nvSpPr>
        <p:spPr>
          <a:xfrm>
            <a:off x="2144469" y="3157899"/>
            <a:ext cx="14077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REDESCUENTOS</a:t>
            </a:r>
          </a:p>
        </p:txBody>
      </p:sp>
      <p:pic>
        <p:nvPicPr>
          <p:cNvPr id="31" name="Gráfico 30" descr="Monedas">
            <a:extLst>
              <a:ext uri="{FF2B5EF4-FFF2-40B4-BE49-F238E27FC236}">
                <a16:creationId xmlns:a16="http://schemas.microsoft.com/office/drawing/2014/main" id="{9CFF1256-AC11-41EB-B61B-C2FB1BBFA7F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85794" y="4818390"/>
            <a:ext cx="511106" cy="511106"/>
          </a:xfrm>
          <a:prstGeom prst="rect">
            <a:avLst/>
          </a:prstGeom>
        </p:spPr>
      </p:pic>
      <p:sp>
        <p:nvSpPr>
          <p:cNvPr id="33" name="Rectángulo 32">
            <a:extLst>
              <a:ext uri="{FF2B5EF4-FFF2-40B4-BE49-F238E27FC236}">
                <a16:creationId xmlns:a16="http://schemas.microsoft.com/office/drawing/2014/main" id="{DFABF493-F608-4393-908E-6E3B512D66B6}"/>
              </a:ext>
            </a:extLst>
          </p:cNvPr>
          <p:cNvSpPr/>
          <p:nvPr/>
        </p:nvSpPr>
        <p:spPr>
          <a:xfrm>
            <a:off x="1984147" y="5229878"/>
            <a:ext cx="86420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FC</a:t>
            </a:r>
          </a:p>
        </p:txBody>
      </p:sp>
      <p:sp>
        <p:nvSpPr>
          <p:cNvPr id="34" name="Flecha: a la derecha 33">
            <a:extLst>
              <a:ext uri="{FF2B5EF4-FFF2-40B4-BE49-F238E27FC236}">
                <a16:creationId xmlns:a16="http://schemas.microsoft.com/office/drawing/2014/main" id="{5DA652E5-9012-4619-A7E5-902E484C0CFF}"/>
              </a:ext>
            </a:extLst>
          </p:cNvPr>
          <p:cNvSpPr/>
          <p:nvPr/>
        </p:nvSpPr>
        <p:spPr>
          <a:xfrm rot="1612640">
            <a:off x="2290332" y="4893595"/>
            <a:ext cx="1524478" cy="252484"/>
          </a:xfrm>
          <a:prstGeom prst="rightArrow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37" name="Gráfico 36" descr="Dinero">
            <a:extLst>
              <a:ext uri="{FF2B5EF4-FFF2-40B4-BE49-F238E27FC236}">
                <a16:creationId xmlns:a16="http://schemas.microsoft.com/office/drawing/2014/main" id="{5C0A7026-71B9-4D39-81BC-712DB781C54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790690" y="5393027"/>
            <a:ext cx="496956" cy="496956"/>
          </a:xfrm>
          <a:prstGeom prst="rect">
            <a:avLst/>
          </a:prstGeom>
        </p:spPr>
      </p:pic>
      <p:sp>
        <p:nvSpPr>
          <p:cNvPr id="39" name="Rectángulo 38">
            <a:extLst>
              <a:ext uri="{FF2B5EF4-FFF2-40B4-BE49-F238E27FC236}">
                <a16:creationId xmlns:a16="http://schemas.microsoft.com/office/drawing/2014/main" id="{B5403674-6F27-4E33-98E1-94B7AF938662}"/>
              </a:ext>
            </a:extLst>
          </p:cNvPr>
          <p:cNvSpPr/>
          <p:nvPr/>
        </p:nvSpPr>
        <p:spPr>
          <a:xfrm>
            <a:off x="2607067" y="5815451"/>
            <a:ext cx="86420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2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CAUCIÓN DE TÍTULOS PÚBLICOS</a:t>
            </a:r>
          </a:p>
        </p:txBody>
      </p:sp>
      <p:sp>
        <p:nvSpPr>
          <p:cNvPr id="51" name="Flecha: a la derecha 50">
            <a:extLst>
              <a:ext uri="{FF2B5EF4-FFF2-40B4-BE49-F238E27FC236}">
                <a16:creationId xmlns:a16="http://schemas.microsoft.com/office/drawing/2014/main" id="{1E4A13F1-F94E-4DD6-90D6-2925FE454829}"/>
              </a:ext>
            </a:extLst>
          </p:cNvPr>
          <p:cNvSpPr/>
          <p:nvPr/>
        </p:nvSpPr>
        <p:spPr>
          <a:xfrm rot="19987360" flipV="1">
            <a:off x="2335060" y="3870910"/>
            <a:ext cx="1475580" cy="257482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52" name="Gráfico 51" descr="Dinero">
            <a:extLst>
              <a:ext uri="{FF2B5EF4-FFF2-40B4-BE49-F238E27FC236}">
                <a16:creationId xmlns:a16="http://schemas.microsoft.com/office/drawing/2014/main" id="{66C0AF46-0237-4C6F-9A09-3957D314368D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573587" y="3371456"/>
            <a:ext cx="496956" cy="496956"/>
          </a:xfrm>
          <a:prstGeom prst="rect">
            <a:avLst/>
          </a:prstGeom>
        </p:spPr>
      </p:pic>
      <p:pic>
        <p:nvPicPr>
          <p:cNvPr id="57" name="Gráfico 56" descr="Tribunal">
            <a:extLst>
              <a:ext uri="{FF2B5EF4-FFF2-40B4-BE49-F238E27FC236}">
                <a16:creationId xmlns:a16="http://schemas.microsoft.com/office/drawing/2014/main" id="{DEE0B4FB-EDB9-4CAF-BDAE-7BAD645375EA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335558" y="4089852"/>
            <a:ext cx="737772" cy="737772"/>
          </a:xfrm>
          <a:prstGeom prst="rect">
            <a:avLst/>
          </a:prstGeom>
        </p:spPr>
      </p:pic>
      <p:sp>
        <p:nvSpPr>
          <p:cNvPr id="59" name="Rectángulo 58">
            <a:extLst>
              <a:ext uri="{FF2B5EF4-FFF2-40B4-BE49-F238E27FC236}">
                <a16:creationId xmlns:a16="http://schemas.microsoft.com/office/drawing/2014/main" id="{3980B828-6899-476E-A7BF-71939E949E6F}"/>
              </a:ext>
            </a:extLst>
          </p:cNvPr>
          <p:cNvSpPr/>
          <p:nvPr/>
        </p:nvSpPr>
        <p:spPr>
          <a:xfrm>
            <a:off x="5113620" y="4688869"/>
            <a:ext cx="11816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BNA</a:t>
            </a:r>
          </a:p>
        </p:txBody>
      </p:sp>
      <p:pic>
        <p:nvPicPr>
          <p:cNvPr id="60" name="Gráfico 59" descr="Tribunal">
            <a:extLst>
              <a:ext uri="{FF2B5EF4-FFF2-40B4-BE49-F238E27FC236}">
                <a16:creationId xmlns:a16="http://schemas.microsoft.com/office/drawing/2014/main" id="{C0144B56-8BA9-4C68-9A51-2A58031734FC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66969" y="5278296"/>
            <a:ext cx="737772" cy="737772"/>
          </a:xfrm>
          <a:prstGeom prst="rect">
            <a:avLst/>
          </a:prstGeom>
        </p:spPr>
      </p:pic>
      <p:sp>
        <p:nvSpPr>
          <p:cNvPr id="61" name="Rectángulo 60">
            <a:extLst>
              <a:ext uri="{FF2B5EF4-FFF2-40B4-BE49-F238E27FC236}">
                <a16:creationId xmlns:a16="http://schemas.microsoft.com/office/drawing/2014/main" id="{B80FF69B-A37A-4481-AC40-CEBB42D165C3}"/>
              </a:ext>
            </a:extLst>
          </p:cNvPr>
          <p:cNvSpPr/>
          <p:nvPr/>
        </p:nvSpPr>
        <p:spPr>
          <a:xfrm>
            <a:off x="6369489" y="5884161"/>
            <a:ext cx="136043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BANCOS</a:t>
            </a:r>
          </a:p>
        </p:txBody>
      </p:sp>
      <p:sp>
        <p:nvSpPr>
          <p:cNvPr id="62" name="Flecha: a la derecha 61">
            <a:extLst>
              <a:ext uri="{FF2B5EF4-FFF2-40B4-BE49-F238E27FC236}">
                <a16:creationId xmlns:a16="http://schemas.microsoft.com/office/drawing/2014/main" id="{48769E9C-7CBC-4079-B4E0-4D3621FD78F9}"/>
              </a:ext>
            </a:extLst>
          </p:cNvPr>
          <p:cNvSpPr/>
          <p:nvPr/>
        </p:nvSpPr>
        <p:spPr>
          <a:xfrm rot="19380962">
            <a:off x="5778436" y="3736767"/>
            <a:ext cx="876765" cy="263290"/>
          </a:xfrm>
          <a:prstGeom prst="rightArrow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AC3D251C-C8C6-4378-95E5-E61E16608684}"/>
              </a:ext>
            </a:extLst>
          </p:cNvPr>
          <p:cNvSpPr/>
          <p:nvPr/>
        </p:nvSpPr>
        <p:spPr>
          <a:xfrm>
            <a:off x="6419729" y="3562649"/>
            <a:ext cx="11816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ESTADO</a:t>
            </a:r>
          </a:p>
        </p:txBody>
      </p:sp>
      <p:pic>
        <p:nvPicPr>
          <p:cNvPr id="64" name="Imagen 63">
            <a:extLst>
              <a:ext uri="{FF2B5EF4-FFF2-40B4-BE49-F238E27FC236}">
                <a16:creationId xmlns:a16="http://schemas.microsoft.com/office/drawing/2014/main" id="{EAA76129-3869-4653-B949-FEFF37F880C0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666969" y="2902032"/>
            <a:ext cx="679497" cy="679497"/>
          </a:xfrm>
          <a:prstGeom prst="rect">
            <a:avLst/>
          </a:prstGeom>
        </p:spPr>
      </p:pic>
      <p:sp>
        <p:nvSpPr>
          <p:cNvPr id="66" name="Flecha: cheurón 65">
            <a:extLst>
              <a:ext uri="{FF2B5EF4-FFF2-40B4-BE49-F238E27FC236}">
                <a16:creationId xmlns:a16="http://schemas.microsoft.com/office/drawing/2014/main" id="{FE331898-B8DC-4A1C-851F-423DACFFFB31}"/>
              </a:ext>
            </a:extLst>
          </p:cNvPr>
          <p:cNvSpPr/>
          <p:nvPr/>
        </p:nvSpPr>
        <p:spPr>
          <a:xfrm>
            <a:off x="6798818" y="4399256"/>
            <a:ext cx="496268" cy="312626"/>
          </a:xfrm>
          <a:prstGeom prst="chevron">
            <a:avLst>
              <a:gd name="adj" fmla="val 115818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solidFill>
                <a:schemeClr val="tx1"/>
              </a:solidFill>
            </a:endParaRPr>
          </a:p>
        </p:txBody>
      </p:sp>
      <p:sp>
        <p:nvSpPr>
          <p:cNvPr id="35" name="Flecha: a la derecha 34">
            <a:extLst>
              <a:ext uri="{FF2B5EF4-FFF2-40B4-BE49-F238E27FC236}">
                <a16:creationId xmlns:a16="http://schemas.microsoft.com/office/drawing/2014/main" id="{0FF31FED-9EFB-4FAF-B159-56B1A54AF4CB}"/>
              </a:ext>
            </a:extLst>
          </p:cNvPr>
          <p:cNvSpPr/>
          <p:nvPr/>
        </p:nvSpPr>
        <p:spPr>
          <a:xfrm rot="2219038" flipV="1">
            <a:off x="5778435" y="5241757"/>
            <a:ext cx="876765" cy="263290"/>
          </a:xfrm>
          <a:prstGeom prst="rightArrow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6" name="Título 4">
            <a:extLst>
              <a:ext uri="{FF2B5EF4-FFF2-40B4-BE49-F238E27FC236}">
                <a16:creationId xmlns:a16="http://schemas.microsoft.com/office/drawing/2014/main" id="{D3A6C98B-8A94-4D21-B3BB-341D3D37765C}"/>
              </a:ext>
            </a:extLst>
          </p:cNvPr>
          <p:cNvSpPr txBox="1">
            <a:spLocks/>
          </p:cNvSpPr>
          <p:nvPr/>
        </p:nvSpPr>
        <p:spPr>
          <a:xfrm>
            <a:off x="0" y="-5424"/>
            <a:ext cx="9144000" cy="24121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5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Transformación de la Primera Caja de Conversión </a:t>
            </a:r>
          </a:p>
          <a:p>
            <a:pPr algn="ctr"/>
            <a:r>
              <a:rPr lang="es-ES" sz="5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1929-1934</a:t>
            </a:r>
          </a:p>
        </p:txBody>
      </p: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4CBE0C16-3851-4422-89B9-A1788719BBC6}"/>
              </a:ext>
            </a:extLst>
          </p:cNvPr>
          <p:cNvSpPr/>
          <p:nvPr/>
        </p:nvSpPr>
        <p:spPr>
          <a:xfrm>
            <a:off x="1052367" y="2297528"/>
            <a:ext cx="7181510" cy="450003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FUNCIONES “BANCO-CENTRALISTAS”</a:t>
            </a:r>
          </a:p>
        </p:txBody>
      </p:sp>
    </p:spTree>
    <p:extLst>
      <p:ext uri="{BB962C8B-B14F-4D97-AF65-F5344CB8AC3E}">
        <p14:creationId xmlns:p14="http://schemas.microsoft.com/office/powerpoint/2010/main" val="2819419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50"/>
                            </p:stCondLst>
                            <p:childTnLst>
                              <p:par>
                                <p:cTn id="22" presetID="2" presetClass="entr" presetSubtype="1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" presetClass="entr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250"/>
                            </p:stCondLst>
                            <p:childTnLst>
                              <p:par>
                                <p:cTn id="36" presetID="26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7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224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8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2" tmFilter="0, 0; 0.125,0.2665; 0.25,0.4; 0.375,0.465; 0.5,0.5;  0.625,0.535; 0.75,0.6; 0.875,0.7335; 1,1">
                                          <p:stCondLst>
                                            <p:cond delay="82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" tmFilter="0, 0; 0.125,0.2665; 0.25,0.4; 0.375,0.465; 0.5,0.5;  0.625,0.535; 0.75,0.6; 0.875,0.7335; 1,1">
                                          <p:stCondLst>
                                            <p:cond delay="163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" tmFilter="0, 0; 0.125,0.2665; 0.25,0.4; 0.375,0.465; 0.5,0.5;  0.625,0.535; 0.75,0.6; 0.875,0.7335; 1,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4" dur="1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5" dur="1" decel="50000">
                                          <p:stCondLst>
                                            <p:cond delay="83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1">
                                          <p:stCondLst>
                                            <p:cond delay="161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7" dur="1" decel="50000">
                                          <p:stCondLst>
                                            <p:cond delay="164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9" dur="1" decel="50000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1" dur="1" decel="50000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75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250"/>
                            </p:stCondLst>
                            <p:childTnLst>
                              <p:par>
                                <p:cTn id="59" presetID="2" presetClass="entr" presetSubtype="9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750"/>
                            </p:stCondLst>
                            <p:childTnLst>
                              <p:par>
                                <p:cTn id="64" presetID="2" presetClass="entr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250"/>
                            </p:stCondLst>
                            <p:childTnLst>
                              <p:par>
                                <p:cTn id="73" presetID="26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7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224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8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82" tmFilter="0, 0; 0.125,0.2665; 0.25,0.4; 0.375,0.465; 0.5,0.5;  0.625,0.535; 0.75,0.6; 0.875,0.7335; 1,1">
                                          <p:stCondLst>
                                            <p:cond delay="8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" tmFilter="0, 0; 0.125,0.2665; 0.25,0.4; 0.375,0.465; 0.5,0.5;  0.625,0.535; 0.75,0.6; 0.875,0.7335; 1,1">
                                          <p:stCondLst>
                                            <p:cond delay="163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" tmFilter="0, 0; 0.125,0.2665; 0.25,0.4; 0.375,0.465; 0.5,0.5;  0.625,0.535; 0.75,0.6; 0.875,0.7335; 1,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1" dur="1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2" dur="1" decel="50000">
                                          <p:stCondLst>
                                            <p:cond delay="83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1">
                                          <p:stCondLst>
                                            <p:cond delay="161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4" dur="1" decel="50000">
                                          <p:stCondLst>
                                            <p:cond delay="16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6" dur="1" decel="50000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8" dur="1" decel="50000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4750"/>
                            </p:stCondLst>
                            <p:childTnLst>
                              <p:par>
                                <p:cTn id="90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250"/>
                            </p:stCondLst>
                            <p:childTnLst>
                              <p:par>
                                <p:cTn id="96" presetID="26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7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224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8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82" tmFilter="0, 0; 0.125,0.2665; 0.25,0.4; 0.375,0.465; 0.5,0.5;  0.625,0.535; 0.75,0.6; 0.875,0.7335; 1,1">
                                          <p:stCondLst>
                                            <p:cond delay="82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2" tmFilter="0, 0; 0.125,0.2665; 0.25,0.4; 0.375,0.465; 0.5,0.5;  0.625,0.535; 0.75,0.6; 0.875,0.7335; 1,1">
                                          <p:stCondLst>
                                            <p:cond delay="163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" tmFilter="0, 0; 0.125,0.2665; 0.25,0.4; 0.375,0.465; 0.5,0.5;  0.625,0.535; 0.75,0.6; 0.875,0.7335; 1,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4" dur="1">
                                          <p:stCondLst>
                                            <p:cond delay="8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5" dur="1" decel="50000">
                                          <p:stCondLst>
                                            <p:cond delay="83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6" dur="1">
                                          <p:stCondLst>
                                            <p:cond delay="161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7" dur="1" decel="50000">
                                          <p:stCondLst>
                                            <p:cond delay="16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8" dur="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9" dur="1" decel="50000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0" dur="1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1" dur="1" decel="50000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750"/>
                            </p:stCondLst>
                            <p:childTnLst>
                              <p:par>
                                <p:cTn id="113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6250"/>
                            </p:stCondLst>
                            <p:childTnLst>
                              <p:par>
                                <p:cTn id="119" presetID="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2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2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6750"/>
                            </p:stCondLst>
                            <p:childTnLst>
                              <p:par>
                                <p:cTn id="128" presetID="2" presetClass="entr" presetSubtype="1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7250"/>
                            </p:stCondLst>
                            <p:childTnLst>
                              <p:par>
                                <p:cTn id="133" presetID="2" presetClass="entr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2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2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7750"/>
                            </p:stCondLst>
                            <p:childTnLst>
                              <p:par>
                                <p:cTn id="142" presetID="2" presetClass="entr" presetSubtype="9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8250"/>
                            </p:stCondLst>
                            <p:childTnLst>
                              <p:par>
                                <p:cTn id="147" presetID="2" presetClass="entr" presetSubtype="2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2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2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8750"/>
                            </p:stCondLst>
                            <p:childTnLst>
                              <p:par>
                                <p:cTn id="156" presetID="53" presetClass="entr" presetSubtype="1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2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2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0" dur="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9500"/>
                            </p:stCondLst>
                            <p:childTnLst>
                              <p:par>
                                <p:cTn id="162" presetID="53" presetClass="entr" presetSubtype="16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10500"/>
                            </p:stCondLst>
                            <p:childTnLst>
                              <p:par>
                                <p:cTn id="168" presetID="53" presetClass="entr" presetSubtype="16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2" dur="2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11000"/>
                            </p:stCondLst>
                            <p:childTnLst>
                              <p:par>
                                <p:cTn id="174" presetID="53" presetClass="entr" presetSubtype="16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2" grpId="0" animBg="1"/>
      <p:bldP spid="72" grpId="0" animBg="1"/>
      <p:bldP spid="10" grpId="0" animBg="1"/>
      <p:bldP spid="16" grpId="0"/>
      <p:bldP spid="19" grpId="0"/>
      <p:bldP spid="20" grpId="0"/>
      <p:bldP spid="21" grpId="0"/>
      <p:bldP spid="33" grpId="0"/>
      <p:bldP spid="34" grpId="0" animBg="1"/>
      <p:bldP spid="39" grpId="0"/>
      <p:bldP spid="51" grpId="0" animBg="1"/>
      <p:bldP spid="59" grpId="0"/>
      <p:bldP spid="61" grpId="0"/>
      <p:bldP spid="62" grpId="0" animBg="1"/>
      <p:bldP spid="63" grpId="0"/>
      <p:bldP spid="66" grpId="0" animBg="1"/>
      <p:bldP spid="35" grpId="0" animBg="1"/>
      <p:bldP spid="40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12 Rectángulo redondeado"/>
          <p:cNvSpPr/>
          <p:nvPr/>
        </p:nvSpPr>
        <p:spPr>
          <a:xfrm>
            <a:off x="3500430" y="428604"/>
            <a:ext cx="5134012" cy="785818"/>
          </a:xfrm>
          <a:prstGeom prst="roundRect">
            <a:avLst>
              <a:gd name="adj" fmla="val 31495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3200" dirty="0">
                <a:solidFill>
                  <a:schemeClr val="tx1"/>
                </a:solidFill>
                <a:latin typeface="Bernard MT Condensed" pitchFamily="18" charset="0"/>
              </a:rPr>
              <a:t>1)</a:t>
            </a:r>
          </a:p>
        </p:txBody>
      </p:sp>
      <p:sp>
        <p:nvSpPr>
          <p:cNvPr id="7" name="6 Rectángulo redondeado"/>
          <p:cNvSpPr/>
          <p:nvPr/>
        </p:nvSpPr>
        <p:spPr>
          <a:xfrm>
            <a:off x="214282" y="2000240"/>
            <a:ext cx="4286280" cy="4500594"/>
          </a:xfrm>
          <a:prstGeom prst="roundRect">
            <a:avLst>
              <a:gd name="adj" fmla="val 7828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3200" dirty="0">
              <a:latin typeface="Bernard MT Condensed" pitchFamily="18" charset="0"/>
            </a:endParaRPr>
          </a:p>
        </p:txBody>
      </p:sp>
      <p:sp>
        <p:nvSpPr>
          <p:cNvPr id="22" name="21 Rectángulo redondeado"/>
          <p:cNvSpPr/>
          <p:nvPr/>
        </p:nvSpPr>
        <p:spPr>
          <a:xfrm>
            <a:off x="214282" y="2000239"/>
            <a:ext cx="4286280" cy="500066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>
                <a:solidFill>
                  <a:schemeClr val="accent1">
                    <a:lumMod val="20000"/>
                    <a:lumOff val="80000"/>
                  </a:schemeClr>
                </a:solidFill>
                <a:latin typeface="Abadi" panose="020B0604020104020204" pitchFamily="34" charset="0"/>
              </a:rPr>
              <a:t>SALDO (deudor) CUENTA DE TESORERÍA</a:t>
            </a:r>
          </a:p>
        </p:txBody>
      </p:sp>
      <p:sp>
        <p:nvSpPr>
          <p:cNvPr id="60" name="59 Triángulo rectángulo"/>
          <p:cNvSpPr/>
          <p:nvPr/>
        </p:nvSpPr>
        <p:spPr>
          <a:xfrm rot="16200000" flipH="1" flipV="1">
            <a:off x="851271" y="-851295"/>
            <a:ext cx="1857358" cy="3559963"/>
          </a:xfrm>
          <a:prstGeom prst="rtTriangle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 defTabSz="685800">
              <a:lnSpc>
                <a:spcPct val="90000"/>
              </a:lnSpc>
              <a:spcBef>
                <a:spcPct val="0"/>
              </a:spcBef>
            </a:pPr>
            <a:endParaRPr lang="es-AR" sz="5400" i="1" dirty="0"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  <a:ea typeface="+mj-ea"/>
              <a:cs typeface="Browallia New" panose="020B0604020202020204" pitchFamily="34" charset="-34"/>
            </a:endParaRPr>
          </a:p>
        </p:txBody>
      </p:sp>
      <p:sp>
        <p:nvSpPr>
          <p:cNvPr id="9" name="8 CuadroTexto"/>
          <p:cNvSpPr txBox="1"/>
          <p:nvPr/>
        </p:nvSpPr>
        <p:spPr>
          <a:xfrm>
            <a:off x="-32" y="-45203"/>
            <a:ext cx="29289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FINANCIAMIENTO A TRAVÉS DEL </a:t>
            </a:r>
          </a:p>
          <a:p>
            <a:r>
              <a:rPr lang="es-AR" sz="2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SISTEMA</a:t>
            </a:r>
          </a:p>
        </p:txBody>
      </p:sp>
      <p:sp>
        <p:nvSpPr>
          <p:cNvPr id="6" name="5 Rectángulo redondeado"/>
          <p:cNvSpPr/>
          <p:nvPr/>
        </p:nvSpPr>
        <p:spPr>
          <a:xfrm>
            <a:off x="4143372" y="428604"/>
            <a:ext cx="1785950" cy="785818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badi" panose="020B0604020104020204" pitchFamily="34" charset="0"/>
              </a:rPr>
              <a:t>BANCO DE LA NACIÓN</a:t>
            </a:r>
          </a:p>
        </p:txBody>
      </p:sp>
      <p:sp>
        <p:nvSpPr>
          <p:cNvPr id="8" name="7 Rectángulo redondeado"/>
          <p:cNvSpPr/>
          <p:nvPr/>
        </p:nvSpPr>
        <p:spPr>
          <a:xfrm>
            <a:off x="6858016" y="428604"/>
            <a:ext cx="1785950" cy="785818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badi" panose="020B0604020104020204" pitchFamily="34" charset="0"/>
              </a:rPr>
              <a:t>ESTADO</a:t>
            </a:r>
          </a:p>
        </p:txBody>
      </p:sp>
      <p:cxnSp>
        <p:nvCxnSpPr>
          <p:cNvPr id="10" name="9 Conector recto de flecha"/>
          <p:cNvCxnSpPr>
            <a:stCxn id="6" idx="3"/>
            <a:endCxn id="8" idx="1"/>
          </p:cNvCxnSpPr>
          <p:nvPr/>
        </p:nvCxnSpPr>
        <p:spPr>
          <a:xfrm>
            <a:off x="5929322" y="821513"/>
            <a:ext cx="928694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13 Rectángulo redondeado"/>
          <p:cNvSpPr/>
          <p:nvPr/>
        </p:nvSpPr>
        <p:spPr>
          <a:xfrm>
            <a:off x="4643470" y="2084923"/>
            <a:ext cx="4286248" cy="4415911"/>
          </a:xfrm>
          <a:prstGeom prst="roundRect">
            <a:avLst>
              <a:gd name="adj" fmla="val 7828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3200" dirty="0">
              <a:latin typeface="Bernard MT Condensed" pitchFamily="18" charset="0"/>
            </a:endParaRPr>
          </a:p>
        </p:txBody>
      </p:sp>
      <p:sp>
        <p:nvSpPr>
          <p:cNvPr id="15" name="14 Rectángulo redondeado"/>
          <p:cNvSpPr/>
          <p:nvPr/>
        </p:nvSpPr>
        <p:spPr>
          <a:xfrm>
            <a:off x="4643438" y="2000240"/>
            <a:ext cx="4286280" cy="500066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>
                <a:solidFill>
                  <a:schemeClr val="accent1">
                    <a:lumMod val="20000"/>
                    <a:lumOff val="80000"/>
                  </a:schemeClr>
                </a:solidFill>
                <a:latin typeface="Abadi" panose="020B0604020104020204" pitchFamily="34" charset="0"/>
              </a:rPr>
              <a:t>FINANCIAMIENTO EXTRAORDINARIO</a:t>
            </a:r>
          </a:p>
        </p:txBody>
      </p:sp>
      <p:graphicFrame>
        <p:nvGraphicFramePr>
          <p:cNvPr id="23" name="1 Gráfico"/>
          <p:cNvGraphicFramePr/>
          <p:nvPr>
            <p:extLst>
              <p:ext uri="{D42A27DB-BD31-4B8C-83A1-F6EECF244321}">
                <p14:modId xmlns:p14="http://schemas.microsoft.com/office/powerpoint/2010/main" val="3674543529"/>
              </p:ext>
            </p:extLst>
          </p:nvPr>
        </p:nvGraphicFramePr>
        <p:xfrm>
          <a:off x="4643438" y="2557947"/>
          <a:ext cx="4286280" cy="4000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17 Tabla"/>
          <p:cNvGraphicFramePr>
            <a:graphicFrameLocks noGrp="1"/>
          </p:cNvGraphicFramePr>
          <p:nvPr/>
        </p:nvGraphicFramePr>
        <p:xfrm>
          <a:off x="1142976" y="2888436"/>
          <a:ext cx="2428892" cy="3255208"/>
        </p:xfrm>
        <a:graphic>
          <a:graphicData uri="http://schemas.openxmlformats.org/drawingml/2006/table">
            <a:tbl>
              <a:tblPr/>
              <a:tblGrid>
                <a:gridCol w="834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3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8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9587"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600" b="1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Saldo </a:t>
                      </a:r>
                    </a:p>
                    <a:p>
                      <a:pPr algn="ctr" fontAlgn="ctr"/>
                      <a:r>
                        <a:rPr lang="es-AR" sz="1600" b="1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Deudor</a:t>
                      </a:r>
                      <a:br>
                        <a:rPr lang="es-AR" sz="1600" b="1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</a:br>
                      <a:r>
                        <a:rPr lang="es-AR" sz="1600" b="1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CTN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AR" sz="1600" b="1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Límite </a:t>
                      </a:r>
                    </a:p>
                    <a:p>
                      <a:pPr algn="ctr" fontAlgn="ctr"/>
                      <a:r>
                        <a:rPr lang="es-AR" sz="1600" b="1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Legal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AR" sz="16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350"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44300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6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350"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20500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44800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6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350"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1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113500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45400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0" i="1" u="none" strike="noStrike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Supera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350"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1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146600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45900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0" i="1" u="none" strike="noStrike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Supera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350"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1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123700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46800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0" i="1" u="none" strike="noStrike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Supera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350"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1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123700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47100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0" i="1" u="none" strike="noStrike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Supera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350"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1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123700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47200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0" i="1" u="none" strike="noStrike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Supera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2238"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1" i="0" u="none" strike="noStrike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123700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600" b="0" i="0" u="none" strike="noStrike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47184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b="0" i="1" u="none" strike="noStrike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Supera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12 Rectángulo redondeado"/>
          <p:cNvSpPr/>
          <p:nvPr/>
        </p:nvSpPr>
        <p:spPr>
          <a:xfrm>
            <a:off x="3500430" y="428604"/>
            <a:ext cx="5134012" cy="785818"/>
          </a:xfrm>
          <a:prstGeom prst="roundRect">
            <a:avLst>
              <a:gd name="adj" fmla="val 31495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3200" dirty="0">
                <a:latin typeface="Bernard MT Condensed" pitchFamily="18" charset="0"/>
              </a:rPr>
              <a:t>2)</a:t>
            </a:r>
          </a:p>
        </p:txBody>
      </p:sp>
      <p:sp>
        <p:nvSpPr>
          <p:cNvPr id="7" name="6 Rectángulo redondeado"/>
          <p:cNvSpPr/>
          <p:nvPr/>
        </p:nvSpPr>
        <p:spPr>
          <a:xfrm>
            <a:off x="857224" y="2500306"/>
            <a:ext cx="7786742" cy="3143271"/>
          </a:xfrm>
          <a:prstGeom prst="roundRect">
            <a:avLst>
              <a:gd name="adj" fmla="val 7828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AR" sz="3200" dirty="0">
              <a:latin typeface="Bernard MT Condensed" pitchFamily="18" charset="0"/>
            </a:endParaRPr>
          </a:p>
        </p:txBody>
      </p:sp>
      <p:sp>
        <p:nvSpPr>
          <p:cNvPr id="22" name="21 Rectángulo redondeado"/>
          <p:cNvSpPr/>
          <p:nvPr/>
        </p:nvSpPr>
        <p:spPr>
          <a:xfrm>
            <a:off x="857224" y="2500306"/>
            <a:ext cx="7786742" cy="500066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badi" panose="020B0604020104020204" pitchFamily="34" charset="0"/>
              </a:rPr>
              <a:t>SE MOVILIZÓ EL FONDO EN 1931</a:t>
            </a:r>
          </a:p>
        </p:txBody>
      </p:sp>
      <p:sp>
        <p:nvSpPr>
          <p:cNvPr id="6" name="5 Rectángulo redondeado"/>
          <p:cNvSpPr/>
          <p:nvPr/>
        </p:nvSpPr>
        <p:spPr>
          <a:xfrm>
            <a:off x="4143372" y="428604"/>
            <a:ext cx="1785950" cy="785818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badi" panose="020B0604020104020204" pitchFamily="34" charset="0"/>
              </a:rPr>
              <a:t>FONDO DE CONVERSIÓN</a:t>
            </a:r>
          </a:p>
        </p:txBody>
      </p:sp>
      <p:sp>
        <p:nvSpPr>
          <p:cNvPr id="8" name="7 Rectángulo redondeado"/>
          <p:cNvSpPr/>
          <p:nvPr/>
        </p:nvSpPr>
        <p:spPr>
          <a:xfrm>
            <a:off x="6858016" y="428604"/>
            <a:ext cx="1785950" cy="785818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badi" panose="020B0604020104020204" pitchFamily="34" charset="0"/>
              </a:rPr>
              <a:t>ESTADO</a:t>
            </a:r>
          </a:p>
        </p:txBody>
      </p:sp>
      <p:cxnSp>
        <p:nvCxnSpPr>
          <p:cNvPr id="10" name="9 Conector recto de flecha"/>
          <p:cNvCxnSpPr>
            <a:stCxn id="6" idx="3"/>
            <a:endCxn id="8" idx="1"/>
          </p:cNvCxnSpPr>
          <p:nvPr/>
        </p:nvCxnSpPr>
        <p:spPr>
          <a:xfrm>
            <a:off x="5929322" y="821513"/>
            <a:ext cx="928694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10 Rectángulo"/>
          <p:cNvSpPr/>
          <p:nvPr/>
        </p:nvSpPr>
        <p:spPr>
          <a:xfrm>
            <a:off x="857224" y="3214686"/>
            <a:ext cx="7786742" cy="224676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000" b="1" cap="none" spc="0" dirty="0">
                <a:ln w="12700">
                  <a:noFill/>
                  <a:prstDash val="solid"/>
                </a:ln>
                <a:solidFill>
                  <a:schemeClr val="tx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badi" panose="020B0604020104020204" pitchFamily="34" charset="0"/>
                <a:cs typeface="Times New Roman" pitchFamily="18" charset="0"/>
              </a:rPr>
              <a:t>Casi en su totalidad: 30 millones de pesos oro</a:t>
            </a:r>
          </a:p>
          <a:p>
            <a:pPr algn="ctr"/>
            <a:endParaRPr lang="es-ES" sz="2000" b="1" dirty="0">
              <a:ln w="12700">
                <a:noFill/>
                <a:prstDash val="solid"/>
              </a:ln>
              <a:solidFill>
                <a:schemeClr val="tx2">
                  <a:lumMod val="7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Abadi" panose="020B0604020104020204" pitchFamily="34" charset="0"/>
              <a:cs typeface="Times New Roman" pitchFamily="18" charset="0"/>
            </a:endParaRPr>
          </a:p>
          <a:p>
            <a:pPr algn="ctr"/>
            <a:r>
              <a:rPr lang="es-ES" sz="2000" b="1" cap="none" spc="0" dirty="0">
                <a:ln w="12700">
                  <a:noFill/>
                  <a:prstDash val="solid"/>
                </a:ln>
                <a:solidFill>
                  <a:schemeClr val="tx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badi" panose="020B0604020104020204" pitchFamily="34" charset="0"/>
                <a:cs typeface="Times New Roman" pitchFamily="18" charset="0"/>
              </a:rPr>
              <a:t>Pago de deuda con:</a:t>
            </a:r>
          </a:p>
          <a:p>
            <a:pPr algn="ctr"/>
            <a:endParaRPr lang="es-ES" sz="2000" b="1" dirty="0">
              <a:ln w="12700">
                <a:noFill/>
                <a:prstDash val="solid"/>
              </a:ln>
              <a:solidFill>
                <a:schemeClr val="tx2">
                  <a:lumMod val="7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Abadi" panose="020B0604020104020204" pitchFamily="34" charset="0"/>
              <a:cs typeface="Times New Roman" pitchFamily="18" charset="0"/>
            </a:endParaRPr>
          </a:p>
          <a:p>
            <a:pPr algn="ctr"/>
            <a:r>
              <a:rPr lang="es-ES" sz="2000" b="1" cap="none" spc="0" dirty="0" err="1">
                <a:ln w="12700">
                  <a:noFill/>
                  <a:prstDash val="solid"/>
                </a:ln>
                <a:solidFill>
                  <a:schemeClr val="tx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badi" panose="020B0604020104020204" pitchFamily="34" charset="0"/>
                <a:cs typeface="Times New Roman" pitchFamily="18" charset="0"/>
              </a:rPr>
              <a:t>Baring</a:t>
            </a:r>
            <a:r>
              <a:rPr lang="es-ES" sz="2000" b="1" cap="none" spc="0" dirty="0">
                <a:ln w="12700">
                  <a:noFill/>
                  <a:prstDash val="solid"/>
                </a:ln>
                <a:solidFill>
                  <a:schemeClr val="tx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badi" panose="020B0604020104020204" pitchFamily="34" charset="0"/>
                <a:cs typeface="Times New Roman" pitchFamily="18" charset="0"/>
              </a:rPr>
              <a:t> </a:t>
            </a:r>
            <a:r>
              <a:rPr lang="es-ES" sz="2000" b="1" cap="none" spc="0" dirty="0" err="1">
                <a:ln w="12700">
                  <a:noFill/>
                  <a:prstDash val="solid"/>
                </a:ln>
                <a:solidFill>
                  <a:schemeClr val="tx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badi" panose="020B0604020104020204" pitchFamily="34" charset="0"/>
                <a:cs typeface="Times New Roman" pitchFamily="18" charset="0"/>
              </a:rPr>
              <a:t>Brothers</a:t>
            </a:r>
            <a:r>
              <a:rPr lang="es-ES" sz="2000" b="1" cap="none" spc="0" dirty="0">
                <a:ln w="12700">
                  <a:noFill/>
                  <a:prstDash val="solid"/>
                </a:ln>
                <a:solidFill>
                  <a:schemeClr val="tx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badi" panose="020B0604020104020204" pitchFamily="34" charset="0"/>
                <a:cs typeface="Times New Roman" pitchFamily="18" charset="0"/>
              </a:rPr>
              <a:t> y J. Morgan </a:t>
            </a:r>
            <a:r>
              <a:rPr lang="es-ES" sz="2000" b="1" cap="none" spc="0" dirty="0" err="1">
                <a:ln w="12700">
                  <a:noFill/>
                  <a:prstDash val="solid"/>
                </a:ln>
                <a:solidFill>
                  <a:schemeClr val="tx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badi" panose="020B0604020104020204" pitchFamily="34" charset="0"/>
                <a:cs typeface="Times New Roman" pitchFamily="18" charset="0"/>
              </a:rPr>
              <a:t>Grenfell</a:t>
            </a:r>
            <a:endParaRPr lang="es-ES" sz="2000" b="1" cap="none" spc="0" dirty="0">
              <a:ln w="12700">
                <a:noFill/>
                <a:prstDash val="solid"/>
              </a:ln>
              <a:solidFill>
                <a:schemeClr val="tx2">
                  <a:lumMod val="7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Abadi" panose="020B0604020104020204" pitchFamily="34" charset="0"/>
              <a:cs typeface="Times New Roman" pitchFamily="18" charset="0"/>
            </a:endParaRPr>
          </a:p>
          <a:p>
            <a:pPr algn="ctr"/>
            <a:endParaRPr lang="es-ES" sz="2000" b="1" dirty="0">
              <a:ln w="12700">
                <a:noFill/>
                <a:prstDash val="solid"/>
              </a:ln>
              <a:solidFill>
                <a:schemeClr val="tx2">
                  <a:lumMod val="7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Abadi" panose="020B0604020104020204" pitchFamily="34" charset="0"/>
              <a:cs typeface="Times New Roman" pitchFamily="18" charset="0"/>
            </a:endParaRPr>
          </a:p>
          <a:p>
            <a:pPr algn="ctr"/>
            <a:r>
              <a:rPr lang="es-ES" sz="2000" b="1" cap="none" spc="0" dirty="0">
                <a:ln w="12700">
                  <a:noFill/>
                  <a:prstDash val="solid"/>
                </a:ln>
                <a:solidFill>
                  <a:schemeClr val="tx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badi" panose="020B0604020104020204" pitchFamily="34" charset="0"/>
                <a:cs typeface="Times New Roman" pitchFamily="18" charset="0"/>
              </a:rPr>
              <a:t>Chatham Phenix</a:t>
            </a:r>
          </a:p>
        </p:txBody>
      </p:sp>
      <p:sp>
        <p:nvSpPr>
          <p:cNvPr id="12" name="11 CuadroTexto"/>
          <p:cNvSpPr txBox="1"/>
          <p:nvPr/>
        </p:nvSpPr>
        <p:spPr>
          <a:xfrm>
            <a:off x="-32" y="-45203"/>
            <a:ext cx="29289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AR"/>
            </a:defPPr>
            <a:lvl1pPr>
              <a:defRPr sz="2400" i="1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defRPr>
            </a:lvl1pPr>
          </a:lstStyle>
          <a:p>
            <a:r>
              <a:rPr lang="es-AR" dirty="0"/>
              <a:t>FINANCIAMIENTO A TRAVÉS DEL </a:t>
            </a:r>
          </a:p>
          <a:p>
            <a:r>
              <a:rPr lang="es-AR" dirty="0"/>
              <a:t>SISTEMA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12 Rectángulo redondeado"/>
          <p:cNvSpPr/>
          <p:nvPr/>
        </p:nvSpPr>
        <p:spPr>
          <a:xfrm>
            <a:off x="3500430" y="428604"/>
            <a:ext cx="5134012" cy="785818"/>
          </a:xfrm>
          <a:prstGeom prst="roundRect">
            <a:avLst>
              <a:gd name="adj" fmla="val 31495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3200" dirty="0">
                <a:solidFill>
                  <a:schemeClr val="tx1"/>
                </a:solidFill>
                <a:latin typeface="Bernard MT Condensed" pitchFamily="18" charset="0"/>
              </a:rPr>
              <a:t>3)</a:t>
            </a:r>
          </a:p>
        </p:txBody>
      </p:sp>
      <p:sp>
        <p:nvSpPr>
          <p:cNvPr id="7" name="6 Rectángulo redondeado"/>
          <p:cNvSpPr/>
          <p:nvPr/>
        </p:nvSpPr>
        <p:spPr>
          <a:xfrm>
            <a:off x="285720" y="1857389"/>
            <a:ext cx="4071966" cy="4357693"/>
          </a:xfrm>
          <a:prstGeom prst="roundRect">
            <a:avLst>
              <a:gd name="adj" fmla="val 7828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AR" sz="3200" dirty="0">
              <a:latin typeface="Bernard MT Condensed" pitchFamily="18" charset="0"/>
            </a:endParaRPr>
          </a:p>
        </p:txBody>
      </p:sp>
      <p:sp>
        <p:nvSpPr>
          <p:cNvPr id="22" name="21 Rectángulo redondeado"/>
          <p:cNvSpPr/>
          <p:nvPr/>
        </p:nvSpPr>
        <p:spPr>
          <a:xfrm>
            <a:off x="285720" y="1857389"/>
            <a:ext cx="4071966" cy="500066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badi" panose="020B0604020104020204" pitchFamily="34" charset="0"/>
              </a:rPr>
              <a:t>EMISIÓN por EMPR. PATRIÓTICO*</a:t>
            </a:r>
          </a:p>
        </p:txBody>
      </p:sp>
      <p:sp>
        <p:nvSpPr>
          <p:cNvPr id="60" name="59 Triángulo rectángulo"/>
          <p:cNvSpPr/>
          <p:nvPr/>
        </p:nvSpPr>
        <p:spPr>
          <a:xfrm rot="16200000" flipH="1" flipV="1">
            <a:off x="851271" y="-851295"/>
            <a:ext cx="1857358" cy="3559963"/>
          </a:xfrm>
          <a:prstGeom prst="rtTriangl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endParaRPr lang="es-A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5 Rectángulo redondeado"/>
          <p:cNvSpPr/>
          <p:nvPr/>
        </p:nvSpPr>
        <p:spPr>
          <a:xfrm>
            <a:off x="4143372" y="428604"/>
            <a:ext cx="1785950" cy="785818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badi" panose="020B0604020104020204" pitchFamily="34" charset="0"/>
              </a:rPr>
              <a:t>CAJA DE CONVERSIÓN</a:t>
            </a:r>
          </a:p>
        </p:txBody>
      </p:sp>
      <p:sp>
        <p:nvSpPr>
          <p:cNvPr id="8" name="7 Rectángulo redondeado"/>
          <p:cNvSpPr/>
          <p:nvPr/>
        </p:nvSpPr>
        <p:spPr>
          <a:xfrm>
            <a:off x="6858016" y="428604"/>
            <a:ext cx="1785950" cy="785818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badi" panose="020B0604020104020204" pitchFamily="34" charset="0"/>
              </a:rPr>
              <a:t>ESTADO</a:t>
            </a:r>
          </a:p>
        </p:txBody>
      </p:sp>
      <p:cxnSp>
        <p:nvCxnSpPr>
          <p:cNvPr id="10" name="9 Conector recto de flecha"/>
          <p:cNvCxnSpPr>
            <a:stCxn id="6" idx="3"/>
            <a:endCxn id="8" idx="1"/>
          </p:cNvCxnSpPr>
          <p:nvPr/>
        </p:nvCxnSpPr>
        <p:spPr>
          <a:xfrm>
            <a:off x="5929322" y="821513"/>
            <a:ext cx="928694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1 Rectángulo redondeado"/>
          <p:cNvSpPr/>
          <p:nvPr/>
        </p:nvSpPr>
        <p:spPr>
          <a:xfrm>
            <a:off x="4572000" y="1857389"/>
            <a:ext cx="4214842" cy="4357693"/>
          </a:xfrm>
          <a:prstGeom prst="roundRect">
            <a:avLst>
              <a:gd name="adj" fmla="val 7828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3200" dirty="0">
              <a:latin typeface="Bernard MT Condensed" pitchFamily="18" charset="0"/>
            </a:endParaRPr>
          </a:p>
        </p:txBody>
      </p:sp>
      <p:sp>
        <p:nvSpPr>
          <p:cNvPr id="14" name="13 Rectángulo redondeado"/>
          <p:cNvSpPr/>
          <p:nvPr/>
        </p:nvSpPr>
        <p:spPr>
          <a:xfrm>
            <a:off x="4572000" y="1857389"/>
            <a:ext cx="4214842" cy="500066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badi" panose="020B0604020104020204" pitchFamily="34" charset="0"/>
              </a:rPr>
              <a:t>DEUDA FLOT./DEUDA CONSOL.</a:t>
            </a:r>
          </a:p>
        </p:txBody>
      </p:sp>
      <p:graphicFrame>
        <p:nvGraphicFramePr>
          <p:cNvPr id="15" name="2 Gráfico"/>
          <p:cNvGraphicFramePr/>
          <p:nvPr>
            <p:extLst>
              <p:ext uri="{D42A27DB-BD31-4B8C-83A1-F6EECF244321}">
                <p14:modId xmlns:p14="http://schemas.microsoft.com/office/powerpoint/2010/main" val="3891629905"/>
              </p:ext>
            </p:extLst>
          </p:nvPr>
        </p:nvGraphicFramePr>
        <p:xfrm>
          <a:off x="4596582" y="2386070"/>
          <a:ext cx="4214810" cy="38862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6" name="15 Rectángulo redondeado"/>
          <p:cNvSpPr/>
          <p:nvPr/>
        </p:nvSpPr>
        <p:spPr>
          <a:xfrm>
            <a:off x="285720" y="6357958"/>
            <a:ext cx="7094592" cy="357166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sz="16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badi" panose="020B0604020104020204" pitchFamily="34" charset="0"/>
              </a:rPr>
              <a:t>*Emisión por caución de títulos del empréstito patriótico. Saldos trimestrales</a:t>
            </a:r>
          </a:p>
        </p:txBody>
      </p:sp>
      <p:graphicFrame>
        <p:nvGraphicFramePr>
          <p:cNvPr id="17" name="3 Gráfico"/>
          <p:cNvGraphicFramePr/>
          <p:nvPr>
            <p:extLst>
              <p:ext uri="{D42A27DB-BD31-4B8C-83A1-F6EECF244321}">
                <p14:modId xmlns:p14="http://schemas.microsoft.com/office/powerpoint/2010/main" val="578965897"/>
              </p:ext>
            </p:extLst>
          </p:nvPr>
        </p:nvGraphicFramePr>
        <p:xfrm>
          <a:off x="282510" y="2328874"/>
          <a:ext cx="4071966" cy="38862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17 CuadroTexto"/>
          <p:cNvSpPr txBox="1"/>
          <p:nvPr/>
        </p:nvSpPr>
        <p:spPr>
          <a:xfrm>
            <a:off x="-32" y="-45203"/>
            <a:ext cx="29289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nard MT Condensed" pitchFamily="18" charset="0"/>
              </a:rPr>
              <a:t>FINANCIAMIENTO A TRAVÉS DEL </a:t>
            </a:r>
          </a:p>
          <a:p>
            <a:r>
              <a:rPr lang="es-AR" sz="24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nard MT Condensed" pitchFamily="18" charset="0"/>
              </a:rPr>
              <a:t>SISTEMA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áfico 3" descr="Banco">
            <a:extLst>
              <a:ext uri="{FF2B5EF4-FFF2-40B4-BE49-F238E27FC236}">
                <a16:creationId xmlns:a16="http://schemas.microsoft.com/office/drawing/2014/main" id="{E5674CEF-0E53-45ED-88BC-A29B43B780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8736" y="2267580"/>
            <a:ext cx="2232248" cy="2232248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6BB7F0E0-FD1B-4121-AC1C-9A0F235F7C34}"/>
              </a:ext>
            </a:extLst>
          </p:cNvPr>
          <p:cNvSpPr/>
          <p:nvPr/>
        </p:nvSpPr>
        <p:spPr>
          <a:xfrm>
            <a:off x="179512" y="4740820"/>
            <a:ext cx="864096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sz="20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“Causas más poderosas que la voluntad de los gobernantes del país, </a:t>
            </a:r>
          </a:p>
          <a:p>
            <a:pPr algn="ctr"/>
            <a:r>
              <a:rPr lang="es-AR" sz="20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habían trastornado el sistema de la Caja de Conversión y aconsejado </a:t>
            </a:r>
          </a:p>
          <a:p>
            <a:pPr algn="ctr"/>
            <a:r>
              <a:rPr lang="es-AR" sz="20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la creación del Banco Central, para reunir, poner en orden y </a:t>
            </a:r>
          </a:p>
          <a:p>
            <a:pPr algn="ctr"/>
            <a:r>
              <a:rPr lang="es-AR" sz="20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dar su máxima eficacia a los distintos elementos dispersos de </a:t>
            </a:r>
          </a:p>
          <a:p>
            <a:pPr algn="ctr"/>
            <a:r>
              <a:rPr lang="es-AR" sz="20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nuestra estructura monetaria”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4FCA213-C9A9-4904-ACEE-F23E93A7DEBE}"/>
              </a:ext>
            </a:extLst>
          </p:cNvPr>
          <p:cNvSpPr/>
          <p:nvPr/>
        </p:nvSpPr>
        <p:spPr>
          <a:xfrm>
            <a:off x="6585498" y="6228020"/>
            <a:ext cx="17796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Federico Pinedo</a:t>
            </a:r>
          </a:p>
        </p:txBody>
      </p:sp>
      <p:sp>
        <p:nvSpPr>
          <p:cNvPr id="7" name="Título 4">
            <a:extLst>
              <a:ext uri="{FF2B5EF4-FFF2-40B4-BE49-F238E27FC236}">
                <a16:creationId xmlns:a16="http://schemas.microsoft.com/office/drawing/2014/main" id="{838489B2-1802-4E3B-82EE-B7A49BF1554B}"/>
              </a:ext>
            </a:extLst>
          </p:cNvPr>
          <p:cNvSpPr txBox="1">
            <a:spLocks/>
          </p:cNvSpPr>
          <p:nvPr/>
        </p:nvSpPr>
        <p:spPr>
          <a:xfrm>
            <a:off x="62617" y="0"/>
            <a:ext cx="9144000" cy="24121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5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La creación del Banco Central de la República Argentina - 1935</a:t>
            </a:r>
          </a:p>
        </p:txBody>
      </p:sp>
    </p:spTree>
    <p:extLst>
      <p:ext uri="{BB962C8B-B14F-4D97-AF65-F5344CB8AC3E}">
        <p14:creationId xmlns:p14="http://schemas.microsoft.com/office/powerpoint/2010/main" val="231016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75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5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500"/>
                            </p:stCondLst>
                            <p:childTnLst>
                              <p:par>
                                <p:cTn id="4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25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/>
      <p:bldP spid="7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14826" y="6106827"/>
            <a:ext cx="3703320" cy="504056"/>
          </a:xfrm>
        </p:spPr>
        <p:txBody>
          <a:bodyPr/>
          <a:lstStyle/>
          <a:p>
            <a:pPr marL="0" indent="0" algn="ctr">
              <a:buNone/>
            </a:pPr>
            <a:r>
              <a:rPr lang="es-AR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LEY DE BANCOS</a:t>
            </a:r>
          </a:p>
        </p:txBody>
      </p:sp>
      <p:sp>
        <p:nvSpPr>
          <p:cNvPr id="5" name="2 Marcador de contenido">
            <a:extLst>
              <a:ext uri="{FF2B5EF4-FFF2-40B4-BE49-F238E27FC236}">
                <a16:creationId xmlns:a16="http://schemas.microsoft.com/office/drawing/2014/main" id="{36D7C521-89EA-49D8-9B1A-31CE3E923A64}"/>
              </a:ext>
            </a:extLst>
          </p:cNvPr>
          <p:cNvSpPr txBox="1">
            <a:spLocks/>
          </p:cNvSpPr>
          <p:nvPr/>
        </p:nvSpPr>
        <p:spPr>
          <a:xfrm>
            <a:off x="4736134" y="6021288"/>
            <a:ext cx="3703320" cy="720080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s-AR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INSTITUTO MOBILIZADOR DE </a:t>
            </a: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s-AR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INVERSIONES BANCARIAS</a:t>
            </a:r>
          </a:p>
        </p:txBody>
      </p:sp>
      <p:pic>
        <p:nvPicPr>
          <p:cNvPr id="6" name="Gráfico 5" descr="Tribunal">
            <a:extLst>
              <a:ext uri="{FF2B5EF4-FFF2-40B4-BE49-F238E27FC236}">
                <a16:creationId xmlns:a16="http://schemas.microsoft.com/office/drawing/2014/main" id="{29E61078-FB7A-44CE-8DD4-A6C9FD5599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81222" y="4986286"/>
            <a:ext cx="1202023" cy="1202023"/>
          </a:xfrm>
          <a:prstGeom prst="rect">
            <a:avLst/>
          </a:prstGeom>
        </p:spPr>
      </p:pic>
      <p:pic>
        <p:nvPicPr>
          <p:cNvPr id="11" name="Gráfico 10" descr="Tribunal">
            <a:extLst>
              <a:ext uri="{FF2B5EF4-FFF2-40B4-BE49-F238E27FC236}">
                <a16:creationId xmlns:a16="http://schemas.microsoft.com/office/drawing/2014/main" id="{5891EDD8-1852-4ADC-9A59-3BC7D3F60F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48780" y="5011427"/>
            <a:ext cx="1202023" cy="1202023"/>
          </a:xfrm>
          <a:prstGeom prst="rect">
            <a:avLst/>
          </a:prstGeom>
        </p:spPr>
      </p:pic>
      <p:pic>
        <p:nvPicPr>
          <p:cNvPr id="13" name="Gráfico 12" descr="Ojo">
            <a:extLst>
              <a:ext uri="{FF2B5EF4-FFF2-40B4-BE49-F238E27FC236}">
                <a16:creationId xmlns:a16="http://schemas.microsoft.com/office/drawing/2014/main" id="{D1EBEA5B-28DD-4595-830D-C84096E74D6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36602" y="5335208"/>
            <a:ext cx="935022" cy="935022"/>
          </a:xfrm>
          <a:prstGeom prst="rect">
            <a:avLst/>
          </a:prstGeom>
        </p:spPr>
      </p:pic>
      <p:pic>
        <p:nvPicPr>
          <p:cNvPr id="2050" name="Picture 2" descr="Resultado de imagen para ICONO MEDICO">
            <a:extLst>
              <a:ext uri="{FF2B5EF4-FFF2-40B4-BE49-F238E27FC236}">
                <a16:creationId xmlns:a16="http://schemas.microsoft.com/office/drawing/2014/main" id="{07609707-B5B2-41E5-8DAF-B9174BF01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5328352"/>
            <a:ext cx="710261" cy="710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ítulo 4">
            <a:extLst>
              <a:ext uri="{FF2B5EF4-FFF2-40B4-BE49-F238E27FC236}">
                <a16:creationId xmlns:a16="http://schemas.microsoft.com/office/drawing/2014/main" id="{56CFD088-DBB8-4672-816C-A2269A617B5E}"/>
              </a:ext>
            </a:extLst>
          </p:cNvPr>
          <p:cNvSpPr txBox="1">
            <a:spLocks/>
          </p:cNvSpPr>
          <p:nvPr/>
        </p:nvSpPr>
        <p:spPr>
          <a:xfrm>
            <a:off x="62617" y="0"/>
            <a:ext cx="9144000" cy="24121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5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La creación del Banco Central de la República Argentina - 1935</a:t>
            </a:r>
          </a:p>
        </p:txBody>
      </p:sp>
      <p:pic>
        <p:nvPicPr>
          <p:cNvPr id="15" name="Gráfico 14" descr="Banco">
            <a:extLst>
              <a:ext uri="{FF2B5EF4-FFF2-40B4-BE49-F238E27FC236}">
                <a16:creationId xmlns:a16="http://schemas.microsoft.com/office/drawing/2014/main" id="{B769A398-510E-40F2-B2F6-EEC135A894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78736" y="2267580"/>
            <a:ext cx="2232248" cy="223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403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50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250"/>
                            </p:stCondLst>
                            <p:childTnLst>
                              <p:par>
                                <p:cTn id="38" presetID="53" presetClass="entr" presetSubtype="16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6000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700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5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  <p:bldP spid="1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F3AB6450-AB4C-49DA-BC8B-1F35662F345F}"/>
              </a:ext>
            </a:extLst>
          </p:cNvPr>
          <p:cNvSpPr/>
          <p:nvPr/>
        </p:nvSpPr>
        <p:spPr>
          <a:xfrm>
            <a:off x="323528" y="2816349"/>
            <a:ext cx="8496944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8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“…en el caso argentino, es imprescindible examinar </a:t>
            </a:r>
          </a:p>
          <a:p>
            <a:pPr algn="ctr"/>
            <a:r>
              <a:rPr lang="es-ES" sz="28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el pasado en busca de indicios </a:t>
            </a:r>
          </a:p>
          <a:p>
            <a:pPr algn="ctr"/>
            <a:r>
              <a:rPr lang="es-ES" sz="28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sobre las dificultades recientes”</a:t>
            </a:r>
          </a:p>
          <a:p>
            <a:pPr algn="r"/>
            <a:r>
              <a:rPr lang="es-AR" sz="2000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Díaz Alejandro</a:t>
            </a:r>
          </a:p>
        </p:txBody>
      </p:sp>
      <p:sp>
        <p:nvSpPr>
          <p:cNvPr id="4" name="Título 4">
            <a:extLst>
              <a:ext uri="{FF2B5EF4-FFF2-40B4-BE49-F238E27FC236}">
                <a16:creationId xmlns:a16="http://schemas.microsoft.com/office/drawing/2014/main" id="{D5C033A4-8F84-47CB-BF1E-25CC337BF7AD}"/>
              </a:ext>
            </a:extLst>
          </p:cNvPr>
          <p:cNvSpPr txBox="1">
            <a:spLocks/>
          </p:cNvSpPr>
          <p:nvPr/>
        </p:nvSpPr>
        <p:spPr>
          <a:xfrm>
            <a:off x="62617" y="1"/>
            <a:ext cx="9144000" cy="17008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5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Reflexiones Finales</a:t>
            </a:r>
            <a:br>
              <a:rPr lang="es-ES" sz="5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</a:br>
            <a:r>
              <a:rPr lang="es-ES" sz="54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Aprendiendo del pasado</a:t>
            </a:r>
          </a:p>
        </p:txBody>
      </p:sp>
    </p:spTree>
    <p:extLst>
      <p:ext uri="{BB962C8B-B14F-4D97-AF65-F5344CB8AC3E}">
        <p14:creationId xmlns:p14="http://schemas.microsoft.com/office/powerpoint/2010/main" val="700330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75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25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4C180852-6399-4526-8415-C715F20A0739}"/>
              </a:ext>
            </a:extLst>
          </p:cNvPr>
          <p:cNvSpPr/>
          <p:nvPr/>
        </p:nvSpPr>
        <p:spPr>
          <a:xfrm>
            <a:off x="0" y="2082328"/>
            <a:ext cx="91440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Una enseñanza que nos deja el libro Avatares de un Sistema Monetario es que</a:t>
            </a:r>
            <a:r>
              <a:rPr lang="es-AR" sz="2400" b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, </a:t>
            </a:r>
            <a:r>
              <a:rPr lang="es-AR" sz="2400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para el caso argentino:</a:t>
            </a:r>
          </a:p>
          <a:p>
            <a:pPr algn="ctr"/>
            <a:endParaRPr lang="es-AR" sz="2400" dirty="0"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</a:endParaRPr>
          </a:p>
          <a:p>
            <a:pPr algn="ctr"/>
            <a:r>
              <a:rPr lang="es-AR" sz="2400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…</a:t>
            </a:r>
            <a:r>
              <a:rPr lang="es-ES" sz="2400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sólo de manera excepcional pueden seguirse reglas monetarias, </a:t>
            </a:r>
          </a:p>
          <a:p>
            <a:pPr algn="ctr"/>
            <a:r>
              <a:rPr lang="es-ES" sz="2400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…sólo de manera excepcional puede prescindirse de un organismo que cumpla la función de prestamista de última instancia </a:t>
            </a:r>
          </a:p>
          <a:p>
            <a:pPr algn="ctr"/>
            <a:r>
              <a:rPr lang="es-ES" sz="2400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y, fundamentalmente, </a:t>
            </a:r>
          </a:p>
          <a:p>
            <a:pPr algn="ctr"/>
            <a:r>
              <a:rPr lang="es-ES" sz="2400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</a:rPr>
              <a:t>….sólo de manera excepcional puede pensarse en un Estado que no presione para obtener recursos del sistema financiero.</a:t>
            </a:r>
            <a:endParaRPr lang="es-AR" sz="2400" dirty="0">
              <a:solidFill>
                <a:schemeClr val="tx2">
                  <a:lumMod val="7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6" name="Título 4">
            <a:extLst>
              <a:ext uri="{FF2B5EF4-FFF2-40B4-BE49-F238E27FC236}">
                <a16:creationId xmlns:a16="http://schemas.microsoft.com/office/drawing/2014/main" id="{A4DCD717-4A1A-4A07-AF9C-077F3599276D}"/>
              </a:ext>
            </a:extLst>
          </p:cNvPr>
          <p:cNvSpPr txBox="1">
            <a:spLocks/>
          </p:cNvSpPr>
          <p:nvPr/>
        </p:nvSpPr>
        <p:spPr>
          <a:xfrm>
            <a:off x="62617" y="1"/>
            <a:ext cx="9144000" cy="1556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48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Reflexiones Finales</a:t>
            </a:r>
            <a:br>
              <a:rPr lang="es-ES" sz="48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</a:br>
            <a:r>
              <a:rPr lang="es-ES" sz="4800" i="1" dirty="0">
                <a:solidFill>
                  <a:schemeClr val="tx2">
                    <a:lumMod val="75000"/>
                  </a:schemeClr>
                </a:solidFill>
                <a:latin typeface="Abadi" panose="020B0604020104020204" pitchFamily="34" charset="0"/>
                <a:cs typeface="Browallia New" panose="020B0604020202020204" pitchFamily="34" charset="-34"/>
              </a:rPr>
              <a:t>Aprendiendo del pasado</a:t>
            </a:r>
          </a:p>
        </p:txBody>
      </p:sp>
    </p:spTree>
    <p:extLst>
      <p:ext uri="{BB962C8B-B14F-4D97-AF65-F5344CB8AC3E}">
        <p14:creationId xmlns:p14="http://schemas.microsoft.com/office/powerpoint/2010/main" val="2350493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25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ID="42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75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750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明朝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19065</TotalTime>
  <Words>3329</Words>
  <Application>Microsoft Office PowerPoint</Application>
  <PresentationFormat>Presentación en pantalla (4:3)</PresentationFormat>
  <Paragraphs>921</Paragraphs>
  <Slides>62</Slides>
  <Notes>39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62</vt:i4>
      </vt:variant>
    </vt:vector>
  </HeadingPairs>
  <TitlesOfParts>
    <vt:vector size="69" baseType="lpstr">
      <vt:lpstr>Abadi</vt:lpstr>
      <vt:lpstr>Arial</vt:lpstr>
      <vt:lpstr>Bernard MT Condensed</vt:lpstr>
      <vt:lpstr>Calibri</vt:lpstr>
      <vt:lpstr>Calibri Light</vt:lpstr>
      <vt:lpstr>Times New Roman</vt:lpstr>
      <vt:lpstr>Tema de Office</vt:lpstr>
      <vt:lpstr>AVATARES DE UN SISTEMA MONETARIO</vt:lpstr>
      <vt:lpstr>Presentación de PowerPoint</vt:lpstr>
      <vt:lpstr>La Crisis de Baring</vt:lpstr>
      <vt:lpstr>La Primera Caja de Conversión </vt:lpstr>
      <vt:lpstr>Presentación de PowerPoint</vt:lpstr>
      <vt:lpstr>Ley 3871. Octubre 1899</vt:lpstr>
      <vt:lpstr>¿Por qué tardo tanto en ponerse en pleno funcionamiento la Primera Caja de Conversión?</vt:lpstr>
      <vt:lpstr>Presentación de PowerPoint</vt:lpstr>
      <vt:lpstr>Presentación de PowerPoint</vt:lpstr>
      <vt:lpstr> </vt:lpstr>
      <vt:lpstr>Presentación de PowerPoint</vt:lpstr>
      <vt:lpstr>Presentación de PowerPoint</vt:lpstr>
      <vt:lpstr>El Banco de la Nación Argentina y el Sistema Bancario, Enero 1908- Julio 1914</vt:lpstr>
      <vt:lpstr>Presentación de PowerPoint</vt:lpstr>
      <vt:lpstr>Presentación de PowerPoint</vt:lpstr>
      <vt:lpstr>Presentación de PowerPoint</vt:lpstr>
      <vt:lpstr>Arreglos de la deuda externa- Cambio de tendencia de la deuda</vt:lpstr>
      <vt:lpstr>La búsqueda del equilibrio fiscal   Razón ingresos/ gastos fiscales y razón de equilibrio (sin servicio deuda)</vt:lpstr>
      <vt:lpstr>Endeudamiento acorde a la capacidad de pago                                                           Deuda Pública Total Consolidada respecto al PBI, 1891-1914</vt:lpstr>
      <vt:lpstr>Presentación de PowerPoint</vt:lpstr>
      <vt:lpstr>Balanza de Pagos entre 1914- 1928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Lucas Tossolini</cp:lastModifiedBy>
  <cp:revision>262</cp:revision>
  <dcterms:created xsi:type="dcterms:W3CDTF">2018-05-14T12:48:03Z</dcterms:created>
  <dcterms:modified xsi:type="dcterms:W3CDTF">2019-08-27T22:04:38Z</dcterms:modified>
</cp:coreProperties>
</file>